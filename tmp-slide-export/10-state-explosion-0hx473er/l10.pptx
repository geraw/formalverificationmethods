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8" r:id="rId1"/>
  </p:sldMasterIdLst>
  <p:notesMasterIdLst>
    <p:notesMasterId r:id="rId15"/>
  </p:notesMasterIdLst>
  <p:sldIdLst>
    <p:sldId id="256" r:id="rId2"/>
    <p:sldId id="266" r:id="rId3"/>
    <p:sldId id="265" r:id="rId4"/>
    <p:sldId id="257" r:id="rId5"/>
    <p:sldId id="258" r:id="rId6"/>
    <p:sldId id="259" r:id="rId7"/>
    <p:sldId id="261" r:id="rId8"/>
    <p:sldId id="262" r:id="rId9"/>
    <p:sldId id="260" r:id="rId10"/>
    <p:sldId id="267" r:id="rId11"/>
    <p:sldId id="268" r:id="rId12"/>
    <p:sldId id="263" r:id="rId13"/>
    <p:sldId id="264" r:id="rId14"/>
  </p:sldIdLst>
  <p:sldSz cx="9144000" cy="6858000" type="screen4x3"/>
  <p:notesSz cx="6858000" cy="9144000"/>
  <p:custDataLst>
    <p:tags r:id="rId16"/>
  </p:custDataLst>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00"/>
    <a:srgbClr val="FFFFCC"/>
    <a:srgbClr val="151AE1"/>
    <a:srgbClr val="CDF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409" autoAdjust="0"/>
    <p:restoredTop sz="94660"/>
  </p:normalViewPr>
  <p:slideViewPr>
    <p:cSldViewPr>
      <p:cViewPr varScale="1">
        <p:scale>
          <a:sx n="111" d="100"/>
          <a:sy n="111" d="100"/>
        </p:scale>
        <p:origin x="1536"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310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גרא וייס" userId="f0aa0173-552d-4808-9782-d425e6aaf8d9" providerId="ADAL" clId="{A90C9A0A-E2B9-41EC-B6DE-33212E733F88}"/>
    <pc:docChg chg="modSld sldOrd">
      <pc:chgData name="גרא וייס" userId="f0aa0173-552d-4808-9782-d425e6aaf8d9" providerId="ADAL" clId="{A90C9A0A-E2B9-41EC-B6DE-33212E733F88}" dt="2022-11-13T20:28:48.506" v="0"/>
      <pc:docMkLst>
        <pc:docMk/>
      </pc:docMkLst>
      <pc:sldChg chg="ord">
        <pc:chgData name="גרא וייס" userId="f0aa0173-552d-4808-9782-d425e6aaf8d9" providerId="ADAL" clId="{A90C9A0A-E2B9-41EC-B6DE-33212E733F88}" dt="2022-11-13T20:28:48.506" v="0"/>
        <pc:sldMkLst>
          <pc:docMk/>
          <pc:sldMk cId="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46B1D-4663-49B6-B326-245D7D5A3682}" type="datetimeFigureOut">
              <a:rPr lang="en-US" smtClean="0"/>
              <a:pPr/>
              <a:t>5/19/2024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1F6944-2FF9-4248-8A94-1C46CD394F92}" type="slidenum">
              <a:rPr lang="en-US" smtClean="0"/>
              <a:pPr/>
              <a:t>‹#›</a:t>
            </a:fld>
            <a:endParaRPr lang="en-US"/>
          </a:p>
        </p:txBody>
      </p:sp>
    </p:spTree>
    <p:extLst>
      <p:ext uri="{BB962C8B-B14F-4D97-AF65-F5344CB8AC3E}">
        <p14:creationId xmlns:p14="http://schemas.microsoft.com/office/powerpoint/2010/main" val="2390833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28" name="Date Placeholder 27"/>
          <p:cNvSpPr>
            <a:spLocks noGrp="1"/>
          </p:cNvSpPr>
          <p:nvPr>
            <p:ph type="dt" sz="half" idx="10"/>
          </p:nvPr>
        </p:nvSpPr>
        <p:spPr>
          <a:xfrm>
            <a:off x="6989392" y="-499216"/>
            <a:ext cx="2476500" cy="476250"/>
          </a:xfrm>
        </p:spPr>
        <p:txBody>
          <a:bodyPr/>
          <a:lstStyle>
            <a:lvl1pPr algn="ctr">
              <a:defRPr sz="1100"/>
            </a:lvl1pPr>
          </a:lstStyle>
          <a:p>
            <a:r>
              <a:rPr lang="he-IL" dirty="0"/>
              <a:t>עדכון אחרון </a:t>
            </a:r>
            <a:fld id="{7B086AAE-F14E-4B30-87F9-1FD42B9BCCB9}" type="datetime8">
              <a:rPr lang="he-IL" smtClean="0"/>
              <a:pPr/>
              <a:t>19 מאי 24</a:t>
            </a:fld>
            <a:endParaRPr lang="he-IL" dirty="0"/>
          </a:p>
        </p:txBody>
      </p:sp>
      <p:sp>
        <p:nvSpPr>
          <p:cNvPr id="17" name="Footer Placeholder 16"/>
          <p:cNvSpPr>
            <a:spLocks noGrp="1"/>
          </p:cNvSpPr>
          <p:nvPr>
            <p:ph type="ftr" sz="quarter" idx="11"/>
          </p:nvPr>
        </p:nvSpPr>
        <p:spPr>
          <a:xfrm>
            <a:off x="2743200" y="5791200"/>
            <a:ext cx="3962400" cy="457200"/>
          </a:xfrm>
        </p:spPr>
        <p:txBody>
          <a:bodyPr/>
          <a:lstStyle/>
          <a:p>
            <a:endParaRPr lang="he-IL"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lstStyle>
            <a:lvl1pPr algn="ctr" rtl="1">
              <a:defRPr/>
            </a:lvl1pPr>
          </a:lstStyle>
          <a:p>
            <a:r>
              <a:rPr kumimoji="0" lang="en-US"/>
              <a:t>Click to edit Master title style</a:t>
            </a:r>
          </a:p>
        </p:txBody>
      </p:sp>
      <p:sp>
        <p:nvSpPr>
          <p:cNvPr id="4" name="Date Placeholder 3"/>
          <p:cNvSpPr>
            <a:spLocks noGrp="1"/>
          </p:cNvSpPr>
          <p:nvPr>
            <p:ph type="dt" sz="half" idx="10"/>
          </p:nvPr>
        </p:nvSpPr>
        <p:spPr>
          <a:xfrm>
            <a:off x="6667500" y="6858000"/>
            <a:ext cx="2476500" cy="476250"/>
          </a:xfrm>
        </p:spPr>
        <p:txBody>
          <a:bodyPr/>
          <a:lstStyle/>
          <a:p>
            <a:fld id="{A7F926B5-663A-4127-A287-7B83208B40AD}" type="datetime8">
              <a:rPr lang="he-IL" smtClean="0"/>
              <a:pPr/>
              <a:t>19 מאי 24</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a:xfrm>
            <a:off x="152400" y="152400"/>
            <a:ext cx="457200" cy="457200"/>
          </a:xfrm>
          <a:effectLst>
            <a:outerShdw blurRad="50800" dist="38100" dir="2700000" algn="tl" rotWithShape="0">
              <a:prstClr val="black">
                <a:alpha val="40000"/>
              </a:prstClr>
            </a:outerShdw>
          </a:effectLst>
        </p:spPr>
        <p:txBody>
          <a:bodyPr/>
          <a:lstStyle/>
          <a:p>
            <a:fld id="{021A1DA9-A2DD-4375-8887-E40ACC834D3F}" type="slidenum">
              <a:rPr lang="he-IL" smtClean="0"/>
              <a:pPr/>
              <a:t>‹#›</a:t>
            </a:fld>
            <a:endParaRPr lang="he-IL" dirty="0"/>
          </a:p>
        </p:txBody>
      </p:sp>
      <p:sp>
        <p:nvSpPr>
          <p:cNvPr id="8" name="Content Placeholder 7"/>
          <p:cNvSpPr>
            <a:spLocks noGrp="1"/>
          </p:cNvSpPr>
          <p:nvPr>
            <p:ph sz="quarter" idx="1"/>
          </p:nvPr>
        </p:nvSpPr>
        <p:spPr>
          <a:xfrm>
            <a:off x="914400" y="1447800"/>
            <a:ext cx="7772400" cy="4572000"/>
          </a:xfrm>
        </p:spPr>
        <p:txBody>
          <a:bodyPr vert="horz"/>
          <a:lstStyle>
            <a:lvl1pPr algn="r" rtl="1">
              <a:defRPr/>
            </a:lvl1pPr>
            <a:lvl2pPr algn="r" rtl="1">
              <a:defRPr/>
            </a:lvl2pPr>
            <a:lvl3pPr algn="r" rtl="1">
              <a:defRPr/>
            </a:lvl3pPr>
            <a:lvl4pPr algn="r" rtl="1">
              <a:defRPr/>
            </a:lvl4pPr>
            <a:lvl5pPr algn="r" rtl="1">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0" name="Picture 2" descr="סרט מודעות צהוב – ויקיפדיה">
            <a:extLst>
              <a:ext uri="{FF2B5EF4-FFF2-40B4-BE49-F238E27FC236}">
                <a16:creationId xmlns:a16="http://schemas.microsoft.com/office/drawing/2014/main" id="{13FD9FA2-66F3-A91B-70A3-2512E610DBD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650234" y="3561"/>
            <a:ext cx="493766" cy="800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862DB6B-1EA1-4A4B-B47A-2783F935A600}" type="datetime8">
              <a:rPr lang="he-IL" smtClean="0"/>
              <a:pPr/>
              <a:t>19 מאי 24</a:t>
            </a:fld>
            <a:endParaRPr lang="he-IL"/>
          </a:p>
        </p:txBody>
      </p:sp>
      <p:sp>
        <p:nvSpPr>
          <p:cNvPr id="5" name="Footer Placeholder 4"/>
          <p:cNvSpPr>
            <a:spLocks noGrp="1"/>
          </p:cNvSpPr>
          <p:nvPr>
            <p:ph type="ftr" sz="quarter" idx="11"/>
          </p:nvPr>
        </p:nvSpPr>
        <p:spPr>
          <a:xfrm>
            <a:off x="800100" y="6172200"/>
            <a:ext cx="4000500" cy="457200"/>
          </a:xfrm>
        </p:spPr>
        <p:txBody>
          <a:bodyPr/>
          <a:lstStyle/>
          <a:p>
            <a:endParaRPr lang="he-IL"/>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021A1DA9-A2DD-4375-8887-E40ACC834D3F}" type="slidenum">
              <a:rPr lang="he-IL" smtClean="0"/>
              <a:pPr/>
              <a:t>‹#›</a:t>
            </a:fld>
            <a:endParaRPr 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0D960C7-BACF-420D-A557-A385D6297D29}" type="datetime8">
              <a:rPr lang="he-IL" smtClean="0"/>
              <a:pPr/>
              <a:t>19 מאי 24</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21A1DA9-A2DD-4375-8887-E40ACC834D3F}" type="slidenum">
              <a:rPr lang="he-IL" smtClean="0"/>
              <a:pPr/>
              <a:t>‹#›</a:t>
            </a:fld>
            <a:endParaRPr lang="he-IL"/>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9218" name="Picture 2" descr="http://bgu.ac.il/NR/rdonlyres/4E908188-6AC7-4C07-9237-368D40E2EEFB/41075/BGUsig1H.png"/>
          <p:cNvPicPr>
            <a:picLocks noChangeAspect="1" noChangeArrowheads="1"/>
          </p:cNvPicPr>
          <p:nvPr userDrawn="1"/>
        </p:nvPicPr>
        <p:blipFill>
          <a:blip r:embed="rId2" cstate="print"/>
          <a:srcRect/>
          <a:stretch>
            <a:fillRect/>
          </a:stretch>
        </p:blipFill>
        <p:spPr bwMode="auto">
          <a:xfrm>
            <a:off x="6965950" y="-136525"/>
            <a:ext cx="2406650" cy="1203325"/>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F91B3A8-D963-425B-825B-E4B738A1D92A}" type="datetime8">
              <a:rPr lang="he-IL" smtClean="0"/>
              <a:pPr/>
              <a:t>19 מאי 24</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021A1DA9-A2DD-4375-8887-E40ACC834D3F}" type="slidenum">
              <a:rPr lang="he-IL" smtClean="0"/>
              <a:pPr/>
              <a:t>‹#›</a:t>
            </a:fld>
            <a:endParaRPr lang="he-IL"/>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F53A5639-DD31-47F9-A956-C8B80FFDA535}" type="datetime8">
              <a:rPr lang="he-IL" smtClean="0"/>
              <a:pPr/>
              <a:t>19 מאי 24</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021A1DA9-A2DD-4375-8887-E40ACC834D3F}" type="slidenum">
              <a:rPr lang="he-IL" smtClean="0"/>
              <a:pPr/>
              <a:t>‹#›</a:t>
            </a:fld>
            <a:endParaRPr 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FFA75-80ED-4127-A1CE-377B00428A30}" type="datetime8">
              <a:rPr lang="he-IL" smtClean="0"/>
              <a:pPr/>
              <a:t>19 מאי 24</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E553C9F-829D-4682-9136-E24C2FE7D8B1}" type="datetime8">
              <a:rPr lang="he-IL" smtClean="0"/>
              <a:pPr/>
              <a:t>19 מאי 24</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21A1DA9-A2DD-4375-8887-E40ACC834D3F}" type="slidenum">
              <a:rPr lang="he-IL" smtClean="0"/>
              <a:pPr/>
              <a:t>‹#›</a:t>
            </a:fld>
            <a:endParaRPr lang="he-IL"/>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F47CAF2-89CF-4D7F-8273-32FC35BA221F}" type="datetime8">
              <a:rPr lang="he-IL" smtClean="0"/>
              <a:pPr/>
              <a:t>19 מאי 24</a:t>
            </a:fld>
            <a:endParaRPr lang="he-IL"/>
          </a:p>
        </p:txBody>
      </p:sp>
      <p:sp>
        <p:nvSpPr>
          <p:cNvPr id="6" name="Footer Placeholder 5"/>
          <p:cNvSpPr>
            <a:spLocks noGrp="1"/>
          </p:cNvSpPr>
          <p:nvPr>
            <p:ph type="ftr" sz="quarter" idx="11"/>
          </p:nvPr>
        </p:nvSpPr>
        <p:spPr>
          <a:xfrm>
            <a:off x="914400" y="6172200"/>
            <a:ext cx="3886200" cy="457200"/>
          </a:xfrm>
        </p:spPr>
        <p:txBody>
          <a:bodyPr/>
          <a:lstStyle/>
          <a:p>
            <a:endParaRPr lang="he-IL"/>
          </a:p>
        </p:txBody>
      </p:sp>
      <p:sp>
        <p:nvSpPr>
          <p:cNvPr id="7" name="Slide Number Placeholder 6"/>
          <p:cNvSpPr>
            <a:spLocks noGrp="1"/>
          </p:cNvSpPr>
          <p:nvPr>
            <p:ph type="sldNum" sz="quarter" idx="12"/>
          </p:nvPr>
        </p:nvSpPr>
        <p:spPr>
          <a:xfrm>
            <a:off x="146304" y="6208776"/>
            <a:ext cx="457200" cy="457200"/>
          </a:xfrm>
        </p:spPr>
        <p:txBody>
          <a:bodyPr/>
          <a:lstStyle/>
          <a:p>
            <a:fld id="{021A1DA9-A2DD-4375-8887-E40ACC834D3F}" type="slidenum">
              <a:rPr lang="he-IL" smtClean="0"/>
              <a:pPr/>
              <a:t>‹#›</a:t>
            </a:fld>
            <a:endParaRPr lang="he-IL"/>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D7E686A-5BC9-4572-9309-2F412007C7F4}" type="datetime8">
              <a:rPr lang="he-IL" smtClean="0"/>
              <a:pPr/>
              <a:t>19 מאי 24</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21A1DA9-A2DD-4375-8887-E40ACC834D3F}" type="slidenum">
              <a:rPr lang="he-IL" smtClean="0"/>
              <a:pPr/>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0EA3F7-2EBC-40FD-8DA6-2876EEB17265}" type="datetime8">
              <a:rPr lang="he-IL" smtClean="0"/>
              <a:pPr/>
              <a:t>19 מאי 24</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21A1DA9-A2DD-4375-8887-E40ACC834D3F}" type="slidenum">
              <a:rPr lang="he-IL" smtClean="0"/>
              <a:pPr/>
              <a:t>‹#›</a:t>
            </a:fld>
            <a:endParaRPr 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00393D4-FEE5-4B2C-B85E-16899D94FADB}" type="datetime8">
              <a:rPr lang="he-IL" smtClean="0"/>
              <a:pPr/>
              <a:t>19 מאי 24</a:t>
            </a:fld>
            <a:endParaRPr lang="he-IL"/>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he-IL"/>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21A1DA9-A2DD-4375-8887-E40ACC834D3F}" type="slidenum">
              <a:rPr lang="he-IL" smtClean="0"/>
              <a:pPr/>
              <a:t>‹#›</a:t>
            </a:fld>
            <a:endParaRPr lang="he-IL"/>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4.png"/><Relationship Id="rId7" Type="http://schemas.openxmlformats.org/officeDocument/2006/relationships/image" Target="../media/image101.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0.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3.png"/><Relationship Id="rId10" Type="http://schemas.openxmlformats.org/officeDocument/2006/relationships/image" Target="../media/image19.png"/><Relationship Id="rId4" Type="http://schemas.openxmlformats.org/officeDocument/2006/relationships/image" Target="../media/image130.png"/><Relationship Id="rId9" Type="http://schemas.openxmlformats.org/officeDocument/2006/relationships/image" Target="../media/image18.png"/><Relationship Id="rId14"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microsoft.com/office/2007/relationships/hdphoto" Target="../media/hdphoto1.wdp"/><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he-IL" dirty="0">
                <a:latin typeface="Gisha" panose="020B0502040204020203" pitchFamily="34" charset="-79"/>
                <a:cs typeface="Gisha" panose="020B0502040204020203" pitchFamily="34" charset="-79"/>
              </a:rPr>
              <a:t>גרא וייס</a:t>
            </a:r>
          </a:p>
          <a:p>
            <a:r>
              <a:rPr lang="he-IL" dirty="0">
                <a:latin typeface="Gisha" panose="020B0502040204020203" pitchFamily="34" charset="-79"/>
                <a:cs typeface="Gisha" panose="020B0502040204020203" pitchFamily="34" charset="-79"/>
              </a:rPr>
              <a:t>המחלקה למדעי המחשב</a:t>
            </a:r>
          </a:p>
          <a:p>
            <a:r>
              <a:rPr lang="he-IL" dirty="0">
                <a:latin typeface="Gisha" panose="020B0502040204020203" pitchFamily="34" charset="-79"/>
                <a:cs typeface="Gisha" panose="020B0502040204020203" pitchFamily="34" charset="-79"/>
              </a:rPr>
              <a:t>אוניברסיטת בן-גוריון</a:t>
            </a:r>
          </a:p>
        </p:txBody>
      </p:sp>
      <p:sp>
        <p:nvSpPr>
          <p:cNvPr id="2" name="Title 1"/>
          <p:cNvSpPr>
            <a:spLocks noGrp="1"/>
          </p:cNvSpPr>
          <p:nvPr>
            <p:ph type="ctrTitle"/>
          </p:nvPr>
        </p:nvSpPr>
        <p:spPr/>
        <p:txBody>
          <a:bodyPr/>
          <a:lstStyle/>
          <a:p>
            <a:r>
              <a:rPr lang="he-IL">
                <a:latin typeface="Gisha" panose="020B0502040204020203" pitchFamily="34" charset="-79"/>
                <a:cs typeface="Gisha" panose="020B0502040204020203" pitchFamily="34" charset="-79"/>
              </a:rPr>
              <a:t>בעיית פיצוץ </a:t>
            </a:r>
            <a:r>
              <a:rPr lang="he-IL" dirty="0">
                <a:latin typeface="Gisha" panose="020B0502040204020203" pitchFamily="34" charset="-79"/>
                <a:cs typeface="Gisha" panose="020B0502040204020203" pitchFamily="34" charset="-79"/>
              </a:rPr>
              <a:t>המצבים</a:t>
            </a:r>
            <a:br>
              <a:rPr lang="he-IL" dirty="0">
                <a:latin typeface="Gisha" panose="020B0502040204020203" pitchFamily="34" charset="-79"/>
                <a:cs typeface="Gisha" panose="020B0502040204020203" pitchFamily="34" charset="-79"/>
              </a:rPr>
            </a:br>
            <a:r>
              <a:rPr lang="en-US" dirty="0">
                <a:latin typeface="Gisha" panose="020B0502040204020203" pitchFamily="34" charset="-79"/>
                <a:cs typeface="Gisha" panose="020B0502040204020203" pitchFamily="34" charset="-79"/>
              </a:rPr>
              <a:t>state explosion</a:t>
            </a:r>
            <a:endParaRPr lang="he-IL" dirty="0">
              <a:latin typeface="Gisha" panose="020B0502040204020203" pitchFamily="34" charset="-79"/>
              <a:cs typeface="Gisha" panose="020B0502040204020203" pitchFamily="34" charset="-79"/>
            </a:endParaRPr>
          </a:p>
        </p:txBody>
      </p:sp>
      <p:sp>
        <p:nvSpPr>
          <p:cNvPr id="4" name="TextBox 3"/>
          <p:cNvSpPr txBox="1"/>
          <p:nvPr>
            <p:custDataLst>
              <p:tags r:id="rId1"/>
            </p:custDataLst>
          </p:nvPr>
        </p:nvSpPr>
        <p:spPr>
          <a:xfrm>
            <a:off x="0" y="7112000"/>
            <a:ext cx="9144000" cy="923330"/>
          </a:xfrm>
          <a:prstGeom prst="rect">
            <a:avLst/>
          </a:prstGeom>
          <a:noFill/>
        </p:spPr>
        <p:txBody>
          <a:bodyPr vert="horz" rtlCol="1">
            <a:spAutoFit/>
          </a:bodyPr>
          <a:lstStyle/>
          <a:p>
            <a:r>
              <a:rPr lang="en-US" dirty="0" err="1">
                <a:latin typeface="Gisha" panose="020B0502040204020203" pitchFamily="34" charset="-79"/>
                <a:cs typeface="Gisha" panose="020B0502040204020203" pitchFamily="34" charset="-79"/>
              </a:rPr>
              <a:t>TexPoint</a:t>
            </a:r>
            <a:r>
              <a:rPr lang="en-US" dirty="0">
                <a:latin typeface="Gisha" panose="020B0502040204020203" pitchFamily="34" charset="-79"/>
                <a:cs typeface="Gisha" panose="020B0502040204020203" pitchFamily="34" charset="-79"/>
              </a:rPr>
              <a:t> fonts used in EMF. </a:t>
            </a:r>
          </a:p>
          <a:p>
            <a:r>
              <a:rPr lang="en-US" dirty="0">
                <a:latin typeface="Gisha" panose="020B0502040204020203" pitchFamily="34" charset="-79"/>
                <a:cs typeface="Gisha" panose="020B0502040204020203" pitchFamily="34" charset="-79"/>
              </a:rPr>
              <a:t>Read the </a:t>
            </a:r>
            <a:r>
              <a:rPr lang="en-US" dirty="0" err="1">
                <a:latin typeface="Gisha" panose="020B0502040204020203" pitchFamily="34" charset="-79"/>
                <a:cs typeface="Gisha" panose="020B0502040204020203" pitchFamily="34" charset="-79"/>
              </a:rPr>
              <a:t>TexPoint</a:t>
            </a:r>
            <a:r>
              <a:rPr lang="en-US" dirty="0">
                <a:latin typeface="Gisha" panose="020B0502040204020203" pitchFamily="34" charset="-79"/>
                <a:cs typeface="Gisha" panose="020B0502040204020203" pitchFamily="34" charset="-79"/>
              </a:rPr>
              <a:t> manual before you delete this box.: AAAAAAAAA</a:t>
            </a:r>
            <a:r>
              <a:rPr lang="en-US" dirty="0">
                <a:latin typeface="Gisha" panose="020B0502040204020203" pitchFamily="34" charset="-79"/>
                <a:cs typeface="Gisha" panose="020B0502040204020203" pitchFamily="34" charset="-79"/>
                <a:sym typeface="STMARY10"/>
              </a:rPr>
              <a:t>AAAAAAAAAA</a:t>
            </a:r>
            <a:r>
              <a:rPr lang="en-US" dirty="0">
                <a:latin typeface="Gisha" panose="020B0502040204020203" pitchFamily="34" charset="-79"/>
                <a:cs typeface="Gisha" panose="020B0502040204020203" pitchFamily="34" charset="-79"/>
                <a:sym typeface="SYMBOL"/>
              </a:rPr>
              <a:t>AAAA</a:t>
            </a:r>
            <a:endParaRPr lang="he-IL" dirty="0">
              <a:latin typeface="Gisha" panose="020B0502040204020203" pitchFamily="34" charset="-79"/>
              <a:cs typeface="Gisha" panose="020B0502040204020203" pitchFamily="34" charset="-79"/>
            </a:endParaRPr>
          </a:p>
        </p:txBody>
      </p:sp>
      <p:pic>
        <p:nvPicPr>
          <p:cNvPr id="43012" name="Picture 4" descr="http://bgu.ac.il/NR/rdonlyres/4E908188-6AC7-4C07-9237-368D40E2EEFB/41072/BGUlogo.png"/>
          <p:cNvPicPr>
            <a:picLocks noChangeAspect="1" noChangeArrowheads="1"/>
          </p:cNvPicPr>
          <p:nvPr/>
        </p:nvPicPr>
        <p:blipFill>
          <a:blip r:embed="rId3" cstate="print"/>
          <a:srcRect/>
          <a:stretch>
            <a:fillRect/>
          </a:stretch>
        </p:blipFill>
        <p:spPr bwMode="auto">
          <a:xfrm>
            <a:off x="3524250" y="4581525"/>
            <a:ext cx="1885950" cy="2428875"/>
          </a:xfrm>
          <a:prstGeom prst="rect">
            <a:avLst/>
          </a:prstGeom>
          <a:noFill/>
        </p:spPr>
      </p:pic>
      <p:sp>
        <p:nvSpPr>
          <p:cNvPr id="7" name="Date Placeholder 6"/>
          <p:cNvSpPr>
            <a:spLocks noGrp="1"/>
          </p:cNvSpPr>
          <p:nvPr>
            <p:ph type="dt" sz="half" idx="10"/>
          </p:nvPr>
        </p:nvSpPr>
        <p:spPr/>
        <p:txBody>
          <a:bodyPr/>
          <a:lstStyle/>
          <a:p>
            <a:fld id="{48E20646-3111-4D68-A160-C7E5A6B7FF5E}"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8" name="Rectangle 7">
            <a:extLst>
              <a:ext uri="{FF2B5EF4-FFF2-40B4-BE49-F238E27FC236}">
                <a16:creationId xmlns:a16="http://schemas.microsoft.com/office/drawing/2014/main" id="{FD660215-D875-290D-B606-83E235A1230C}"/>
              </a:ext>
            </a:extLst>
          </p:cNvPr>
          <p:cNvSpPr/>
          <p:nvPr/>
        </p:nvSpPr>
        <p:spPr>
          <a:xfrm>
            <a:off x="7989771" y="-55265"/>
            <a:ext cx="1045479" cy="923330"/>
          </a:xfrm>
          <a:prstGeom prst="rect">
            <a:avLst/>
          </a:prstGeom>
          <a:noFill/>
        </p:spPr>
        <p:txBody>
          <a:bodyPr wrap="none" lIns="91440" tIns="45720" rIns="91440" bIns="45720">
            <a:spAutoFit/>
          </a:bodyPr>
          <a:lstStyle/>
          <a:p>
            <a:pPr algn="ctr"/>
            <a:r>
              <a:rPr lang="he-IL"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haroni" panose="02010803020104030203" pitchFamily="2" charset="-79"/>
                <a:cs typeface="Aharoni" panose="02010803020104030203" pitchFamily="2" charset="-79"/>
              </a:rPr>
              <a:t>25</a:t>
            </a:r>
            <a:r>
              <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haroni" panose="02010803020104030203" pitchFamily="2" charset="-79"/>
                <a:cs typeface="Aharoni" panose="02010803020104030203" pitchFamily="2" charset="-79"/>
              </a:rPr>
              <a:t>2</a:t>
            </a:r>
            <a:endPar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haroni" panose="02010803020104030203" pitchFamily="2" charset="-79"/>
              <a:cs typeface="Aharoni" panose="02010803020104030203" pitchFamily="2" charset="-79"/>
            </a:endParaRPr>
          </a:p>
        </p:txBody>
      </p:sp>
      <p:pic>
        <p:nvPicPr>
          <p:cNvPr id="9" name="Picture 2" descr="סרט מודעות צהוב – ויקיפדיה">
            <a:extLst>
              <a:ext uri="{FF2B5EF4-FFF2-40B4-BE49-F238E27FC236}">
                <a16:creationId xmlns:a16="http://schemas.microsoft.com/office/drawing/2014/main" id="{13FD9FA2-66F3-A91B-70A3-2512E610DB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2060" y="252041"/>
            <a:ext cx="493766" cy="800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1047"/>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he-IL" dirty="0">
                <a:latin typeface="Gisha" panose="020B0502040204020203" pitchFamily="34" charset="-79"/>
                <a:cs typeface="Gisha" panose="020B0502040204020203" pitchFamily="34" charset="-79"/>
              </a:rPr>
              <a:t>מספר דרכים להגדרת מערכות מעברים</a:t>
            </a:r>
          </a:p>
        </p:txBody>
      </p:sp>
      <p:sp>
        <p:nvSpPr>
          <p:cNvPr id="3" name="Date Placeholder 2"/>
          <p:cNvSpPr>
            <a:spLocks noGrp="1"/>
          </p:cNvSpPr>
          <p:nvPr>
            <p:ph type="dt" sz="half" idx="10"/>
          </p:nvPr>
        </p:nvSpPr>
        <p:spPr/>
        <p:txBody>
          <a:bodyPr/>
          <a:lstStyle/>
          <a:p>
            <a:fld id="{A7F926B5-663A-4127-A287-7B83208B40AD}"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p:txBody>
          <a:bodyPr/>
          <a:lstStyle/>
          <a:p>
            <a:fld id="{021A1DA9-A2DD-4375-8887-E40ACC834D3F}" type="slidenum">
              <a:rPr lang="he-IL" smtClean="0">
                <a:latin typeface="Gisha" panose="020B0502040204020203" pitchFamily="34" charset="-79"/>
                <a:cs typeface="Gisha" panose="020B0502040204020203" pitchFamily="34" charset="-79"/>
              </a:rPr>
              <a:pPr/>
              <a:t>2</a:t>
            </a:fld>
            <a:endParaRPr lang="he-IL" dirty="0">
              <a:latin typeface="Gisha" panose="020B0502040204020203" pitchFamily="34" charset="-79"/>
              <a:cs typeface="Gisha" panose="020B0502040204020203" pitchFamily="34" charset="-79"/>
            </a:endParaRPr>
          </a:p>
        </p:txBody>
      </p:sp>
      <p:sp>
        <p:nvSpPr>
          <p:cNvPr id="6" name="Rounded Rectangle 5"/>
          <p:cNvSpPr/>
          <p:nvPr/>
        </p:nvSpPr>
        <p:spPr>
          <a:xfrm>
            <a:off x="5791200" y="3120490"/>
            <a:ext cx="190500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קבוצת מערכות מעברים</a:t>
            </a:r>
          </a:p>
        </p:txBody>
      </p:sp>
      <p:cxnSp>
        <p:nvCxnSpPr>
          <p:cNvPr id="8" name="Straight Arrow Connector 7"/>
          <p:cNvCxnSpPr>
            <a:stCxn id="6" idx="2"/>
          </p:cNvCxnSpPr>
          <p:nvPr/>
        </p:nvCxnSpPr>
        <p:spPr>
          <a:xfrm flipH="1">
            <a:off x="5486400" y="3806290"/>
            <a:ext cx="1257300" cy="1495937"/>
          </a:xfrm>
          <a:prstGeom prst="straightConnector1">
            <a:avLst/>
          </a:prstGeom>
          <a:ln>
            <a:tailEnd type="triangle" w="lg" len="lg"/>
          </a:ln>
        </p:spPr>
        <p:style>
          <a:lnRef idx="3">
            <a:schemeClr val="accent3"/>
          </a:lnRef>
          <a:fillRef idx="0">
            <a:schemeClr val="accent3"/>
          </a:fillRef>
          <a:effectRef idx="2">
            <a:schemeClr val="accent3"/>
          </a:effectRef>
          <a:fontRef idx="minor">
            <a:schemeClr val="tx1"/>
          </a:fontRef>
        </p:style>
      </p:cxnSp>
      <p:sp>
        <p:nvSpPr>
          <p:cNvPr id="9" name="Rounded Rectangle 8"/>
          <p:cNvSpPr/>
          <p:nvPr/>
        </p:nvSpPr>
        <p:spPr>
          <a:xfrm>
            <a:off x="3581400" y="5302227"/>
            <a:ext cx="1905000" cy="685800"/>
          </a:xfrm>
          <a:prstGeom prst="roundRect">
            <a:avLst/>
          </a:prstGeom>
        </p:spPr>
        <p:style>
          <a:lnRef idx="1">
            <a:schemeClr val="accent1"/>
          </a:lnRef>
          <a:fillRef idx="2">
            <a:schemeClr val="accent1"/>
          </a:fillRef>
          <a:effectRef idx="1">
            <a:schemeClr val="accent1"/>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מערכת מעברים</a:t>
            </a:r>
          </a:p>
        </p:txBody>
      </p:sp>
      <p:sp>
        <p:nvSpPr>
          <p:cNvPr id="10" name="TextBox 9"/>
          <p:cNvSpPr txBox="1"/>
          <p:nvPr/>
        </p:nvSpPr>
        <p:spPr>
          <a:xfrm>
            <a:off x="6039895" y="4343400"/>
            <a:ext cx="1162498" cy="646331"/>
          </a:xfrm>
          <a:prstGeom prst="rect">
            <a:avLst/>
          </a:prstGeom>
          <a:noFill/>
        </p:spPr>
        <p:txBody>
          <a:bodyPr wrap="none" rtlCol="1">
            <a:spAutoFit/>
          </a:bodyPr>
          <a:lstStyle/>
          <a:p>
            <a:pPr algn="ctr"/>
            <a:r>
              <a:rPr lang="he-IL" dirty="0">
                <a:latin typeface="Gisha" panose="020B0502040204020203" pitchFamily="34" charset="-79"/>
                <a:cs typeface="Gisha" panose="020B0502040204020203" pitchFamily="34" charset="-79"/>
              </a:rPr>
              <a:t>שזירה</a:t>
            </a:r>
          </a:p>
          <a:p>
            <a:pPr algn="ctr"/>
            <a:r>
              <a:rPr lang="he-IL" dirty="0">
                <a:latin typeface="Gisha" panose="020B0502040204020203" pitchFamily="34" charset="-79"/>
                <a:cs typeface="Gisha" panose="020B0502040204020203" pitchFamily="34" charset="-79"/>
              </a:rPr>
              <a:t>(לחיצת יד)</a:t>
            </a:r>
          </a:p>
        </p:txBody>
      </p:sp>
      <p:sp>
        <p:nvSpPr>
          <p:cNvPr id="11" name="Rounded Rectangle 10"/>
          <p:cNvSpPr/>
          <p:nvPr/>
        </p:nvSpPr>
        <p:spPr>
          <a:xfrm>
            <a:off x="3581400" y="3109406"/>
            <a:ext cx="190500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גרף </a:t>
            </a:r>
            <a:r>
              <a:rPr lang="he-IL" dirty="0" err="1">
                <a:latin typeface="Gisha" panose="020B0502040204020203" pitchFamily="34" charset="-79"/>
                <a:cs typeface="Gisha" panose="020B0502040204020203" pitchFamily="34" charset="-79"/>
              </a:rPr>
              <a:t>תוכנית</a:t>
            </a:r>
            <a:endParaRPr lang="he-IL" dirty="0">
              <a:latin typeface="Gisha" panose="020B0502040204020203" pitchFamily="34" charset="-79"/>
              <a:cs typeface="Gisha" panose="020B0502040204020203" pitchFamily="34" charset="-79"/>
            </a:endParaRPr>
          </a:p>
        </p:txBody>
      </p:sp>
      <p:cxnSp>
        <p:nvCxnSpPr>
          <p:cNvPr id="13" name="Straight Arrow Connector 12"/>
          <p:cNvCxnSpPr>
            <a:stCxn id="11" idx="2"/>
            <a:endCxn id="9" idx="0"/>
          </p:cNvCxnSpPr>
          <p:nvPr/>
        </p:nvCxnSpPr>
        <p:spPr>
          <a:xfrm>
            <a:off x="4533900" y="3795206"/>
            <a:ext cx="0" cy="1507021"/>
          </a:xfrm>
          <a:prstGeom prst="straightConnector1">
            <a:avLst/>
          </a:prstGeom>
          <a:ln>
            <a:tailEnd type="triangle" w="lg" len="lg"/>
          </a:ln>
        </p:spPr>
        <p:style>
          <a:lnRef idx="3">
            <a:schemeClr val="accent3"/>
          </a:lnRef>
          <a:fillRef idx="0">
            <a:schemeClr val="accent3"/>
          </a:fillRef>
          <a:effectRef idx="2">
            <a:schemeClr val="accent3"/>
          </a:effectRef>
          <a:fontRef idx="minor">
            <a:schemeClr val="tx1"/>
          </a:fontRef>
        </p:style>
      </p:cxnSp>
      <p:sp>
        <p:nvSpPr>
          <p:cNvPr id="14" name="TextBox 13"/>
          <p:cNvSpPr txBox="1"/>
          <p:nvPr/>
        </p:nvSpPr>
        <p:spPr>
          <a:xfrm>
            <a:off x="3789590" y="4355269"/>
            <a:ext cx="776175" cy="369332"/>
          </a:xfrm>
          <a:prstGeom prst="rect">
            <a:avLst/>
          </a:prstGeom>
          <a:noFill/>
        </p:spPr>
        <p:txBody>
          <a:bodyPr wrap="none" rtlCol="1">
            <a:spAutoFit/>
          </a:bodyPr>
          <a:lstStyle/>
          <a:p>
            <a:r>
              <a:rPr lang="he-IL" dirty="0">
                <a:latin typeface="Gisha" panose="020B0502040204020203" pitchFamily="34" charset="-79"/>
                <a:cs typeface="Gisha" panose="020B0502040204020203" pitchFamily="34" charset="-79"/>
              </a:rPr>
              <a:t>פריסה</a:t>
            </a:r>
          </a:p>
        </p:txBody>
      </p:sp>
      <p:sp>
        <p:nvSpPr>
          <p:cNvPr id="15" name="Rounded Rectangle 14"/>
          <p:cNvSpPr/>
          <p:nvPr/>
        </p:nvSpPr>
        <p:spPr>
          <a:xfrm>
            <a:off x="3581400" y="1492227"/>
            <a:ext cx="190500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קבוצת גרפי </a:t>
            </a:r>
            <a:r>
              <a:rPr lang="he-IL" dirty="0" err="1">
                <a:latin typeface="Gisha" panose="020B0502040204020203" pitchFamily="34" charset="-79"/>
                <a:cs typeface="Gisha" panose="020B0502040204020203" pitchFamily="34" charset="-79"/>
              </a:rPr>
              <a:t>תוכנית</a:t>
            </a:r>
            <a:endParaRPr lang="he-IL" dirty="0">
              <a:latin typeface="Gisha" panose="020B0502040204020203" pitchFamily="34" charset="-79"/>
              <a:cs typeface="Gisha" panose="020B0502040204020203" pitchFamily="34" charset="-79"/>
            </a:endParaRPr>
          </a:p>
        </p:txBody>
      </p:sp>
      <p:cxnSp>
        <p:nvCxnSpPr>
          <p:cNvPr id="19" name="Straight Arrow Connector 18"/>
          <p:cNvCxnSpPr>
            <a:stCxn id="15" idx="2"/>
            <a:endCxn id="11" idx="0"/>
          </p:cNvCxnSpPr>
          <p:nvPr/>
        </p:nvCxnSpPr>
        <p:spPr>
          <a:xfrm>
            <a:off x="4533900" y="2178027"/>
            <a:ext cx="0" cy="931379"/>
          </a:xfrm>
          <a:prstGeom prst="straightConnector1">
            <a:avLst/>
          </a:prstGeom>
          <a:ln>
            <a:tailEnd type="triangle" w="lg" len="lg"/>
          </a:ln>
        </p:spPr>
        <p:style>
          <a:lnRef idx="3">
            <a:schemeClr val="accent3"/>
          </a:lnRef>
          <a:fillRef idx="0">
            <a:schemeClr val="accent3"/>
          </a:fillRef>
          <a:effectRef idx="2">
            <a:schemeClr val="accent3"/>
          </a:effectRef>
          <a:fontRef idx="minor">
            <a:schemeClr val="tx1"/>
          </a:fontRef>
        </p:style>
      </p:cxnSp>
      <p:sp>
        <p:nvSpPr>
          <p:cNvPr id="23" name="TextBox 22"/>
          <p:cNvSpPr txBox="1"/>
          <p:nvPr/>
        </p:nvSpPr>
        <p:spPr>
          <a:xfrm>
            <a:off x="3775118" y="2374361"/>
            <a:ext cx="729687" cy="369332"/>
          </a:xfrm>
          <a:prstGeom prst="rect">
            <a:avLst/>
          </a:prstGeom>
          <a:noFill/>
        </p:spPr>
        <p:txBody>
          <a:bodyPr wrap="none" rtlCol="1">
            <a:spAutoFit/>
          </a:bodyPr>
          <a:lstStyle/>
          <a:p>
            <a:r>
              <a:rPr lang="he-IL" dirty="0">
                <a:latin typeface="Gisha" panose="020B0502040204020203" pitchFamily="34" charset="-79"/>
                <a:cs typeface="Gisha" panose="020B0502040204020203" pitchFamily="34" charset="-79"/>
              </a:rPr>
              <a:t>שזירה</a:t>
            </a:r>
          </a:p>
        </p:txBody>
      </p:sp>
      <p:sp>
        <p:nvSpPr>
          <p:cNvPr id="27" name="Rounded Rectangle 26"/>
          <p:cNvSpPr/>
          <p:nvPr/>
        </p:nvSpPr>
        <p:spPr>
          <a:xfrm>
            <a:off x="914400" y="3109406"/>
            <a:ext cx="1905000" cy="685800"/>
          </a:xfrm>
          <a:prstGeom prst="roundRect">
            <a:avLst/>
          </a:prstGeom>
        </p:spPr>
        <p:style>
          <a:lnRef idx="1">
            <a:schemeClr val="accent2"/>
          </a:lnRef>
          <a:fillRef idx="2">
            <a:schemeClr val="accent2"/>
          </a:fillRef>
          <a:effectRef idx="1">
            <a:schemeClr val="accent2"/>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מערכת ערוצים</a:t>
            </a:r>
          </a:p>
        </p:txBody>
      </p:sp>
      <p:cxnSp>
        <p:nvCxnSpPr>
          <p:cNvPr id="29" name="Straight Arrow Connector 28"/>
          <p:cNvCxnSpPr>
            <a:stCxn id="27" idx="2"/>
          </p:cNvCxnSpPr>
          <p:nvPr/>
        </p:nvCxnSpPr>
        <p:spPr>
          <a:xfrm>
            <a:off x="1866900" y="3795206"/>
            <a:ext cx="1714500" cy="1507021"/>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p:sp>
        <p:nvSpPr>
          <p:cNvPr id="32" name="TextBox 31"/>
          <p:cNvSpPr txBox="1"/>
          <p:nvPr/>
        </p:nvSpPr>
        <p:spPr>
          <a:xfrm>
            <a:off x="1025062" y="4554597"/>
            <a:ext cx="1604927" cy="369332"/>
          </a:xfrm>
          <a:prstGeom prst="rect">
            <a:avLst/>
          </a:prstGeom>
          <a:noFill/>
        </p:spPr>
        <p:txBody>
          <a:bodyPr wrap="none" rtlCol="1">
            <a:spAutoFit/>
          </a:bodyPr>
          <a:lstStyle/>
          <a:p>
            <a:r>
              <a:rPr lang="he-IL" dirty="0">
                <a:latin typeface="Gisha" panose="020B0502040204020203" pitchFamily="34" charset="-79"/>
                <a:cs typeface="Gisha" panose="020B0502040204020203" pitchFamily="34" charset="-79"/>
              </a:rPr>
              <a:t>שזירה + פריסה</a:t>
            </a:r>
          </a:p>
        </p:txBody>
      </p:sp>
      <p:sp>
        <p:nvSpPr>
          <p:cNvPr id="34" name="Rounded Rectangle 33"/>
          <p:cNvSpPr/>
          <p:nvPr/>
        </p:nvSpPr>
        <p:spPr>
          <a:xfrm>
            <a:off x="6858000" y="5302227"/>
            <a:ext cx="190500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he-IL" dirty="0">
                <a:latin typeface="Gisha" panose="020B0502040204020203" pitchFamily="34" charset="-79"/>
                <a:cs typeface="Gisha" panose="020B0502040204020203" pitchFamily="34" charset="-79"/>
              </a:rPr>
              <a:t>מעגל לוגי</a:t>
            </a:r>
          </a:p>
        </p:txBody>
      </p:sp>
      <p:cxnSp>
        <p:nvCxnSpPr>
          <p:cNvPr id="36" name="Straight Arrow Connector 35"/>
          <p:cNvCxnSpPr>
            <a:stCxn id="34" idx="1"/>
            <a:endCxn id="9" idx="3"/>
          </p:cNvCxnSpPr>
          <p:nvPr/>
        </p:nvCxnSpPr>
        <p:spPr>
          <a:xfrm flipH="1">
            <a:off x="5486400" y="5645127"/>
            <a:ext cx="1371600" cy="0"/>
          </a:xfrm>
          <a:prstGeom prst="straightConnector1">
            <a:avLst/>
          </a:prstGeom>
          <a:ln>
            <a:tailEnd type="triangle" w="lg" len="lg"/>
          </a:ln>
        </p:spPr>
        <p:style>
          <a:lnRef idx="3">
            <a:schemeClr val="accent3"/>
          </a:lnRef>
          <a:fillRef idx="0">
            <a:schemeClr val="accent3"/>
          </a:fillRef>
          <a:effectRef idx="2">
            <a:schemeClr val="accent3"/>
          </a:effectRef>
          <a:fontRef idx="minor">
            <a:schemeClr val="tx1"/>
          </a:fontRef>
        </p:style>
      </p:cxnSp>
      <p:sp>
        <p:nvSpPr>
          <p:cNvPr id="37" name="TextBox 36"/>
          <p:cNvSpPr txBox="1"/>
          <p:nvPr/>
        </p:nvSpPr>
        <p:spPr>
          <a:xfrm>
            <a:off x="5906616" y="5602069"/>
            <a:ext cx="748924" cy="369332"/>
          </a:xfrm>
          <a:prstGeom prst="rect">
            <a:avLst/>
          </a:prstGeom>
          <a:noFill/>
        </p:spPr>
        <p:txBody>
          <a:bodyPr wrap="none" rtlCol="1">
            <a:spAutoFit/>
          </a:bodyPr>
          <a:lstStyle/>
          <a:p>
            <a:pPr algn="ctr"/>
            <a:r>
              <a:rPr lang="he-IL" dirty="0">
                <a:latin typeface="Gisha" panose="020B0502040204020203" pitchFamily="34" charset="-79"/>
                <a:cs typeface="Gisha" panose="020B0502040204020203" pitchFamily="34" charset="-79"/>
              </a:rPr>
              <a:t>תרגום</a:t>
            </a:r>
          </a:p>
        </p:txBody>
      </p:sp>
      <p:sp>
        <p:nvSpPr>
          <p:cNvPr id="25" name="Rounded Rectangle 24"/>
          <p:cNvSpPr/>
          <p:nvPr/>
        </p:nvSpPr>
        <p:spPr>
          <a:xfrm>
            <a:off x="914400" y="1596490"/>
            <a:ext cx="1905000" cy="685800"/>
          </a:xfrm>
          <a:prstGeom prst="roundRect">
            <a:avLst/>
          </a:prstGeom>
        </p:spPr>
        <p:style>
          <a:lnRef idx="1">
            <a:schemeClr val="accent2"/>
          </a:lnRef>
          <a:fillRef idx="2">
            <a:schemeClr val="accent2"/>
          </a:fillRef>
          <a:effectRef idx="1">
            <a:schemeClr val="accent2"/>
          </a:effectRef>
          <a:fontRef idx="minor">
            <a:schemeClr val="dk1"/>
          </a:fontRef>
        </p:style>
        <p:txBody>
          <a:bodyPr rtlCol="1" anchor="ctr"/>
          <a:lstStyle/>
          <a:p>
            <a:pPr algn="ctr"/>
            <a:r>
              <a:rPr lang="he-IL" dirty="0" err="1">
                <a:latin typeface="Gisha" panose="020B0502040204020203" pitchFamily="34" charset="-79"/>
                <a:cs typeface="Gisha" panose="020B0502040204020203" pitchFamily="34" charset="-79"/>
              </a:rPr>
              <a:t>תוכנית</a:t>
            </a:r>
            <a:r>
              <a:rPr lang="he-IL" dirty="0">
                <a:latin typeface="Gisha" panose="020B0502040204020203" pitchFamily="34" charset="-79"/>
                <a:cs typeface="Gisha" panose="020B0502040204020203" pitchFamily="34" charset="-79"/>
              </a:rPr>
              <a:t> </a:t>
            </a:r>
            <a:r>
              <a:rPr lang="en-US" dirty="0">
                <a:latin typeface="Gisha" panose="020B0502040204020203" pitchFamily="34" charset="-79"/>
                <a:cs typeface="Gisha" panose="020B0502040204020203" pitchFamily="34" charset="-79"/>
              </a:rPr>
              <a:t>PROMELA</a:t>
            </a:r>
            <a:endParaRPr lang="he-IL" dirty="0">
              <a:latin typeface="Gisha" panose="020B0502040204020203" pitchFamily="34" charset="-79"/>
              <a:cs typeface="Gisha" panose="020B0502040204020203" pitchFamily="34" charset="-79"/>
            </a:endParaRPr>
          </a:p>
        </p:txBody>
      </p:sp>
      <p:cxnSp>
        <p:nvCxnSpPr>
          <p:cNvPr id="26" name="Straight Arrow Connector 25"/>
          <p:cNvCxnSpPr>
            <a:stCxn id="25" idx="2"/>
            <a:endCxn id="27" idx="0"/>
          </p:cNvCxnSpPr>
          <p:nvPr/>
        </p:nvCxnSpPr>
        <p:spPr>
          <a:xfrm>
            <a:off x="1866900" y="2282290"/>
            <a:ext cx="0" cy="827116"/>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368834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latin typeface="Gisha" panose="020B0502040204020203" pitchFamily="34" charset="-79"/>
                <a:cs typeface="Gisha" panose="020B0502040204020203" pitchFamily="34" charset="-79"/>
              </a:rPr>
              <a:t>מה מספר המצבים?</a:t>
            </a:r>
          </a:p>
        </p:txBody>
      </p:sp>
      <p:sp>
        <p:nvSpPr>
          <p:cNvPr id="3" name="Date Placeholder 2"/>
          <p:cNvSpPr>
            <a:spLocks noGrp="1"/>
          </p:cNvSpPr>
          <p:nvPr>
            <p:ph type="dt" sz="half" idx="10"/>
          </p:nvPr>
        </p:nvSpPr>
        <p:spPr/>
        <p:txBody>
          <a:bodyPr/>
          <a:lstStyle/>
          <a:p>
            <a:fld id="{A7F926B5-663A-4127-A287-7B83208B40AD}" type="datetime8">
              <a:rPr lang="he-IL" smtClean="0"/>
              <a:pPr/>
              <a:t>19 מאי 24</a:t>
            </a:fld>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3</a:t>
            </a:fld>
            <a:endParaRPr lang="he-IL" dirty="0"/>
          </a:p>
        </p:txBody>
      </p:sp>
      <p:sp>
        <p:nvSpPr>
          <p:cNvPr id="5" name="Content Placeholder 4"/>
          <p:cNvSpPr>
            <a:spLocks noGrp="1"/>
          </p:cNvSpPr>
          <p:nvPr>
            <p:ph sz="quarter" idx="1"/>
          </p:nvPr>
        </p:nvSpPr>
        <p:spPr>
          <a:xfrm>
            <a:off x="533400" y="1447800"/>
            <a:ext cx="8153400" cy="4572000"/>
          </a:xfrm>
        </p:spPr>
        <p:txBody>
          <a:bodyPr>
            <a:normAutofit/>
          </a:bodyPr>
          <a:lstStyle/>
          <a:p>
            <a:pPr marL="0" indent="0" algn="ctr">
              <a:buNone/>
            </a:pPr>
            <a:r>
              <a:rPr lang="he-IL" dirty="0">
                <a:solidFill>
                  <a:srgbClr val="0000FF"/>
                </a:solidFill>
                <a:latin typeface="Gisha" panose="020B0502040204020203" pitchFamily="34" charset="-79"/>
                <a:cs typeface="Gisha" panose="020B0502040204020203" pitchFamily="34" charset="-79"/>
              </a:rPr>
              <a:t>מה גודל מערכת המעברים שמייצרים </a:t>
            </a:r>
            <a:r>
              <a:rPr lang="he-IL" dirty="0">
                <a:latin typeface="Gisha" panose="020B0502040204020203" pitchFamily="34" charset="-79"/>
                <a:cs typeface="Gisha" panose="020B0502040204020203" pitchFamily="34" charset="-79"/>
              </a:rPr>
              <a:t>(ע"י הרכבה ופריסה) ? </a:t>
            </a:r>
          </a:p>
          <a:p>
            <a:endParaRPr lang="he-IL" dirty="0">
              <a:latin typeface="Gisha" panose="020B0502040204020203" pitchFamily="34" charset="-79"/>
              <a:cs typeface="Gisha" panose="020B0502040204020203" pitchFamily="34" charset="-79"/>
            </a:endParaRPr>
          </a:p>
          <a:p>
            <a:pPr marL="0" indent="0" algn="ctr">
              <a:buNone/>
            </a:pPr>
            <a:r>
              <a:rPr lang="he-IL" dirty="0">
                <a:latin typeface="Gisha" panose="020B0502040204020203" pitchFamily="34" charset="-79"/>
                <a:cs typeface="Gisha" panose="020B0502040204020203" pitchFamily="34" charset="-79"/>
              </a:rPr>
              <a:t>איך אפשר למצוא מערכת מעברים "שקולה" אבל קטנה יותר?</a:t>
            </a:r>
          </a:p>
          <a:p>
            <a:endParaRPr lang="he-IL" dirty="0">
              <a:latin typeface="Gisha" panose="020B0502040204020203" pitchFamily="34" charset="-79"/>
              <a:cs typeface="Gisha" panose="020B0502040204020203" pitchFamily="34" charset="-79"/>
            </a:endParaRPr>
          </a:p>
          <a:p>
            <a:pPr marL="0" indent="0" algn="ctr">
              <a:buNone/>
            </a:pPr>
            <a:r>
              <a:rPr lang="he-IL" dirty="0">
                <a:solidFill>
                  <a:srgbClr val="FF0000"/>
                </a:solidFill>
                <a:latin typeface="Gisha" panose="020B0502040204020203" pitchFamily="34" charset="-79"/>
                <a:cs typeface="Gisha" panose="020B0502040204020203" pitchFamily="34" charset="-79"/>
              </a:rPr>
              <a:t>בעיה: זמן ריצה וכמות הזיכרון הנדרשים לאלגוריתמים</a:t>
            </a:r>
            <a:r>
              <a:rPr lang="en-US" dirty="0">
                <a:solidFill>
                  <a:srgbClr val="FF0000"/>
                </a:solidFill>
                <a:latin typeface="Gisha" panose="020B0502040204020203" pitchFamily="34" charset="-79"/>
                <a:cs typeface="Gisha" panose="020B0502040204020203" pitchFamily="34" charset="-79"/>
              </a:rPr>
              <a:t/>
            </a:r>
            <a:br>
              <a:rPr lang="en-US" dirty="0">
                <a:solidFill>
                  <a:srgbClr val="FF0000"/>
                </a:solidFill>
                <a:latin typeface="Gisha" panose="020B0502040204020203" pitchFamily="34" charset="-79"/>
                <a:cs typeface="Gisha" panose="020B0502040204020203" pitchFamily="34" charset="-79"/>
              </a:rPr>
            </a:br>
            <a:r>
              <a:rPr lang="he-IL" dirty="0">
                <a:solidFill>
                  <a:srgbClr val="FF0000"/>
                </a:solidFill>
                <a:latin typeface="Gisha" panose="020B0502040204020203" pitchFamily="34" charset="-79"/>
                <a:cs typeface="Gisha" panose="020B0502040204020203" pitchFamily="34" charset="-79"/>
              </a:rPr>
              <a:t> לניתוח מערכות מעברים תלויים בגודל המערכת!</a:t>
            </a:r>
          </a:p>
        </p:txBody>
      </p:sp>
      <p:pic>
        <p:nvPicPr>
          <p:cNvPr id="1028" name="Picture 4" descr="http://www.researchrockstar.com/wp-content/uploads/2011/03/bigstock_Graph_analysis_11233205.jpg"/>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2800" y="4352925"/>
            <a:ext cx="27432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blinds(horizontal)">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16972" y="3538270"/>
            <a:ext cx="2894202"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2" name="Title 1"/>
          <p:cNvSpPr>
            <a:spLocks noGrp="1"/>
          </p:cNvSpPr>
          <p:nvPr>
            <p:ph type="title"/>
          </p:nvPr>
        </p:nvSpPr>
        <p:spPr>
          <a:xfrm>
            <a:off x="668275" y="152400"/>
            <a:ext cx="8200239" cy="1143000"/>
          </a:xfrm>
        </p:spPr>
        <p:txBody>
          <a:bodyPr>
            <a:normAutofit fontScale="90000"/>
          </a:bodyPr>
          <a:lstStyle/>
          <a:p>
            <a:r>
              <a:rPr lang="he-IL" dirty="0">
                <a:latin typeface="Gisha" panose="020B0502040204020203" pitchFamily="34" charset="-79"/>
                <a:cs typeface="Gisha" panose="020B0502040204020203" pitchFamily="34" charset="-79"/>
              </a:rPr>
              <a:t>בעיית ריבוי המצבים</a:t>
            </a:r>
            <a:br>
              <a:rPr lang="he-IL" dirty="0">
                <a:latin typeface="Gisha" panose="020B0502040204020203" pitchFamily="34" charset="-79"/>
                <a:cs typeface="Gisha" panose="020B0502040204020203" pitchFamily="34" charset="-79"/>
              </a:rPr>
            </a:br>
            <a:r>
              <a:rPr lang="en-US" dirty="0">
                <a:latin typeface="Gisha" panose="020B0502040204020203" pitchFamily="34" charset="-79"/>
                <a:cs typeface="Gisha" panose="020B0502040204020203" pitchFamily="34" charset="-79"/>
              </a:rPr>
              <a:t>state explosion problem</a:t>
            </a:r>
            <a:endParaRPr lang="he-IL" dirty="0">
              <a:latin typeface="Gisha" panose="020B0502040204020203" pitchFamily="34" charset="-79"/>
              <a:cs typeface="Gisha" panose="020B0502040204020203" pitchFamily="34" charset="-79"/>
            </a:endParaRPr>
          </a:p>
        </p:txBody>
      </p:sp>
      <p:sp>
        <p:nvSpPr>
          <p:cNvPr id="4" name="Date Placeholder 3"/>
          <p:cNvSpPr>
            <a:spLocks noGrp="1"/>
          </p:cNvSpPr>
          <p:nvPr>
            <p:ph type="dt" sz="half" idx="10"/>
          </p:nvPr>
        </p:nvSpPr>
        <p:spPr>
          <a:xfrm>
            <a:off x="6622059" y="6858000"/>
            <a:ext cx="2612821" cy="476250"/>
          </a:xfrm>
        </p:spPr>
        <p:txBody>
          <a:bodyPr/>
          <a:lstStyle/>
          <a:p>
            <a:fld id="{4E853E17-0086-42D2-82FC-3171BCDB0996}"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5" name="Slide Number Placeholder 4"/>
          <p:cNvSpPr>
            <a:spLocks noGrp="1"/>
          </p:cNvSpPr>
          <p:nvPr>
            <p:ph type="sldNum" sz="quarter" idx="12"/>
          </p:nvPr>
        </p:nvSpPr>
        <p:spPr>
          <a:xfrm>
            <a:off x="144011" y="152400"/>
            <a:ext cx="482367" cy="457200"/>
          </a:xfrm>
        </p:spPr>
        <p:txBody>
          <a:bodyPr/>
          <a:lstStyle/>
          <a:p>
            <a:fld id="{021A1DA9-A2DD-4375-8887-E40ACC834D3F}" type="slidenum">
              <a:rPr lang="he-IL" smtClean="0">
                <a:latin typeface="Gisha" panose="020B0502040204020203" pitchFamily="34" charset="-79"/>
                <a:cs typeface="Gisha" panose="020B0502040204020203" pitchFamily="34" charset="-79"/>
              </a:rPr>
              <a:pPr/>
              <a:t>4</a:t>
            </a:fld>
            <a:endParaRPr lang="he-IL" dirty="0">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6" name="Content Placeholder 5"/>
              <p:cNvSpPr>
                <a:spLocks noGrp="1"/>
              </p:cNvSpPr>
              <p:nvPr>
                <p:ph sz="quarter" idx="1"/>
              </p:nvPr>
            </p:nvSpPr>
            <p:spPr>
              <a:xfrm>
                <a:off x="304800" y="1371434"/>
                <a:ext cx="8763000" cy="5181600"/>
              </a:xfrm>
            </p:spPr>
            <p:txBody>
              <a:bodyPr>
                <a:normAutofit/>
              </a:bodyPr>
              <a:lstStyle/>
              <a:p>
                <a:r>
                  <a:rPr lang="he-IL" dirty="0">
                    <a:latin typeface="Gisha" panose="020B0502040204020203" pitchFamily="34" charset="-79"/>
                    <a:cs typeface="Gisha" panose="020B0502040204020203" pitchFamily="34" charset="-79"/>
                  </a:rPr>
                  <a:t>סיבוכיות האלגוריתמים שנבנה לבדיקת מודל (בהמשך הקורס)</a:t>
                </a:r>
              </a:p>
              <a:p>
                <a:pPr lvl="1"/>
                <a:r>
                  <a:rPr lang="he-IL" dirty="0">
                    <a:latin typeface="Gisha" panose="020B0502040204020203" pitchFamily="34" charset="-79"/>
                    <a:cs typeface="Gisha" panose="020B0502040204020203" pitchFamily="34" charset="-79"/>
                  </a:rPr>
                  <a:t>תלויה </a:t>
                </a:r>
                <a:r>
                  <a:rPr lang="he-IL" dirty="0">
                    <a:solidFill>
                      <a:srgbClr val="0000FF"/>
                    </a:solidFill>
                    <a:latin typeface="Gisha" panose="020B0502040204020203" pitchFamily="34" charset="-79"/>
                    <a:cs typeface="Gisha" panose="020B0502040204020203" pitchFamily="34" charset="-79"/>
                  </a:rPr>
                  <a:t>בתכונה שרוצים לבדוק </a:t>
                </a:r>
                <a:r>
                  <a:rPr lang="he-IL" dirty="0">
                    <a:latin typeface="Gisha" panose="020B0502040204020203" pitchFamily="34" charset="-79"/>
                    <a:cs typeface="Gisha" panose="020B0502040204020203" pitchFamily="34" charset="-79"/>
                  </a:rPr>
                  <a:t>– פחות מפריע</a:t>
                </a:r>
                <a:endParaRPr lang="he-IL" dirty="0">
                  <a:solidFill>
                    <a:srgbClr val="0000FF"/>
                  </a:solidFill>
                  <a:latin typeface="Gisha" panose="020B0502040204020203" pitchFamily="34" charset="-79"/>
                  <a:cs typeface="Gisha" panose="020B0502040204020203" pitchFamily="34" charset="-79"/>
                </a:endParaRPr>
              </a:p>
              <a:p>
                <a:pPr lvl="1"/>
                <a:r>
                  <a:rPr lang="he-IL" dirty="0">
                    <a:latin typeface="Gisha" panose="020B0502040204020203" pitchFamily="34" charset="-79"/>
                    <a:cs typeface="Gisha" panose="020B0502040204020203" pitchFamily="34" charset="-79"/>
                  </a:rPr>
                  <a:t>ו</a:t>
                </a:r>
                <a:r>
                  <a:rPr lang="he-IL" dirty="0">
                    <a:solidFill>
                      <a:srgbClr val="FF0000"/>
                    </a:solidFill>
                    <a:latin typeface="Gisha" panose="020B0502040204020203" pitchFamily="34" charset="-79"/>
                    <a:cs typeface="Gisha" panose="020B0502040204020203" pitchFamily="34" charset="-79"/>
                  </a:rPr>
                  <a:t>בגודל</a:t>
                </a:r>
                <a:r>
                  <a:rPr lang="he-IL" dirty="0">
                    <a:latin typeface="Gisha" panose="020B0502040204020203" pitchFamily="34" charset="-79"/>
                    <a:cs typeface="Gisha" panose="020B0502040204020203" pitchFamily="34" charset="-79"/>
                  </a:rPr>
                  <a:t> </a:t>
                </a:r>
                <a:r>
                  <a:rPr lang="he-IL" dirty="0">
                    <a:solidFill>
                      <a:srgbClr val="FF0000"/>
                    </a:solidFill>
                    <a:latin typeface="Gisha" panose="020B0502040204020203" pitchFamily="34" charset="-79"/>
                    <a:cs typeface="Gisha" panose="020B0502040204020203" pitchFamily="34" charset="-79"/>
                  </a:rPr>
                  <a:t>מערכת המעברים </a:t>
                </a:r>
                <a:r>
                  <a:rPr lang="he-IL" dirty="0">
                    <a:latin typeface="Gisha" panose="020B0502040204020203" pitchFamily="34" charset="-79"/>
                    <a:cs typeface="Gisha" panose="020B0502040204020203" pitchFamily="34" charset="-79"/>
                  </a:rPr>
                  <a:t>הנבדקת – בעיה קריטית ומאוד מגבילה</a:t>
                </a:r>
              </a:p>
              <a:p>
                <a:pPr lvl="1">
                  <a:buNone/>
                </a:pPr>
                <a:endParaRPr lang="he-IL" dirty="0">
                  <a:latin typeface="Gisha" panose="020B0502040204020203" pitchFamily="34" charset="-79"/>
                  <a:cs typeface="Gisha" panose="020B0502040204020203" pitchFamily="34" charset="-79"/>
                </a:endParaRPr>
              </a:p>
              <a:p>
                <a:r>
                  <a:rPr lang="he-IL" dirty="0">
                    <a:latin typeface="Gisha" panose="020B0502040204020203" pitchFamily="34" charset="-79"/>
                    <a:cs typeface="Gisha" panose="020B0502040204020203" pitchFamily="34" charset="-79"/>
                  </a:rPr>
                  <a:t>גודל מערכת מעברים:</a:t>
                </a:r>
              </a:p>
              <a:p>
                <a:pPr marL="320040" lvl="1" indent="0">
                  <a:buNone/>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smtClean="0">
                          <a:latin typeface="Cambria Math"/>
                        </a:rPr>
                        <m:t>𝑇𝑆</m:t>
                      </m:r>
                      <m:r>
                        <a:rPr lang="en-US" i="1" dirty="0" smtClean="0">
                          <a:latin typeface="Cambria Math"/>
                        </a:rPr>
                        <m:t>| = |</m:t>
                      </m:r>
                      <m:r>
                        <a:rPr lang="en-US" i="1" dirty="0" smtClean="0">
                          <a:latin typeface="Cambria Math"/>
                        </a:rPr>
                        <m:t>𝑆</m:t>
                      </m:r>
                      <m:r>
                        <a:rPr lang="en-US" i="1" dirty="0" smtClean="0">
                          <a:latin typeface="Cambria Math"/>
                        </a:rPr>
                        <m:t>| + |</m:t>
                      </m:r>
                      <m:r>
                        <m:rPr>
                          <m:nor/>
                        </m:rPr>
                        <a:rPr lang="en-US" b="0" i="0" dirty="0" smtClean="0">
                          <a:latin typeface="Gisha" panose="020B0502040204020203" pitchFamily="34" charset="-79"/>
                          <a:cs typeface="Gisha" panose="020B0502040204020203" pitchFamily="34" charset="-79"/>
                        </a:rPr>
                        <m:t>→</m:t>
                      </m:r>
                      <m:r>
                        <a:rPr lang="en-US" i="1" dirty="0" smtClean="0">
                          <a:latin typeface="Cambria Math"/>
                        </a:rPr>
                        <m:t>|</m:t>
                      </m:r>
                    </m:oMath>
                  </m:oMathPara>
                </a14:m>
                <a:endParaRPr lang="en-US" dirty="0">
                  <a:latin typeface="Gisha" panose="020B0502040204020203" pitchFamily="34" charset="-79"/>
                  <a:cs typeface="Gisha" panose="020B0502040204020203" pitchFamily="34" charset="-79"/>
                </a:endParaRPr>
              </a:p>
              <a:p>
                <a:pPr marL="320040" lvl="1" indent="0">
                  <a:buNone/>
                </a:pPr>
                <a:r>
                  <a:rPr lang="he-IL" dirty="0">
                    <a:latin typeface="Gisha" panose="020B0502040204020203" pitchFamily="34" charset="-79"/>
                    <a:cs typeface="Gisha" panose="020B0502040204020203" pitchFamily="34" charset="-79"/>
                  </a:rPr>
                  <a:t>מספר המצבים פלוס מספר המעברים.</a:t>
                </a:r>
              </a:p>
              <a:p>
                <a:pPr marL="320040" lvl="1" indent="0">
                  <a:buNone/>
                </a:pPr>
                <a:endParaRPr lang="en-US" dirty="0">
                  <a:latin typeface="Gisha" panose="020B0502040204020203" pitchFamily="34" charset="-79"/>
                  <a:cs typeface="Gisha" panose="020B0502040204020203" pitchFamily="34" charset="-79"/>
                </a:endParaRPr>
              </a:p>
              <a:p>
                <a:r>
                  <a:rPr lang="he-IL" dirty="0">
                    <a:latin typeface="Gisha" panose="020B0502040204020203" pitchFamily="34" charset="-79"/>
                    <a:cs typeface="Gisha" panose="020B0502040204020203" pitchFamily="34" charset="-79"/>
                  </a:rPr>
                  <a:t>גודל מערכות מעברים עבור</a:t>
                </a:r>
              </a:p>
              <a:p>
                <a:pPr lvl="1"/>
                <a:r>
                  <a:rPr lang="he-IL" dirty="0">
                    <a:latin typeface="Gisha" panose="020B0502040204020203" pitchFamily="34" charset="-79"/>
                    <a:cs typeface="Gisha" panose="020B0502040204020203" pitchFamily="34" charset="-79"/>
                  </a:rPr>
                  <a:t>גרף תוכנית: </a:t>
                </a:r>
                <a:r>
                  <a:rPr lang="he-IL" dirty="0" err="1">
                    <a:solidFill>
                      <a:srgbClr val="FF0000"/>
                    </a:solidFill>
                    <a:latin typeface="Gisha" panose="020B0502040204020203" pitchFamily="34" charset="-79"/>
                    <a:cs typeface="Gisha" panose="020B0502040204020203" pitchFamily="34" charset="-79"/>
                  </a:rPr>
                  <a:t>אקספוננציאלי</a:t>
                </a:r>
                <a:r>
                  <a:rPr lang="he-IL" dirty="0">
                    <a:latin typeface="Gisha" panose="020B0502040204020203" pitchFamily="34" charset="-79"/>
                    <a:cs typeface="Gisha" panose="020B0502040204020203" pitchFamily="34" charset="-79"/>
                  </a:rPr>
                  <a:t> במספר המשתנים</a:t>
                </a:r>
              </a:p>
              <a:p>
                <a:pPr lvl="1"/>
                <a:r>
                  <a:rPr lang="he-IL" dirty="0">
                    <a:latin typeface="Gisha" panose="020B0502040204020203" pitchFamily="34" charset="-79"/>
                    <a:cs typeface="Gisha" panose="020B0502040204020203" pitchFamily="34" charset="-79"/>
                  </a:rPr>
                  <a:t>מערכות מקביליות: </a:t>
                </a:r>
                <a:r>
                  <a:rPr lang="he-IL" dirty="0" err="1">
                    <a:solidFill>
                      <a:srgbClr val="FF0000"/>
                    </a:solidFill>
                    <a:latin typeface="Gisha" panose="020B0502040204020203" pitchFamily="34" charset="-79"/>
                    <a:cs typeface="Gisha" panose="020B0502040204020203" pitchFamily="34" charset="-79"/>
                  </a:rPr>
                  <a:t>אקספוננציאלי</a:t>
                </a:r>
                <a:r>
                  <a:rPr lang="he-IL" dirty="0">
                    <a:latin typeface="Gisha" panose="020B0502040204020203" pitchFamily="34" charset="-79"/>
                    <a:cs typeface="Gisha" panose="020B0502040204020203" pitchFamily="34" charset="-79"/>
                  </a:rPr>
                  <a:t> במספר הרכיבים</a:t>
                </a:r>
              </a:p>
              <a:p>
                <a:pPr lvl="1"/>
                <a:r>
                  <a:rPr lang="he-IL" dirty="0">
                    <a:latin typeface="Gisha" panose="020B0502040204020203" pitchFamily="34" charset="-79"/>
                    <a:cs typeface="Gisha" panose="020B0502040204020203" pitchFamily="34" charset="-79"/>
                  </a:rPr>
                  <a:t>מערכות ערוצים: </a:t>
                </a:r>
                <a:r>
                  <a:rPr lang="he-IL" dirty="0">
                    <a:solidFill>
                      <a:srgbClr val="FF0000"/>
                    </a:solidFill>
                    <a:latin typeface="Gisha" panose="020B0502040204020203" pitchFamily="34" charset="-79"/>
                    <a:cs typeface="Gisha" panose="020B0502040204020203" pitchFamily="34" charset="-79"/>
                  </a:rPr>
                  <a:t>אקספוננציאלי</a:t>
                </a:r>
                <a:r>
                  <a:rPr lang="he-IL" dirty="0">
                    <a:latin typeface="Gisha" panose="020B0502040204020203" pitchFamily="34" charset="-79"/>
                    <a:cs typeface="Gisha" panose="020B0502040204020203" pitchFamily="34" charset="-79"/>
                  </a:rPr>
                  <a:t> במספר הערוצים</a:t>
                </a:r>
              </a:p>
              <a:p>
                <a:pPr lvl="1"/>
                <a:endParaRPr lang="he-IL" dirty="0">
                  <a:latin typeface="Gisha" panose="020B0502040204020203" pitchFamily="34" charset="-79"/>
                  <a:cs typeface="Gisha" panose="020B0502040204020203" pitchFamily="34" charset="-79"/>
                </a:endParaRPr>
              </a:p>
              <a:p>
                <a:pPr lvl="1"/>
                <a:endParaRPr lang="en-US" dirty="0">
                  <a:latin typeface="Gisha" panose="020B0502040204020203" pitchFamily="34" charset="-79"/>
                  <a:cs typeface="Gisha" panose="020B0502040204020203" pitchFamily="34" charset="-79"/>
                </a:endParaRPr>
              </a:p>
              <a:p>
                <a:pPr lvl="1">
                  <a:buNone/>
                </a:pPr>
                <a:endParaRPr lang="he-IL" dirty="0">
                  <a:latin typeface="Gisha" panose="020B0502040204020203" pitchFamily="34" charset="-79"/>
                  <a:cs typeface="Gisha" panose="020B0502040204020203" pitchFamily="34" charset="-79"/>
                </a:endParaRPr>
              </a:p>
              <a:p>
                <a:pPr lvl="1"/>
                <a:endParaRPr lang="en-US" dirty="0">
                  <a:latin typeface="Gisha" panose="020B0502040204020203" pitchFamily="34" charset="-79"/>
                  <a:cs typeface="Gisha" panose="020B0502040204020203" pitchFamily="34" charset="-79"/>
                </a:endParaRPr>
              </a:p>
            </p:txBody>
          </p:sp>
        </mc:Choice>
        <mc:Fallback xmlns="">
          <p:sp>
            <p:nvSpPr>
              <p:cNvPr id="6" name="Content Placeholder 5"/>
              <p:cNvSpPr>
                <a:spLocks noGrp="1" noRot="1" noChangeAspect="1" noMove="1" noResize="1" noEditPoints="1" noAdjustHandles="1" noChangeArrowheads="1" noChangeShapeType="1" noTextEdit="1"/>
              </p:cNvSpPr>
              <p:nvPr>
                <p:ph sz="quarter" idx="1"/>
              </p:nvPr>
            </p:nvSpPr>
            <p:spPr>
              <a:xfrm>
                <a:off x="304800" y="1371434"/>
                <a:ext cx="8763000" cy="5181600"/>
              </a:xfrm>
              <a:blipFill>
                <a:blip r:embed="rId2"/>
                <a:stretch>
                  <a:fillRect t="-1176" r="-695" b="-25765"/>
                </a:stretch>
              </a:blipFill>
            </p:spPr>
            <p:txBody>
              <a:bodyPr/>
              <a:lstStyle/>
              <a:p>
                <a:r>
                  <a:rPr lang="he-IL">
                    <a:noFill/>
                  </a:rPr>
                  <a:t> </a:t>
                </a:r>
              </a:p>
            </p:txBody>
          </p:sp>
        </mc:Fallback>
      </mc:AlternateContent>
      <p:pic>
        <p:nvPicPr>
          <p:cNvPr id="1026" name="Picture 2" descr="https://sophosnews.files.wordpress.com/2014/08/malware_ss_1701.jpg?w=640"/>
          <p:cNvPicPr>
            <a:picLocks noChangeAspect="1" noChangeArrowheads="1"/>
          </p:cNvPicPr>
          <p:nvPr/>
        </p:nvPicPr>
        <p:blipFill>
          <a:blip r:embed="rId3">
            <a:clrChange>
              <a:clrFrom>
                <a:srgbClr val="FFFDFE"/>
              </a:clrFrom>
              <a:clrTo>
                <a:srgbClr val="FFFDFE">
                  <a:alpha val="0"/>
                </a:srgbClr>
              </a:clrTo>
            </a:clrChange>
            <a:extLst>
              <a:ext uri="{28A0092B-C50C-407E-A947-70E740481C1C}">
                <a14:useLocalDpi xmlns:a14="http://schemas.microsoft.com/office/drawing/2010/main" val="0"/>
              </a:ext>
            </a:extLst>
          </a:blip>
          <a:srcRect/>
          <a:stretch>
            <a:fillRect/>
          </a:stretch>
        </p:blipFill>
        <p:spPr bwMode="auto">
          <a:xfrm>
            <a:off x="533400" y="3538269"/>
            <a:ext cx="1828800" cy="1733385"/>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528047" y="4114800"/>
            <a:ext cx="39624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8" name="Rectangle 7"/>
          <p:cNvSpPr/>
          <p:nvPr/>
        </p:nvSpPr>
        <p:spPr>
          <a:xfrm>
            <a:off x="2528047" y="1940859"/>
            <a:ext cx="39624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2" name="Title 1"/>
          <p:cNvSpPr>
            <a:spLocks noGrp="1"/>
          </p:cNvSpPr>
          <p:nvPr>
            <p:ph type="title"/>
          </p:nvPr>
        </p:nvSpPr>
        <p:spPr/>
        <p:txBody>
          <a:bodyPr/>
          <a:lstStyle/>
          <a:p>
            <a:r>
              <a:rPr lang="he-IL" dirty="0">
                <a:latin typeface="Gisha" panose="020B0502040204020203" pitchFamily="34" charset="-79"/>
                <a:cs typeface="Gisha" panose="020B0502040204020203" pitchFamily="34" charset="-79"/>
              </a:rPr>
              <a:t>מערכות מעברים מגרף תוכנית</a:t>
            </a:r>
            <a:endParaRPr lang="en-US"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p:txBody>
          <a:bodyPr/>
          <a:lstStyle/>
          <a:p>
            <a:fld id="{A7F926B5-663A-4127-A287-7B83208B40AD}"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p:txBody>
          <a:bodyPr/>
          <a:lstStyle/>
          <a:p>
            <a:fld id="{021A1DA9-A2DD-4375-8887-E40ACC834D3F}" type="slidenum">
              <a:rPr lang="he-IL" smtClean="0">
                <a:latin typeface="Gisha" panose="020B0502040204020203" pitchFamily="34" charset="-79"/>
                <a:cs typeface="Gisha" panose="020B0502040204020203" pitchFamily="34" charset="-79"/>
              </a:rPr>
              <a:pPr/>
              <a:t>5</a:t>
            </a:fld>
            <a:endParaRPr lang="he-IL" dirty="0">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304800" y="1295400"/>
                <a:ext cx="8382000" cy="5105400"/>
              </a:xfrm>
            </p:spPr>
            <p:txBody>
              <a:bodyPr>
                <a:normAutofit fontScale="92500"/>
              </a:bodyPr>
              <a:lstStyle/>
              <a:p>
                <a:pPr>
                  <a:spcAft>
                    <a:spcPts val="1800"/>
                  </a:spcAft>
                </a:pPr>
                <a:r>
                  <a:rPr lang="he-IL" sz="2400" dirty="0">
                    <a:solidFill>
                      <a:srgbClr val="0000FF"/>
                    </a:solidFill>
                    <a:latin typeface="Gisha" panose="020B0502040204020203" pitchFamily="34" charset="-79"/>
                    <a:cs typeface="Gisha" panose="020B0502040204020203" pitchFamily="34" charset="-79"/>
                  </a:rPr>
                  <a:t>מספר המצבים במערכת מעברים הנפרשת מגרף תוכנית</a:t>
                </a:r>
                <a:endParaRPr lang="en-US" sz="2400" dirty="0">
                  <a:solidFill>
                    <a:srgbClr val="0000FF"/>
                  </a:solidFill>
                  <a:latin typeface="Gisha" panose="020B0502040204020203" pitchFamily="34" charset="-79"/>
                  <a:cs typeface="Gisha" panose="020B0502040204020203" pitchFamily="34" charset="-79"/>
                </a:endParaRPr>
              </a:p>
              <a:p>
                <a:pPr marL="0" indent="0" algn="ctr" rtl="0">
                  <a:spcBef>
                    <a:spcPts val="1800"/>
                  </a:spcBef>
                  <a:spcAft>
                    <a:spcPts val="1800"/>
                  </a:spcAft>
                  <a:buNone/>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𝑙𝑜𝑐𝑎𝑡𝑖𝑜𝑛𝑠</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𝑥</m:t>
                          </m:r>
                          <m:r>
                            <a:rPr lang="en-US" sz="2400" b="0" i="1" smtClean="0">
                              <a:latin typeface="Cambria Math" panose="02040503050406030204" pitchFamily="18" charset="0"/>
                            </a:rPr>
                            <m:t> ∈ </m:t>
                          </m:r>
                          <m:r>
                            <a:rPr lang="en-US" sz="2400" b="0" i="1" smtClean="0">
                              <a:latin typeface="Cambria Math" panose="02040503050406030204" pitchFamily="18" charset="0"/>
                            </a:rPr>
                            <m:t>𝑉𝑎𝑟</m:t>
                          </m:r>
                        </m:sub>
                        <m:sup/>
                        <m:e>
                          <m:r>
                            <a:rPr lang="en-US" sz="2400" b="0" i="1" smtClean="0">
                              <a:latin typeface="Cambria Math" panose="02040503050406030204" pitchFamily="18" charset="0"/>
                            </a:rPr>
                            <m:t>|</m:t>
                          </m:r>
                          <m:r>
                            <a:rPr lang="en-US" sz="2400" b="0" i="1" smtClean="0">
                              <a:latin typeface="Cambria Math" panose="02040503050406030204" pitchFamily="18" charset="0"/>
                            </a:rPr>
                            <m:t>𝑑𝑜𝑚</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e>
                      </m:nary>
                    </m:oMath>
                  </m:oMathPara>
                </a14:m>
                <a:endParaRPr lang="en-US" sz="2400" dirty="0">
                  <a:latin typeface="Gisha" panose="020B0502040204020203" pitchFamily="34" charset="-79"/>
                  <a:cs typeface="Gisha" panose="020B0502040204020203" pitchFamily="34" charset="-79"/>
                </a:endParaRPr>
              </a:p>
              <a:p>
                <a:pPr>
                  <a:spcAft>
                    <a:spcPts val="1800"/>
                  </a:spcAft>
                </a:pPr>
                <a:r>
                  <a:rPr lang="he-IL" sz="2400" dirty="0">
                    <a:latin typeface="Gisha" panose="020B0502040204020203" pitchFamily="34" charset="-79"/>
                    <a:cs typeface="Gisha" panose="020B0502040204020203" pitchFamily="34" charset="-79"/>
                  </a:rPr>
                  <a:t>מסקנה: מספר המצבים גדל </a:t>
                </a:r>
                <a:r>
                  <a:rPr lang="he-IL" sz="2400" dirty="0" err="1">
                    <a:solidFill>
                      <a:srgbClr val="FF0000"/>
                    </a:solidFill>
                    <a:latin typeface="Gisha" panose="020B0502040204020203" pitchFamily="34" charset="-79"/>
                    <a:cs typeface="Gisha" panose="020B0502040204020203" pitchFamily="34" charset="-79"/>
                  </a:rPr>
                  <a:t>אקפוננציאלית</a:t>
                </a:r>
                <a:r>
                  <a:rPr lang="he-IL" sz="2400" dirty="0">
                    <a:latin typeface="Gisha" panose="020B0502040204020203" pitchFamily="34" charset="-79"/>
                    <a:cs typeface="Gisha" panose="020B0502040204020203" pitchFamily="34" charset="-79"/>
                  </a:rPr>
                  <a:t> עם מספר המשתנים.</a:t>
                </a:r>
              </a:p>
              <a:p>
                <a:pPr>
                  <a:spcAft>
                    <a:spcPts val="1800"/>
                  </a:spcAft>
                </a:pPr>
                <a:r>
                  <a:rPr lang="he-IL" sz="2400" dirty="0">
                    <a:latin typeface="Gisha" panose="020B0502040204020203" pitchFamily="34" charset="-79"/>
                    <a:cs typeface="Gisha" panose="020B0502040204020203" pitchFamily="34" charset="-79"/>
                  </a:rPr>
                  <a:t>תוכנית עם </a:t>
                </a:r>
                <a14:m>
                  <m:oMath xmlns:m="http://schemas.openxmlformats.org/officeDocument/2006/math">
                    <m:r>
                      <a:rPr lang="en-US" sz="2400" i="1" dirty="0" smtClean="0">
                        <a:latin typeface="Cambria Math" panose="02040503050406030204" pitchFamily="18" charset="0"/>
                      </a:rPr>
                      <m:t>10</m:t>
                    </m:r>
                  </m:oMath>
                </a14:m>
                <a:r>
                  <a:rPr lang="he-IL" sz="2400" dirty="0">
                    <a:latin typeface="Gisha" panose="020B0502040204020203" pitchFamily="34" charset="-79"/>
                    <a:cs typeface="Gisha" panose="020B0502040204020203" pitchFamily="34" charset="-79"/>
                  </a:rPr>
                  <a:t> מקומות, </a:t>
                </a:r>
                <a14:m>
                  <m:oMath xmlns:m="http://schemas.openxmlformats.org/officeDocument/2006/math">
                    <m:r>
                      <a:rPr lang="en-US" sz="2400" i="1" dirty="0" smtClean="0">
                        <a:latin typeface="Cambria Math" panose="02040503050406030204" pitchFamily="18" charset="0"/>
                      </a:rPr>
                      <m:t>3</m:t>
                    </m:r>
                  </m:oMath>
                </a14:m>
                <a:r>
                  <a:rPr lang="he-IL" sz="2400" dirty="0">
                    <a:latin typeface="Gisha" panose="020B0502040204020203" pitchFamily="34" charset="-79"/>
                    <a:cs typeface="Gisha" panose="020B0502040204020203" pitchFamily="34" charset="-79"/>
                  </a:rPr>
                  <a:t> משתנים בוליאניים ו-</a:t>
                </a:r>
                <a14:m>
                  <m:oMath xmlns:m="http://schemas.openxmlformats.org/officeDocument/2006/math">
                    <m:r>
                      <a:rPr lang="en-US" sz="2400" i="1" dirty="0" smtClean="0">
                        <a:latin typeface="Cambria Math" panose="02040503050406030204" pitchFamily="18" charset="0"/>
                      </a:rPr>
                      <m:t>5</m:t>
                    </m:r>
                  </m:oMath>
                </a14:m>
                <a:r>
                  <a:rPr lang="he-IL" sz="2400" dirty="0">
                    <a:latin typeface="Gisha" panose="020B0502040204020203" pitchFamily="34" charset="-79"/>
                    <a:cs typeface="Gisha" panose="020B0502040204020203" pitchFamily="34" charset="-79"/>
                  </a:rPr>
                  <a:t> משתנים בטווח </a:t>
                </a:r>
                <a14:m>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smtClean="0">
                        <a:latin typeface="Cambria Math" panose="02040503050406030204" pitchFamily="18" charset="0"/>
                      </a:rPr>
                      <m:t>9</m:t>
                    </m:r>
                  </m:oMath>
                </a14:m>
                <a:endParaRPr lang="he-IL" sz="2400" dirty="0">
                  <a:latin typeface="Gisha" panose="020B0502040204020203" pitchFamily="34" charset="-79"/>
                  <a:cs typeface="Gisha" panose="020B0502040204020203" pitchFamily="34" charset="-79"/>
                </a:endParaRPr>
              </a:p>
              <a:p>
                <a:pPr marL="0" indent="0" algn="ctr">
                  <a:spcAft>
                    <a:spcPts val="1800"/>
                  </a:spcAf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10</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3</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r>
                        <a:rPr lang="en-US" sz="2400" b="0" i="1" smtClean="0">
                          <a:latin typeface="Cambria Math" panose="02040503050406030204" pitchFamily="18" charset="0"/>
                        </a:rPr>
                        <m:t>=</m:t>
                      </m:r>
                      <m:r>
                        <a:rPr lang="en-US" sz="2400" b="0" i="1" smtClean="0">
                          <a:solidFill>
                            <a:srgbClr val="FF0000"/>
                          </a:solidFill>
                          <a:latin typeface="Cambria Math" panose="02040503050406030204" pitchFamily="18" charset="0"/>
                        </a:rPr>
                        <m:t>8</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000</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000</m:t>
                      </m:r>
                    </m:oMath>
                  </m:oMathPara>
                </a14:m>
                <a:endParaRPr lang="he-IL" sz="2400" dirty="0">
                  <a:latin typeface="Gisha" panose="020B0502040204020203" pitchFamily="34" charset="-79"/>
                  <a:cs typeface="Gisha" panose="020B0502040204020203" pitchFamily="34" charset="-79"/>
                </a:endParaRPr>
              </a:p>
              <a:p>
                <a:pPr>
                  <a:spcAft>
                    <a:spcPts val="1800"/>
                  </a:spcAft>
                </a:pPr>
                <a:r>
                  <a:rPr lang="he-IL" sz="2400" dirty="0">
                    <a:latin typeface="Gisha" panose="020B0502040204020203" pitchFamily="34" charset="-79"/>
                    <a:cs typeface="Gisha" panose="020B0502040204020203" pitchFamily="34" charset="-79"/>
                  </a:rPr>
                  <a:t>הוספת וקטור של </a:t>
                </a:r>
                <a14:m>
                  <m:oMath xmlns:m="http://schemas.openxmlformats.org/officeDocument/2006/math">
                    <m:r>
                      <a:rPr lang="en-US" sz="2400" i="1" dirty="0" smtClean="0">
                        <a:latin typeface="Cambria Math" panose="02040503050406030204" pitchFamily="18" charset="0"/>
                      </a:rPr>
                      <m:t>50</m:t>
                    </m:r>
                  </m:oMath>
                </a14:m>
                <a:r>
                  <a:rPr lang="he-IL" sz="2400" dirty="0">
                    <a:latin typeface="Gisha" panose="020B0502040204020203" pitchFamily="34" charset="-79"/>
                    <a:cs typeface="Gisha" panose="020B0502040204020203" pitchFamily="34" charset="-79"/>
                  </a:rPr>
                  <a:t> ביטים נותנת  </a:t>
                </a:r>
                <a14:m>
                  <m:oMath xmlns:m="http://schemas.openxmlformats.org/officeDocument/2006/math">
                    <m:r>
                      <a:rPr lang="en-US" sz="2400" i="1" dirty="0" smtClean="0">
                        <a:solidFill>
                          <a:srgbClr val="FF0000"/>
                        </a:solidFill>
                        <a:latin typeface="Cambria Math" panose="02040503050406030204" pitchFamily="18" charset="0"/>
                      </a:rPr>
                      <m:t>8</m:t>
                    </m:r>
                    <m:r>
                      <a:rPr lang="en-US" sz="2400" b="0" i="1" dirty="0" smtClean="0">
                        <a:solidFill>
                          <a:srgbClr val="FF0000"/>
                        </a:solidFill>
                        <a:latin typeface="Cambria Math" panose="02040503050406030204" pitchFamily="18" charset="0"/>
                      </a:rPr>
                      <m:t>,</m:t>
                    </m:r>
                    <m:r>
                      <a:rPr lang="en-US" sz="2400" b="0" i="1" dirty="0" smtClean="0">
                        <a:solidFill>
                          <a:srgbClr val="FF0000"/>
                        </a:solidFill>
                        <a:latin typeface="Cambria Math" panose="02040503050406030204" pitchFamily="18" charset="0"/>
                      </a:rPr>
                      <m:t>000</m:t>
                    </m:r>
                    <m:r>
                      <a:rPr lang="en-US" sz="2400" i="1" dirty="0" smtClean="0">
                        <a:solidFill>
                          <a:srgbClr val="FF0000"/>
                        </a:solidFill>
                        <a:latin typeface="Cambria Math" panose="02040503050406030204" pitchFamily="18" charset="0"/>
                      </a:rPr>
                      <m:t>,</m:t>
                    </m:r>
                    <m:r>
                      <a:rPr lang="en-US" sz="2400" i="1" dirty="0" smtClean="0">
                        <a:solidFill>
                          <a:srgbClr val="FF0000"/>
                        </a:solidFill>
                        <a:latin typeface="Cambria Math" panose="02040503050406030204" pitchFamily="18" charset="0"/>
                      </a:rPr>
                      <m:t>000</m:t>
                    </m:r>
                    <m:r>
                      <a:rPr lang="en-US" sz="2400" b="0" i="1" dirty="0" smtClean="0">
                        <a:solidFill>
                          <a:srgbClr val="FF0000"/>
                        </a:solidFill>
                        <a:latin typeface="Cambria Math" panose="02040503050406030204" pitchFamily="18" charset="0"/>
                      </a:rPr>
                      <m:t>⋅</m:t>
                    </m:r>
                    <m:sSup>
                      <m:sSupPr>
                        <m:ctrlPr>
                          <a:rPr lang="en-US" sz="2400" b="0" i="1" dirty="0" smtClean="0">
                            <a:solidFill>
                              <a:srgbClr val="FF0000"/>
                            </a:solidFill>
                            <a:latin typeface="Cambria Math" panose="02040503050406030204" pitchFamily="18" charset="0"/>
                          </a:rPr>
                        </m:ctrlPr>
                      </m:sSupPr>
                      <m:e>
                        <m:r>
                          <a:rPr lang="en-US" sz="2400" b="0" i="1" dirty="0" smtClean="0">
                            <a:solidFill>
                              <a:srgbClr val="FF0000"/>
                            </a:solidFill>
                            <a:latin typeface="Cambria Math" panose="02040503050406030204" pitchFamily="18" charset="0"/>
                          </a:rPr>
                          <m:t>2</m:t>
                        </m:r>
                      </m:e>
                      <m:sup>
                        <m:r>
                          <a:rPr lang="en-US" sz="2400" b="0" i="1" dirty="0" smtClean="0">
                            <a:solidFill>
                              <a:srgbClr val="FF0000"/>
                            </a:solidFill>
                            <a:latin typeface="Cambria Math" panose="02040503050406030204" pitchFamily="18" charset="0"/>
                          </a:rPr>
                          <m:t>50</m:t>
                        </m:r>
                      </m:sup>
                    </m:sSup>
                  </m:oMath>
                </a14:m>
                <a:r>
                  <a:rPr lang="he-IL" sz="2400" baseline="30000" dirty="0">
                    <a:latin typeface="Gisha" panose="020B0502040204020203" pitchFamily="34" charset="-79"/>
                    <a:cs typeface="Gisha" panose="020B0502040204020203" pitchFamily="34" charset="-79"/>
                  </a:rPr>
                  <a:t>  </a:t>
                </a:r>
                <a:r>
                  <a:rPr lang="he-IL" sz="2400" dirty="0">
                    <a:latin typeface="Gisha" panose="020B0502040204020203" pitchFamily="34" charset="-79"/>
                    <a:cs typeface="Gisha" panose="020B0502040204020203" pitchFamily="34" charset="-79"/>
                  </a:rPr>
                  <a:t>מצבים!</a:t>
                </a:r>
              </a:p>
              <a:p>
                <a:pPr>
                  <a:spcAft>
                    <a:spcPts val="1800"/>
                  </a:spcAft>
                </a:pPr>
                <a:r>
                  <a:rPr lang="he-IL" sz="2400" dirty="0">
                    <a:latin typeface="Gisha" panose="020B0502040204020203" pitchFamily="34" charset="-79"/>
                    <a:cs typeface="Gisha" panose="020B0502040204020203" pitchFamily="34" charset="-79"/>
                  </a:rPr>
                  <a:t>לזה קוראים "</a:t>
                </a:r>
                <a:r>
                  <a:rPr lang="he-IL" sz="2400" dirty="0">
                    <a:solidFill>
                      <a:srgbClr val="FF0000"/>
                    </a:solidFill>
                    <a:latin typeface="Gisha" panose="020B0502040204020203" pitchFamily="34" charset="-79"/>
                    <a:cs typeface="Gisha" panose="020B0502040204020203" pitchFamily="34" charset="-79"/>
                  </a:rPr>
                  <a:t>בעיית ריבוי המצבים</a:t>
                </a:r>
                <a:r>
                  <a:rPr lang="he-IL" sz="2400" dirty="0">
                    <a:latin typeface="Gisha" panose="020B0502040204020203" pitchFamily="34" charset="-79"/>
                    <a:cs typeface="Gisha" panose="020B0502040204020203" pitchFamily="34" charset="-79"/>
                  </a:rPr>
                  <a:t>"</a:t>
                </a:r>
                <a:r>
                  <a:rPr lang="en-US" sz="2400" dirty="0">
                    <a:latin typeface="Gisha" panose="020B0502040204020203" pitchFamily="34" charset="-79"/>
                    <a:cs typeface="Gisha" panose="020B0502040204020203" pitchFamily="34" charset="-79"/>
                  </a:rPr>
                  <a:t>- </a:t>
                </a:r>
                <a:r>
                  <a:rPr lang="he-IL" sz="2400" dirty="0">
                    <a:latin typeface="Gisha" panose="020B0502040204020203" pitchFamily="34" charset="-79"/>
                    <a:cs typeface="Gisha" panose="020B0502040204020203" pitchFamily="34" charset="-79"/>
                  </a:rPr>
                  <a:t> </a:t>
                </a:r>
                <a:r>
                  <a:rPr lang="en-US" sz="2400" dirty="0">
                    <a:solidFill>
                      <a:srgbClr val="FF0000"/>
                    </a:solidFill>
                    <a:latin typeface="Gisha" panose="020B0502040204020203" pitchFamily="34" charset="-79"/>
                    <a:cs typeface="Gisha" panose="020B0502040204020203" pitchFamily="34" charset="-79"/>
                  </a:rPr>
                  <a:t>state explosion problem</a:t>
                </a:r>
              </a:p>
              <a:p>
                <a:pPr>
                  <a:spcAft>
                    <a:spcPts val="1800"/>
                  </a:spcAft>
                </a:pPr>
                <a:endParaRPr lang="en-US" sz="2400" dirty="0">
                  <a:latin typeface="Gisha" panose="020B0502040204020203" pitchFamily="34" charset="-79"/>
                  <a:cs typeface="Gisha" panose="020B0502040204020203" pitchFamily="34" charset="-79"/>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304800" y="1295400"/>
                <a:ext cx="8382000" cy="5105400"/>
              </a:xfrm>
              <a:blipFill>
                <a:blip r:embed="rId2"/>
                <a:stretch>
                  <a:fillRect t="-836" r="-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524000" y="6172200"/>
                <a:ext cx="6553200" cy="369332"/>
              </a:xfrm>
              <a:prstGeom prst="rect">
                <a:avLst/>
              </a:prstGeom>
              <a:solidFill>
                <a:srgbClr val="FFFF00"/>
              </a:solidFill>
            </p:spPr>
            <p:txBody>
              <a:bodyPr wrap="square">
                <a:spAutoFit/>
              </a:bodyPr>
              <a:lstStyle/>
              <a:p>
                <a:pPr algn="ctr"/>
                <a:r>
                  <a:rPr lang="he-IL" dirty="0">
                    <a:solidFill>
                      <a:schemeClr val="accent2">
                        <a:lumMod val="75000"/>
                      </a:schemeClr>
                    </a:solidFill>
                    <a:latin typeface="Gisha" panose="020B0502040204020203" pitchFamily="34" charset="-79"/>
                    <a:cs typeface="Gisha" panose="020B0502040204020203" pitchFamily="34" charset="-79"/>
                  </a:rPr>
                  <a:t>להשוואה: מספר החלקיקים היסודיים ביקום מוערך בסביבות ה-‎</a:t>
                </a:r>
                <a14:m>
                  <m:oMath xmlns:m="http://schemas.openxmlformats.org/officeDocument/2006/math">
                    <m:sSup>
                      <m:sSupPr>
                        <m:ctrlPr>
                          <a:rPr lang="he-IL" b="0" i="1" dirty="0" smtClean="0">
                            <a:solidFill>
                              <a:schemeClr val="accent2">
                                <a:lumMod val="75000"/>
                              </a:schemeClr>
                            </a:solidFill>
                            <a:latin typeface="Cambria Math" panose="02040503050406030204" pitchFamily="18" charset="0"/>
                          </a:rPr>
                        </m:ctrlPr>
                      </m:sSupPr>
                      <m:e>
                        <m:r>
                          <a:rPr lang="he-IL" i="1" dirty="0" smtClean="0">
                            <a:solidFill>
                              <a:schemeClr val="accent2">
                                <a:lumMod val="75000"/>
                              </a:schemeClr>
                            </a:solidFill>
                            <a:latin typeface="Cambria Math" panose="02040503050406030204" pitchFamily="18" charset="0"/>
                          </a:rPr>
                          <m:t>10</m:t>
                        </m:r>
                      </m:e>
                      <m:sup>
                        <m:r>
                          <a:rPr lang="he-IL" i="1" dirty="0" smtClean="0">
                            <a:solidFill>
                              <a:schemeClr val="accent2">
                                <a:lumMod val="75000"/>
                              </a:schemeClr>
                            </a:solidFill>
                            <a:latin typeface="Cambria Math" panose="02040503050406030204" pitchFamily="18" charset="0"/>
                          </a:rPr>
                          <m:t>80</m:t>
                        </m:r>
                      </m:sup>
                    </m:sSup>
                  </m:oMath>
                </a14:m>
                <a:r>
                  <a:rPr lang="he-IL" dirty="0">
                    <a:solidFill>
                      <a:schemeClr val="accent2">
                        <a:lumMod val="75000"/>
                      </a:schemeClr>
                    </a:solidFill>
                    <a:latin typeface="Gisha" panose="020B0502040204020203" pitchFamily="34" charset="-79"/>
                    <a:cs typeface="Gisha" panose="020B0502040204020203" pitchFamily="34" charset="-79"/>
                  </a:rPr>
                  <a:t>‎</a:t>
                </a:r>
                <a:endParaRPr lang="en-US" dirty="0">
                  <a:solidFill>
                    <a:schemeClr val="accent2">
                      <a:lumMod val="75000"/>
                    </a:schemeClr>
                  </a:solidFill>
                  <a:latin typeface="Gisha" panose="020B0502040204020203" pitchFamily="34" charset="-79"/>
                  <a:cs typeface="Gisha" panose="020B0502040204020203" pitchFamily="34" charset="-79"/>
                </a:endParaRPr>
              </a:p>
            </p:txBody>
          </p:sp>
        </mc:Choice>
        <mc:Fallback xmlns="">
          <p:sp>
            <p:nvSpPr>
              <p:cNvPr id="6" name="Rectangle 5"/>
              <p:cNvSpPr>
                <a:spLocks noRot="1" noChangeAspect="1" noMove="1" noResize="1" noEditPoints="1" noAdjustHandles="1" noChangeArrowheads="1" noChangeShapeType="1" noTextEdit="1"/>
              </p:cNvSpPr>
              <p:nvPr/>
            </p:nvSpPr>
            <p:spPr>
              <a:xfrm>
                <a:off x="1524000" y="6172200"/>
                <a:ext cx="6553200" cy="369332"/>
              </a:xfrm>
              <a:prstGeom prst="rect">
                <a:avLst/>
              </a:prstGeom>
              <a:blipFill>
                <a:blip r:embed="rId3"/>
                <a:stretch>
                  <a:fillRect t="-10000" b="-25000"/>
                </a:stretch>
              </a:blipFill>
            </p:spPr>
            <p:txBody>
              <a:bodyPr/>
              <a:lstStyle/>
              <a:p>
                <a:r>
                  <a:rPr lang="en-US">
                    <a:noFill/>
                  </a:rPr>
                  <a:t> </a:t>
                </a:r>
              </a:p>
            </p:txBody>
          </p:sp>
        </mc:Fallback>
      </mc:AlternateContent>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494" y="-76200"/>
            <a:ext cx="8686800" cy="1143000"/>
          </a:xfrm>
        </p:spPr>
        <p:txBody>
          <a:bodyPr/>
          <a:lstStyle/>
          <a:p>
            <a:r>
              <a:rPr lang="he-IL" sz="3600" dirty="0">
                <a:latin typeface="Gisha" panose="020B0502040204020203" pitchFamily="34" charset="-79"/>
                <a:cs typeface="Gisha" panose="020B0502040204020203" pitchFamily="34" charset="-79"/>
              </a:rPr>
              <a:t>תוכניות מקביליות</a:t>
            </a:r>
            <a:endParaRPr lang="en-US" sz="3600"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a:xfrm>
            <a:off x="6301793" y="6858000"/>
            <a:ext cx="2767853" cy="476250"/>
          </a:xfrm>
        </p:spPr>
        <p:txBody>
          <a:bodyPr/>
          <a:lstStyle/>
          <a:p>
            <a:fld id="{A7F926B5-663A-4127-A287-7B83208B40AD}" type="datetime8">
              <a:rPr lang="he-IL" sz="1200" smtClean="0">
                <a:latin typeface="Gisha" panose="020B0502040204020203" pitchFamily="34" charset="-79"/>
                <a:cs typeface="Gisha" panose="020B0502040204020203" pitchFamily="34" charset="-79"/>
              </a:rPr>
              <a:pPr/>
              <a:t>19 מאי 24</a:t>
            </a:fld>
            <a:endParaRPr lang="he-IL" sz="1200">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a:xfrm>
            <a:off x="-101512" y="152400"/>
            <a:ext cx="510988" cy="457200"/>
          </a:xfrm>
        </p:spPr>
        <p:txBody>
          <a:bodyPr/>
          <a:lstStyle/>
          <a:p>
            <a:fld id="{021A1DA9-A2DD-4375-8887-E40ACC834D3F}" type="slidenum">
              <a:rPr lang="he-IL" sz="1200" smtClean="0">
                <a:latin typeface="Gisha" panose="020B0502040204020203" pitchFamily="34" charset="-79"/>
                <a:cs typeface="Gisha" panose="020B0502040204020203" pitchFamily="34" charset="-79"/>
              </a:rPr>
              <a:pPr/>
              <a:t>6</a:t>
            </a:fld>
            <a:endParaRPr lang="he-IL" sz="1200" dirty="0">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228600" y="1524000"/>
                <a:ext cx="8686800" cy="4572000"/>
              </a:xfrm>
            </p:spPr>
            <p:txBody>
              <a:bodyPr>
                <a:normAutofit/>
              </a:bodyPr>
              <a:lstStyle/>
              <a:p>
                <a:pPr>
                  <a:spcBef>
                    <a:spcPts val="4200"/>
                  </a:spcBef>
                  <a:spcAft>
                    <a:spcPts val="2400"/>
                  </a:spcAft>
                </a:pPr>
                <a:r>
                  <a:rPr lang="he-IL" sz="2400" dirty="0">
                    <a:solidFill>
                      <a:srgbClr val="0000FF"/>
                    </a:solidFill>
                    <a:latin typeface="Gisha" panose="020B0502040204020203" pitchFamily="34" charset="-79"/>
                    <a:cs typeface="Gisha" panose="020B0502040204020203" pitchFamily="34" charset="-79"/>
                  </a:rPr>
                  <a:t>מספר המצבים </a:t>
                </a:r>
                <a:r>
                  <a:rPr lang="he-IL" sz="2400" dirty="0" smtClean="0">
                    <a:solidFill>
                      <a:srgbClr val="0000FF"/>
                    </a:solidFill>
                    <a:latin typeface="Gisha" panose="020B0502040204020203" pitchFamily="34" charset="-79"/>
                    <a:cs typeface="Gisha" panose="020B0502040204020203" pitchFamily="34" charset="-79"/>
                  </a:rPr>
                  <a:t>(הנגישים) ב-</a:t>
                </a:r>
                <a14:m>
                  <m:oMath xmlns:m="http://schemas.openxmlformats.org/officeDocument/2006/math">
                    <m:r>
                      <a:rPr lang="en-US" sz="2400" b="0" i="1" dirty="0" smtClean="0">
                        <a:solidFill>
                          <a:srgbClr val="0000FF"/>
                        </a:solidFill>
                        <a:latin typeface="Cambria Math" panose="02040503050406030204" pitchFamily="18" charset="0"/>
                      </a:rPr>
                      <m:t>𝑇𝑆</m:t>
                    </m:r>
                    <m:r>
                      <a:rPr lang="en-US" sz="2400" i="1" dirty="0" smtClean="0">
                        <a:solidFill>
                          <a:srgbClr val="0000FF"/>
                        </a:solidFill>
                        <a:latin typeface="Cambria Math" panose="02040503050406030204" pitchFamily="18" charset="0"/>
                      </a:rPr>
                      <m:t>=</m:t>
                    </m:r>
                    <m:sSub>
                      <m:sSubPr>
                        <m:ctrlPr>
                          <a:rPr lang="en-US" sz="2400" b="0" i="1" dirty="0" smtClean="0">
                            <a:solidFill>
                              <a:srgbClr val="0000FF"/>
                            </a:solidFill>
                            <a:latin typeface="Cambria Math" panose="02040503050406030204" pitchFamily="18" charset="0"/>
                          </a:rPr>
                        </m:ctrlPr>
                      </m:sSubPr>
                      <m:e>
                        <m:r>
                          <a:rPr lang="en-US" sz="2400" b="0" i="1" dirty="0" smtClean="0">
                            <a:solidFill>
                              <a:srgbClr val="0000FF"/>
                            </a:solidFill>
                            <a:latin typeface="Cambria Math" panose="02040503050406030204" pitchFamily="18" charset="0"/>
                          </a:rPr>
                          <m:t>𝑇𝑆</m:t>
                        </m:r>
                      </m:e>
                      <m:sub>
                        <m:r>
                          <a:rPr lang="en-US" sz="2400" b="0" i="1" dirty="0" smtClean="0">
                            <a:solidFill>
                              <a:srgbClr val="0000FF"/>
                            </a:solidFill>
                            <a:latin typeface="Cambria Math" panose="02040503050406030204" pitchFamily="18" charset="0"/>
                          </a:rPr>
                          <m:t>1</m:t>
                        </m:r>
                      </m:sub>
                    </m:sSub>
                    <m:r>
                      <a:rPr lang="en-US" sz="2400" b="0" i="1" dirty="0" smtClean="0">
                        <a:solidFill>
                          <a:srgbClr val="0000FF"/>
                        </a:solidFill>
                        <a:latin typeface="Cambria Math" panose="02040503050406030204" pitchFamily="18" charset="0"/>
                      </a:rPr>
                      <m:t> </m:t>
                    </m:r>
                    <m:r>
                      <a:rPr lang="en-US" sz="2400" i="1" dirty="0">
                        <a:solidFill>
                          <a:srgbClr val="0000FF"/>
                        </a:solidFill>
                        <a:latin typeface="Cambria Math" panose="02040503050406030204" pitchFamily="18" charset="0"/>
                      </a:rPr>
                      <m:t>|||</m:t>
                    </m:r>
                    <m:r>
                      <a:rPr lang="en-US" sz="2400" b="0" i="1" dirty="0" smtClean="0">
                        <a:solidFill>
                          <a:srgbClr val="0000FF"/>
                        </a:solidFill>
                        <a:latin typeface="Cambria Math" panose="02040503050406030204" pitchFamily="18" charset="0"/>
                        <a:sym typeface="MT Extra"/>
                      </a:rPr>
                      <m:t>⋯</m:t>
                    </m:r>
                    <m:r>
                      <a:rPr lang="en-US" sz="2400" i="1" dirty="0">
                        <a:solidFill>
                          <a:srgbClr val="0000FF"/>
                        </a:solidFill>
                        <a:latin typeface="Cambria Math" panose="02040503050406030204" pitchFamily="18" charset="0"/>
                      </a:rPr>
                      <m:t>|</m:t>
                    </m:r>
                    <m:r>
                      <a:rPr lang="en-US" sz="2400" b="0" i="1" dirty="0" smtClean="0">
                        <a:solidFill>
                          <a:srgbClr val="0000FF"/>
                        </a:solidFill>
                        <a:latin typeface="Cambria Math" panose="02040503050406030204" pitchFamily="18" charset="0"/>
                      </a:rPr>
                      <m:t>||</m:t>
                    </m:r>
                    <m:sSub>
                      <m:sSubPr>
                        <m:ctrlPr>
                          <a:rPr lang="en-US" sz="2400" b="0" i="1" dirty="0" smtClean="0">
                            <a:solidFill>
                              <a:srgbClr val="0000FF"/>
                            </a:solidFill>
                            <a:latin typeface="Cambria Math" panose="02040503050406030204" pitchFamily="18" charset="0"/>
                          </a:rPr>
                        </m:ctrlPr>
                      </m:sSubPr>
                      <m:e>
                        <m:r>
                          <a:rPr lang="en-US" sz="2400" b="0" i="1" dirty="0" smtClean="0">
                            <a:solidFill>
                              <a:srgbClr val="0000FF"/>
                            </a:solidFill>
                            <a:latin typeface="Cambria Math" panose="02040503050406030204" pitchFamily="18" charset="0"/>
                          </a:rPr>
                          <m:t> </m:t>
                        </m:r>
                        <m:r>
                          <a:rPr lang="en-US" sz="2400" b="0" i="1" dirty="0" smtClean="0">
                            <a:solidFill>
                              <a:srgbClr val="0000FF"/>
                            </a:solidFill>
                            <a:latin typeface="Cambria Math" panose="02040503050406030204" pitchFamily="18" charset="0"/>
                          </a:rPr>
                          <m:t>𝑇𝑆</m:t>
                        </m:r>
                      </m:e>
                      <m:sub>
                        <m:r>
                          <a:rPr lang="en-US" sz="2400" b="0" i="1" dirty="0" smtClean="0">
                            <a:solidFill>
                              <a:srgbClr val="0000FF"/>
                            </a:solidFill>
                            <a:latin typeface="Cambria Math" panose="02040503050406030204" pitchFamily="18" charset="0"/>
                          </a:rPr>
                          <m:t>𝑛</m:t>
                        </m:r>
                      </m:sub>
                    </m:sSub>
                  </m:oMath>
                </a14:m>
                <a:r>
                  <a:rPr lang="he-IL" sz="2400" dirty="0">
                    <a:latin typeface="Gisha" panose="020B0502040204020203" pitchFamily="34" charset="-79"/>
                    <a:cs typeface="Gisha" panose="020B0502040204020203" pitchFamily="34" charset="-79"/>
                  </a:rPr>
                  <a:t> יכול להגיע ל-</a:t>
                </a:r>
              </a:p>
              <a:p>
                <a:pPr algn="ctr" rtl="0">
                  <a:spcBef>
                    <a:spcPts val="4200"/>
                  </a:spcBef>
                  <a:buNone/>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𝑇𝑆</m:t>
                              </m:r>
                            </m:e>
                            <m:sub>
                              <m:r>
                                <a:rPr lang="en-US" sz="2400" b="0" i="1" dirty="0" smtClean="0">
                                  <a:latin typeface="Cambria Math" panose="02040503050406030204" pitchFamily="18" charset="0"/>
                                </a:rPr>
                                <m:t>1</m:t>
                              </m:r>
                            </m:sub>
                          </m:sSub>
                        </m:e>
                      </m:d>
                      <m:r>
                        <a:rPr lang="en-US" sz="2400" b="0" i="1" dirty="0" smtClean="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𝑇𝑆</m:t>
                              </m:r>
                            </m:e>
                            <m:sub>
                              <m:r>
                                <a:rPr lang="en-US" sz="2400" b="0" i="1" dirty="0" smtClean="0">
                                  <a:latin typeface="Cambria Math" panose="02040503050406030204" pitchFamily="18" charset="0"/>
                                </a:rPr>
                                <m:t>2</m:t>
                              </m:r>
                            </m:sub>
                          </m:sSub>
                        </m:e>
                      </m:d>
                      <m:r>
                        <a:rPr lang="en-US" sz="2400" i="1" dirty="0" smtClean="0">
                          <a:latin typeface="Cambria Math" panose="02040503050406030204" pitchFamily="18" charset="0"/>
                          <a:sym typeface="MT Extra"/>
                        </a:rPr>
                        <m:t></m:t>
                      </m:r>
                      <m:d>
                        <m:dPr>
                          <m:begChr m:val="|"/>
                          <m:endChr m:val="|"/>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𝑇𝑆</m:t>
                              </m:r>
                            </m:e>
                            <m:sub>
                              <m:r>
                                <a:rPr lang="en-US" sz="2400" b="0" i="1" dirty="0" smtClean="0">
                                  <a:latin typeface="Cambria Math" panose="02040503050406030204" pitchFamily="18" charset="0"/>
                                </a:rPr>
                                <m:t>𝑛</m:t>
                              </m:r>
                            </m:sub>
                          </m:sSub>
                        </m:e>
                      </m:d>
                    </m:oMath>
                  </m:oMathPara>
                </a14:m>
                <a:endParaRPr lang="en-US" sz="2400" dirty="0">
                  <a:latin typeface="Gisha" panose="020B0502040204020203" pitchFamily="34" charset="-79"/>
                  <a:cs typeface="Gisha" panose="020B0502040204020203" pitchFamily="34" charset="-79"/>
                </a:endParaRPr>
              </a:p>
              <a:p>
                <a:pPr>
                  <a:spcBef>
                    <a:spcPts val="4200"/>
                  </a:spcBef>
                </a:pPr>
                <a:r>
                  <a:rPr lang="he-IL" sz="2400" dirty="0">
                    <a:latin typeface="Gisha" panose="020B0502040204020203" pitchFamily="34" charset="-79"/>
                    <a:cs typeface="Gisha" panose="020B0502040204020203" pitchFamily="34" charset="-79"/>
                  </a:rPr>
                  <a:t>מסקנה: מספר המצבים גדל </a:t>
                </a:r>
                <a:r>
                  <a:rPr lang="he-IL" sz="2400" dirty="0" err="1">
                    <a:solidFill>
                      <a:srgbClr val="FF0000"/>
                    </a:solidFill>
                    <a:latin typeface="Gisha" panose="020B0502040204020203" pitchFamily="34" charset="-79"/>
                    <a:cs typeface="Gisha" panose="020B0502040204020203" pitchFamily="34" charset="-79"/>
                  </a:rPr>
                  <a:t>אקספוננציאלית</a:t>
                </a:r>
                <a:r>
                  <a:rPr lang="he-IL" sz="2400" dirty="0">
                    <a:latin typeface="Gisha" panose="020B0502040204020203" pitchFamily="34" charset="-79"/>
                    <a:cs typeface="Gisha" panose="020B0502040204020203" pitchFamily="34" charset="-79"/>
                  </a:rPr>
                  <a:t> עם מספר הרכיבים</a:t>
                </a:r>
              </a:p>
              <a:p>
                <a:pPr>
                  <a:spcBef>
                    <a:spcPts val="4200"/>
                  </a:spcBef>
                </a:pPr>
                <a:r>
                  <a:rPr lang="he-IL" sz="2400" dirty="0">
                    <a:latin typeface="Gisha" panose="020B0502040204020203" pitchFamily="34" charset="-79"/>
                    <a:cs typeface="Gisha" panose="020B0502040204020203" pitchFamily="34" charset="-79"/>
                  </a:rPr>
                  <a:t>הרכבת </a:t>
                </a:r>
                <a14:m>
                  <m:oMath xmlns:m="http://schemas.openxmlformats.org/officeDocument/2006/math">
                    <m:r>
                      <a:rPr lang="en-US" sz="2400" i="1" dirty="0" smtClean="0">
                        <a:latin typeface="Cambria Math" panose="02040503050406030204" pitchFamily="18" charset="0"/>
                      </a:rPr>
                      <m:t>𝑛</m:t>
                    </m:r>
                  </m:oMath>
                </a14:m>
                <a:r>
                  <a:rPr lang="he-IL" sz="2400" dirty="0">
                    <a:latin typeface="Gisha" panose="020B0502040204020203" pitchFamily="34" charset="-79"/>
                    <a:cs typeface="Gisha" panose="020B0502040204020203" pitchFamily="34" charset="-79"/>
                  </a:rPr>
                  <a:t> רכיבים, כל אחד בגודל </a:t>
                </a:r>
                <a14:m>
                  <m:oMath xmlns:m="http://schemas.openxmlformats.org/officeDocument/2006/math">
                    <m:r>
                      <a:rPr lang="en-US" sz="2400" i="1" dirty="0" smtClean="0">
                        <a:latin typeface="Cambria Math" panose="02040503050406030204" pitchFamily="18" charset="0"/>
                      </a:rPr>
                      <m:t>𝑘</m:t>
                    </m:r>
                  </m:oMath>
                </a14:m>
                <a:r>
                  <a:rPr lang="he-IL" sz="2400" dirty="0">
                    <a:latin typeface="Gisha" panose="020B0502040204020203" pitchFamily="34" charset="-79"/>
                    <a:cs typeface="Gisha" panose="020B0502040204020203" pitchFamily="34" charset="-79"/>
                  </a:rPr>
                  <a:t>, נותנת מערכת עם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𝑛</m:t>
                        </m:r>
                      </m:sup>
                    </m:sSup>
                  </m:oMath>
                </a14:m>
                <a:r>
                  <a:rPr lang="he-IL" sz="2400" baseline="30000" dirty="0">
                    <a:latin typeface="Gisha" panose="020B0502040204020203" pitchFamily="34" charset="-79"/>
                    <a:cs typeface="Gisha" panose="020B0502040204020203" pitchFamily="34" charset="-79"/>
                  </a:rPr>
                  <a:t> </a:t>
                </a:r>
                <a:r>
                  <a:rPr lang="he-IL" sz="2400" dirty="0">
                    <a:latin typeface="Gisha" panose="020B0502040204020203" pitchFamily="34" charset="-79"/>
                    <a:cs typeface="Gisha" panose="020B0502040204020203" pitchFamily="34" charset="-79"/>
                  </a:rPr>
                  <a:t>מצבים</a:t>
                </a:r>
              </a:p>
              <a:p>
                <a:pPr>
                  <a:spcBef>
                    <a:spcPts val="4200"/>
                  </a:spcBef>
                </a:pPr>
                <a:r>
                  <a:rPr lang="he-IL" sz="2400" dirty="0">
                    <a:latin typeface="Gisha" panose="020B0502040204020203" pitchFamily="34" charset="-79"/>
                    <a:cs typeface="Gisha" panose="020B0502040204020203" pitchFamily="34" charset="-79"/>
                  </a:rPr>
                  <a:t>שוב: </a:t>
                </a:r>
                <a:r>
                  <a:rPr lang="he-IL" sz="2400" dirty="0">
                    <a:solidFill>
                      <a:srgbClr val="FF0000"/>
                    </a:solidFill>
                    <a:latin typeface="Gisha" panose="020B0502040204020203" pitchFamily="34" charset="-79"/>
                    <a:cs typeface="Gisha" panose="020B0502040204020203" pitchFamily="34" charset="-79"/>
                  </a:rPr>
                  <a:t>בעיית ריבוי המצבים – </a:t>
                </a:r>
                <a:r>
                  <a:rPr lang="en-US" sz="2400" b="1" dirty="0">
                    <a:solidFill>
                      <a:srgbClr val="FF0000"/>
                    </a:solidFill>
                    <a:latin typeface="Gisha" panose="020B0502040204020203" pitchFamily="34" charset="-79"/>
                    <a:cs typeface="Gisha" panose="020B0502040204020203" pitchFamily="34" charset="-79"/>
                  </a:rPr>
                  <a:t>state explosion problem</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228600" y="1524000"/>
                <a:ext cx="8686800" cy="4572000"/>
              </a:xfrm>
              <a:blipFill>
                <a:blip r:embed="rId2"/>
                <a:stretch>
                  <a:fillRect t="-1200" r="-561"/>
                </a:stretch>
              </a:blipFill>
            </p:spPr>
            <p:txBody>
              <a:bodyPr/>
              <a:lstStyle/>
              <a:p>
                <a:r>
                  <a:rPr lang="en-US">
                    <a:noFill/>
                  </a:rPr>
                  <a:t> </a:t>
                </a:r>
              </a:p>
            </p:txBody>
          </p:sp>
        </mc:Fallback>
      </mc:AlternateContent>
      <p:pic>
        <p:nvPicPr>
          <p:cNvPr id="6" name="Picture 2" descr="https://sophosnews.files.wordpress.com/2014/08/malware_ss_1701.jpg?w=640">
            <a:extLst>
              <a:ext uri="{FF2B5EF4-FFF2-40B4-BE49-F238E27FC236}">
                <a16:creationId xmlns:a16="http://schemas.microsoft.com/office/drawing/2014/main" id="{BBBAE3D5-D8CC-4DD6-9156-C41BAC3EF0DA}"/>
              </a:ext>
            </a:extLst>
          </p:cNvPr>
          <p:cNvPicPr>
            <a:picLocks noChangeAspect="1" noChangeArrowheads="1"/>
          </p:cNvPicPr>
          <p:nvPr/>
        </p:nvPicPr>
        <p:blipFill>
          <a:blip r:embed="rId3">
            <a:clrChange>
              <a:clrFrom>
                <a:srgbClr val="FFFDFE"/>
              </a:clrFrom>
              <a:clrTo>
                <a:srgbClr val="FFFDFE">
                  <a:alpha val="0"/>
                </a:srgbClr>
              </a:clrTo>
            </a:clrChange>
            <a:extLst>
              <a:ext uri="{28A0092B-C50C-407E-A947-70E740481C1C}">
                <a14:useLocalDpi xmlns:a14="http://schemas.microsoft.com/office/drawing/2010/main" val="0"/>
              </a:ext>
            </a:extLst>
          </a:blip>
          <a:srcRect/>
          <a:stretch>
            <a:fillRect/>
          </a:stretch>
        </p:blipFill>
        <p:spPr bwMode="auto">
          <a:xfrm>
            <a:off x="4114800" y="5568494"/>
            <a:ext cx="1113086" cy="1055012"/>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latin typeface="Gisha" panose="020B0502040204020203" pitchFamily="34" charset="-79"/>
                <a:cs typeface="Gisha" panose="020B0502040204020203" pitchFamily="34" charset="-79"/>
              </a:rPr>
              <a:t>מערכות ערוצים</a:t>
            </a:r>
            <a:endParaRPr lang="en-US"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p:txBody>
          <a:bodyPr/>
          <a:lstStyle/>
          <a:p>
            <a:fld id="{A7F926B5-663A-4127-A287-7B83208B40AD}"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p:txBody>
          <a:bodyPr/>
          <a:lstStyle/>
          <a:p>
            <a:fld id="{021A1DA9-A2DD-4375-8887-E40ACC834D3F}" type="slidenum">
              <a:rPr lang="he-IL" smtClean="0">
                <a:latin typeface="Gisha" panose="020B0502040204020203" pitchFamily="34" charset="-79"/>
                <a:cs typeface="Gisha" panose="020B0502040204020203" pitchFamily="34" charset="-79"/>
              </a:rPr>
              <a:pPr/>
              <a:t>7</a:t>
            </a:fld>
            <a:endParaRPr lang="he-IL" dirty="0">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1143000" y="1219200"/>
                <a:ext cx="7772400" cy="5029200"/>
              </a:xfrm>
            </p:spPr>
            <p:txBody>
              <a:bodyPr>
                <a:normAutofit fontScale="92500" lnSpcReduction="10000"/>
              </a:bodyPr>
              <a:lstStyle/>
              <a:p>
                <a:pPr>
                  <a:spcBef>
                    <a:spcPts val="1200"/>
                  </a:spcBef>
                </a:pPr>
                <a:r>
                  <a:rPr lang="he-IL" dirty="0">
                    <a:latin typeface="Gisha" panose="020B0502040204020203" pitchFamily="34" charset="-79"/>
                    <a:cs typeface="Gisha" panose="020B0502040204020203" pitchFamily="34" charset="-79"/>
                  </a:rPr>
                  <a:t>תקשורת </a:t>
                </a:r>
                <a:r>
                  <a:rPr lang="he-IL" dirty="0" err="1">
                    <a:latin typeface="Gisha" panose="020B0502040204020203" pitchFamily="34" charset="-79"/>
                    <a:cs typeface="Gisha" panose="020B0502040204020203" pitchFamily="34" charset="-79"/>
                  </a:rPr>
                  <a:t>אסינכרונית</a:t>
                </a:r>
                <a:r>
                  <a:rPr lang="he-IL" dirty="0">
                    <a:latin typeface="Gisha" panose="020B0502040204020203" pitchFamily="34" charset="-79"/>
                    <a:cs typeface="Gisha" panose="020B0502040204020203" pitchFamily="34" charset="-79"/>
                  </a:rPr>
                  <a:t> של תהליכים דרך </a:t>
                </a:r>
                <a:r>
                  <a:rPr lang="he-IL" dirty="0">
                    <a:solidFill>
                      <a:srgbClr val="0000FF"/>
                    </a:solidFill>
                    <a:latin typeface="Gisha" panose="020B0502040204020203" pitchFamily="34" charset="-79"/>
                    <a:cs typeface="Gisha" panose="020B0502040204020203" pitchFamily="34" charset="-79"/>
                  </a:rPr>
                  <a:t>ערוצים</a:t>
                </a:r>
              </a:p>
              <a:p>
                <a:pPr lvl="1">
                  <a:spcBef>
                    <a:spcPts val="1200"/>
                  </a:spcBef>
                </a:pPr>
                <a:r>
                  <a:rPr lang="he-IL" dirty="0">
                    <a:latin typeface="Gisha" panose="020B0502040204020203" pitchFamily="34" charset="-79"/>
                    <a:cs typeface="Gisha" panose="020B0502040204020203" pitchFamily="34" charset="-79"/>
                  </a:rPr>
                  <a:t>כל ערוץ </a:t>
                </a:r>
                <a14:m>
                  <m:oMath xmlns:m="http://schemas.openxmlformats.org/officeDocument/2006/math">
                    <m:r>
                      <a:rPr lang="en-US" i="1" dirty="0" smtClean="0">
                        <a:latin typeface="Cambria Math" panose="02040503050406030204" pitchFamily="18" charset="0"/>
                      </a:rPr>
                      <m:t>𝑐</m:t>
                    </m:r>
                  </m:oMath>
                </a14:m>
                <a:r>
                  <a:rPr lang="he-IL" dirty="0">
                    <a:latin typeface="Gisha" panose="020B0502040204020203" pitchFamily="34" charset="-79"/>
                    <a:cs typeface="Gisha" panose="020B0502040204020203" pitchFamily="34" charset="-79"/>
                  </a:rPr>
                  <a:t> בעל קיבולת סופית</a:t>
                </a:r>
                <a:r>
                  <a:rPr lang="en-US" dirty="0">
                    <a:latin typeface="Gisha" panose="020B0502040204020203" pitchFamily="34" charset="-79"/>
                    <a:cs typeface="Gisha" panose="020B0502040204020203" pitchFamily="34" charset="-79"/>
                  </a:rPr>
                  <a:t> </a:t>
                </a:r>
                <a:r>
                  <a:rPr lang="he-IL" dirty="0">
                    <a:latin typeface="Gisha" panose="020B0502040204020203" pitchFamily="34" charset="-79"/>
                    <a:cs typeface="Gisha" panose="020B0502040204020203" pitchFamily="34" charset="-79"/>
                  </a:rPr>
                  <a:t> </a:t>
                </a:r>
                <a14:m>
                  <m:oMath xmlns:m="http://schemas.openxmlformats.org/officeDocument/2006/math">
                    <m:r>
                      <a:rPr lang="en-US" i="1" dirty="0" smtClean="0">
                        <a:latin typeface="Cambria Math"/>
                      </a:rPr>
                      <m:t>𝑐𝑎𝑝</m:t>
                    </m:r>
                    <m:r>
                      <a:rPr lang="en-US" i="1" dirty="0" smtClean="0">
                        <a:latin typeface="Cambria Math"/>
                      </a:rPr>
                      <m:t>(</m:t>
                    </m:r>
                    <m:r>
                      <a:rPr lang="en-US" i="1" dirty="0" smtClean="0">
                        <a:latin typeface="Cambria Math"/>
                      </a:rPr>
                      <m:t>𝑐</m:t>
                    </m:r>
                    <m:r>
                      <a:rPr lang="en-US" i="1" dirty="0" smtClean="0">
                        <a:latin typeface="Cambria Math"/>
                      </a:rPr>
                      <m:t>)&lt;</m:t>
                    </m:r>
                    <m:r>
                      <a:rPr lang="en-US" i="1" dirty="0" smtClean="0">
                        <a:latin typeface="Cambria Math"/>
                      </a:rPr>
                      <m:t>∞</m:t>
                    </m:r>
                  </m:oMath>
                </a14:m>
                <a:endParaRPr lang="en-US" dirty="0">
                  <a:latin typeface="Gisha" panose="020B0502040204020203" pitchFamily="34" charset="-79"/>
                  <a:cs typeface="Gisha" panose="020B0502040204020203" pitchFamily="34" charset="-79"/>
                </a:endParaRPr>
              </a:p>
              <a:p>
                <a:pPr lvl="1">
                  <a:spcBef>
                    <a:spcPts val="1200"/>
                  </a:spcBef>
                </a:pPr>
                <a:r>
                  <a:rPr lang="he-IL" dirty="0">
                    <a:latin typeface="Gisha" panose="020B0502040204020203" pitchFamily="34" charset="-79"/>
                    <a:cs typeface="Gisha" panose="020B0502040204020203" pitchFamily="34" charset="-79"/>
                  </a:rPr>
                  <a:t>אם </a:t>
                </a:r>
                <a14:m>
                  <m:oMath xmlns:m="http://schemas.openxmlformats.org/officeDocument/2006/math">
                    <m:r>
                      <a:rPr lang="en-US" i="1" dirty="0" smtClean="0">
                        <a:latin typeface="Cambria Math"/>
                      </a:rPr>
                      <m:t>𝑐𝑎𝑝</m:t>
                    </m:r>
                    <m:r>
                      <a:rPr lang="en-US" i="1" dirty="0" smtClean="0">
                        <a:latin typeface="Cambria Math"/>
                      </a:rPr>
                      <m:t>(</m:t>
                    </m:r>
                    <m:r>
                      <a:rPr lang="en-US" i="1" dirty="0" smtClean="0">
                        <a:latin typeface="Cambria Math"/>
                      </a:rPr>
                      <m:t>𝑐</m:t>
                    </m:r>
                    <m:r>
                      <a:rPr lang="en-US" i="1" dirty="0" smtClean="0">
                        <a:latin typeface="Cambria Math"/>
                      </a:rPr>
                      <m:t>)=</m:t>
                    </m:r>
                    <m:r>
                      <a:rPr lang="en-US" i="1" dirty="0" smtClean="0">
                        <a:latin typeface="Cambria Math"/>
                      </a:rPr>
                      <m:t>0</m:t>
                    </m:r>
                  </m:oMath>
                </a14:m>
                <a:r>
                  <a:rPr lang="he-IL" dirty="0">
                    <a:latin typeface="Gisha" panose="020B0502040204020203" pitchFamily="34" charset="-79"/>
                    <a:cs typeface="Gisha" panose="020B0502040204020203" pitchFamily="34" charset="-79"/>
                  </a:rPr>
                  <a:t> מקבלים </a:t>
                </a:r>
                <a:r>
                  <a:rPr lang="he-IL" dirty="0">
                    <a:solidFill>
                      <a:srgbClr val="FF0000"/>
                    </a:solidFill>
                    <a:latin typeface="Gisha" panose="020B0502040204020203" pitchFamily="34" charset="-79"/>
                    <a:cs typeface="Gisha" panose="020B0502040204020203" pitchFamily="34" charset="-79"/>
                  </a:rPr>
                  <a:t>לחיצת-יד</a:t>
                </a:r>
                <a:r>
                  <a:rPr lang="he-IL" dirty="0">
                    <a:latin typeface="Gisha" panose="020B0502040204020203" pitchFamily="34" charset="-79"/>
                    <a:cs typeface="Gisha" panose="020B0502040204020203" pitchFamily="34" charset="-79"/>
                  </a:rPr>
                  <a:t> (</a:t>
                </a:r>
                <a:r>
                  <a:rPr lang="en-US" dirty="0">
                    <a:latin typeface="Gisha" panose="020B0502040204020203" pitchFamily="34" charset="-79"/>
                    <a:cs typeface="Gisha" panose="020B0502040204020203" pitchFamily="34" charset="-79"/>
                  </a:rPr>
                  <a:t>handshaking</a:t>
                </a:r>
                <a:r>
                  <a:rPr lang="he-IL" dirty="0">
                    <a:latin typeface="Gisha" panose="020B0502040204020203" pitchFamily="34" charset="-79"/>
                    <a:cs typeface="Gisha" panose="020B0502040204020203" pitchFamily="34" charset="-79"/>
                  </a:rPr>
                  <a:t>)</a:t>
                </a:r>
              </a:p>
              <a:p>
                <a:pPr lvl="1">
                  <a:spcBef>
                    <a:spcPts val="1200"/>
                  </a:spcBef>
                </a:pPr>
                <a:endParaRPr lang="he-IL" dirty="0">
                  <a:latin typeface="Gisha" panose="020B0502040204020203" pitchFamily="34" charset="-79"/>
                  <a:cs typeface="Gisha" panose="020B0502040204020203" pitchFamily="34" charset="-79"/>
                </a:endParaRPr>
              </a:p>
              <a:p>
                <a:pPr>
                  <a:spcBef>
                    <a:spcPts val="1200"/>
                  </a:spcBef>
                </a:pPr>
                <a:r>
                  <a:rPr lang="he-IL" dirty="0">
                    <a:latin typeface="Gisha" panose="020B0502040204020203" pitchFamily="34" charset="-79"/>
                    <a:cs typeface="Gisha" panose="020B0502040204020203" pitchFamily="34" charset="-79"/>
                  </a:rPr>
                  <a:t>מספר המצבים במערכת עם </a:t>
                </a:r>
                <a14:m>
                  <m:oMath xmlns:m="http://schemas.openxmlformats.org/officeDocument/2006/math">
                    <m:r>
                      <a:rPr lang="en-US" i="1" dirty="0" smtClean="0">
                        <a:latin typeface="Cambria Math"/>
                      </a:rPr>
                      <m:t>𝑁</m:t>
                    </m:r>
                  </m:oMath>
                </a14:m>
                <a:r>
                  <a:rPr lang="he-IL" dirty="0">
                    <a:latin typeface="Gisha" panose="020B0502040204020203" pitchFamily="34" charset="-79"/>
                    <a:cs typeface="Gisha" panose="020B0502040204020203" pitchFamily="34" charset="-79"/>
                  </a:rPr>
                  <a:t> </a:t>
                </a:r>
                <a:r>
                  <a:rPr lang="he-IL" dirty="0" smtClean="0">
                    <a:latin typeface="Gisha" panose="020B0502040204020203" pitchFamily="34" charset="-79"/>
                    <a:cs typeface="Gisha" panose="020B0502040204020203" pitchFamily="34" charset="-79"/>
                  </a:rPr>
                  <a:t>רכיבים</a:t>
                </a:r>
                <a:r>
                  <a:rPr lang="he-IL" dirty="0">
                    <a:latin typeface="Gisha" panose="020B0502040204020203" pitchFamily="34" charset="-79"/>
                    <a:cs typeface="Gisha" panose="020B0502040204020203" pitchFamily="34" charset="-79"/>
                  </a:rPr>
                  <a:t>,</a:t>
                </a:r>
                <a:r>
                  <a:rPr lang="he-IL" dirty="0" smtClean="0">
                    <a:latin typeface="Gisha" panose="020B0502040204020203" pitchFamily="34" charset="-79"/>
                    <a:cs typeface="Gisha" panose="020B0502040204020203" pitchFamily="34" charset="-79"/>
                  </a:rPr>
                  <a:t> </a:t>
                </a:r>
                <a:r>
                  <a:rPr lang="he-IL" dirty="0">
                    <a:latin typeface="Gisha" panose="020B0502040204020203" pitchFamily="34" charset="-79"/>
                    <a:cs typeface="Gisha" panose="020B0502040204020203" pitchFamily="34" charset="-79"/>
                  </a:rPr>
                  <a:t>משתנים </a:t>
                </a:r>
                <a14:m>
                  <m:oMath xmlns:m="http://schemas.openxmlformats.org/officeDocument/2006/math">
                    <m:r>
                      <a:rPr lang="en-US" b="0" i="1" smtClean="0">
                        <a:latin typeface="Cambria Math" panose="02040503050406030204" pitchFamily="18" charset="0"/>
                      </a:rPr>
                      <m:t>𝑉𝑎𝑟</m:t>
                    </m:r>
                  </m:oMath>
                </a14:m>
                <a:r>
                  <a:rPr lang="he-IL" dirty="0">
                    <a:latin typeface="Gisha" panose="020B0502040204020203" pitchFamily="34" charset="-79"/>
                    <a:cs typeface="Gisha" panose="020B0502040204020203" pitchFamily="34" charset="-79"/>
                  </a:rPr>
                  <a:t> וערוצים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h</m:t>
                    </m:r>
                    <m:r>
                      <a:rPr lang="en-US" b="0" i="1" smtClean="0">
                        <a:latin typeface="Cambria Math" panose="02040503050406030204" pitchFamily="18" charset="0"/>
                      </a:rPr>
                      <m:t>𝑎𝑛</m:t>
                    </m:r>
                  </m:oMath>
                </a14:m>
                <a:r>
                  <a:rPr lang="he-IL" dirty="0">
                    <a:latin typeface="Gisha" panose="020B0502040204020203" pitchFamily="34" charset="-79"/>
                    <a:cs typeface="Gisha" panose="020B0502040204020203" pitchFamily="34" charset="-79"/>
                  </a:rPr>
                  <a:t> יכול להגיע ל</a:t>
                </a:r>
                <a:r>
                  <a:rPr lang="he-IL" dirty="0" smtClean="0">
                    <a:latin typeface="Gisha" panose="020B0502040204020203" pitchFamily="34" charset="-79"/>
                    <a:cs typeface="Gisha" panose="020B0502040204020203" pitchFamily="34" charset="-79"/>
                  </a:rPr>
                  <a:t>:</a:t>
                </a:r>
                <a:endParaRPr lang="en-US" dirty="0" smtClean="0">
                  <a:latin typeface="Gisha" panose="020B0502040204020203" pitchFamily="34" charset="-79"/>
                  <a:cs typeface="Gisha" panose="020B0502040204020203" pitchFamily="34" charset="-79"/>
                </a:endParaRPr>
              </a:p>
              <a:p>
                <a:pPr>
                  <a:spcBef>
                    <a:spcPts val="1200"/>
                  </a:spcBef>
                </a:pPr>
                <a:endParaRPr lang="en-US" dirty="0">
                  <a:latin typeface="Gisha" panose="020B0502040204020203" pitchFamily="34" charset="-79"/>
                  <a:cs typeface="Gisha" panose="020B0502040204020203" pitchFamily="34" charset="-79"/>
                </a:endParaRPr>
              </a:p>
              <a:p>
                <a:pPr>
                  <a:spcBef>
                    <a:spcPts val="1200"/>
                  </a:spcBef>
                </a:pPr>
                <a:endParaRPr lang="en-US" dirty="0">
                  <a:latin typeface="Gisha" panose="020B0502040204020203" pitchFamily="34" charset="-79"/>
                  <a:cs typeface="Gisha" panose="020B0502040204020203" pitchFamily="34" charset="-79"/>
                </a:endParaRPr>
              </a:p>
              <a:p>
                <a:pPr>
                  <a:spcBef>
                    <a:spcPts val="1200"/>
                  </a:spcBef>
                </a:pPr>
                <a:endParaRPr lang="en-US" dirty="0">
                  <a:latin typeface="Gisha" panose="020B0502040204020203" pitchFamily="34" charset="-79"/>
                  <a:cs typeface="Gisha" panose="020B0502040204020203" pitchFamily="34" charset="-79"/>
                </a:endParaRPr>
              </a:p>
              <a:p>
                <a:pPr>
                  <a:spcBef>
                    <a:spcPts val="1200"/>
                  </a:spcBef>
                </a:pPr>
                <a:endParaRPr lang="en-US" dirty="0">
                  <a:latin typeface="Gisha" panose="020B0502040204020203" pitchFamily="34" charset="-79"/>
                  <a:cs typeface="Gisha" panose="020B0502040204020203" pitchFamily="34" charset="-79"/>
                </a:endParaRPr>
              </a:p>
              <a:p>
                <a:pPr>
                  <a:spcBef>
                    <a:spcPts val="1200"/>
                  </a:spcBef>
                </a:pPr>
                <a:r>
                  <a:rPr lang="he-IL" dirty="0">
                    <a:solidFill>
                      <a:srgbClr val="FF0000"/>
                    </a:solidFill>
                    <a:latin typeface="Gisha" panose="020B0502040204020203" pitchFamily="34" charset="-79"/>
                    <a:cs typeface="Gisha" panose="020B0502040204020203" pitchFamily="34" charset="-79"/>
                  </a:rPr>
                  <a:t>זה המבנה המוגדר ע"י קוד </a:t>
                </a:r>
                <a:r>
                  <a:rPr lang="en-US" dirty="0" err="1">
                    <a:solidFill>
                      <a:srgbClr val="FF0000"/>
                    </a:solidFill>
                    <a:latin typeface="Gisha" panose="020B0502040204020203" pitchFamily="34" charset="-79"/>
                    <a:cs typeface="Gisha" panose="020B0502040204020203" pitchFamily="34" charset="-79"/>
                  </a:rPr>
                  <a:t>Promela</a:t>
                </a:r>
                <a:r>
                  <a:rPr lang="he-IL" dirty="0">
                    <a:solidFill>
                      <a:srgbClr val="FF0000"/>
                    </a:solidFill>
                    <a:latin typeface="Gisha" panose="020B0502040204020203" pitchFamily="34" charset="-79"/>
                    <a:cs typeface="Gisha" panose="020B0502040204020203" pitchFamily="34" charset="-79"/>
                  </a:rPr>
                  <a:t> (וגם </a:t>
                </a:r>
                <a:r>
                  <a:rPr lang="en-US" dirty="0" err="1">
                    <a:solidFill>
                      <a:srgbClr val="FF0000"/>
                    </a:solidFill>
                    <a:latin typeface="Gisha" panose="020B0502040204020203" pitchFamily="34" charset="-79"/>
                    <a:cs typeface="Gisha" panose="020B0502040204020203" pitchFamily="34" charset="-79"/>
                  </a:rPr>
                  <a:t>nanoPromela</a:t>
                </a:r>
                <a:r>
                  <a:rPr lang="he-IL" dirty="0">
                    <a:solidFill>
                      <a:srgbClr val="FF0000"/>
                    </a:solidFill>
                    <a:latin typeface="Gisha" panose="020B0502040204020203" pitchFamily="34" charset="-79"/>
                    <a:cs typeface="Gisha" panose="020B0502040204020203" pitchFamily="34" charset="-79"/>
                  </a:rPr>
                  <a:t>)</a:t>
                </a:r>
                <a:endParaRPr lang="en-US" dirty="0">
                  <a:solidFill>
                    <a:srgbClr val="FF0000"/>
                  </a:solidFill>
                  <a:latin typeface="Gisha" panose="020B0502040204020203" pitchFamily="34" charset="-79"/>
                  <a:cs typeface="Gisha" panose="020B0502040204020203" pitchFamily="34" charset="-79"/>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1143000" y="1219200"/>
                <a:ext cx="7772400" cy="5029200"/>
              </a:xfrm>
              <a:blipFill>
                <a:blip r:embed="rId2"/>
                <a:stretch>
                  <a:fillRect t="-1818" r="-627" b="-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685377" y="4343400"/>
                <a:ext cx="6192070" cy="1083182"/>
              </a:xfrm>
              <a:prstGeom prst="rect">
                <a:avLst/>
              </a:prstGeom>
              <a:solidFill>
                <a:schemeClr val="bg1"/>
              </a:solidFill>
              <a:ln>
                <a:solidFill>
                  <a:schemeClr val="bg1"/>
                </a:solidFill>
              </a:ln>
            </p:spPr>
            <p:style>
              <a:lnRef idx="1">
                <a:schemeClr val="dk1"/>
              </a:lnRef>
              <a:fillRef idx="2">
                <a:schemeClr val="dk1"/>
              </a:fillRef>
              <a:effectRef idx="1">
                <a:schemeClr val="dk1"/>
              </a:effectRef>
              <a:fontRef idx="minor">
                <a:schemeClr val="dk1"/>
              </a:fontRef>
            </p:style>
            <p:txBody>
              <a:bodyPr wrap="square" rtlCol="1">
                <a:spAutoFit/>
              </a:bodyPr>
              <a:lstStyle/>
              <a:p>
                <a:pPr algn="l" rtl="0"/>
                <a14:m>
                  <m:oMathPara xmlns:m="http://schemas.openxmlformats.org/officeDocument/2006/math">
                    <m:oMathParaPr>
                      <m:jc m:val="center"/>
                    </m:oMathParaPr>
                    <m:oMath xmlns:m="http://schemas.openxmlformats.org/officeDocument/2006/math">
                      <m:nary>
                        <m:naryPr>
                          <m:chr m:val="∏"/>
                          <m:ctrlPr>
                            <a:rPr lang="he-IL" sz="2000" i="1" smtClean="0">
                              <a:latin typeface="Cambria Math" panose="02040503050406030204" pitchFamily="18" charset="0"/>
                            </a:rPr>
                          </m:ctrlPr>
                        </m:naryPr>
                        <m:sub>
                          <m:r>
                            <m:rPr>
                              <m:brk m:alnAt="23"/>
                            </m:rPr>
                            <a:rPr lang="en-US" sz="2000" b="0" i="1" smtClean="0">
                              <a:latin typeface="Cambria Math"/>
                            </a:rPr>
                            <m:t>𝑖</m:t>
                          </m:r>
                          <m:r>
                            <a:rPr lang="en-US" sz="2000" b="0" i="1" smtClean="0">
                              <a:latin typeface="Cambria Math"/>
                            </a:rPr>
                            <m:t>=</m:t>
                          </m:r>
                          <m:r>
                            <m:rPr>
                              <m:brk m:alnAt="23"/>
                            </m:rPr>
                            <a:rPr lang="he-IL" sz="2000" b="0" i="1" smtClean="0">
                              <a:latin typeface="Cambria Math"/>
                            </a:rPr>
                            <m:t>1</m:t>
                          </m:r>
                        </m:sub>
                        <m:sup>
                          <m:r>
                            <a:rPr lang="en-US" sz="2000" b="0" i="1" smtClean="0">
                              <a:latin typeface="Cambria Math"/>
                            </a:rPr>
                            <m:t>𝑁</m:t>
                          </m:r>
                        </m:sup>
                        <m:e>
                          <m:d>
                            <m:dPr>
                              <m:begChr m:val="|"/>
                              <m:endChr m:val="|"/>
                              <m:ctrlPr>
                                <a:rPr lang="en-US" sz="2000" i="1">
                                  <a:latin typeface="Cambria Math" panose="02040503050406030204" pitchFamily="18" charset="0"/>
                                </a:rPr>
                              </m:ctrlPr>
                            </m:dPr>
                            <m:e>
                              <m:r>
                                <a:rPr lang="en-US" sz="2000" i="1">
                                  <a:latin typeface="Cambria Math"/>
                                </a:rPr>
                                <m:t>𝐿𝑜</m:t>
                              </m:r>
                              <m:sSub>
                                <m:sSubPr>
                                  <m:ctrlPr>
                                    <a:rPr lang="en-US" sz="2000" i="1">
                                      <a:latin typeface="Cambria Math" panose="02040503050406030204" pitchFamily="18" charset="0"/>
                                    </a:rPr>
                                  </m:ctrlPr>
                                </m:sSubPr>
                                <m:e>
                                  <m:r>
                                    <a:rPr lang="en-US" sz="2000" i="1">
                                      <a:latin typeface="Cambria Math"/>
                                    </a:rPr>
                                    <m:t>𝑐</m:t>
                                  </m:r>
                                </m:e>
                                <m:sub>
                                  <m:r>
                                    <a:rPr lang="en-US" sz="2000" i="1">
                                      <a:latin typeface="Cambria Math"/>
                                    </a:rPr>
                                    <m:t>𝑖</m:t>
                                  </m:r>
                                </m:sub>
                              </m:sSub>
                            </m:e>
                          </m:d>
                        </m:e>
                      </m:nary>
                      <m:r>
                        <a:rPr lang="he-IL" sz="2000" b="0" i="1" smtClean="0">
                          <a:latin typeface="Cambria Math"/>
                        </a:rPr>
                        <m:t>⋅</m:t>
                      </m:r>
                      <m:nary>
                        <m:naryPr>
                          <m:chr m:val="∏"/>
                          <m:supHide m:val="on"/>
                          <m:ctrlPr>
                            <a:rPr lang="en-US" sz="2000" i="1">
                              <a:latin typeface="Cambria Math" panose="02040503050406030204" pitchFamily="18" charset="0"/>
                            </a:rPr>
                          </m:ctrlPr>
                        </m:naryPr>
                        <m:sub>
                          <m:r>
                            <m:rPr>
                              <m:brk m:alnAt="7"/>
                            </m:rPr>
                            <a:rPr lang="en-US" sz="2000" i="1">
                              <a:latin typeface="Cambria Math"/>
                            </a:rPr>
                            <m:t>𝑥</m:t>
                          </m:r>
                          <m:r>
                            <a:rPr lang="en-US" sz="2000" i="1">
                              <a:latin typeface="Cambria Math"/>
                            </a:rPr>
                            <m:t>∈</m:t>
                          </m:r>
                          <m:r>
                            <a:rPr lang="en-US" sz="2000" b="0" i="1" smtClean="0">
                              <a:latin typeface="Cambria Math" panose="02040503050406030204" pitchFamily="18" charset="0"/>
                            </a:rPr>
                            <m:t>𝑉𝑎𝑟</m:t>
                          </m:r>
                        </m:sub>
                        <m:sup/>
                        <m:e>
                          <m:d>
                            <m:dPr>
                              <m:begChr m:val="|"/>
                              <m:endChr m:val="|"/>
                              <m:ctrlPr>
                                <a:rPr lang="en-US" sz="2000" i="1">
                                  <a:latin typeface="Cambria Math" panose="02040503050406030204" pitchFamily="18" charset="0"/>
                                </a:rPr>
                              </m:ctrlPr>
                            </m:dPr>
                            <m:e>
                              <m:r>
                                <a:rPr lang="en-US" sz="2000" i="1">
                                  <a:latin typeface="Cambria Math"/>
                                </a:rPr>
                                <m:t>𝑑𝑜𝑚</m:t>
                              </m:r>
                              <m:d>
                                <m:dPr>
                                  <m:ctrlPr>
                                    <a:rPr lang="en-US" sz="2000" i="1">
                                      <a:latin typeface="Cambria Math" panose="02040503050406030204" pitchFamily="18" charset="0"/>
                                    </a:rPr>
                                  </m:ctrlPr>
                                </m:dPr>
                                <m:e>
                                  <m:r>
                                    <a:rPr lang="en-US" sz="2000" i="1">
                                      <a:latin typeface="Cambria Math"/>
                                    </a:rPr>
                                    <m:t>𝑥</m:t>
                                  </m:r>
                                </m:e>
                              </m:d>
                            </m:e>
                          </m:d>
                        </m:e>
                      </m:nary>
                      <m:r>
                        <a:rPr lang="he-IL" sz="2000" b="0" i="1" smtClean="0">
                          <a:latin typeface="Cambria Math" panose="02040503050406030204" pitchFamily="18" charset="0"/>
                        </a:rPr>
                        <m:t>⋅</m:t>
                      </m:r>
                      <m:nary>
                        <m:naryPr>
                          <m:chr m:val="∏"/>
                          <m:supHide m:val="on"/>
                          <m:ctrlPr>
                            <a:rPr lang="he-IL" sz="2000" b="0" i="1" smtClean="0">
                              <a:latin typeface="Cambria Math" panose="02040503050406030204" pitchFamily="18" charset="0"/>
                            </a:rPr>
                          </m:ctrlPr>
                        </m:naryPr>
                        <m:sub>
                          <m:r>
                            <a:rPr lang="en-US" sz="2000" b="0" i="1" smtClean="0">
                              <a:latin typeface="Cambria Math" panose="02040503050406030204" pitchFamily="18" charset="0"/>
                            </a:rPr>
                            <m:t>𝐶</m:t>
                          </m:r>
                          <m:r>
                            <a:rPr lang="he-IL" sz="2000" b="0" i="1" smtClean="0">
                              <a:latin typeface="Cambria Math"/>
                            </a:rPr>
                            <m:t>∈</m:t>
                          </m:r>
                          <m:r>
                            <a:rPr lang="en-US" sz="2000" b="0" i="1" smtClean="0">
                              <a:latin typeface="Cambria Math"/>
                            </a:rPr>
                            <m:t>𝐶</m:t>
                          </m:r>
                          <m:r>
                            <a:rPr lang="en-US" sz="2000" b="0" i="1" smtClean="0">
                              <a:latin typeface="Cambria Math"/>
                            </a:rPr>
                            <m:t>h</m:t>
                          </m:r>
                          <m:r>
                            <a:rPr lang="en-US" sz="2000" b="0" i="1" smtClean="0">
                              <a:latin typeface="Cambria Math"/>
                            </a:rPr>
                            <m:t>𝑎𝑛</m:t>
                          </m:r>
                          <m:r>
                            <m:rPr>
                              <m:brk m:alnAt="7"/>
                            </m:rPr>
                            <a:rPr lang="en-US" sz="2000" b="0" i="1" smtClean="0">
                              <a:latin typeface="Cambria Math"/>
                            </a:rPr>
                            <m:t> </m:t>
                          </m:r>
                        </m:sub>
                        <m:sup/>
                        <m:e>
                          <m:d>
                            <m:dPr>
                              <m:ctrlPr>
                                <a:rPr lang="en-US" sz="2000" b="0" i="1" smtClean="0">
                                  <a:latin typeface="Cambria Math" panose="02040503050406030204" pitchFamily="18" charset="0"/>
                                </a:rPr>
                              </m:ctrlPr>
                            </m:dPr>
                            <m:e>
                              <m:nary>
                                <m:naryPr>
                                  <m:chr m:val="∑"/>
                                  <m:ctrlPr>
                                    <a:rPr lang="he-IL" sz="2000" b="0" i="1" smtClean="0">
                                      <a:latin typeface="Cambria Math" panose="02040503050406030204" pitchFamily="18" charset="0"/>
                                    </a:rPr>
                                  </m:ctrlPr>
                                </m:naryPr>
                                <m:sub>
                                  <m:r>
                                    <a:rPr lang="en-US" sz="2000" b="0" i="1" smtClean="0">
                                      <a:latin typeface="Cambria Math" panose="02040503050406030204" pitchFamily="18" charset="0"/>
                                    </a:rPr>
                                    <m:t>𝑗</m:t>
                                  </m:r>
                                  <m:r>
                                    <a:rPr lang="en-US" sz="2000" b="0" i="1" smtClean="0">
                                      <a:latin typeface="Cambria Math"/>
                                    </a:rPr>
                                    <m:t>=</m:t>
                                  </m:r>
                                  <m:r>
                                    <a:rPr lang="he-IL" sz="2000" b="0" i="1" smtClean="0">
                                      <a:latin typeface="Cambria Math" panose="02040503050406030204" pitchFamily="18" charset="0"/>
                                    </a:rPr>
                                    <m:t>0</m:t>
                                  </m:r>
                                </m:sub>
                                <m:sup>
                                  <m:r>
                                    <a:rPr lang="en-US" sz="2000" b="0" i="1" smtClean="0">
                                      <a:latin typeface="Cambria Math"/>
                                    </a:rPr>
                                    <m:t>𝑐𝑎𝑝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𝐶</m:t>
                                      </m:r>
                                    </m:e>
                                  </m:d>
                                </m:sup>
                                <m:e>
                                  <m:sSup>
                                    <m:sSupPr>
                                      <m:ctrlPr>
                                        <a:rPr lang="he-IL" sz="2000" b="0" i="1" smtClean="0">
                                          <a:latin typeface="Cambria Math" panose="02040503050406030204" pitchFamily="18" charset="0"/>
                                        </a:rPr>
                                      </m:ctrlPr>
                                    </m:sSupPr>
                                    <m:e>
                                      <m:d>
                                        <m:dPr>
                                          <m:begChr m:val="|"/>
                                          <m:endChr m:val="|"/>
                                          <m:ctrlPr>
                                            <a:rPr lang="he-IL" sz="2000" b="0" i="1" smtClean="0">
                                              <a:latin typeface="Cambria Math" panose="02040503050406030204" pitchFamily="18" charset="0"/>
                                            </a:rPr>
                                          </m:ctrlPr>
                                        </m:dPr>
                                        <m:e>
                                          <m:r>
                                            <a:rPr lang="en-US" sz="2000" b="0" i="1" smtClean="0">
                                              <a:latin typeface="Cambria Math"/>
                                            </a:rPr>
                                            <m:t>𝑑𝑜𝑚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𝐶</m:t>
                                              </m:r>
                                            </m:e>
                                          </m:d>
                                        </m:e>
                                      </m:d>
                                    </m:e>
                                    <m:sup>
                                      <m:r>
                                        <a:rPr lang="en-US" sz="2000" b="0" i="1" smtClean="0">
                                          <a:latin typeface="Cambria Math"/>
                                        </a:rPr>
                                        <m:t>𝑗</m:t>
                                      </m:r>
                                    </m:sup>
                                  </m:sSup>
                                </m:e>
                              </m:nary>
                            </m:e>
                          </m:d>
                        </m:e>
                      </m:nary>
                    </m:oMath>
                  </m:oMathPara>
                </a14:m>
                <a:endParaRPr lang="he-IL" sz="2000" dirty="0">
                  <a:latin typeface="Gisha" panose="020B0502040204020203" pitchFamily="34" charset="-79"/>
                  <a:cs typeface="Gisha" panose="020B0502040204020203" pitchFamily="34" charset="-79"/>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685377" y="4343400"/>
                <a:ext cx="6192070" cy="1083182"/>
              </a:xfrm>
              <a:prstGeom prst="rect">
                <a:avLst/>
              </a:prstGeom>
              <a:blipFill>
                <a:blip r:embed="rId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D7D0D2A-3D69-4AEB-8D85-8FFC5FFC8D4C}"/>
                  </a:ext>
                </a:extLst>
              </p:cNvPr>
              <p:cNvSpPr txBox="1"/>
              <p:nvPr/>
            </p:nvSpPr>
            <p:spPr>
              <a:xfrm>
                <a:off x="235952" y="3470707"/>
                <a:ext cx="3741152" cy="830997"/>
              </a:xfrm>
              <a:prstGeom prst="rect">
                <a:avLst/>
              </a:prstGeom>
              <a:solidFill>
                <a:srgbClr val="FFFFCC"/>
              </a:solidFill>
              <a:effectLst>
                <a:outerShdw blurRad="50800" dist="38100" dir="8100000" algn="tr" rotWithShape="0">
                  <a:prstClr val="black">
                    <a:alpha val="40000"/>
                  </a:prstClr>
                </a:outerShdw>
              </a:effectLst>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sz="1200" i="1" dirty="0" smtClean="0">
                          <a:solidFill>
                            <a:schemeClr val="accent4">
                              <a:lumMod val="75000"/>
                            </a:schemeClr>
                          </a:solidFill>
                          <a:latin typeface="Cambria Math" panose="02040503050406030204" pitchFamily="18" charset="0"/>
                        </a:rPr>
                        <m:t>𝑐𝑎𝑝</m:t>
                      </m:r>
                      <m:d>
                        <m:dPr>
                          <m:ctrlPr>
                            <a:rPr lang="en-US" sz="1200" b="0" i="1" dirty="0" smtClean="0">
                              <a:solidFill>
                                <a:schemeClr val="accent4">
                                  <a:lumMod val="75000"/>
                                </a:schemeClr>
                              </a:solidFill>
                              <a:latin typeface="Cambria Math" panose="02040503050406030204" pitchFamily="18" charset="0"/>
                            </a:rPr>
                          </m:ctrlPr>
                        </m:dPr>
                        <m:e>
                          <m:r>
                            <a:rPr lang="en-US" sz="1200" b="0" i="1" dirty="0" smtClean="0">
                              <a:solidFill>
                                <a:schemeClr val="accent4">
                                  <a:lumMod val="75000"/>
                                </a:schemeClr>
                              </a:solidFill>
                              <a:latin typeface="Cambria Math" panose="02040503050406030204" pitchFamily="18" charset="0"/>
                            </a:rPr>
                            <m:t>𝐶</m:t>
                          </m:r>
                        </m:e>
                      </m:d>
                      <m:r>
                        <a:rPr lang="en-US" sz="1200" i="1" dirty="0" smtClean="0">
                          <a:solidFill>
                            <a:schemeClr val="accent4">
                              <a:lumMod val="75000"/>
                            </a:schemeClr>
                          </a:solidFill>
                          <a:latin typeface="Cambria Math" panose="02040503050406030204" pitchFamily="18" charset="0"/>
                        </a:rPr>
                        <m:t>=</m:t>
                      </m:r>
                      <m:r>
                        <a:rPr lang="en-US" sz="1200" i="1" dirty="0" smtClean="0">
                          <a:solidFill>
                            <a:schemeClr val="accent4">
                              <a:lumMod val="75000"/>
                            </a:schemeClr>
                          </a:solidFill>
                          <a:latin typeface="Cambria Math" panose="02040503050406030204" pitchFamily="18" charset="0"/>
                        </a:rPr>
                        <m:t>3</m:t>
                      </m:r>
                    </m:oMath>
                  </m:oMathPara>
                </a14:m>
                <a:endParaRPr lang="en-US" sz="1200" dirty="0">
                  <a:solidFill>
                    <a:schemeClr val="accent4">
                      <a:lumMod val="75000"/>
                    </a:schemeClr>
                  </a:solidFill>
                </a:endParaRPr>
              </a:p>
              <a:p>
                <a:pPr algn="l" rtl="0"/>
                <a14:m>
                  <m:oMathPara xmlns:m="http://schemas.openxmlformats.org/officeDocument/2006/math">
                    <m:oMathParaPr>
                      <m:jc m:val="centerGroup"/>
                    </m:oMathParaPr>
                    <m:oMath xmlns:m="http://schemas.openxmlformats.org/officeDocument/2006/math">
                      <m:r>
                        <a:rPr lang="en-US" sz="1200" b="0" i="1" dirty="0" smtClean="0">
                          <a:solidFill>
                            <a:schemeClr val="accent4">
                              <a:lumMod val="75000"/>
                            </a:schemeClr>
                          </a:solidFill>
                          <a:latin typeface="Cambria Math" panose="02040503050406030204" pitchFamily="18" charset="0"/>
                        </a:rPr>
                        <m:t>𝑑𝑜𝑚</m:t>
                      </m:r>
                      <m:d>
                        <m:dPr>
                          <m:ctrlPr>
                            <a:rPr lang="en-US" sz="1200" b="0" i="1" dirty="0" smtClean="0">
                              <a:solidFill>
                                <a:schemeClr val="accent4">
                                  <a:lumMod val="75000"/>
                                </a:schemeClr>
                              </a:solidFill>
                              <a:latin typeface="Cambria Math" panose="02040503050406030204" pitchFamily="18" charset="0"/>
                            </a:rPr>
                          </m:ctrlPr>
                        </m:dPr>
                        <m:e>
                          <m:r>
                            <a:rPr lang="en-US" sz="1200" b="0" i="1" dirty="0" smtClean="0">
                              <a:solidFill>
                                <a:schemeClr val="accent4">
                                  <a:lumMod val="75000"/>
                                </a:schemeClr>
                              </a:solidFill>
                              <a:latin typeface="Cambria Math" panose="02040503050406030204" pitchFamily="18" charset="0"/>
                            </a:rPr>
                            <m:t>𝐶</m:t>
                          </m:r>
                        </m:e>
                      </m:d>
                      <m:r>
                        <a:rPr lang="en-US" sz="1200" b="0" i="1" dirty="0" smtClean="0">
                          <a:solidFill>
                            <a:schemeClr val="accent4">
                              <a:lumMod val="75000"/>
                            </a:schemeClr>
                          </a:solidFill>
                          <a:latin typeface="Cambria Math" panose="02040503050406030204" pitchFamily="18" charset="0"/>
                        </a:rPr>
                        <m:t>={</m:t>
                      </m:r>
                      <m:r>
                        <a:rPr lang="en-US" sz="1200" b="0" i="1" dirty="0" smtClean="0">
                          <a:solidFill>
                            <a:schemeClr val="accent4">
                              <a:lumMod val="75000"/>
                            </a:schemeClr>
                          </a:solidFill>
                          <a:latin typeface="Cambria Math" panose="02040503050406030204" pitchFamily="18" charset="0"/>
                        </a:rPr>
                        <m:t>𝐴</m:t>
                      </m:r>
                      <m:r>
                        <a:rPr lang="en-US" sz="1200" b="0" i="1" dirty="0" smtClean="0">
                          <a:solidFill>
                            <a:schemeClr val="accent4">
                              <a:lumMod val="75000"/>
                            </a:schemeClr>
                          </a:solidFill>
                          <a:latin typeface="Cambria Math" panose="02040503050406030204" pitchFamily="18" charset="0"/>
                        </a:rPr>
                        <m:t>,</m:t>
                      </m:r>
                      <m:r>
                        <a:rPr lang="en-US" sz="1200" b="0" i="1" dirty="0" smtClean="0">
                          <a:solidFill>
                            <a:schemeClr val="accent4">
                              <a:lumMod val="75000"/>
                            </a:schemeClr>
                          </a:solidFill>
                          <a:latin typeface="Cambria Math" panose="02040503050406030204" pitchFamily="18" charset="0"/>
                        </a:rPr>
                        <m:t>𝐵</m:t>
                      </m:r>
                      <m:r>
                        <a:rPr lang="en-US" sz="1200" b="0" i="1" dirty="0" smtClean="0">
                          <a:solidFill>
                            <a:schemeClr val="accent4">
                              <a:lumMod val="75000"/>
                            </a:schemeClr>
                          </a:solidFill>
                          <a:latin typeface="Cambria Math" panose="02040503050406030204" pitchFamily="18" charset="0"/>
                        </a:rPr>
                        <m:t>,</m:t>
                      </m:r>
                      <m:r>
                        <a:rPr lang="en-US" sz="1200" b="0" i="1" dirty="0" smtClean="0">
                          <a:solidFill>
                            <a:schemeClr val="accent4">
                              <a:lumMod val="75000"/>
                            </a:schemeClr>
                          </a:solidFill>
                          <a:latin typeface="Cambria Math" panose="02040503050406030204" pitchFamily="18" charset="0"/>
                        </a:rPr>
                        <m:t>𝐶</m:t>
                      </m:r>
                      <m:r>
                        <a:rPr lang="en-US" sz="1200" b="0" i="1" dirty="0" smtClean="0">
                          <a:solidFill>
                            <a:schemeClr val="accent4">
                              <a:lumMod val="75000"/>
                            </a:schemeClr>
                          </a:solidFill>
                          <a:latin typeface="Cambria Math" panose="02040503050406030204" pitchFamily="18" charset="0"/>
                        </a:rPr>
                        <m:t>,</m:t>
                      </m:r>
                      <m:r>
                        <a:rPr lang="en-US" sz="1200" b="0" i="1" dirty="0" smtClean="0">
                          <a:solidFill>
                            <a:schemeClr val="accent4">
                              <a:lumMod val="75000"/>
                            </a:schemeClr>
                          </a:solidFill>
                          <a:latin typeface="Cambria Math" panose="02040503050406030204" pitchFamily="18" charset="0"/>
                        </a:rPr>
                        <m:t>𝐷</m:t>
                      </m:r>
                      <m:r>
                        <a:rPr lang="en-US" sz="1200" b="0" i="1" dirty="0" smtClean="0">
                          <a:solidFill>
                            <a:schemeClr val="accent4">
                              <a:lumMod val="75000"/>
                            </a:schemeClr>
                          </a:solidFill>
                          <a:latin typeface="Cambria Math" panose="02040503050406030204" pitchFamily="18" charset="0"/>
                        </a:rPr>
                        <m:t>,</m:t>
                      </m:r>
                      <m:r>
                        <a:rPr lang="en-US" sz="1200" b="0" i="1" dirty="0" smtClean="0">
                          <a:solidFill>
                            <a:schemeClr val="accent4">
                              <a:lumMod val="75000"/>
                            </a:schemeClr>
                          </a:solidFill>
                          <a:latin typeface="Cambria Math" panose="02040503050406030204" pitchFamily="18" charset="0"/>
                        </a:rPr>
                        <m:t>𝐸</m:t>
                      </m:r>
                      <m:r>
                        <a:rPr lang="en-US" sz="1200" b="0" i="1" dirty="0" smtClean="0">
                          <a:solidFill>
                            <a:schemeClr val="accent4">
                              <a:lumMod val="75000"/>
                            </a:schemeClr>
                          </a:solidFill>
                          <a:latin typeface="Cambria Math" panose="02040503050406030204" pitchFamily="18" charset="0"/>
                        </a:rPr>
                        <m:t>}</m:t>
                      </m:r>
                    </m:oMath>
                  </m:oMathPara>
                </a14:m>
                <a:endParaRPr lang="en-US" sz="1200" dirty="0">
                  <a:solidFill>
                    <a:schemeClr val="accent4">
                      <a:lumMod val="75000"/>
                    </a:schemeClr>
                  </a:solidFill>
                </a:endParaRPr>
              </a:p>
              <a:p>
                <a:pPr algn="l" rtl="0"/>
                <a14:m>
                  <m:oMathPara xmlns:m="http://schemas.openxmlformats.org/officeDocument/2006/math">
                    <m:oMathParaPr>
                      <m:jc m:val="centerGroup"/>
                    </m:oMathParaPr>
                    <m:oMath xmlns:m="http://schemas.openxmlformats.org/officeDocument/2006/math">
                      <m:r>
                        <a:rPr lang="en-US" sz="1200" b="0" i="1" smtClean="0">
                          <a:solidFill>
                            <a:schemeClr val="accent4">
                              <a:lumMod val="75000"/>
                            </a:schemeClr>
                          </a:solidFill>
                          <a:latin typeface="Cambria Math" panose="02040503050406030204" pitchFamily="18" charset="0"/>
                        </a:rPr>
                        <m:t>𝜉</m:t>
                      </m:r>
                      <m:d>
                        <m:dPr>
                          <m:ctrlPr>
                            <a:rPr lang="en-US" sz="1200" b="0" i="1" smtClean="0">
                              <a:solidFill>
                                <a:schemeClr val="accent4">
                                  <a:lumMod val="75000"/>
                                </a:schemeClr>
                              </a:solidFill>
                              <a:latin typeface="Cambria Math" panose="02040503050406030204" pitchFamily="18" charset="0"/>
                            </a:rPr>
                          </m:ctrlPr>
                        </m:dPr>
                        <m:e>
                          <m:r>
                            <a:rPr lang="en-US" sz="1200" b="0" i="1" smtClean="0">
                              <a:solidFill>
                                <a:schemeClr val="accent4">
                                  <a:lumMod val="75000"/>
                                </a:schemeClr>
                              </a:solidFill>
                              <a:latin typeface="Cambria Math" panose="02040503050406030204" pitchFamily="18" charset="0"/>
                            </a:rPr>
                            <m:t>𝐶</m:t>
                          </m:r>
                        </m:e>
                      </m:d>
                      <m:r>
                        <a:rPr lang="en-US" sz="1200" b="0" i="1" smtClean="0">
                          <a:solidFill>
                            <a:schemeClr val="accent4">
                              <a:lumMod val="75000"/>
                            </a:schemeClr>
                          </a:solidFill>
                          <a:latin typeface="Cambria Math" panose="02040503050406030204" pitchFamily="18" charset="0"/>
                        </a:rPr>
                        <m:t>∈</m:t>
                      </m:r>
                      <m:r>
                        <m:rPr>
                          <m:lit/>
                        </m:rPr>
                        <a:rPr lang="en-US" sz="1200" b="0" i="1" smtClean="0">
                          <a:solidFill>
                            <a:schemeClr val="accent4">
                              <a:lumMod val="75000"/>
                            </a:schemeClr>
                          </a:solidFill>
                          <a:latin typeface="Cambria Math" panose="02040503050406030204" pitchFamily="18" charset="0"/>
                        </a:rPr>
                        <m:t>{</m:t>
                      </m:r>
                      <m:r>
                        <a:rPr lang="en-US" sz="1200" b="0" i="1" smtClean="0">
                          <a:solidFill>
                            <a:schemeClr val="accent4">
                              <a:lumMod val="75000"/>
                            </a:schemeClr>
                          </a:solidFill>
                          <a:latin typeface="Cambria Math" panose="02040503050406030204" pitchFamily="18" charset="0"/>
                        </a:rPr>
                        <m:t>𝜖</m:t>
                      </m:r>
                      <m:r>
                        <m:rPr>
                          <m:lit/>
                        </m:rPr>
                        <a:rPr lang="en-US" sz="1200" b="0" i="1" smtClean="0">
                          <a:solidFill>
                            <a:schemeClr val="accent4">
                              <a:lumMod val="75000"/>
                            </a:schemeClr>
                          </a:solidFill>
                          <a:latin typeface="Cambria Math" panose="02040503050406030204" pitchFamily="18" charset="0"/>
                        </a:rPr>
                        <m:t>}</m:t>
                      </m:r>
                      <m:r>
                        <a:rPr lang="en-US" sz="1200" b="0" i="1" smtClean="0">
                          <a:solidFill>
                            <a:schemeClr val="accent4">
                              <a:lumMod val="75000"/>
                            </a:schemeClr>
                          </a:solidFill>
                          <a:latin typeface="Cambria Math" panose="02040503050406030204" pitchFamily="18" charset="0"/>
                        </a:rPr>
                        <m:t>∪</m:t>
                      </m:r>
                      <m:d>
                        <m:dPr>
                          <m:begChr m:val="{"/>
                          <m:endChr m:val="}"/>
                          <m:ctrlPr>
                            <a:rPr lang="en-US" sz="1200" b="0" i="1" smtClean="0">
                              <a:solidFill>
                                <a:schemeClr val="accent4">
                                  <a:lumMod val="75000"/>
                                </a:schemeClr>
                              </a:solidFill>
                              <a:latin typeface="Cambria Math" panose="02040503050406030204" pitchFamily="18" charset="0"/>
                            </a:rPr>
                          </m:ctrlPr>
                        </m:dPr>
                        <m:e>
                          <m:r>
                            <a:rPr lang="en-US" sz="1200" b="0" i="1" smtClean="0">
                              <a:solidFill>
                                <a:schemeClr val="accent4">
                                  <a:lumMod val="75000"/>
                                </a:schemeClr>
                              </a:solidFill>
                              <a:latin typeface="Cambria Math" panose="02040503050406030204" pitchFamily="18" charset="0"/>
                            </a:rPr>
                            <m:t>𝐴</m:t>
                          </m:r>
                          <m:r>
                            <a:rPr lang="en-US" sz="1200" b="0" i="1" smtClean="0">
                              <a:solidFill>
                                <a:schemeClr val="accent4">
                                  <a:lumMod val="75000"/>
                                </a:schemeClr>
                              </a:solidFill>
                              <a:latin typeface="Cambria Math" panose="02040503050406030204" pitchFamily="18" charset="0"/>
                            </a:rPr>
                            <m:t>,…,</m:t>
                          </m:r>
                          <m:r>
                            <a:rPr lang="en-US" sz="1200" b="0" i="1" smtClean="0">
                              <a:solidFill>
                                <a:schemeClr val="accent4">
                                  <a:lumMod val="75000"/>
                                </a:schemeClr>
                              </a:solidFill>
                              <a:latin typeface="Cambria Math" panose="02040503050406030204" pitchFamily="18" charset="0"/>
                            </a:rPr>
                            <m:t>𝐸</m:t>
                          </m:r>
                        </m:e>
                      </m:d>
                      <m:r>
                        <a:rPr lang="en-US" sz="1200" b="0" i="1" smtClean="0">
                          <a:solidFill>
                            <a:schemeClr val="accent4">
                              <a:lumMod val="75000"/>
                            </a:schemeClr>
                          </a:solidFill>
                          <a:latin typeface="Cambria Math" panose="02040503050406030204" pitchFamily="18" charset="0"/>
                        </a:rPr>
                        <m:t>∪</m:t>
                      </m:r>
                      <m:d>
                        <m:dPr>
                          <m:begChr m:val="{"/>
                          <m:endChr m:val="}"/>
                          <m:ctrlPr>
                            <a:rPr lang="en-US" sz="1200" b="0" i="1" smtClean="0">
                              <a:solidFill>
                                <a:schemeClr val="accent4">
                                  <a:lumMod val="75000"/>
                                </a:schemeClr>
                              </a:solidFill>
                              <a:latin typeface="Cambria Math" panose="02040503050406030204" pitchFamily="18" charset="0"/>
                            </a:rPr>
                          </m:ctrlPr>
                        </m:dPr>
                        <m:e>
                          <m:r>
                            <a:rPr lang="en-US" sz="1200" b="0" i="1" smtClean="0">
                              <a:solidFill>
                                <a:schemeClr val="accent4">
                                  <a:lumMod val="75000"/>
                                </a:schemeClr>
                              </a:solidFill>
                              <a:latin typeface="Cambria Math" panose="02040503050406030204" pitchFamily="18" charset="0"/>
                            </a:rPr>
                            <m:t>𝐴𝐴</m:t>
                          </m:r>
                          <m:r>
                            <a:rPr lang="en-US" sz="1200" b="0" i="1" smtClean="0">
                              <a:solidFill>
                                <a:schemeClr val="accent4">
                                  <a:lumMod val="75000"/>
                                </a:schemeClr>
                              </a:solidFill>
                              <a:latin typeface="Cambria Math" panose="02040503050406030204" pitchFamily="18" charset="0"/>
                            </a:rPr>
                            <m:t>,…,</m:t>
                          </m:r>
                          <m:r>
                            <a:rPr lang="en-US" sz="1200" b="0" i="1" smtClean="0">
                              <a:solidFill>
                                <a:schemeClr val="accent4">
                                  <a:lumMod val="75000"/>
                                </a:schemeClr>
                              </a:solidFill>
                              <a:latin typeface="Cambria Math" panose="02040503050406030204" pitchFamily="18" charset="0"/>
                            </a:rPr>
                            <m:t>𝐸𝐸</m:t>
                          </m:r>
                        </m:e>
                      </m:d>
                      <m:r>
                        <a:rPr lang="en-US" sz="1200" b="0" i="1" smtClean="0">
                          <a:solidFill>
                            <a:schemeClr val="accent4">
                              <a:lumMod val="75000"/>
                            </a:schemeClr>
                          </a:solidFill>
                          <a:latin typeface="Cambria Math" panose="02040503050406030204" pitchFamily="18" charset="0"/>
                        </a:rPr>
                        <m:t>∪</m:t>
                      </m:r>
                      <m:r>
                        <a:rPr lang="en-US" sz="1200" i="1">
                          <a:solidFill>
                            <a:schemeClr val="accent4">
                              <a:lumMod val="75000"/>
                            </a:schemeClr>
                          </a:solidFill>
                          <a:latin typeface="Cambria Math" panose="02040503050406030204" pitchFamily="18" charset="0"/>
                        </a:rPr>
                        <m:t>{</m:t>
                      </m:r>
                      <m:r>
                        <a:rPr lang="en-US" sz="1200" i="1">
                          <a:solidFill>
                            <a:schemeClr val="accent4">
                              <a:lumMod val="75000"/>
                            </a:schemeClr>
                          </a:solidFill>
                          <a:latin typeface="Cambria Math" panose="02040503050406030204" pitchFamily="18" charset="0"/>
                        </a:rPr>
                        <m:t>𝐴𝐴𝐴</m:t>
                      </m:r>
                      <m:r>
                        <a:rPr lang="en-US" sz="1200" i="1">
                          <a:solidFill>
                            <a:schemeClr val="accent4">
                              <a:lumMod val="75000"/>
                            </a:schemeClr>
                          </a:solidFill>
                          <a:latin typeface="Cambria Math" panose="02040503050406030204" pitchFamily="18" charset="0"/>
                        </a:rPr>
                        <m:t>,…,</m:t>
                      </m:r>
                      <m:r>
                        <a:rPr lang="en-US" sz="1200" i="1">
                          <a:solidFill>
                            <a:schemeClr val="accent4">
                              <a:lumMod val="75000"/>
                            </a:schemeClr>
                          </a:solidFill>
                          <a:latin typeface="Cambria Math" panose="02040503050406030204" pitchFamily="18" charset="0"/>
                        </a:rPr>
                        <m:t>𝐸𝐸𝐸</m:t>
                      </m:r>
                      <m:r>
                        <a:rPr lang="en-US" sz="1200" i="1">
                          <a:solidFill>
                            <a:schemeClr val="accent4">
                              <a:lumMod val="75000"/>
                            </a:schemeClr>
                          </a:solidFill>
                          <a:latin typeface="Cambria Math" panose="02040503050406030204" pitchFamily="18" charset="0"/>
                        </a:rPr>
                        <m:t>}</m:t>
                      </m:r>
                    </m:oMath>
                  </m:oMathPara>
                </a14:m>
                <a:endParaRPr lang="he-IL" sz="1200" dirty="0">
                  <a:solidFill>
                    <a:schemeClr val="accent4">
                      <a:lumMod val="75000"/>
                    </a:schemeClr>
                  </a:solidFill>
                </a:endParaRPr>
              </a:p>
              <a:p>
                <a:pPr algn="l" rtl="0"/>
                <a14:m>
                  <m:oMathPara xmlns:m="http://schemas.openxmlformats.org/officeDocument/2006/math">
                    <m:oMathParaPr>
                      <m:jc m:val="centerGroup"/>
                    </m:oMathParaPr>
                    <m:oMath xmlns:m="http://schemas.openxmlformats.org/officeDocument/2006/math">
                      <m:sSup>
                        <m:sSupPr>
                          <m:ctrlPr>
                            <a:rPr lang="en-US" sz="1200" b="0" i="1" dirty="0" smtClean="0">
                              <a:solidFill>
                                <a:schemeClr val="accent4">
                                  <a:lumMod val="75000"/>
                                </a:schemeClr>
                              </a:solidFill>
                              <a:latin typeface="Cambria Math" panose="02040503050406030204" pitchFamily="18" charset="0"/>
                            </a:rPr>
                          </m:ctrlPr>
                        </m:sSupPr>
                        <m:e>
                          <m:r>
                            <a:rPr lang="en-US" sz="1200" b="0" i="1" dirty="0" smtClean="0">
                              <a:solidFill>
                                <a:schemeClr val="accent4">
                                  <a:lumMod val="75000"/>
                                </a:schemeClr>
                              </a:solidFill>
                              <a:latin typeface="Cambria Math" panose="02040503050406030204" pitchFamily="18" charset="0"/>
                            </a:rPr>
                            <m:t>5</m:t>
                          </m:r>
                        </m:e>
                        <m:sup>
                          <m:r>
                            <a:rPr lang="en-US" sz="1200" b="0" i="1" dirty="0" smtClean="0">
                              <a:solidFill>
                                <a:schemeClr val="accent4">
                                  <a:lumMod val="75000"/>
                                </a:schemeClr>
                              </a:solidFill>
                              <a:latin typeface="Cambria Math" panose="02040503050406030204" pitchFamily="18" charset="0"/>
                            </a:rPr>
                            <m:t>0</m:t>
                          </m:r>
                        </m:sup>
                      </m:sSup>
                      <m:r>
                        <a:rPr lang="en-US" sz="1200" b="0" i="1" dirty="0" smtClean="0">
                          <a:solidFill>
                            <a:schemeClr val="accent4">
                              <a:lumMod val="75000"/>
                            </a:schemeClr>
                          </a:solidFill>
                          <a:latin typeface="Cambria Math" panose="02040503050406030204" pitchFamily="18" charset="0"/>
                        </a:rPr>
                        <m:t>+</m:t>
                      </m:r>
                      <m:sSup>
                        <m:sSupPr>
                          <m:ctrlPr>
                            <a:rPr lang="en-US" sz="1200" b="0" i="1" dirty="0" smtClean="0">
                              <a:solidFill>
                                <a:schemeClr val="accent4">
                                  <a:lumMod val="75000"/>
                                </a:schemeClr>
                              </a:solidFill>
                              <a:latin typeface="Cambria Math" panose="02040503050406030204" pitchFamily="18" charset="0"/>
                            </a:rPr>
                          </m:ctrlPr>
                        </m:sSupPr>
                        <m:e>
                          <m:r>
                            <a:rPr lang="en-US" sz="1200" b="0" i="1" dirty="0" smtClean="0">
                              <a:solidFill>
                                <a:schemeClr val="accent4">
                                  <a:lumMod val="75000"/>
                                </a:schemeClr>
                              </a:solidFill>
                              <a:latin typeface="Cambria Math" panose="02040503050406030204" pitchFamily="18" charset="0"/>
                            </a:rPr>
                            <m:t>5</m:t>
                          </m:r>
                        </m:e>
                        <m:sup>
                          <m:r>
                            <a:rPr lang="en-US" sz="1200" b="0" i="1" dirty="0" smtClean="0">
                              <a:solidFill>
                                <a:schemeClr val="accent4">
                                  <a:lumMod val="75000"/>
                                </a:schemeClr>
                              </a:solidFill>
                              <a:latin typeface="Cambria Math" panose="02040503050406030204" pitchFamily="18" charset="0"/>
                            </a:rPr>
                            <m:t>1</m:t>
                          </m:r>
                        </m:sup>
                      </m:sSup>
                      <m:r>
                        <a:rPr lang="en-US" sz="1200" i="1" dirty="0" smtClean="0">
                          <a:solidFill>
                            <a:schemeClr val="accent4">
                              <a:lumMod val="75000"/>
                            </a:schemeClr>
                          </a:solidFill>
                          <a:latin typeface="Cambria Math" panose="02040503050406030204" pitchFamily="18" charset="0"/>
                        </a:rPr>
                        <m:t>+</m:t>
                      </m:r>
                      <m:sSup>
                        <m:sSupPr>
                          <m:ctrlPr>
                            <a:rPr lang="en-US" sz="1200" b="0" i="1" dirty="0" smtClean="0">
                              <a:solidFill>
                                <a:schemeClr val="accent4">
                                  <a:lumMod val="75000"/>
                                </a:schemeClr>
                              </a:solidFill>
                              <a:latin typeface="Cambria Math" panose="02040503050406030204" pitchFamily="18" charset="0"/>
                            </a:rPr>
                          </m:ctrlPr>
                        </m:sSupPr>
                        <m:e>
                          <m:r>
                            <a:rPr lang="en-US" sz="1200" b="0" i="1" dirty="0" smtClean="0">
                              <a:solidFill>
                                <a:schemeClr val="accent4">
                                  <a:lumMod val="75000"/>
                                </a:schemeClr>
                              </a:solidFill>
                              <a:latin typeface="Cambria Math" panose="02040503050406030204" pitchFamily="18" charset="0"/>
                            </a:rPr>
                            <m:t>5</m:t>
                          </m:r>
                        </m:e>
                        <m:sup>
                          <m:r>
                            <a:rPr lang="en-US" sz="1200" b="0" i="1" dirty="0" smtClean="0">
                              <a:solidFill>
                                <a:schemeClr val="accent4">
                                  <a:lumMod val="75000"/>
                                </a:schemeClr>
                              </a:solidFill>
                              <a:latin typeface="Cambria Math" panose="02040503050406030204" pitchFamily="18" charset="0"/>
                            </a:rPr>
                            <m:t>2</m:t>
                          </m:r>
                        </m:sup>
                      </m:sSup>
                      <m:r>
                        <a:rPr lang="en-US" sz="1200" i="1" dirty="0" smtClean="0">
                          <a:solidFill>
                            <a:schemeClr val="accent4">
                              <a:lumMod val="75000"/>
                            </a:schemeClr>
                          </a:solidFill>
                          <a:latin typeface="Cambria Math" panose="02040503050406030204" pitchFamily="18" charset="0"/>
                        </a:rPr>
                        <m:t>+</m:t>
                      </m:r>
                      <m:sSup>
                        <m:sSupPr>
                          <m:ctrlPr>
                            <a:rPr lang="en-US" sz="1200" b="0" i="1" dirty="0" smtClean="0">
                              <a:solidFill>
                                <a:schemeClr val="accent4">
                                  <a:lumMod val="75000"/>
                                </a:schemeClr>
                              </a:solidFill>
                              <a:latin typeface="Cambria Math" panose="02040503050406030204" pitchFamily="18" charset="0"/>
                            </a:rPr>
                          </m:ctrlPr>
                        </m:sSupPr>
                        <m:e>
                          <m:r>
                            <a:rPr lang="en-US" sz="1200" b="0" i="1" dirty="0" smtClean="0">
                              <a:solidFill>
                                <a:schemeClr val="accent4">
                                  <a:lumMod val="75000"/>
                                </a:schemeClr>
                              </a:solidFill>
                              <a:latin typeface="Cambria Math" panose="02040503050406030204" pitchFamily="18" charset="0"/>
                            </a:rPr>
                            <m:t>5</m:t>
                          </m:r>
                        </m:e>
                        <m:sup>
                          <m:r>
                            <a:rPr lang="en-US" sz="1200" b="0" i="1" dirty="0" smtClean="0">
                              <a:solidFill>
                                <a:schemeClr val="accent4">
                                  <a:lumMod val="75000"/>
                                </a:schemeClr>
                              </a:solidFill>
                              <a:latin typeface="Cambria Math" panose="02040503050406030204" pitchFamily="18" charset="0"/>
                            </a:rPr>
                            <m:t>3</m:t>
                          </m:r>
                        </m:sup>
                      </m:sSup>
                      <m:r>
                        <a:rPr lang="en-US" sz="1200" i="1" dirty="0" smtClean="0">
                          <a:solidFill>
                            <a:schemeClr val="accent4">
                              <a:lumMod val="75000"/>
                            </a:schemeClr>
                          </a:solidFill>
                          <a:latin typeface="Cambria Math" panose="02040503050406030204" pitchFamily="18" charset="0"/>
                        </a:rPr>
                        <m:t>=</m:t>
                      </m:r>
                      <m:r>
                        <a:rPr lang="en-US" sz="1200" i="1" dirty="0" smtClean="0">
                          <a:solidFill>
                            <a:schemeClr val="accent4">
                              <a:lumMod val="75000"/>
                            </a:schemeClr>
                          </a:solidFill>
                          <a:latin typeface="Cambria Math" panose="02040503050406030204" pitchFamily="18" charset="0"/>
                        </a:rPr>
                        <m:t>156</m:t>
                      </m:r>
                    </m:oMath>
                  </m:oMathPara>
                </a14:m>
                <a:endParaRPr lang="en-US" sz="1200" b="0" dirty="0">
                  <a:solidFill>
                    <a:schemeClr val="accent4">
                      <a:lumMod val="75000"/>
                    </a:schemeClr>
                  </a:solidFill>
                </a:endParaRPr>
              </a:p>
            </p:txBody>
          </p:sp>
        </mc:Choice>
        <mc:Fallback xmlns="">
          <p:sp>
            <p:nvSpPr>
              <p:cNvPr id="7" name="TextBox 6">
                <a:extLst>
                  <a:ext uri="{FF2B5EF4-FFF2-40B4-BE49-F238E27FC236}">
                    <a16:creationId xmlns:a16="http://schemas.microsoft.com/office/drawing/2014/main" id="{3D7D0D2A-3D69-4AEB-8D85-8FFC5FFC8D4C}"/>
                  </a:ext>
                </a:extLst>
              </p:cNvPr>
              <p:cNvSpPr txBox="1">
                <a:spLocks noRot="1" noChangeAspect="1" noMove="1" noResize="1" noEditPoints="1" noAdjustHandles="1" noChangeArrowheads="1" noChangeShapeType="1" noTextEdit="1"/>
              </p:cNvSpPr>
              <p:nvPr/>
            </p:nvSpPr>
            <p:spPr>
              <a:xfrm>
                <a:off x="235952" y="3470707"/>
                <a:ext cx="3741152" cy="830997"/>
              </a:xfrm>
              <a:prstGeom prst="rect">
                <a:avLst/>
              </a:prstGeom>
              <a:blipFill>
                <a:blip r:embed="rId4"/>
                <a:stretch>
                  <a:fillRect/>
                </a:stretch>
              </a:blipFill>
              <a:effectLst>
                <a:outerShdw blurRad="50800" dist="38100" dir="8100000" algn="tr" rotWithShape="0">
                  <a:prstClr val="black">
                    <a:alpha val="40000"/>
                  </a:prstClr>
                </a:outerShdw>
              </a:effectLst>
            </p:spPr>
            <p:txBody>
              <a:bodyPr/>
              <a:lstStyle/>
              <a:p>
                <a:r>
                  <a:rPr lang="en-US">
                    <a:noFill/>
                  </a:rPr>
                  <a:t> </a:t>
                </a:r>
              </a:p>
            </p:txBody>
          </p:sp>
        </mc:Fallback>
      </mc:AlternateContent>
      <p:cxnSp>
        <p:nvCxnSpPr>
          <p:cNvPr id="9" name="Elbow Connector 8"/>
          <p:cNvCxnSpPr/>
          <p:nvPr/>
        </p:nvCxnSpPr>
        <p:spPr>
          <a:xfrm>
            <a:off x="3969752" y="3775501"/>
            <a:ext cx="1211848" cy="796499"/>
          </a:xfrm>
          <a:prstGeom prst="bentConnector3">
            <a:avLst>
              <a:gd name="adj1" fmla="val 10054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187932" y="3488818"/>
            <a:ext cx="612668" cy="307777"/>
          </a:xfrm>
          <a:prstGeom prst="rect">
            <a:avLst/>
          </a:prstGeom>
          <a:noFill/>
        </p:spPr>
        <p:txBody>
          <a:bodyPr wrap="none" rtlCol="0">
            <a:spAutoFit/>
          </a:bodyPr>
          <a:lstStyle/>
          <a:p>
            <a:r>
              <a:rPr lang="he-IL" sz="1400" dirty="0" smtClean="0">
                <a:solidFill>
                  <a:srgbClr val="C00000"/>
                </a:solidFill>
                <a:latin typeface="Gisha" panose="020B0502040204020203" pitchFamily="34" charset="-79"/>
                <a:cs typeface="Gisha" panose="020B0502040204020203" pitchFamily="34" charset="-79"/>
              </a:rPr>
              <a:t>דוגמא</a:t>
            </a:r>
            <a:endParaRPr lang="en-US" sz="1400" dirty="0">
              <a:solidFill>
                <a:srgbClr val="C00000"/>
              </a:solidFill>
              <a:latin typeface="Gisha" panose="020B0502040204020203" pitchFamily="34" charset="-79"/>
              <a:cs typeface="Gisha" panose="020B0502040204020203" pitchFamily="34" charset="-79"/>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194" y="-76200"/>
            <a:ext cx="7772400" cy="1143000"/>
          </a:xfrm>
        </p:spPr>
        <p:txBody>
          <a:bodyPr/>
          <a:lstStyle/>
          <a:p>
            <a:r>
              <a:rPr lang="he-IL" dirty="0">
                <a:latin typeface="Gisha" panose="020B0502040204020203" pitchFamily="34" charset="-79"/>
                <a:cs typeface="Gisha" panose="020B0502040204020203" pitchFamily="34" charset="-79"/>
              </a:rPr>
              <a:t>פרוטוקול הביט המתהפך</a:t>
            </a:r>
            <a:endParaRPr lang="en-US"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p:txBody>
          <a:bodyPr/>
          <a:lstStyle/>
          <a:p>
            <a:fld id="{A7F926B5-663A-4127-A287-7B83208B40AD}" type="datetime8">
              <a:rPr lang="he-IL" smtClean="0"/>
              <a:pPr/>
              <a:t>19 מאי 24</a:t>
            </a:fld>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8</a:t>
            </a:fld>
            <a:endParaRPr lang="he-IL" dirty="0"/>
          </a:p>
        </p:txBody>
      </p:sp>
      <mc:AlternateContent xmlns:mc="http://schemas.openxmlformats.org/markup-compatibility/2006" xmlns:a14="http://schemas.microsoft.com/office/drawing/2010/main">
        <mc:Choice Requires="a14">
          <p:sp>
            <p:nvSpPr>
              <p:cNvPr id="43" name="TextBox 42"/>
              <p:cNvSpPr txBox="1"/>
              <p:nvPr/>
            </p:nvSpPr>
            <p:spPr>
              <a:xfrm>
                <a:off x="825158" y="5562600"/>
                <a:ext cx="7914474" cy="1094659"/>
              </a:xfrm>
              <a:prstGeom prst="rect">
                <a:avLst/>
              </a:prstGeom>
              <a:noFill/>
            </p:spPr>
            <p:txBody>
              <a:bodyPr wrap="none" rtlCol="0">
                <a:spAutoFit/>
              </a:bodyPr>
              <a:lstStyle/>
              <a:p>
                <a:pPr algn="ctr"/>
                <a:r>
                  <a:rPr lang="he-IL" sz="2800" dirty="0" smtClean="0">
                    <a:latin typeface="Gisha" panose="020B0502040204020203" pitchFamily="34" charset="-79"/>
                    <a:cs typeface="Gisha" panose="020B0502040204020203" pitchFamily="34" charset="-79"/>
                  </a:rPr>
                  <a:t>קיבולת ערוץ עם </a:t>
                </a:r>
                <a14:m>
                  <m:oMath xmlns:m="http://schemas.openxmlformats.org/officeDocument/2006/math">
                    <m:r>
                      <a:rPr lang="en-US" sz="2800" i="1" dirty="0" smtClean="0">
                        <a:latin typeface="Cambria Math" panose="02040503050406030204" pitchFamily="18" charset="0"/>
                      </a:rPr>
                      <m:t>10</m:t>
                    </m:r>
                  </m:oMath>
                </a14:m>
                <a:r>
                  <a:rPr lang="he-IL" sz="2800" dirty="0">
                    <a:latin typeface="Gisha" panose="020B0502040204020203" pitchFamily="34" charset="-79"/>
                    <a:cs typeface="Gisha" panose="020B0502040204020203" pitchFamily="34" charset="-79"/>
                  </a:rPr>
                  <a:t> הודעות בוליאניות נותן</a:t>
                </a:r>
              </a:p>
              <a:p>
                <a:pPr algn="ctr"/>
                <a:r>
                  <a:rPr lang="he-IL" sz="2800" dirty="0">
                    <a:latin typeface="Gisha" panose="020B0502040204020203" pitchFamily="34" charset="-79"/>
                    <a:cs typeface="Gisha" panose="020B0502040204020203" pitchFamily="34" charset="-79"/>
                  </a:rPr>
                  <a:t>  </a:t>
                </a:r>
                <a14:m>
                  <m:oMath xmlns:m="http://schemas.openxmlformats.org/officeDocument/2006/math">
                    <m:r>
                      <a:rPr lang="en-US" sz="2800" b="0" i="1" smtClean="0">
                        <a:latin typeface="Cambria Math" panose="02040503050406030204" pitchFamily="18" charset="0"/>
                      </a:rPr>
                      <m:t>2</m:t>
                    </m:r>
                    <m:r>
                      <a:rPr lang="en-US" sz="2800" b="0" i="1" smtClean="0">
                        <a:latin typeface="Cambria Math" panose="02040503050406030204" pitchFamily="18" charset="0"/>
                      </a:rPr>
                      <m:t>⋅</m:t>
                    </m:r>
                    <m:r>
                      <a:rPr lang="en-US" sz="2800" b="0" i="1" smtClean="0">
                        <a:latin typeface="Cambria Math" panose="02040503050406030204" pitchFamily="18" charset="0"/>
                      </a:rPr>
                      <m:t>6</m:t>
                    </m:r>
                    <m:r>
                      <a:rPr lang="en-US" sz="2800" b="0" i="1" smtClean="0">
                        <a:latin typeface="Cambria Math" panose="02040503050406030204" pitchFamily="18" charset="0"/>
                      </a:rPr>
                      <m:t>⋅</m:t>
                    </m:r>
                    <m:r>
                      <a:rPr lang="en-US" sz="2800" b="0" i="1" smtClean="0">
                        <a:latin typeface="Cambria Math" panose="02040503050406030204" pitchFamily="18" charset="0"/>
                      </a:rPr>
                      <m:t>8</m:t>
                    </m:r>
                    <m:r>
                      <a:rPr lang="en-US" sz="2800" i="1">
                        <a:latin typeface="Cambria Math" panose="02040503050406030204" pitchFamily="18" charset="0"/>
                      </a:rPr>
                      <m:t>⋅</m:t>
                    </m:r>
                    <m:r>
                      <a:rPr lang="en-US" sz="2800" i="1">
                        <a:latin typeface="Cambria Math" panose="02040503050406030204" pitchFamily="18" charset="0"/>
                      </a:rPr>
                      <m:t>2</m:t>
                    </m:r>
                    <m:r>
                      <a:rPr lang="en-US" sz="2800" i="1">
                        <a:latin typeface="Cambria Math" panose="02040503050406030204" pitchFamily="18" charset="0"/>
                      </a:rPr>
                      <m:t>⋅</m:t>
                    </m:r>
                    <m:r>
                      <a:rPr lang="en-US" sz="2800" i="1">
                        <a:latin typeface="Cambria Math" panose="02040503050406030204" pitchFamily="18" charset="0"/>
                      </a:rPr>
                      <m:t>2</m:t>
                    </m:r>
                    <m:r>
                      <a:rPr lang="he-IL"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m:t>
                                </m:r>
                                <m:r>
                                  <a:rPr lang="he-IL" sz="2800" b="0" i="1" smtClean="0">
                                    <a:latin typeface="Cambria Math" panose="02040503050406030204" pitchFamily="18" charset="0"/>
                                  </a:rPr>
                                  <m:t>0</m:t>
                                </m:r>
                              </m:sub>
                              <m:sup>
                                <m:r>
                                  <a:rPr lang="en-US" sz="2800" b="0" i="1" smtClean="0">
                                    <a:latin typeface="Cambria Math" panose="02040503050406030204" pitchFamily="18" charset="0"/>
                                  </a:rPr>
                                  <m:t>10</m:t>
                                </m:r>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e>
                        </m:d>
                      </m:e>
                      <m:sup>
                        <m:r>
                          <a:rPr lang="en-US" sz="2800" b="0" i="0" smtClean="0">
                            <a:latin typeface="Cambria Math" panose="02040503050406030204" pitchFamily="18" charset="0"/>
                          </a:rPr>
                          <m:t>2</m:t>
                        </m:r>
                      </m:sup>
                    </m:sSup>
                    <m:r>
                      <a:rPr lang="en-US" sz="2800" b="0" i="1" smtClean="0">
                        <a:latin typeface="Cambria Math" panose="02040503050406030204" pitchFamily="18" charset="0"/>
                      </a:rPr>
                      <m:t>=</m:t>
                    </m:r>
                    <m:r>
                      <m:rPr>
                        <m:nor/>
                      </m:rPr>
                      <a:rPr lang="en-US" sz="2800" b="0" i="0" smtClean="0">
                        <a:solidFill>
                          <a:srgbClr val="FF0000"/>
                        </a:solidFill>
                        <a:latin typeface="Gisha" panose="020B0502040204020203" pitchFamily="34" charset="-79"/>
                        <a:cs typeface="Gisha" panose="020B0502040204020203" pitchFamily="34" charset="-79"/>
                      </a:rPr>
                      <m:t>1,607,468,544</m:t>
                    </m:r>
                  </m:oMath>
                </a14:m>
                <a:r>
                  <a:rPr lang="he-IL" sz="2800" dirty="0">
                    <a:latin typeface="Gisha" panose="020B0502040204020203" pitchFamily="34" charset="-79"/>
                    <a:cs typeface="Gisha" panose="020B0502040204020203" pitchFamily="34" charset="-79"/>
                  </a:rPr>
                  <a:t> מצבים</a:t>
                </a:r>
                <a:endParaRPr lang="en-US" sz="2800" dirty="0">
                  <a:latin typeface="Gisha" panose="020B0502040204020203" pitchFamily="34" charset="-79"/>
                  <a:cs typeface="Gisha" panose="020B0502040204020203" pitchFamily="34" charset="-79"/>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825158" y="5562600"/>
                <a:ext cx="7914474" cy="1094659"/>
              </a:xfrm>
              <a:prstGeom prst="rect">
                <a:avLst/>
              </a:prstGeom>
              <a:blipFill>
                <a:blip r:embed="rId2"/>
                <a:stretch>
                  <a:fillRect l="-1078" t="-6704" r="-1078" b="-11732"/>
                </a:stretch>
              </a:blipFill>
            </p:spPr>
            <p:txBody>
              <a:bodyPr/>
              <a:lstStyle/>
              <a:p>
                <a:r>
                  <a:rPr lang="en-US">
                    <a:noFill/>
                  </a:rPr>
                  <a:t> </a:t>
                </a:r>
              </a:p>
            </p:txBody>
          </p:sp>
        </mc:Fallback>
      </mc:AlternateContent>
      <p:grpSp>
        <p:nvGrpSpPr>
          <p:cNvPr id="81" name="Group 80"/>
          <p:cNvGrpSpPr/>
          <p:nvPr/>
        </p:nvGrpSpPr>
        <p:grpSpPr>
          <a:xfrm>
            <a:off x="165043" y="1338245"/>
            <a:ext cx="8826557" cy="4026932"/>
            <a:chOff x="165043" y="2057400"/>
            <a:chExt cx="8826557" cy="4026932"/>
          </a:xfrm>
        </p:grpSpPr>
        <mc:AlternateContent xmlns:mc="http://schemas.openxmlformats.org/markup-compatibility/2006" xmlns:a14="http://schemas.microsoft.com/office/drawing/2010/main">
          <mc:Choice Requires="a14">
            <p:sp>
              <p:nvSpPr>
                <p:cNvPr id="82" name="TextBox 81"/>
                <p:cNvSpPr txBox="1"/>
                <p:nvPr/>
              </p:nvSpPr>
              <p:spPr>
                <a:xfrm>
                  <a:off x="165043" y="3645932"/>
                  <a:ext cx="1091004" cy="646331"/>
                </a:xfrm>
                <a:prstGeom prst="rect">
                  <a:avLst/>
                </a:prstGeom>
                <a:noFill/>
              </p:spPr>
              <p:txBody>
                <a:bodyPr wrap="none" rtlCol="0">
                  <a:spAutoFit/>
                </a:bodyPr>
                <a:lstStyle/>
                <a:p>
                  <a:pPr algn="l" rtl="0"/>
                  <a14:m>
                    <m:oMath xmlns:m="http://schemas.openxmlformats.org/officeDocument/2006/math">
                      <m:r>
                        <a:rPr lang="en-US" i="1" dirty="0" smtClean="0">
                          <a:solidFill>
                            <a:schemeClr val="tx1"/>
                          </a:solidFill>
                          <a:latin typeface="Cambria Math" panose="02040503050406030204" pitchFamily="18" charset="0"/>
                        </a:rPr>
                        <m:t>𝑥</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1</m:t>
                      </m:r>
                    </m:oMath>
                  </a14:m>
                  <a:r>
                    <a:rPr lang="en-US" dirty="0">
                      <a:solidFill>
                        <a:schemeClr val="tx1"/>
                      </a:solidFill>
                      <a:latin typeface="cmr10"/>
                    </a:rPr>
                    <a:t> :</a:t>
                  </a:r>
                </a:p>
                <a:p>
                  <a:pPr algn="l" rtl="0"/>
                  <a:r>
                    <a:rPr lang="en-US" dirty="0">
                      <a:solidFill>
                        <a:schemeClr val="tx1"/>
                      </a:solidFill>
                    </a:rPr>
                    <a:t>_</a:t>
                  </a:r>
                  <a:r>
                    <a:rPr lang="en-US" dirty="0" err="1">
                      <a:solidFill>
                        <a:schemeClr val="tx1"/>
                      </a:solidFill>
                      <a:latin typeface="cmmi10"/>
                    </a:rPr>
                    <a:t>tmr</a:t>
                  </a:r>
                  <a:r>
                    <a:rPr lang="en-US" dirty="0">
                      <a:solidFill>
                        <a:schemeClr val="tx1"/>
                      </a:solidFill>
                      <a:latin typeface="cmr10"/>
                    </a:rPr>
                    <a:t>-</a:t>
                  </a:r>
                  <a:r>
                    <a:rPr lang="en-US" dirty="0">
                      <a:solidFill>
                        <a:schemeClr val="tx1"/>
                      </a:solidFill>
                      <a:latin typeface="cmmi10"/>
                    </a:rPr>
                    <a:t>off </a:t>
                  </a:r>
                  <a:r>
                    <a:rPr lang="en-US" dirty="0">
                      <a:solidFill>
                        <a:schemeClr val="tx1"/>
                      </a:solidFill>
                      <a:latin typeface="cmr10"/>
                    </a:rPr>
                    <a:t>!</a:t>
                  </a:r>
                </a:p>
              </p:txBody>
            </p:sp>
          </mc:Choice>
          <mc:Fallback xmlns="">
            <p:sp>
              <p:nvSpPr>
                <p:cNvPr id="82" name="TextBox 81"/>
                <p:cNvSpPr txBox="1">
                  <a:spLocks noRot="1" noChangeAspect="1" noMove="1" noResize="1" noEditPoints="1" noAdjustHandles="1" noChangeArrowheads="1" noChangeShapeType="1" noTextEdit="1"/>
                </p:cNvSpPr>
                <p:nvPr/>
              </p:nvSpPr>
              <p:spPr>
                <a:xfrm>
                  <a:off x="165043" y="3645932"/>
                  <a:ext cx="1091004" cy="646331"/>
                </a:xfrm>
                <a:prstGeom prst="rect">
                  <a:avLst/>
                </a:prstGeom>
                <a:blipFill>
                  <a:blip r:embed="rId3"/>
                  <a:stretch>
                    <a:fillRect l="-4469" t="-4717" r="-4469" b="-15094"/>
                  </a:stretch>
                </a:blipFill>
              </p:spPr>
              <p:txBody>
                <a:bodyPr/>
                <a:lstStyle/>
                <a:p>
                  <a:r>
                    <a:rPr lang="he-IL">
                      <a:noFill/>
                    </a:rPr>
                    <a:t> </a:t>
                  </a:r>
                </a:p>
              </p:txBody>
            </p:sp>
          </mc:Fallback>
        </mc:AlternateContent>
        <p:grpSp>
          <p:nvGrpSpPr>
            <p:cNvPr id="83" name="Group 82"/>
            <p:cNvGrpSpPr/>
            <p:nvPr/>
          </p:nvGrpSpPr>
          <p:grpSpPr>
            <a:xfrm>
              <a:off x="387115" y="2057400"/>
              <a:ext cx="8604485" cy="4026932"/>
              <a:chOff x="387115" y="2057400"/>
              <a:chExt cx="8604485" cy="4026932"/>
            </a:xfrm>
          </p:grpSpPr>
          <p:sp>
            <p:nvSpPr>
              <p:cNvPr id="84" name="Rectangle 83"/>
              <p:cNvSpPr/>
              <p:nvPr/>
            </p:nvSpPr>
            <p:spPr>
              <a:xfrm>
                <a:off x="2856713" y="2655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st-tmr</a:t>
                </a:r>
                <a:r>
                  <a:rPr lang="en-US" dirty="0"/>
                  <a:t>(0)</a:t>
                </a:r>
              </a:p>
            </p:txBody>
          </p:sp>
          <p:sp>
            <p:nvSpPr>
              <p:cNvPr id="85" name="Rectangle 84"/>
              <p:cNvSpPr/>
              <p:nvPr/>
            </p:nvSpPr>
            <p:spPr>
              <a:xfrm>
                <a:off x="637014" y="2655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snd-msg</a:t>
                </a:r>
                <a:r>
                  <a:rPr lang="en-US" dirty="0"/>
                  <a:t>(0)</a:t>
                </a:r>
              </a:p>
            </p:txBody>
          </p:sp>
          <p:sp>
            <p:nvSpPr>
              <p:cNvPr id="86" name="Rectangle 85"/>
              <p:cNvSpPr/>
              <p:nvPr/>
            </p:nvSpPr>
            <p:spPr>
              <a:xfrm>
                <a:off x="7296110" y="2655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chk-ack</a:t>
                </a:r>
                <a:r>
                  <a:rPr lang="en-US" dirty="0"/>
                  <a:t>(0)</a:t>
                </a:r>
              </a:p>
            </p:txBody>
          </p:sp>
          <p:sp>
            <p:nvSpPr>
              <p:cNvPr id="87" name="Rectangle 86"/>
              <p:cNvSpPr/>
              <p:nvPr/>
            </p:nvSpPr>
            <p:spPr>
              <a:xfrm>
                <a:off x="5076411" y="2655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wait(0)</a:t>
                </a:r>
              </a:p>
            </p:txBody>
          </p:sp>
          <p:sp>
            <p:nvSpPr>
              <p:cNvPr id="88" name="Rectangle 87"/>
              <p:cNvSpPr/>
              <p:nvPr/>
            </p:nvSpPr>
            <p:spPr>
              <a:xfrm>
                <a:off x="2852831" y="4941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t>wait(1)</a:t>
                </a:r>
              </a:p>
            </p:txBody>
          </p:sp>
          <p:sp>
            <p:nvSpPr>
              <p:cNvPr id="89" name="Rectangle 88"/>
              <p:cNvSpPr/>
              <p:nvPr/>
            </p:nvSpPr>
            <p:spPr>
              <a:xfrm>
                <a:off x="633133" y="4941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chk-ack</a:t>
                </a:r>
                <a:r>
                  <a:rPr lang="en-US" dirty="0"/>
                  <a:t>(1)</a:t>
                </a:r>
              </a:p>
            </p:txBody>
          </p:sp>
          <p:sp>
            <p:nvSpPr>
              <p:cNvPr id="90" name="Rectangle 89"/>
              <p:cNvSpPr/>
              <p:nvPr/>
            </p:nvSpPr>
            <p:spPr>
              <a:xfrm>
                <a:off x="7292228" y="4941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snd-msg</a:t>
                </a:r>
                <a:r>
                  <a:rPr lang="en-US" dirty="0"/>
                  <a:t>(1)</a:t>
                </a:r>
              </a:p>
            </p:txBody>
          </p:sp>
          <p:sp>
            <p:nvSpPr>
              <p:cNvPr id="91" name="Rectangle 90"/>
              <p:cNvSpPr/>
              <p:nvPr/>
            </p:nvSpPr>
            <p:spPr>
              <a:xfrm>
                <a:off x="5072530" y="4941332"/>
                <a:ext cx="1249499"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st-tmr</a:t>
                </a:r>
                <a:r>
                  <a:rPr lang="en-US" dirty="0"/>
                  <a:t>(1)</a:t>
                </a:r>
              </a:p>
            </p:txBody>
          </p:sp>
          <p:cxnSp>
            <p:nvCxnSpPr>
              <p:cNvPr id="92" name="Elbow Connector 91"/>
              <p:cNvCxnSpPr/>
              <p:nvPr/>
            </p:nvCxnSpPr>
            <p:spPr>
              <a:xfrm>
                <a:off x="387115" y="2883932"/>
                <a:ext cx="249900" cy="1588"/>
              </a:xfrm>
              <a:prstGeom prst="bentConnector3">
                <a:avLst>
                  <a:gd name="adj1" fmla="val 50000"/>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3" name="Straight Arrow Connector 92"/>
              <p:cNvCxnSpPr/>
              <p:nvPr/>
            </p:nvCxnSpPr>
            <p:spPr>
              <a:xfrm rot="5400000" flipH="1" flipV="1">
                <a:off x="345423" y="4024991"/>
                <a:ext cx="1828800" cy="3881"/>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4" name="Elbow Connector 93"/>
              <p:cNvCxnSpPr/>
              <p:nvPr/>
            </p:nvCxnSpPr>
            <p:spPr>
              <a:xfrm rot="5400000" flipH="1" flipV="1">
                <a:off x="2371585" y="1545483"/>
                <a:ext cx="1588" cy="2219698"/>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5" name="Straight Arrow Connector 94"/>
              <p:cNvCxnSpPr/>
              <p:nvPr/>
            </p:nvCxnSpPr>
            <p:spPr>
              <a:xfrm>
                <a:off x="4106212" y="2883932"/>
                <a:ext cx="970199" cy="1588"/>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6" name="Elbow Connector 95"/>
              <p:cNvCxnSpPr/>
              <p:nvPr/>
            </p:nvCxnSpPr>
            <p:spPr>
              <a:xfrm rot="5400000">
                <a:off x="3479706" y="1392633"/>
                <a:ext cx="1588" cy="3439798"/>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7" name="Elbow Connector 96"/>
              <p:cNvCxnSpPr/>
              <p:nvPr/>
            </p:nvCxnSpPr>
            <p:spPr>
              <a:xfrm rot="5400000" flipH="1" flipV="1">
                <a:off x="6810982" y="1545483"/>
                <a:ext cx="1588" cy="2219698"/>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8" name="Elbow Connector 97"/>
              <p:cNvCxnSpPr/>
              <p:nvPr/>
            </p:nvCxnSpPr>
            <p:spPr>
              <a:xfrm rot="5400000">
                <a:off x="6576957" y="2230533"/>
                <a:ext cx="1588" cy="1763999"/>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99" name="Straight Arrow Connector 98"/>
              <p:cNvCxnSpPr/>
              <p:nvPr/>
            </p:nvCxnSpPr>
            <p:spPr>
              <a:xfrm rot="5400000">
                <a:off x="7004519" y="4024991"/>
                <a:ext cx="1828800" cy="3881"/>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0" name="Elbow Connector 99"/>
              <p:cNvCxnSpPr/>
              <p:nvPr/>
            </p:nvCxnSpPr>
            <p:spPr>
              <a:xfrm rot="5400000" flipH="1" flipV="1">
                <a:off x="2444319" y="4059333"/>
                <a:ext cx="1588" cy="1763999"/>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1" name="Elbow Connector 100"/>
              <p:cNvCxnSpPr/>
              <p:nvPr/>
            </p:nvCxnSpPr>
            <p:spPr>
              <a:xfrm rot="5400000">
                <a:off x="2367704" y="4288683"/>
                <a:ext cx="1588" cy="2219698"/>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2" name="Elbow Connector 101"/>
              <p:cNvCxnSpPr/>
              <p:nvPr/>
            </p:nvCxnSpPr>
            <p:spPr>
              <a:xfrm rot="5400000">
                <a:off x="6807101" y="4288683"/>
                <a:ext cx="1588" cy="2219698"/>
              </a:xfrm>
              <a:prstGeom prst="bentConnector3">
                <a:avLst>
                  <a:gd name="adj1" fmla="val 14395466"/>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3" name="Elbow Connector 102"/>
              <p:cNvCxnSpPr/>
              <p:nvPr/>
            </p:nvCxnSpPr>
            <p:spPr>
              <a:xfrm rot="5400000" flipH="1" flipV="1">
                <a:off x="5663617" y="3089133"/>
                <a:ext cx="1588" cy="3704397"/>
              </a:xfrm>
              <a:prstGeom prst="bentConnector3">
                <a:avLst>
                  <a:gd name="adj1" fmla="val 15481932"/>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4" name="Straight Arrow Connector 103"/>
              <p:cNvCxnSpPr/>
              <p:nvPr/>
            </p:nvCxnSpPr>
            <p:spPr>
              <a:xfrm>
                <a:off x="1886514" y="2883932"/>
                <a:ext cx="970199" cy="1588"/>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5" name="Straight Arrow Connector 104"/>
              <p:cNvCxnSpPr/>
              <p:nvPr/>
            </p:nvCxnSpPr>
            <p:spPr>
              <a:xfrm rot="10800000">
                <a:off x="6322029" y="5169932"/>
                <a:ext cx="970199" cy="1588"/>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06" name="Straight Arrow Connector 105"/>
              <p:cNvCxnSpPr/>
              <p:nvPr/>
            </p:nvCxnSpPr>
            <p:spPr>
              <a:xfrm rot="10800000">
                <a:off x="4102331" y="5169932"/>
                <a:ext cx="970199" cy="1588"/>
              </a:xfrm>
              <a:prstGeom prst="straightConnector1">
                <a:avLst/>
              </a:prstGeom>
              <a:ln w="19050">
                <a:headEnd type="none" w="med" len="med"/>
                <a:tailEnd type="triangle" w="med" len="med"/>
              </a:ln>
            </p:spPr>
            <p:style>
              <a:lnRef idx="3">
                <a:schemeClr val="dk1"/>
              </a:lnRef>
              <a:fillRef idx="0">
                <a:schemeClr val="dk1"/>
              </a:fillRef>
              <a:effectRef idx="2">
                <a:schemeClr val="dk1"/>
              </a:effectRef>
              <a:fontRef idx="minor">
                <a:schemeClr val="tx1"/>
              </a:fontRef>
            </p:style>
          </p:cxnSp>
          <p:sp>
            <p:nvSpPr>
              <p:cNvPr id="107" name="TextBox 106"/>
              <p:cNvSpPr txBox="1"/>
              <p:nvPr/>
            </p:nvSpPr>
            <p:spPr>
              <a:xfrm>
                <a:off x="2110747" y="2556296"/>
                <a:ext cx="536842" cy="369332"/>
              </a:xfrm>
              <a:prstGeom prst="rect">
                <a:avLst/>
              </a:prstGeom>
              <a:noFill/>
            </p:spPr>
            <p:txBody>
              <a:bodyPr wrap="none" rtlCol="0">
                <a:spAutoFit/>
              </a:bodyPr>
              <a:lstStyle/>
              <a:p>
                <a:pPr algn="l" rtl="0"/>
                <a:r>
                  <a:rPr lang="en-US" dirty="0">
                    <a:latin typeface="cmmi10"/>
                  </a:rPr>
                  <a:t>lost</a:t>
                </a:r>
                <a:endParaRPr lang="en-US" dirty="0">
                  <a:latin typeface="cmsy10"/>
                </a:endParaRPr>
              </a:p>
            </p:txBody>
          </p:sp>
          <p:sp>
            <p:nvSpPr>
              <p:cNvPr id="108" name="TextBox 107"/>
              <p:cNvSpPr txBox="1"/>
              <p:nvPr/>
            </p:nvSpPr>
            <p:spPr>
              <a:xfrm>
                <a:off x="3253613" y="3341132"/>
                <a:ext cx="1208985" cy="369332"/>
              </a:xfrm>
              <a:prstGeom prst="rect">
                <a:avLst/>
              </a:prstGeom>
              <a:noFill/>
            </p:spPr>
            <p:txBody>
              <a:bodyPr wrap="none" rtlCol="0">
                <a:spAutoFit/>
              </a:bodyPr>
              <a:lstStyle/>
              <a:p>
                <a:pPr algn="l" rtl="0"/>
                <a:r>
                  <a:rPr lang="en-US" dirty="0"/>
                  <a:t>_</a:t>
                </a:r>
                <a:r>
                  <a:rPr lang="en-US" dirty="0">
                    <a:latin typeface="cmmi10"/>
                  </a:rPr>
                  <a:t>timeout</a:t>
                </a:r>
                <a:r>
                  <a:rPr lang="en-US" dirty="0">
                    <a:latin typeface="cmr10"/>
                  </a:rPr>
                  <a:t>?</a:t>
                </a:r>
              </a:p>
            </p:txBody>
          </p:sp>
          <p:sp>
            <p:nvSpPr>
              <p:cNvPr id="109" name="Rectangle 108"/>
              <p:cNvSpPr/>
              <p:nvPr/>
            </p:nvSpPr>
            <p:spPr>
              <a:xfrm>
                <a:off x="4991791" y="4343400"/>
                <a:ext cx="1208985" cy="369332"/>
              </a:xfrm>
              <a:prstGeom prst="rect">
                <a:avLst/>
              </a:prstGeom>
            </p:spPr>
            <p:txBody>
              <a:bodyPr wrap="none">
                <a:spAutoFit/>
              </a:bodyPr>
              <a:lstStyle/>
              <a:p>
                <a:pPr algn="l" rtl="0"/>
                <a:r>
                  <a:rPr lang="en-US" dirty="0"/>
                  <a:t>_</a:t>
                </a:r>
                <a:r>
                  <a:rPr lang="en-US" dirty="0">
                    <a:latin typeface="cmmi10"/>
                  </a:rPr>
                  <a:t>timeout</a:t>
                </a:r>
                <a:r>
                  <a:rPr lang="en-US" dirty="0">
                    <a:latin typeface="cmr10"/>
                  </a:rPr>
                  <a:t>?</a:t>
                </a:r>
              </a:p>
            </p:txBody>
          </p:sp>
          <p:sp>
            <p:nvSpPr>
              <p:cNvPr id="110" name="TextBox 109"/>
              <p:cNvSpPr txBox="1"/>
              <p:nvPr/>
            </p:nvSpPr>
            <p:spPr>
              <a:xfrm>
                <a:off x="6548472" y="4847880"/>
                <a:ext cx="536842" cy="369332"/>
              </a:xfrm>
              <a:prstGeom prst="rect">
                <a:avLst/>
              </a:prstGeom>
              <a:noFill/>
            </p:spPr>
            <p:txBody>
              <a:bodyPr wrap="none" rtlCol="0">
                <a:spAutoFit/>
              </a:bodyPr>
              <a:lstStyle/>
              <a:p>
                <a:pPr algn="l" rtl="0"/>
                <a:r>
                  <a:rPr lang="en-US" dirty="0">
                    <a:latin typeface="cmmi10"/>
                  </a:rPr>
                  <a:t>lost</a:t>
                </a:r>
                <a:endParaRPr lang="en-US" dirty="0">
                  <a:latin typeface="cmsy10"/>
                </a:endParaRPr>
              </a:p>
            </p:txBody>
          </p:sp>
          <p:sp>
            <p:nvSpPr>
              <p:cNvPr id="111" name="TextBox 110"/>
              <p:cNvSpPr txBox="1"/>
              <p:nvPr/>
            </p:nvSpPr>
            <p:spPr>
              <a:xfrm>
                <a:off x="4061742" y="2546062"/>
                <a:ext cx="1031051" cy="369332"/>
              </a:xfrm>
              <a:prstGeom prst="rect">
                <a:avLst/>
              </a:prstGeom>
              <a:noFill/>
            </p:spPr>
            <p:txBody>
              <a:bodyPr wrap="none" rtlCol="0">
                <a:spAutoFit/>
              </a:bodyPr>
              <a:lstStyle/>
              <a:p>
                <a:pPr algn="l" rtl="0"/>
                <a:r>
                  <a:rPr lang="en-US" dirty="0"/>
                  <a:t>_</a:t>
                </a:r>
                <a:r>
                  <a:rPr lang="en-US" dirty="0" err="1">
                    <a:latin typeface="cmmi10"/>
                  </a:rPr>
                  <a:t>tmr</a:t>
                </a:r>
                <a:r>
                  <a:rPr lang="en-US" dirty="0">
                    <a:latin typeface="cmr10"/>
                  </a:rPr>
                  <a:t>-</a:t>
                </a:r>
                <a:r>
                  <a:rPr lang="en-US" dirty="0">
                    <a:latin typeface="cmmi10"/>
                  </a:rPr>
                  <a:t>on</a:t>
                </a:r>
                <a:r>
                  <a:rPr lang="en-US" dirty="0">
                    <a:latin typeface="cmr10"/>
                  </a:rPr>
                  <a:t>!</a:t>
                </a:r>
              </a:p>
            </p:txBody>
          </p:sp>
          <p:sp>
            <p:nvSpPr>
              <p:cNvPr id="112" name="TextBox 111"/>
              <p:cNvSpPr txBox="1"/>
              <p:nvPr/>
            </p:nvSpPr>
            <p:spPr>
              <a:xfrm>
                <a:off x="4075687" y="5152680"/>
                <a:ext cx="1031051" cy="369332"/>
              </a:xfrm>
              <a:prstGeom prst="rect">
                <a:avLst/>
              </a:prstGeom>
              <a:noFill/>
            </p:spPr>
            <p:txBody>
              <a:bodyPr wrap="none" rtlCol="0">
                <a:spAutoFit/>
              </a:bodyPr>
              <a:lstStyle/>
              <a:p>
                <a:pPr algn="l" rtl="0"/>
                <a:r>
                  <a:rPr lang="en-US" dirty="0"/>
                  <a:t>_</a:t>
                </a:r>
                <a:r>
                  <a:rPr lang="en-US" dirty="0" err="1">
                    <a:latin typeface="cmmi10"/>
                  </a:rPr>
                  <a:t>tmr</a:t>
                </a:r>
                <a:r>
                  <a:rPr lang="en-US" dirty="0">
                    <a:latin typeface="cmr10"/>
                  </a:rPr>
                  <a:t>-</a:t>
                </a:r>
                <a:r>
                  <a:rPr lang="en-US" dirty="0">
                    <a:latin typeface="cmmi10"/>
                  </a:rPr>
                  <a:t>on</a:t>
                </a:r>
                <a:r>
                  <a:rPr lang="en-US" dirty="0">
                    <a:latin typeface="cmr10"/>
                  </a:rPr>
                  <a:t>!</a:t>
                </a:r>
              </a:p>
            </p:txBody>
          </p:sp>
          <mc:AlternateContent xmlns:mc="http://schemas.openxmlformats.org/markup-compatibility/2006" xmlns:a14="http://schemas.microsoft.com/office/drawing/2010/main">
            <mc:Choice Requires="a14">
              <p:sp>
                <p:nvSpPr>
                  <p:cNvPr id="113" name="TextBox 112"/>
                  <p:cNvSpPr txBox="1"/>
                  <p:nvPr/>
                </p:nvSpPr>
                <p:spPr>
                  <a:xfrm>
                    <a:off x="6663188" y="2062984"/>
                    <a:ext cx="682495"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𝐷</m:t>
                          </m:r>
                          <m:r>
                            <a:rPr lang="en-US" i="1" dirty="0" smtClean="0">
                              <a:latin typeface="Cambria Math" panose="02040503050406030204" pitchFamily="18" charset="0"/>
                            </a:rPr>
                            <m:t>?</m:t>
                          </m:r>
                          <m:r>
                            <a:rPr lang="en-US" i="1" dirty="0" smtClean="0">
                              <a:latin typeface="Cambria Math" panose="02040503050406030204" pitchFamily="18" charset="0"/>
                            </a:rPr>
                            <m:t>𝑥</m:t>
                          </m:r>
                        </m:oMath>
                      </m:oMathPara>
                    </a14:m>
                    <a:endParaRPr lang="en-US" dirty="0">
                      <a:latin typeface="cmmi10"/>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6663188" y="2062984"/>
                    <a:ext cx="68249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p:cNvSpPr txBox="1"/>
                  <p:nvPr/>
                </p:nvSpPr>
                <p:spPr>
                  <a:xfrm>
                    <a:off x="6251712" y="3276600"/>
                    <a:ext cx="808811"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1</m:t>
                          </m:r>
                        </m:oMath>
                      </m:oMathPara>
                    </a14:m>
                    <a:endParaRPr lang="en-US" dirty="0">
                      <a:latin typeface="cmr10"/>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6251712" y="3276600"/>
                    <a:ext cx="80881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p:cNvSpPr txBox="1"/>
                  <p:nvPr/>
                </p:nvSpPr>
                <p:spPr>
                  <a:xfrm>
                    <a:off x="2077613" y="5627132"/>
                    <a:ext cx="682495"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𝐷</m:t>
                          </m:r>
                          <m:r>
                            <a:rPr lang="en-US" i="1" dirty="0" smtClean="0">
                              <a:latin typeface="Cambria Math" panose="02040503050406030204" pitchFamily="18" charset="0"/>
                            </a:rPr>
                            <m:t>?</m:t>
                          </m:r>
                          <m:r>
                            <a:rPr lang="en-US" i="1" dirty="0" smtClean="0">
                              <a:latin typeface="Cambria Math" panose="02040503050406030204" pitchFamily="18" charset="0"/>
                            </a:rPr>
                            <m:t>𝑥</m:t>
                          </m:r>
                        </m:oMath>
                      </m:oMathPara>
                    </a14:m>
                    <a:endParaRPr lang="en-US" dirty="0">
                      <a:latin typeface="cmmi10"/>
                    </a:endParaRPr>
                  </a:p>
                </p:txBody>
              </p:sp>
            </mc:Choice>
            <mc:Fallback xmlns="">
              <p:sp>
                <p:nvSpPr>
                  <p:cNvPr id="76" name="TextBox 75"/>
                  <p:cNvSpPr txBox="1">
                    <a:spLocks noRot="1" noChangeAspect="1" noMove="1" noResize="1" noEditPoints="1" noAdjustHandles="1" noChangeArrowheads="1" noChangeShapeType="1" noTextEdit="1"/>
                  </p:cNvSpPr>
                  <p:nvPr/>
                </p:nvSpPr>
                <p:spPr>
                  <a:xfrm>
                    <a:off x="2077613" y="5627132"/>
                    <a:ext cx="68249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p:cNvSpPr txBox="1"/>
                  <p:nvPr/>
                </p:nvSpPr>
                <p:spPr>
                  <a:xfrm>
                    <a:off x="2151113" y="4331732"/>
                    <a:ext cx="808811"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0</m:t>
                          </m:r>
                        </m:oMath>
                      </m:oMathPara>
                    </a14:m>
                    <a:endParaRPr lang="en-US" dirty="0">
                      <a:latin typeface="cmr10"/>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2151113" y="4331732"/>
                    <a:ext cx="80881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a:off x="7900596" y="3645932"/>
                    <a:ext cx="1091004" cy="646331"/>
                  </a:xfrm>
                  <a:prstGeom prst="rect">
                    <a:avLst/>
                  </a:prstGeom>
                  <a:noFill/>
                </p:spPr>
                <p:txBody>
                  <a:bodyPr wrap="none" rtlCol="0">
                    <a:spAutoFit/>
                  </a:bodyPr>
                  <a:lstStyle/>
                  <a:p>
                    <a:pPr algn="l" rtl="0"/>
                    <a14:m>
                      <m:oMath xmlns:m="http://schemas.openxmlformats.org/officeDocument/2006/math">
                        <m:r>
                          <a:rPr lang="en-US" i="1" dirty="0" smtClean="0">
                            <a:solidFill>
                              <a:schemeClr val="tx1"/>
                            </a:solidFill>
                            <a:latin typeface="Cambria Math" panose="02040503050406030204" pitchFamily="18" charset="0"/>
                          </a:rPr>
                          <m:t>𝑥</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0</m:t>
                        </m:r>
                      </m:oMath>
                    </a14:m>
                    <a:r>
                      <a:rPr lang="en-US" dirty="0">
                        <a:solidFill>
                          <a:schemeClr val="tx1"/>
                        </a:solidFill>
                        <a:latin typeface="cmr10"/>
                      </a:rPr>
                      <a:t> :</a:t>
                    </a:r>
                  </a:p>
                  <a:p>
                    <a:pPr algn="l" rtl="0"/>
                    <a:r>
                      <a:rPr lang="en-US" dirty="0">
                        <a:solidFill>
                          <a:schemeClr val="tx1"/>
                        </a:solidFill>
                      </a:rPr>
                      <a:t>_</a:t>
                    </a:r>
                    <a:r>
                      <a:rPr lang="en-US" dirty="0" err="1">
                        <a:solidFill>
                          <a:schemeClr val="tx1"/>
                        </a:solidFill>
                        <a:latin typeface="cmmi10"/>
                      </a:rPr>
                      <a:t>tmr</a:t>
                    </a:r>
                    <a:r>
                      <a:rPr lang="en-US" dirty="0">
                        <a:solidFill>
                          <a:schemeClr val="tx1"/>
                        </a:solidFill>
                        <a:latin typeface="cmr10"/>
                      </a:rPr>
                      <a:t>-</a:t>
                    </a:r>
                    <a:r>
                      <a:rPr lang="en-US" dirty="0">
                        <a:solidFill>
                          <a:schemeClr val="tx1"/>
                        </a:solidFill>
                        <a:latin typeface="cmmi10"/>
                      </a:rPr>
                      <a:t>off </a:t>
                    </a:r>
                    <a:r>
                      <a:rPr lang="en-US" dirty="0">
                        <a:solidFill>
                          <a:schemeClr val="tx1"/>
                        </a:solidFill>
                        <a:latin typeface="cmr10"/>
                      </a:rPr>
                      <a:t>!</a:t>
                    </a:r>
                  </a:p>
                </p:txBody>
              </p:sp>
            </mc:Choice>
            <mc:Fallback xmlns="">
              <p:sp>
                <p:nvSpPr>
                  <p:cNvPr id="117" name="TextBox 116"/>
                  <p:cNvSpPr txBox="1">
                    <a:spLocks noRot="1" noChangeAspect="1" noMove="1" noResize="1" noEditPoints="1" noAdjustHandles="1" noChangeArrowheads="1" noChangeShapeType="1" noTextEdit="1"/>
                  </p:cNvSpPr>
                  <p:nvPr/>
                </p:nvSpPr>
                <p:spPr>
                  <a:xfrm>
                    <a:off x="7900596" y="3645932"/>
                    <a:ext cx="1091004" cy="646331"/>
                  </a:xfrm>
                  <a:prstGeom prst="rect">
                    <a:avLst/>
                  </a:prstGeom>
                  <a:blipFill>
                    <a:blip r:embed="rId8"/>
                    <a:stretch>
                      <a:fillRect l="-4469" t="-4717" r="-4469" b="-15094"/>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a:off x="6209287" y="5715000"/>
                    <a:ext cx="1072409"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1</m:t>
                              </m:r>
                            </m:e>
                          </m:d>
                        </m:oMath>
                      </m:oMathPara>
                    </a14:m>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6209287" y="5715000"/>
                    <a:ext cx="107240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p:cNvSpPr txBox="1"/>
                  <p:nvPr/>
                </p:nvSpPr>
                <p:spPr>
                  <a:xfrm>
                    <a:off x="1942087" y="2057400"/>
                    <a:ext cx="1066831" cy="369332"/>
                  </a:xfrm>
                  <a:prstGeom prst="rect">
                    <a:avLst/>
                  </a:prstGeom>
                  <a:noFill/>
                </p:spPr>
                <p:txBody>
                  <a:bodyPr wrap="none" rtlCol="0">
                    <a:spAutoFit/>
                  </a:bodyPr>
                  <a:lstStyle/>
                  <a:p>
                    <a:pPr algn="l" rtl="0"/>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0</m:t>
                              </m:r>
                            </m:e>
                          </m:d>
                        </m:oMath>
                      </m:oMathPara>
                    </a14:m>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1942087" y="2057400"/>
                    <a:ext cx="1066831" cy="369332"/>
                  </a:xfrm>
                  <a:prstGeom prst="rect">
                    <a:avLst/>
                  </a:prstGeom>
                  <a:blipFill>
                    <a:blip r:embed="rId10"/>
                    <a:stretch>
                      <a:fillRect/>
                    </a:stretch>
                  </a:blipFill>
                </p:spPr>
                <p:txBody>
                  <a:bodyPr/>
                  <a:lstStyle/>
                  <a:p>
                    <a:r>
                      <a:rPr lang="en-US">
                        <a:noFill/>
                      </a:rPr>
                      <a:t> </a:t>
                    </a:r>
                  </a:p>
                </p:txBody>
              </p:sp>
            </mc:Fallback>
          </mc:AlternateContent>
        </p:grpSp>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normAutofit fontScale="90000"/>
          </a:bodyPr>
          <a:lstStyle/>
          <a:p>
            <a:r>
              <a:rPr lang="he-IL" dirty="0">
                <a:latin typeface="Gisha" panose="020B0502040204020203" pitchFamily="34" charset="-79"/>
                <a:cs typeface="Gisha" panose="020B0502040204020203" pitchFamily="34" charset="-79"/>
              </a:rPr>
              <a:t>אלגוריתם המניעה ההדדית של </a:t>
            </a:r>
            <a:r>
              <a:rPr lang="he-IL" dirty="0" err="1">
                <a:latin typeface="Gisha" panose="020B0502040204020203" pitchFamily="34" charset="-79"/>
                <a:cs typeface="Gisha" panose="020B0502040204020203" pitchFamily="34" charset="-79"/>
              </a:rPr>
              <a:t>דֶיְיקְסְטְרָה</a:t>
            </a:r>
            <a:endParaRPr lang="en-US"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p:txBody>
          <a:bodyPr/>
          <a:lstStyle/>
          <a:p>
            <a:fld id="{A7F926B5-663A-4127-A287-7B83208B40AD}"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p:txBody>
          <a:bodyPr/>
          <a:lstStyle/>
          <a:p>
            <a:fld id="{021A1DA9-A2DD-4375-8887-E40ACC834D3F}" type="slidenum">
              <a:rPr lang="he-IL" smtClean="0">
                <a:latin typeface="Gisha" panose="020B0502040204020203" pitchFamily="34" charset="-79"/>
                <a:cs typeface="Gisha" panose="020B0502040204020203" pitchFamily="34" charset="-79"/>
              </a:rPr>
              <a:pPr/>
              <a:t>9</a:t>
            </a:fld>
            <a:endParaRPr lang="he-IL" dirty="0">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53" name="TextBox 52"/>
              <p:cNvSpPr txBox="1"/>
              <p:nvPr/>
            </p:nvSpPr>
            <p:spPr>
              <a:xfrm>
                <a:off x="82967" y="1899735"/>
                <a:ext cx="3506032" cy="2800767"/>
              </a:xfrm>
              <a:prstGeom prst="rect">
                <a:avLst/>
              </a:prstGeom>
              <a:noFill/>
            </p:spPr>
            <p:txBody>
              <a:bodyPr wrap="square" rtlCol="0">
                <a:spAutoFit/>
              </a:bodyPr>
              <a:lstStyle/>
              <a:p>
                <a:pPr>
                  <a:spcBef>
                    <a:spcPts val="1200"/>
                  </a:spcBef>
                  <a:buFont typeface="Arial" pitchFamily="34" charset="0"/>
                  <a:buChar char="•"/>
                </a:pPr>
                <a:r>
                  <a:rPr lang="he-IL" sz="2100" dirty="0">
                    <a:latin typeface="Gisha" panose="020B0502040204020203" pitchFamily="34" charset="-79"/>
                    <a:cs typeface="Gisha" panose="020B0502040204020203" pitchFamily="34" charset="-79"/>
                  </a:rPr>
                  <a:t> שני מערכי ביטים באורך </a:t>
                </a:r>
                <a14:m>
                  <m:oMath xmlns:m="http://schemas.openxmlformats.org/officeDocument/2006/math">
                    <m:r>
                      <a:rPr lang="en-US" sz="2100" i="1" dirty="0" smtClean="0">
                        <a:latin typeface="Cambria Math"/>
                      </a:rPr>
                      <m:t>𝑁</m:t>
                    </m:r>
                  </m:oMath>
                </a14:m>
                <a:endParaRPr lang="en-US" sz="2100" dirty="0">
                  <a:latin typeface="Gisha" panose="020B0502040204020203" pitchFamily="34" charset="-79"/>
                  <a:cs typeface="Gisha" panose="020B0502040204020203" pitchFamily="34" charset="-79"/>
                </a:endParaRPr>
              </a:p>
              <a:p>
                <a:pPr>
                  <a:spcBef>
                    <a:spcPts val="1200"/>
                  </a:spcBef>
                  <a:buFont typeface="Arial" pitchFamily="34" charset="0"/>
                  <a:buChar char="•"/>
                </a:pPr>
                <a:r>
                  <a:rPr lang="he-IL" sz="2100" dirty="0">
                    <a:latin typeface="Gisha" panose="020B0502040204020203" pitchFamily="34" charset="-79"/>
                    <a:cs typeface="Gisha" panose="020B0502040204020203" pitchFamily="34" charset="-79"/>
                  </a:rPr>
                  <a:t> משתנה גלובלי </a:t>
                </a:r>
                <a14:m>
                  <m:oMath xmlns:m="http://schemas.openxmlformats.org/officeDocument/2006/math">
                    <m:r>
                      <a:rPr lang="en-US" sz="2100" i="1" dirty="0" smtClean="0">
                        <a:latin typeface="Cambria Math"/>
                      </a:rPr>
                      <m:t>𝑘</m:t>
                    </m:r>
                  </m:oMath>
                </a14:m>
                <a:endParaRPr lang="en-US" sz="2100" dirty="0">
                  <a:latin typeface="Gisha" panose="020B0502040204020203" pitchFamily="34" charset="-79"/>
                  <a:cs typeface="Gisha" panose="020B0502040204020203" pitchFamily="34" charset="-79"/>
                </a:endParaRPr>
              </a:p>
              <a:p>
                <a:pPr lvl="1">
                  <a:spcBef>
                    <a:spcPts val="1200"/>
                  </a:spcBef>
                </a:pPr>
                <a:r>
                  <a:rPr lang="he-IL" sz="2100" dirty="0">
                    <a:latin typeface="Gisha" panose="020B0502040204020203" pitchFamily="34" charset="-79"/>
                    <a:cs typeface="Gisha" panose="020B0502040204020203" pitchFamily="34" charset="-79"/>
                  </a:rPr>
                  <a:t>- טווח ערכים </a:t>
                </a:r>
                <a14:m>
                  <m:oMath xmlns:m="http://schemas.openxmlformats.org/officeDocument/2006/math">
                    <m:r>
                      <a:rPr lang="en-US" sz="2100" i="1" dirty="0" smtClean="0">
                        <a:latin typeface="Cambria Math"/>
                      </a:rPr>
                      <m:t>1</m:t>
                    </m:r>
                    <m:r>
                      <a:rPr lang="en-US" sz="2100" i="1" dirty="0" smtClean="0">
                        <a:latin typeface="Cambria Math"/>
                      </a:rPr>
                      <m:t>, …,</m:t>
                    </m:r>
                    <m:r>
                      <a:rPr lang="en-US" sz="2100" i="1" dirty="0" smtClean="0">
                        <a:latin typeface="Cambria Math"/>
                      </a:rPr>
                      <m:t>𝑁</m:t>
                    </m:r>
                  </m:oMath>
                </a14:m>
                <a:endParaRPr lang="he-IL" sz="2100" dirty="0">
                  <a:latin typeface="Gisha" panose="020B0502040204020203" pitchFamily="34" charset="-79"/>
                  <a:cs typeface="Gisha" panose="020B0502040204020203" pitchFamily="34" charset="-79"/>
                </a:endParaRPr>
              </a:p>
              <a:p>
                <a:pPr>
                  <a:spcBef>
                    <a:spcPts val="1200"/>
                  </a:spcBef>
                  <a:buFont typeface="Arial" pitchFamily="34" charset="0"/>
                  <a:buChar char="•"/>
                </a:pPr>
                <a:r>
                  <a:rPr lang="he-IL" sz="2100" dirty="0">
                    <a:latin typeface="Gisha" panose="020B0502040204020203" pitchFamily="34" charset="-79"/>
                    <a:cs typeface="Gisha" panose="020B0502040204020203" pitchFamily="34" charset="-79"/>
                  </a:rPr>
                  <a:t> משתנה מקומי </a:t>
                </a:r>
                <a14:m>
                  <m:oMath xmlns:m="http://schemas.openxmlformats.org/officeDocument/2006/math">
                    <m:r>
                      <a:rPr lang="en-US" sz="2100" i="1" dirty="0" smtClean="0">
                        <a:latin typeface="Cambria Math"/>
                      </a:rPr>
                      <m:t>𝑙</m:t>
                    </m:r>
                  </m:oMath>
                </a14:m>
                <a:endParaRPr lang="en-US" sz="2100" dirty="0">
                  <a:latin typeface="Gisha" panose="020B0502040204020203" pitchFamily="34" charset="-79"/>
                  <a:cs typeface="Gisha" panose="020B0502040204020203" pitchFamily="34" charset="-79"/>
                </a:endParaRPr>
              </a:p>
              <a:p>
                <a:pPr lvl="1">
                  <a:spcBef>
                    <a:spcPts val="1200"/>
                  </a:spcBef>
                </a:pPr>
                <a:r>
                  <a:rPr lang="he-IL" sz="2100" dirty="0">
                    <a:latin typeface="Gisha" panose="020B0502040204020203" pitchFamily="34" charset="-79"/>
                    <a:cs typeface="Gisha" panose="020B0502040204020203" pitchFamily="34" charset="-79"/>
                  </a:rPr>
                  <a:t>- טווח ערכים </a:t>
                </a:r>
                <a14:m>
                  <m:oMath xmlns:m="http://schemas.openxmlformats.org/officeDocument/2006/math">
                    <m:r>
                      <a:rPr lang="en-US" sz="2100" i="1" dirty="0" smtClean="0">
                        <a:latin typeface="Cambria Math"/>
                      </a:rPr>
                      <m:t>1</m:t>
                    </m:r>
                    <m:r>
                      <a:rPr lang="en-US" sz="2100" i="1" dirty="0" smtClean="0">
                        <a:latin typeface="Cambria Math"/>
                      </a:rPr>
                      <m:t>, …,</m:t>
                    </m:r>
                    <m:r>
                      <a:rPr lang="en-US" sz="2100" i="1" dirty="0" smtClean="0">
                        <a:latin typeface="Cambria Math"/>
                      </a:rPr>
                      <m:t>𝑁</m:t>
                    </m:r>
                  </m:oMath>
                </a14:m>
                <a:endParaRPr lang="he-IL" sz="2100" dirty="0">
                  <a:latin typeface="Gisha" panose="020B0502040204020203" pitchFamily="34" charset="-79"/>
                  <a:cs typeface="Gisha" panose="020B0502040204020203" pitchFamily="34" charset="-79"/>
                </a:endParaRPr>
              </a:p>
              <a:p>
                <a:pPr>
                  <a:spcBef>
                    <a:spcPts val="1200"/>
                  </a:spcBef>
                  <a:buFont typeface="Arial" pitchFamily="34" charset="0"/>
                  <a:buChar char="•"/>
                </a:pPr>
                <a:r>
                  <a:rPr lang="he-IL" sz="2100" dirty="0">
                    <a:latin typeface="Gisha" panose="020B0502040204020203" pitchFamily="34" charset="-79"/>
                    <a:cs typeface="Gisha" panose="020B0502040204020203" pitchFamily="34" charset="-79"/>
                  </a:rPr>
                  <a:t> שישה מקומות בתהליך</a:t>
                </a:r>
              </a:p>
            </p:txBody>
          </p:sp>
        </mc:Choice>
        <mc:Fallback xmlns="">
          <p:sp>
            <p:nvSpPr>
              <p:cNvPr id="53" name="TextBox 52"/>
              <p:cNvSpPr txBox="1">
                <a:spLocks noRot="1" noChangeAspect="1" noMove="1" noResize="1" noEditPoints="1" noAdjustHandles="1" noChangeArrowheads="1" noChangeShapeType="1" noTextEdit="1"/>
              </p:cNvSpPr>
              <p:nvPr/>
            </p:nvSpPr>
            <p:spPr>
              <a:xfrm>
                <a:off x="82967" y="1899735"/>
                <a:ext cx="3506032" cy="2800767"/>
              </a:xfrm>
              <a:prstGeom prst="rect">
                <a:avLst/>
              </a:prstGeom>
              <a:blipFill>
                <a:blip r:embed="rId2"/>
                <a:stretch>
                  <a:fillRect t="-1525" r="-1913" b="-3268"/>
                </a:stretch>
              </a:blipFill>
            </p:spPr>
            <p:txBody>
              <a:bodyPr/>
              <a:lstStyle/>
              <a:p>
                <a:r>
                  <a:rPr lang="en-US">
                    <a:noFill/>
                  </a:rPr>
                  <a:t> </a:t>
                </a:r>
              </a:p>
            </p:txBody>
          </p:sp>
        </mc:Fallback>
      </mc:AlternateContent>
      <p:sp>
        <p:nvSpPr>
          <p:cNvPr id="163" name="Rectangle 162"/>
          <p:cNvSpPr/>
          <p:nvPr/>
        </p:nvSpPr>
        <p:spPr>
          <a:xfrm>
            <a:off x="4418408" y="4267200"/>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164" name="Rectangle 163"/>
          <p:cNvSpPr/>
          <p:nvPr/>
        </p:nvSpPr>
        <p:spPr>
          <a:xfrm>
            <a:off x="4418408" y="3125513"/>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165" name="Rectangle 164"/>
          <p:cNvSpPr/>
          <p:nvPr/>
        </p:nvSpPr>
        <p:spPr>
          <a:xfrm>
            <a:off x="4418408" y="2117919"/>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168" name="Rectangle 167"/>
          <p:cNvSpPr/>
          <p:nvPr/>
        </p:nvSpPr>
        <p:spPr>
          <a:xfrm>
            <a:off x="6198394" y="2117919"/>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169" name="Rectangle 168"/>
          <p:cNvSpPr/>
          <p:nvPr/>
        </p:nvSpPr>
        <p:spPr>
          <a:xfrm>
            <a:off x="6198394" y="4267200"/>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sp>
        <p:nvSpPr>
          <p:cNvPr id="170" name="Rectangle 169"/>
          <p:cNvSpPr/>
          <p:nvPr/>
        </p:nvSpPr>
        <p:spPr>
          <a:xfrm>
            <a:off x="8305800" y="2117919"/>
            <a:ext cx="609600" cy="367964"/>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a:endParaRPr lang="he-IL">
              <a:latin typeface="Gisha" panose="020B0502040204020203" pitchFamily="34" charset="-79"/>
              <a:cs typeface="Gisha" panose="020B0502040204020203" pitchFamily="34" charset="-79"/>
            </a:endParaRPr>
          </a:p>
        </p:txBody>
      </p:sp>
      <p:cxnSp>
        <p:nvCxnSpPr>
          <p:cNvPr id="172" name="Elbow Connector 171"/>
          <p:cNvCxnSpPr>
            <a:stCxn id="168" idx="0"/>
            <a:endCxn id="170" idx="0"/>
          </p:cNvCxnSpPr>
          <p:nvPr/>
        </p:nvCxnSpPr>
        <p:spPr>
          <a:xfrm rot="5400000" flipH="1" flipV="1">
            <a:off x="7556897" y="1064216"/>
            <a:ext cx="12700" cy="2107406"/>
          </a:xfrm>
          <a:prstGeom prst="bentConnector3">
            <a:avLst>
              <a:gd name="adj1" fmla="val 1800000"/>
            </a:avLst>
          </a:prstGeom>
          <a:ln w="19050">
            <a:tailEnd type="triangle"/>
          </a:ln>
        </p:spPr>
        <p:style>
          <a:lnRef idx="2">
            <a:schemeClr val="dk1"/>
          </a:lnRef>
          <a:fillRef idx="0">
            <a:schemeClr val="dk1"/>
          </a:fillRef>
          <a:effectRef idx="1">
            <a:schemeClr val="dk1"/>
          </a:effectRef>
          <a:fontRef idx="minor">
            <a:schemeClr val="tx1"/>
          </a:fontRef>
        </p:style>
      </p:cxnSp>
      <p:cxnSp>
        <p:nvCxnSpPr>
          <p:cNvPr id="174" name="Elbow Connector 173"/>
          <p:cNvCxnSpPr/>
          <p:nvPr/>
        </p:nvCxnSpPr>
        <p:spPr>
          <a:xfrm rot="5400000">
            <a:off x="7603484" y="1485117"/>
            <a:ext cx="12700" cy="2001532"/>
          </a:xfrm>
          <a:prstGeom prst="bentConnector3">
            <a:avLst>
              <a:gd name="adj1" fmla="val 1800000"/>
            </a:avLst>
          </a:prstGeom>
          <a:ln w="19050">
            <a:tailEnd type="triangle"/>
          </a:ln>
        </p:spPr>
        <p:style>
          <a:lnRef idx="2">
            <a:schemeClr val="dk1"/>
          </a:lnRef>
          <a:fillRef idx="0">
            <a:schemeClr val="dk1"/>
          </a:fillRef>
          <a:effectRef idx="1">
            <a:schemeClr val="dk1"/>
          </a:effectRef>
          <a:fontRef idx="minor">
            <a:schemeClr val="tx1"/>
          </a:fontRef>
        </p:style>
      </p:cxnSp>
      <p:cxnSp>
        <p:nvCxnSpPr>
          <p:cNvPr id="176" name="Straight Arrow Connector 175"/>
          <p:cNvCxnSpPr>
            <a:stCxn id="168" idx="3"/>
            <a:endCxn id="170" idx="1"/>
          </p:cNvCxnSpPr>
          <p:nvPr/>
        </p:nvCxnSpPr>
        <p:spPr>
          <a:xfrm>
            <a:off x="6807994" y="2301901"/>
            <a:ext cx="1497806"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78" name="Straight Arrow Connector 177"/>
          <p:cNvCxnSpPr>
            <a:stCxn id="165" idx="3"/>
            <a:endCxn id="168" idx="1"/>
          </p:cNvCxnSpPr>
          <p:nvPr/>
        </p:nvCxnSpPr>
        <p:spPr>
          <a:xfrm>
            <a:off x="5028008" y="2301901"/>
            <a:ext cx="1170386"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80" name="Straight Arrow Connector 179"/>
          <p:cNvCxnSpPr>
            <a:endCxn id="165" idx="1"/>
          </p:cNvCxnSpPr>
          <p:nvPr/>
        </p:nvCxnSpPr>
        <p:spPr>
          <a:xfrm>
            <a:off x="4113608" y="2301901"/>
            <a:ext cx="304800"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82" name="Straight Arrow Connector 181"/>
          <p:cNvCxnSpPr>
            <a:stCxn id="164" idx="0"/>
            <a:endCxn id="165" idx="2"/>
          </p:cNvCxnSpPr>
          <p:nvPr/>
        </p:nvCxnSpPr>
        <p:spPr>
          <a:xfrm flipV="1">
            <a:off x="4723208" y="2485883"/>
            <a:ext cx="0" cy="63963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84" name="Straight Arrow Connector 183"/>
          <p:cNvCxnSpPr>
            <a:stCxn id="163" idx="0"/>
            <a:endCxn id="164" idx="2"/>
          </p:cNvCxnSpPr>
          <p:nvPr/>
        </p:nvCxnSpPr>
        <p:spPr>
          <a:xfrm flipV="1">
            <a:off x="4723208" y="3493477"/>
            <a:ext cx="0" cy="773723"/>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88" name="Straight Arrow Connector 187"/>
          <p:cNvCxnSpPr>
            <a:stCxn id="169" idx="1"/>
            <a:endCxn id="163" idx="3"/>
          </p:cNvCxnSpPr>
          <p:nvPr/>
        </p:nvCxnSpPr>
        <p:spPr>
          <a:xfrm flipH="1">
            <a:off x="5028008" y="4451182"/>
            <a:ext cx="1170386" cy="0"/>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90" name="Straight Arrow Connector 189"/>
          <p:cNvCxnSpPr/>
          <p:nvPr/>
        </p:nvCxnSpPr>
        <p:spPr>
          <a:xfrm flipV="1">
            <a:off x="6248400" y="2492233"/>
            <a:ext cx="0" cy="1774967"/>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92" name="Straight Arrow Connector 191"/>
          <p:cNvCxnSpPr>
            <a:stCxn id="168" idx="2"/>
            <a:endCxn id="169" idx="0"/>
          </p:cNvCxnSpPr>
          <p:nvPr/>
        </p:nvCxnSpPr>
        <p:spPr>
          <a:xfrm>
            <a:off x="6503194" y="2485883"/>
            <a:ext cx="0" cy="1781317"/>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94" name="TextBox 193"/>
              <p:cNvSpPr txBox="1"/>
              <p:nvPr/>
            </p:nvSpPr>
            <p:spPr>
              <a:xfrm>
                <a:off x="6980072" y="1586299"/>
                <a:ext cx="1153649"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𝑏</m:t>
                      </m:r>
                      <m:d>
                        <m:dPr>
                          <m:begChr m:val="["/>
                          <m:endChr m:val="]"/>
                          <m:ctrlPr>
                            <a:rPr lang="en-US" sz="1400" b="0" i="1" smtClean="0">
                              <a:solidFill>
                                <a:srgbClr val="0000FF"/>
                              </a:solidFill>
                              <a:latin typeface="Cambria Math" panose="02040503050406030204" pitchFamily="18" charset="0"/>
                            </a:rPr>
                          </m:ctrlPr>
                        </m:dPr>
                        <m:e>
                          <m:r>
                            <a:rPr lang="en-US" sz="1400" b="0" i="1" smtClean="0">
                              <a:solidFill>
                                <a:srgbClr val="0000FF"/>
                              </a:solidFill>
                              <a:latin typeface="Cambria Math" panose="02040503050406030204" pitchFamily="18" charset="0"/>
                            </a:rPr>
                            <m:t>𝑘</m:t>
                          </m:r>
                        </m:e>
                      </m:d>
                      <m:r>
                        <a:rPr lang="en-US" sz="1400" b="0" i="1" smtClean="0">
                          <a:latin typeface="Cambria Math" panose="02040503050406030204" pitchFamily="18" charset="0"/>
                        </a:rPr>
                        <m:t> :</m:t>
                      </m:r>
                      <m:r>
                        <a:rPr lang="en-US" sz="1400" b="0" i="1" smtClean="0">
                          <a:solidFill>
                            <a:srgbClr val="FF0000"/>
                          </a:solidFill>
                          <a:latin typeface="Cambria Math" panose="02040503050406030204" pitchFamily="18" charset="0"/>
                        </a:rPr>
                        <m:t>𝑘</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𝑖</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194" name="TextBox 193"/>
              <p:cNvSpPr txBox="1">
                <a:spLocks noRot="1" noChangeAspect="1" noMove="1" noResize="1" noEditPoints="1" noAdjustHandles="1" noChangeArrowheads="1" noChangeShapeType="1" noTextEdit="1"/>
              </p:cNvSpPr>
              <p:nvPr/>
            </p:nvSpPr>
            <p:spPr>
              <a:xfrm>
                <a:off x="6980072" y="1586299"/>
                <a:ext cx="1153649" cy="307777"/>
              </a:xfrm>
              <a:prstGeom prst="rect">
                <a:avLst/>
              </a:prstGeom>
              <a:blipFill>
                <a:blip r:embed="rId3"/>
                <a:stretch>
                  <a:fillRect t="-3922" r="-3175"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5" name="TextBox 194"/>
              <p:cNvSpPr txBox="1"/>
              <p:nvPr/>
            </p:nvSpPr>
            <p:spPr>
              <a:xfrm>
                <a:off x="6864053" y="2725031"/>
                <a:ext cx="1287660"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dirty="0" smtClean="0">
                          <a:solidFill>
                            <a:srgbClr val="0000FF"/>
                          </a:solidFill>
                          <a:latin typeface="Cambria Math" panose="02040503050406030204" pitchFamily="18" charset="0"/>
                        </a:rPr>
                        <m:t>¬</m:t>
                      </m:r>
                      <m:r>
                        <a:rPr lang="en-US" sz="1400" b="0" i="1" dirty="0" smtClean="0">
                          <a:solidFill>
                            <a:srgbClr val="0000FF"/>
                          </a:solidFill>
                          <a:latin typeface="Cambria Math" panose="02040503050406030204" pitchFamily="18" charset="0"/>
                        </a:rPr>
                        <m:t>𝑏</m:t>
                      </m:r>
                      <m:r>
                        <a:rPr lang="en-US" sz="1400" b="0" i="1" dirty="0" smtClean="0">
                          <a:solidFill>
                            <a:srgbClr val="0000FF"/>
                          </a:solidFill>
                          <a:latin typeface="Cambria Math" panose="02040503050406030204" pitchFamily="18" charset="0"/>
                        </a:rPr>
                        <m:t>[</m:t>
                      </m:r>
                      <m:r>
                        <a:rPr lang="en-US" sz="1400" b="0" i="1" dirty="0" smtClean="0">
                          <a:solidFill>
                            <a:srgbClr val="0000FF"/>
                          </a:solidFill>
                          <a:latin typeface="Cambria Math" panose="02040503050406030204" pitchFamily="18" charset="0"/>
                        </a:rPr>
                        <m:t>𝑘</m:t>
                      </m:r>
                      <m:r>
                        <a:rPr lang="en-US" sz="1400" b="0" i="1" dirty="0" smtClean="0">
                          <a:solidFill>
                            <a:srgbClr val="0000FF"/>
                          </a:solidFill>
                          <a:latin typeface="Cambria Math" panose="02040503050406030204" pitchFamily="18" charset="0"/>
                        </a:rPr>
                        <m:t>] :</m:t>
                      </m:r>
                      <m:r>
                        <a:rPr lang="en-US" sz="1400" b="0" i="1" dirty="0" err="1" smtClean="0">
                          <a:solidFill>
                            <a:srgbClr val="FF0000"/>
                          </a:solidFill>
                          <a:latin typeface="Cambria Math" panose="02040503050406030204" pitchFamily="18" charset="0"/>
                        </a:rPr>
                        <m:t>𝑘</m:t>
                      </m:r>
                      <m:r>
                        <a:rPr lang="en-US" sz="1400" b="0" i="1" dirty="0" err="1" smtClean="0">
                          <a:solidFill>
                            <a:srgbClr val="FF0000"/>
                          </a:solidFill>
                          <a:latin typeface="Cambria Math" panose="02040503050406030204" pitchFamily="18" charset="0"/>
                        </a:rPr>
                        <m:t>≔</m:t>
                      </m:r>
                      <m:r>
                        <a:rPr lang="en-US" sz="1400" b="0" i="1" dirty="0" err="1" smtClean="0">
                          <a:solidFill>
                            <a:srgbClr val="FF0000"/>
                          </a:solidFill>
                          <a:latin typeface="Cambria Math" panose="02040503050406030204" pitchFamily="18" charset="0"/>
                        </a:rPr>
                        <m:t>𝑖</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195" name="TextBox 194"/>
              <p:cNvSpPr txBox="1">
                <a:spLocks noRot="1" noChangeAspect="1" noMove="1" noResize="1" noEditPoints="1" noAdjustHandles="1" noChangeArrowheads="1" noChangeShapeType="1" noTextEdit="1"/>
              </p:cNvSpPr>
              <p:nvPr/>
            </p:nvSpPr>
            <p:spPr>
              <a:xfrm>
                <a:off x="6864053" y="2725031"/>
                <a:ext cx="1287660" cy="307777"/>
              </a:xfrm>
              <a:prstGeom prst="rect">
                <a:avLst/>
              </a:prstGeom>
              <a:blipFill>
                <a:blip r:embed="rId4"/>
                <a:stretch>
                  <a:fillRect t="-3922" r="-2844"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6" name="TextBox 195"/>
              <p:cNvSpPr txBox="1"/>
              <p:nvPr/>
            </p:nvSpPr>
            <p:spPr>
              <a:xfrm>
                <a:off x="6863288" y="2015528"/>
                <a:ext cx="1432892"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𝑘</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𝑖</m:t>
                      </m:r>
                      <m:r>
                        <a:rPr lang="en-US" sz="1400" b="0" i="1" smtClean="0">
                          <a:solidFill>
                            <a:srgbClr val="0000FF"/>
                          </a:solidFill>
                          <a:latin typeface="Cambria Math" panose="02040503050406030204" pitchFamily="18" charset="0"/>
                        </a:rPr>
                        <m:t> :</m:t>
                      </m:r>
                      <m:r>
                        <a:rPr lang="en-US" sz="1400" b="0" i="1" smtClean="0">
                          <a:solidFill>
                            <a:srgbClr val="FF0000"/>
                          </a:solidFill>
                          <a:latin typeface="Cambria Math" panose="02040503050406030204" pitchFamily="18" charset="0"/>
                        </a:rPr>
                        <m:t>𝑐</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𝑖</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1</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196" name="TextBox 195"/>
              <p:cNvSpPr txBox="1">
                <a:spLocks noRot="1" noChangeAspect="1" noMove="1" noResize="1" noEditPoints="1" noAdjustHandles="1" noChangeArrowheads="1" noChangeShapeType="1" noTextEdit="1"/>
              </p:cNvSpPr>
              <p:nvPr/>
            </p:nvSpPr>
            <p:spPr>
              <a:xfrm>
                <a:off x="6863288" y="2015528"/>
                <a:ext cx="1432892" cy="307777"/>
              </a:xfrm>
              <a:prstGeom prst="rect">
                <a:avLst/>
              </a:prstGeom>
              <a:blipFill>
                <a:blip r:embed="rId5"/>
                <a:stretch>
                  <a:fillRect t="-4000" r="-255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2" name="TextBox 201"/>
              <p:cNvSpPr txBox="1"/>
              <p:nvPr/>
            </p:nvSpPr>
            <p:spPr>
              <a:xfrm>
                <a:off x="6479588" y="3675393"/>
                <a:ext cx="2057230"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𝑘</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𝑖</m:t>
                      </m:r>
                      <m:r>
                        <a:rPr lang="en-US" sz="1400" b="0" i="1" smtClean="0">
                          <a:solidFill>
                            <a:srgbClr val="0000FF"/>
                          </a:solidFill>
                          <a:latin typeface="Cambria Math" panose="02040503050406030204" pitchFamily="18" charset="0"/>
                        </a:rPr>
                        <m:t> :〈</m:t>
                      </m:r>
                      <m:r>
                        <a:rPr lang="en-US" sz="1400" b="0" i="1" smtClean="0">
                          <a:solidFill>
                            <a:srgbClr val="FF0000"/>
                          </a:solidFill>
                          <a:latin typeface="Cambria Math" panose="02040503050406030204" pitchFamily="18" charset="0"/>
                        </a:rPr>
                        <m:t>𝑐</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𝑖</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0</m:t>
                      </m:r>
                      <m:r>
                        <a:rPr lang="en-US" sz="1400" b="0" i="1" smtClean="0">
                          <a:solidFill>
                            <a:srgbClr val="FF0000"/>
                          </a:solidFill>
                          <a:latin typeface="Cambria Math" panose="02040503050406030204" pitchFamily="18" charset="0"/>
                        </a:rPr>
                        <m:t>, </m:t>
                      </m:r>
                      <m:r>
                        <a:rPr lang="en-US" sz="1400" b="0" i="1" smtClean="0">
                          <a:solidFill>
                            <a:srgbClr val="FF0000"/>
                          </a:solidFill>
                          <a:latin typeface="Cambria Math" panose="02040503050406030204" pitchFamily="18" charset="0"/>
                        </a:rPr>
                        <m:t>𝑙</m:t>
                      </m:r>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0</m:t>
                      </m:r>
                      <m:r>
                        <a:rPr lang="en-US" sz="1400" b="0" i="1" smtClean="0">
                          <a:solidFill>
                            <a:srgbClr val="FF0000"/>
                          </a:solidFill>
                          <a:latin typeface="Cambria Math" panose="02040503050406030204" pitchFamily="18" charset="0"/>
                        </a:rPr>
                        <m:t>〉</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02" name="TextBox 201"/>
              <p:cNvSpPr txBox="1">
                <a:spLocks noRot="1" noChangeAspect="1" noMove="1" noResize="1" noEditPoints="1" noAdjustHandles="1" noChangeArrowheads="1" noChangeShapeType="1" noTextEdit="1"/>
              </p:cNvSpPr>
              <p:nvPr/>
            </p:nvSpPr>
            <p:spPr>
              <a:xfrm>
                <a:off x="6479588" y="3675393"/>
                <a:ext cx="2057230" cy="307777"/>
              </a:xfrm>
              <a:prstGeom prst="rect">
                <a:avLst/>
              </a:prstGeom>
              <a:blipFill>
                <a:blip r:embed="rId6"/>
                <a:stretch>
                  <a:fillRect t="-4000" r="-178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TextBox 202"/>
              <p:cNvSpPr txBox="1"/>
              <p:nvPr/>
            </p:nvSpPr>
            <p:spPr>
              <a:xfrm>
                <a:off x="5715000" y="3017189"/>
                <a:ext cx="543121" cy="738664"/>
              </a:xfrm>
              <a:prstGeom prst="rect">
                <a:avLst/>
              </a:prstGeom>
              <a:noFill/>
            </p:spPr>
            <p:txBody>
              <a:bodyPr wrap="squar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𝑙</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𝑖</m:t>
                      </m:r>
                    </m:oMath>
                  </m:oMathPara>
                </a14:m>
                <a:endParaRPr lang="en-US" sz="1400" b="0" i="1" dirty="0">
                  <a:solidFill>
                    <a:srgbClr val="0000FF"/>
                  </a:solidFill>
                  <a:latin typeface="Gisha" panose="020B0502040204020203" pitchFamily="34" charset="-79"/>
                  <a:cs typeface="Gisha" panose="020B0502040204020203" pitchFamily="34" charset="-79"/>
                </a:endParaRPr>
              </a:p>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m:t>
                      </m:r>
                    </m:oMath>
                  </m:oMathPara>
                </a14:m>
                <a:endParaRPr lang="en-US" sz="1400" b="0" i="1" dirty="0">
                  <a:solidFill>
                    <a:srgbClr val="0000FF"/>
                  </a:solidFill>
                  <a:latin typeface="Gisha" panose="020B0502040204020203" pitchFamily="34" charset="-79"/>
                  <a:cs typeface="Gisha" panose="020B0502040204020203" pitchFamily="34" charset="-79"/>
                </a:endParaRPr>
              </a:p>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𝑐</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𝑙</m:t>
                      </m:r>
                      <m:r>
                        <a:rPr lang="en-US" sz="1400" b="0" i="1" smtClean="0">
                          <a:solidFill>
                            <a:srgbClr val="0000FF"/>
                          </a:solidFill>
                          <a:latin typeface="Cambria Math" panose="02040503050406030204" pitchFamily="18" charset="0"/>
                        </a:rPr>
                        <m:t>]</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03" name="TextBox 202"/>
              <p:cNvSpPr txBox="1">
                <a:spLocks noRot="1" noChangeAspect="1" noMove="1" noResize="1" noEditPoints="1" noAdjustHandles="1" noChangeArrowheads="1" noChangeShapeType="1" noTextEdit="1"/>
              </p:cNvSpPr>
              <p:nvPr/>
            </p:nvSpPr>
            <p:spPr>
              <a:xfrm>
                <a:off x="5715000" y="3017189"/>
                <a:ext cx="543121" cy="738664"/>
              </a:xfrm>
              <a:prstGeom prst="rect">
                <a:avLst/>
              </a:prstGeom>
              <a:blipFill>
                <a:blip r:embed="rId7"/>
                <a:stretch>
                  <a:fillRect r="-20225" b="-7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6" name="TextBox 205"/>
              <p:cNvSpPr txBox="1"/>
              <p:nvPr/>
            </p:nvSpPr>
            <p:spPr>
              <a:xfrm>
                <a:off x="5286818" y="4143405"/>
                <a:ext cx="666401"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𝑙</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𝑁</m:t>
                      </m:r>
                    </m:oMath>
                  </m:oMathPara>
                </a14:m>
                <a:endParaRPr lang="en-US" sz="1400" b="0" i="1" dirty="0">
                  <a:solidFill>
                    <a:srgbClr val="0000FF"/>
                  </a:solidFill>
                  <a:latin typeface="Gisha" panose="020B0502040204020203" pitchFamily="34" charset="-79"/>
                  <a:cs typeface="Gisha" panose="020B0502040204020203" pitchFamily="34" charset="-79"/>
                </a:endParaRPr>
              </a:p>
            </p:txBody>
          </p:sp>
        </mc:Choice>
        <mc:Fallback xmlns="">
          <p:sp>
            <p:nvSpPr>
              <p:cNvPr id="206" name="TextBox 205"/>
              <p:cNvSpPr txBox="1">
                <a:spLocks noRot="1" noChangeAspect="1" noMove="1" noResize="1" noEditPoints="1" noAdjustHandles="1" noChangeArrowheads="1" noChangeShapeType="1" noTextEdit="1"/>
              </p:cNvSpPr>
              <p:nvPr/>
            </p:nvSpPr>
            <p:spPr>
              <a:xfrm>
                <a:off x="5286818" y="4143405"/>
                <a:ext cx="666401"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Rectangle 206"/>
              <p:cNvSpPr/>
              <p:nvPr/>
            </p:nvSpPr>
            <p:spPr>
              <a:xfrm>
                <a:off x="3861969" y="3745347"/>
                <a:ext cx="889474" cy="307777"/>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𝑏</m:t>
                      </m:r>
                      <m:d>
                        <m:dPr>
                          <m:begChr m:val="["/>
                          <m:endChr m:val="]"/>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𝑖</m:t>
                          </m:r>
                        </m:e>
                      </m:d>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1</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07" name="Rectangle 206"/>
              <p:cNvSpPr>
                <a:spLocks noRot="1" noChangeAspect="1" noMove="1" noResize="1" noEditPoints="1" noAdjustHandles="1" noChangeArrowheads="1" noChangeShapeType="1" noTextEdit="1"/>
              </p:cNvSpPr>
              <p:nvPr/>
            </p:nvSpPr>
            <p:spPr>
              <a:xfrm>
                <a:off x="3861969" y="3745347"/>
                <a:ext cx="889474" cy="307777"/>
              </a:xfrm>
              <a:prstGeom prst="rect">
                <a:avLst/>
              </a:prstGeom>
              <a:blipFill>
                <a:blip r:embed="rId9"/>
                <a:stretch>
                  <a:fillRect t="-1961" r="-4828"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8" name="Rectangle 207"/>
              <p:cNvSpPr/>
              <p:nvPr/>
            </p:nvSpPr>
            <p:spPr>
              <a:xfrm>
                <a:off x="3861969" y="2669865"/>
                <a:ext cx="889474" cy="307777"/>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𝑐</m:t>
                      </m:r>
                      <m:d>
                        <m:dPr>
                          <m:begChr m:val="["/>
                          <m:endChr m:val="]"/>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𝑖</m:t>
                          </m:r>
                        </m:e>
                      </m:d>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1</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08" name="Rectangle 207"/>
              <p:cNvSpPr>
                <a:spLocks noRot="1" noChangeAspect="1" noMove="1" noResize="1" noEditPoints="1" noAdjustHandles="1" noChangeArrowheads="1" noChangeShapeType="1" noTextEdit="1"/>
              </p:cNvSpPr>
              <p:nvPr/>
            </p:nvSpPr>
            <p:spPr>
              <a:xfrm>
                <a:off x="3861969" y="2669865"/>
                <a:ext cx="889474" cy="307777"/>
              </a:xfrm>
              <a:prstGeom prst="rect">
                <a:avLst/>
              </a:prstGeom>
              <a:blipFill>
                <a:blip r:embed="rId10"/>
                <a:stretch>
                  <a:fillRect t="-4000" r="-4828"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9" name="Rectangle 208"/>
              <p:cNvSpPr/>
              <p:nvPr/>
            </p:nvSpPr>
            <p:spPr>
              <a:xfrm>
                <a:off x="5144405" y="1987732"/>
                <a:ext cx="889474" cy="307777"/>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rPr>
                        <m:t>𝑏</m:t>
                      </m:r>
                      <m:d>
                        <m:dPr>
                          <m:begChr m:val="["/>
                          <m:endChr m:val="]"/>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𝑖</m:t>
                          </m:r>
                        </m:e>
                      </m:d>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0</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09" name="Rectangle 208"/>
              <p:cNvSpPr>
                <a:spLocks noRot="1" noChangeAspect="1" noMove="1" noResize="1" noEditPoints="1" noAdjustHandles="1" noChangeArrowheads="1" noChangeShapeType="1" noTextEdit="1"/>
              </p:cNvSpPr>
              <p:nvPr/>
            </p:nvSpPr>
            <p:spPr>
              <a:xfrm>
                <a:off x="5144405" y="1987732"/>
                <a:ext cx="889474" cy="307777"/>
              </a:xfrm>
              <a:prstGeom prst="rect">
                <a:avLst/>
              </a:prstGeom>
              <a:blipFill>
                <a:blip r:embed="rId11"/>
                <a:stretch>
                  <a:fillRect t="-3922" r="-4110" b="-19608"/>
                </a:stretch>
              </a:blipFill>
            </p:spPr>
            <p:txBody>
              <a:bodyPr/>
              <a:lstStyle/>
              <a:p>
                <a:r>
                  <a:rPr lang="en-US">
                    <a:noFill/>
                  </a:rPr>
                  <a:t> </a:t>
                </a:r>
              </a:p>
            </p:txBody>
          </p:sp>
        </mc:Fallback>
      </mc:AlternateContent>
      <p:cxnSp>
        <p:nvCxnSpPr>
          <p:cNvPr id="211" name="Elbow Connector 210"/>
          <p:cNvCxnSpPr>
            <a:stCxn id="169" idx="3"/>
            <a:endCxn id="169" idx="2"/>
          </p:cNvCxnSpPr>
          <p:nvPr/>
        </p:nvCxnSpPr>
        <p:spPr>
          <a:xfrm flipH="1">
            <a:off x="6503194" y="4451182"/>
            <a:ext cx="304800" cy="183982"/>
          </a:xfrm>
          <a:prstGeom prst="bentConnector4">
            <a:avLst>
              <a:gd name="adj1" fmla="val -75000"/>
              <a:gd name="adj2" fmla="val 224251"/>
            </a:avLst>
          </a:prstGeom>
          <a:ln w="1905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12" name="TextBox 211"/>
              <p:cNvSpPr txBox="1"/>
              <p:nvPr/>
            </p:nvSpPr>
            <p:spPr>
              <a:xfrm>
                <a:off x="7035598" y="4471866"/>
                <a:ext cx="1619674" cy="307777"/>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sz="1400" b="0" i="1" smtClean="0">
                          <a:solidFill>
                            <a:srgbClr val="0000FF"/>
                          </a:solidFill>
                          <a:latin typeface="Cambria Math" panose="02040503050406030204" pitchFamily="18" charset="0"/>
                        </a:rPr>
                        <m:t>𝑙</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𝑖</m:t>
                      </m:r>
                      <m:r>
                        <a:rPr lang="en-US" sz="1400" b="0" i="1" smtClean="0">
                          <a:solidFill>
                            <a:srgbClr val="0000FF"/>
                          </a:solidFill>
                          <a:latin typeface="Cambria Math" panose="02040503050406030204" pitchFamily="18" charset="0"/>
                        </a:rPr>
                        <m:t>∨</m:t>
                      </m:r>
                      <m:r>
                        <a:rPr lang="en-US" sz="1400" b="0" i="1" smtClean="0">
                          <a:solidFill>
                            <a:srgbClr val="0000FF"/>
                          </a:solidFill>
                          <a:latin typeface="Cambria Math" panose="02040503050406030204" pitchFamily="18" charset="0"/>
                        </a:rPr>
                        <m:t>𝑐</m:t>
                      </m:r>
                      <m:d>
                        <m:dPr>
                          <m:begChr m:val="["/>
                          <m:endChr m:val="]"/>
                          <m:ctrlPr>
                            <a:rPr lang="en-US" sz="1400" b="0" i="1" smtClean="0">
                              <a:solidFill>
                                <a:srgbClr val="0000FF"/>
                              </a:solidFill>
                              <a:latin typeface="Cambria Math" panose="02040503050406030204" pitchFamily="18" charset="0"/>
                            </a:rPr>
                          </m:ctrlPr>
                        </m:dPr>
                        <m:e>
                          <m:r>
                            <a:rPr lang="en-US" sz="1400" b="0" i="1" smtClean="0">
                              <a:solidFill>
                                <a:srgbClr val="0000FF"/>
                              </a:solidFill>
                              <a:latin typeface="Cambria Math" panose="02040503050406030204" pitchFamily="18" charset="0"/>
                            </a:rPr>
                            <m:t>𝑙</m:t>
                          </m:r>
                        </m:e>
                      </m:d>
                      <m:r>
                        <a:rPr lang="en-US" sz="1400" b="0" i="1" smtClean="0">
                          <a:solidFill>
                            <a:srgbClr val="0000FF"/>
                          </a:solidFill>
                          <a:latin typeface="Cambria Math" panose="02040503050406030204" pitchFamily="18" charset="0"/>
                        </a:rPr>
                        <m:t> </m:t>
                      </m:r>
                      <m:r>
                        <a:rPr lang="en-US" sz="1400" b="0" i="1" smtClean="0">
                          <a:latin typeface="Cambria Math" panose="02040503050406030204" pitchFamily="18" charset="0"/>
                        </a:rPr>
                        <m:t>:</m:t>
                      </m:r>
                      <m:r>
                        <a:rPr lang="en-US" sz="1400" b="0" i="1" smtClean="0">
                          <a:solidFill>
                            <a:srgbClr val="FF0000"/>
                          </a:solidFill>
                          <a:latin typeface="Cambria Math" panose="02040503050406030204" pitchFamily="18" charset="0"/>
                        </a:rPr>
                        <m:t>𝑙</m:t>
                      </m:r>
                      <m:r>
                        <a:rPr lang="en-US" sz="1400" b="0" i="1" smtClean="0">
                          <a:solidFill>
                            <a:srgbClr val="FF0000"/>
                          </a:solidFill>
                          <a:latin typeface="Cambria Math" panose="02040503050406030204" pitchFamily="18" charset="0"/>
                        </a:rPr>
                        <m:t>++</m:t>
                      </m:r>
                    </m:oMath>
                  </m:oMathPara>
                </a14:m>
                <a:endParaRPr lang="he-IL" sz="1400" dirty="0">
                  <a:solidFill>
                    <a:srgbClr val="FF0000"/>
                  </a:solidFill>
                  <a:latin typeface="Gisha" panose="020B0502040204020203" pitchFamily="34" charset="-79"/>
                  <a:cs typeface="Gisha" panose="020B0502040204020203" pitchFamily="34" charset="-79"/>
                </a:endParaRPr>
              </a:p>
            </p:txBody>
          </p:sp>
        </mc:Choice>
        <mc:Fallback xmlns="">
          <p:sp>
            <p:nvSpPr>
              <p:cNvPr id="212" name="TextBox 211"/>
              <p:cNvSpPr txBox="1">
                <a:spLocks noRot="1" noChangeAspect="1" noMove="1" noResize="1" noEditPoints="1" noAdjustHandles="1" noChangeArrowheads="1" noChangeShapeType="1" noTextEdit="1"/>
              </p:cNvSpPr>
              <p:nvPr/>
            </p:nvSpPr>
            <p:spPr>
              <a:xfrm>
                <a:off x="7035598" y="4471866"/>
                <a:ext cx="1619674" cy="307777"/>
              </a:xfrm>
              <a:prstGeom prst="rect">
                <a:avLst/>
              </a:prstGeom>
              <a:blipFill>
                <a:blip r:embed="rId12"/>
                <a:stretch>
                  <a:fillRect t="-4000" r="-188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2190835" y="5599862"/>
                <a:ext cx="6020632" cy="461665"/>
              </a:xfrm>
              <a:prstGeom prst="rect">
                <a:avLst/>
              </a:prstGeom>
              <a:noFill/>
            </p:spPr>
            <p:txBody>
              <a:bodyPr wrap="square" rtlCol="0">
                <a:spAutoFit/>
              </a:bodyPr>
              <a:lstStyle/>
              <a:p>
                <a:pPr algn="ctr">
                  <a:spcBef>
                    <a:spcPts val="1200"/>
                  </a:spcBef>
                </a:pPr>
                <a:r>
                  <a:rPr lang="he-IL" sz="2400" dirty="0" smtClean="0">
                    <a:latin typeface="Gisha" panose="020B0502040204020203" pitchFamily="34" charset="-79"/>
                    <a:cs typeface="Gisha" panose="020B0502040204020203" pitchFamily="34" charset="-79"/>
                  </a:rPr>
                  <a:t>סה"כ  </a:t>
                </a:r>
                <a14:m>
                  <m:oMath xmlns:m="http://schemas.openxmlformats.org/officeDocument/2006/math">
                    <m:sSup>
                      <m:sSupPr>
                        <m:ctrlPr>
                          <a:rPr lang="en-US" sz="2400" b="0" i="1" dirty="0" smtClean="0">
                            <a:solidFill>
                              <a:srgbClr val="FF0000"/>
                            </a:solidFill>
                            <a:latin typeface="Cambria Math" panose="02040503050406030204" pitchFamily="18" charset="0"/>
                          </a:rPr>
                        </m:ctrlPr>
                      </m:sSupPr>
                      <m:e>
                        <m:r>
                          <a:rPr lang="en-US" sz="2400" i="1" dirty="0" smtClean="0">
                            <a:solidFill>
                              <a:srgbClr val="FF0000"/>
                            </a:solidFill>
                            <a:latin typeface="Cambria Math"/>
                          </a:rPr>
                          <m:t>2</m:t>
                        </m:r>
                      </m:e>
                      <m:sup>
                        <m:r>
                          <a:rPr lang="en-US" sz="2400" b="0" i="1" dirty="0" smtClean="0">
                            <a:solidFill>
                              <a:srgbClr val="FF0000"/>
                            </a:solidFill>
                            <a:latin typeface="Cambria Math" panose="02040503050406030204" pitchFamily="18" charset="0"/>
                          </a:rPr>
                          <m:t>𝑁</m:t>
                        </m:r>
                      </m:sup>
                    </m:sSup>
                    <m:r>
                      <a:rPr lang="en-US" sz="2400" b="0" i="1" dirty="0" smtClean="0">
                        <a:solidFill>
                          <a:srgbClr val="FF0000"/>
                        </a:solidFill>
                        <a:latin typeface="Cambria Math" panose="02040503050406030204" pitchFamily="18" charset="0"/>
                      </a:rPr>
                      <m:t>⋅</m:t>
                    </m:r>
                    <m:sSup>
                      <m:sSupPr>
                        <m:ctrlPr>
                          <a:rPr lang="en-US" sz="2400" b="0" i="1" dirty="0" smtClean="0">
                            <a:solidFill>
                              <a:srgbClr val="FF0000"/>
                            </a:solidFill>
                            <a:latin typeface="Cambria Math" panose="02040503050406030204" pitchFamily="18" charset="0"/>
                          </a:rPr>
                        </m:ctrlPr>
                      </m:sSupPr>
                      <m:e>
                        <m:r>
                          <a:rPr lang="en-US" sz="2400" i="1" dirty="0">
                            <a:solidFill>
                              <a:srgbClr val="FF0000"/>
                            </a:solidFill>
                            <a:latin typeface="Cambria Math"/>
                          </a:rPr>
                          <m:t>2</m:t>
                        </m:r>
                      </m:e>
                      <m:sup>
                        <m:r>
                          <a:rPr lang="en-US" sz="2400" b="0" i="1" dirty="0" smtClean="0">
                            <a:solidFill>
                              <a:srgbClr val="FF0000"/>
                            </a:solidFill>
                            <a:latin typeface="Cambria Math" panose="02040503050406030204" pitchFamily="18" charset="0"/>
                          </a:rPr>
                          <m:t>𝑁</m:t>
                        </m:r>
                      </m:sup>
                    </m:sSup>
                    <m:r>
                      <a:rPr lang="en-US" sz="2400" b="0" i="1" dirty="0" smtClean="0">
                        <a:solidFill>
                          <a:srgbClr val="FF0000"/>
                        </a:solidFill>
                        <a:latin typeface="Cambria Math" panose="02040503050406030204" pitchFamily="18" charset="0"/>
                      </a:rPr>
                      <m:t>⋅</m:t>
                    </m:r>
                    <m:r>
                      <a:rPr lang="en-US" sz="2400" b="0" i="1" dirty="0" smtClean="0">
                        <a:solidFill>
                          <a:srgbClr val="FF0000"/>
                        </a:solidFill>
                        <a:latin typeface="Cambria Math" panose="02040503050406030204" pitchFamily="18" charset="0"/>
                      </a:rPr>
                      <m:t>𝑁</m:t>
                    </m:r>
                    <m:r>
                      <a:rPr lang="en-US" sz="2400" b="0" i="1" dirty="0" smtClean="0">
                        <a:solidFill>
                          <a:srgbClr val="FF0000"/>
                        </a:solidFill>
                        <a:latin typeface="Cambria Math"/>
                      </a:rPr>
                      <m:t>⋅</m:t>
                    </m:r>
                    <m:sSup>
                      <m:sSupPr>
                        <m:ctrlPr>
                          <a:rPr lang="en-US" sz="2400" b="0" i="1" dirty="0" smtClean="0">
                            <a:solidFill>
                              <a:srgbClr val="FF0000"/>
                            </a:solidFill>
                            <a:latin typeface="Cambria Math" panose="02040503050406030204" pitchFamily="18" charset="0"/>
                          </a:rPr>
                        </m:ctrlPr>
                      </m:sSupPr>
                      <m:e>
                        <m:r>
                          <a:rPr lang="en-US" sz="2400" b="0" i="1" dirty="0" smtClean="0">
                            <a:solidFill>
                              <a:srgbClr val="FF0000"/>
                            </a:solidFill>
                            <a:latin typeface="Cambria Math" panose="02040503050406030204" pitchFamily="18" charset="0"/>
                          </a:rPr>
                          <m:t>𝑁</m:t>
                        </m:r>
                      </m:e>
                      <m:sup>
                        <m:r>
                          <a:rPr lang="en-US" sz="2400" b="0" i="1" dirty="0" smtClean="0">
                            <a:solidFill>
                              <a:srgbClr val="FF0000"/>
                            </a:solidFill>
                            <a:latin typeface="Cambria Math" panose="02040503050406030204" pitchFamily="18" charset="0"/>
                          </a:rPr>
                          <m:t>𝑁</m:t>
                        </m:r>
                      </m:sup>
                    </m:sSup>
                    <m:r>
                      <a:rPr lang="en-US" sz="2400" b="0" i="1" dirty="0" smtClean="0">
                        <a:solidFill>
                          <a:srgbClr val="FF0000"/>
                        </a:solidFill>
                        <a:latin typeface="Cambria Math" panose="02040503050406030204" pitchFamily="18" charset="0"/>
                      </a:rPr>
                      <m:t>⋅</m:t>
                    </m:r>
                    <m:r>
                      <a:rPr lang="en-US" sz="2400" b="0" i="1" dirty="0" smtClean="0">
                        <a:solidFill>
                          <a:srgbClr val="FF0000"/>
                        </a:solidFill>
                        <a:latin typeface="Cambria Math" panose="02040503050406030204" pitchFamily="18" charset="0"/>
                      </a:rPr>
                      <m:t>6</m:t>
                    </m:r>
                    <m:r>
                      <a:rPr lang="en-US" sz="2400" i="1" baseline="30000" dirty="0" smtClean="0">
                        <a:solidFill>
                          <a:srgbClr val="FF0000"/>
                        </a:solidFill>
                        <a:latin typeface="Cambria Math"/>
                      </a:rPr>
                      <m:t>𝑁</m:t>
                    </m:r>
                  </m:oMath>
                </a14:m>
                <a:r>
                  <a:rPr lang="en-US" sz="2400" baseline="30000" dirty="0">
                    <a:solidFill>
                      <a:srgbClr val="FF0000"/>
                    </a:solidFill>
                    <a:latin typeface="Gisha" panose="020B0502040204020203" pitchFamily="34" charset="-79"/>
                    <a:cs typeface="Gisha" panose="020B0502040204020203" pitchFamily="34" charset="-79"/>
                  </a:rPr>
                  <a:t> </a:t>
                </a:r>
                <a:r>
                  <a:rPr lang="he-IL" sz="2400" baseline="30000" dirty="0">
                    <a:solidFill>
                      <a:srgbClr val="FF0000"/>
                    </a:solidFill>
                    <a:latin typeface="Gisha" panose="020B0502040204020203" pitchFamily="34" charset="-79"/>
                    <a:cs typeface="Gisha" panose="020B0502040204020203" pitchFamily="34" charset="-79"/>
                  </a:rPr>
                  <a:t>   </a:t>
                </a:r>
                <a:r>
                  <a:rPr lang="he-IL" sz="2400" dirty="0">
                    <a:latin typeface="Gisha" panose="020B0502040204020203" pitchFamily="34" charset="-79"/>
                    <a:cs typeface="Gisha" panose="020B0502040204020203" pitchFamily="34" charset="-79"/>
                  </a:rPr>
                  <a:t>מצבים</a:t>
                </a:r>
              </a:p>
            </p:txBody>
          </p:sp>
        </mc:Choice>
        <mc:Fallback xmlns="">
          <p:sp>
            <p:nvSpPr>
              <p:cNvPr id="54" name="TextBox 53"/>
              <p:cNvSpPr txBox="1">
                <a:spLocks noRot="1" noChangeAspect="1" noMove="1" noResize="1" noEditPoints="1" noAdjustHandles="1" noChangeArrowheads="1" noChangeShapeType="1" noTextEdit="1"/>
              </p:cNvSpPr>
              <p:nvPr/>
            </p:nvSpPr>
            <p:spPr>
              <a:xfrm>
                <a:off x="2190835" y="5599862"/>
                <a:ext cx="6020632" cy="461665"/>
              </a:xfrm>
              <a:prstGeom prst="rect">
                <a:avLst/>
              </a:prstGeom>
              <a:blipFill>
                <a:blip r:embed="rId13"/>
                <a:stretch>
                  <a:fillRect t="-10667" b="-30667"/>
                </a:stretch>
              </a:blipFill>
            </p:spPr>
            <p:txBody>
              <a:bodyPr/>
              <a:lstStyle/>
              <a:p>
                <a:r>
                  <a:rPr lang="en-US">
                    <a:noFill/>
                  </a:rPr>
                  <a:t> </a:t>
                </a:r>
              </a:p>
            </p:txBody>
          </p:sp>
        </mc:Fallback>
      </mc:AlternateContent>
      <p:pic>
        <p:nvPicPr>
          <p:cNvPr id="5" name="Picture 2" descr="Edsger Wybe Dijkstra.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flipH="1">
            <a:off x="7694753" y="5229688"/>
            <a:ext cx="1196325" cy="159559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454859" y="4921202"/>
            <a:ext cx="1612941" cy="523220"/>
          </a:xfrm>
          <a:prstGeom prst="rect">
            <a:avLst/>
          </a:prstGeom>
        </p:spPr>
        <p:txBody>
          <a:bodyPr wrap="none">
            <a:spAutoFit/>
          </a:bodyPr>
          <a:lstStyle/>
          <a:p>
            <a:r>
              <a:rPr lang="en-US" sz="1400" dirty="0" err="1">
                <a:solidFill>
                  <a:schemeClr val="accent4">
                    <a:lumMod val="75000"/>
                  </a:schemeClr>
                </a:solidFill>
                <a:latin typeface="Gisha" panose="020B0502040204020203" pitchFamily="34" charset="-79"/>
                <a:cs typeface="Gisha" panose="020B0502040204020203" pitchFamily="34" charset="-79"/>
              </a:rPr>
              <a:t>Edsger</a:t>
            </a:r>
            <a:r>
              <a:rPr lang="en-US" sz="1400" dirty="0">
                <a:solidFill>
                  <a:schemeClr val="accent4">
                    <a:lumMod val="75000"/>
                  </a:schemeClr>
                </a:solidFill>
                <a:latin typeface="Gisha" panose="020B0502040204020203" pitchFamily="34" charset="-79"/>
                <a:cs typeface="Gisha" panose="020B0502040204020203" pitchFamily="34" charset="-79"/>
              </a:rPr>
              <a:t> W. </a:t>
            </a:r>
            <a:r>
              <a:rPr lang="en-US" sz="1400" dirty="0" err="1">
                <a:solidFill>
                  <a:schemeClr val="accent4">
                    <a:lumMod val="75000"/>
                  </a:schemeClr>
                </a:solidFill>
                <a:latin typeface="Gisha" panose="020B0502040204020203" pitchFamily="34" charset="-79"/>
                <a:cs typeface="Gisha" panose="020B0502040204020203" pitchFamily="34" charset="-79"/>
              </a:rPr>
              <a:t>Dijkstra</a:t>
            </a:r>
            <a:endParaRPr lang="en-US" sz="1400" dirty="0">
              <a:solidFill>
                <a:schemeClr val="accent4">
                  <a:lumMod val="75000"/>
                </a:schemeClr>
              </a:solidFill>
              <a:latin typeface="Gisha" panose="020B0502040204020203" pitchFamily="34" charset="-79"/>
              <a:cs typeface="Gisha" panose="020B0502040204020203" pitchFamily="34" charset="-79"/>
            </a:endParaRPr>
          </a:p>
          <a:p>
            <a:endParaRPr lang="en-US" sz="1400" dirty="0">
              <a:solidFill>
                <a:schemeClr val="accent4">
                  <a:lumMod val="75000"/>
                </a:schemeClr>
              </a:solidFill>
              <a:latin typeface="Gisha" panose="020B0502040204020203" pitchFamily="34" charset="-79"/>
              <a:cs typeface="Gisha" panose="020B0502040204020203" pitchFamily="34" charset="-79"/>
            </a:endParaRPr>
          </a:p>
        </p:txBody>
      </p:sp>
      <p:pic>
        <p:nvPicPr>
          <p:cNvPr id="8" name="Picture 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52400" y="4779643"/>
            <a:ext cx="2590800" cy="1960605"/>
          </a:xfrm>
          <a:prstGeom prst="rect">
            <a:avLst/>
          </a:prstGeo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58121"/>
            <a:ext cx="7772400" cy="1143000"/>
          </a:xfrm>
        </p:spPr>
        <p:txBody>
          <a:bodyPr/>
          <a:lstStyle/>
          <a:p>
            <a:r>
              <a:rPr lang="he-IL" dirty="0">
                <a:latin typeface="Gisha" panose="020B0502040204020203" pitchFamily="34" charset="-79"/>
                <a:cs typeface="Gisha" panose="020B0502040204020203" pitchFamily="34" charset="-79"/>
              </a:rPr>
              <a:t>מה עושים?</a:t>
            </a:r>
          </a:p>
        </p:txBody>
      </p:sp>
      <p:sp>
        <p:nvSpPr>
          <p:cNvPr id="3" name="Date Placeholder 2"/>
          <p:cNvSpPr>
            <a:spLocks noGrp="1"/>
          </p:cNvSpPr>
          <p:nvPr>
            <p:ph type="dt" sz="half" idx="10"/>
          </p:nvPr>
        </p:nvSpPr>
        <p:spPr/>
        <p:txBody>
          <a:bodyPr/>
          <a:lstStyle/>
          <a:p>
            <a:fld id="{A7F926B5-663A-4127-A287-7B83208B40AD}" type="datetime8">
              <a:rPr lang="he-IL" smtClean="0"/>
              <a:pPr/>
              <a:t>19 מאי 24</a:t>
            </a:fld>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10</a:t>
            </a:fld>
            <a:endParaRPr lang="he-IL" dirty="0"/>
          </a:p>
        </p:txBody>
      </p:sp>
      <p:sp>
        <p:nvSpPr>
          <p:cNvPr id="99" name="AutoShape 3"/>
          <p:cNvSpPr>
            <a:spLocks noChangeArrowheads="1"/>
          </p:cNvSpPr>
          <p:nvPr/>
        </p:nvSpPr>
        <p:spPr bwMode="auto">
          <a:xfrm>
            <a:off x="1828800" y="3336977"/>
            <a:ext cx="4648200" cy="1143000"/>
          </a:xfrm>
          <a:prstGeom prst="flowChartInputOutput">
            <a:avLst/>
          </a:prstGeom>
          <a:solidFill>
            <a:srgbClr val="B2B2B2"/>
          </a:solidFill>
          <a:ln w="38100">
            <a:solidFill>
              <a:srgbClr val="000000"/>
            </a:solidFill>
            <a:miter lim="800000"/>
            <a:headEnd/>
            <a:tailEnd/>
          </a:ln>
          <a:effectLst>
            <a:outerShdw dist="107763" dir="2700000" algn="ctr" rotWithShape="0">
              <a:srgbClr val="000000">
                <a:alpha val="50000"/>
              </a:srgb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00" name="AutoShape 4"/>
          <p:cNvSpPr>
            <a:spLocks noChangeArrowheads="1"/>
          </p:cNvSpPr>
          <p:nvPr/>
        </p:nvSpPr>
        <p:spPr bwMode="auto">
          <a:xfrm>
            <a:off x="3048000" y="1431977"/>
            <a:ext cx="3048000" cy="914400"/>
          </a:xfrm>
          <a:prstGeom prst="flowChartInputOutput">
            <a:avLst/>
          </a:prstGeom>
          <a:solidFill>
            <a:srgbClr val="B2B2B2"/>
          </a:solidFill>
          <a:ln w="38100">
            <a:solidFill>
              <a:srgbClr val="000000"/>
            </a:solidFill>
            <a:miter lim="800000"/>
            <a:headEnd/>
            <a:tailEnd/>
          </a:ln>
          <a:effectLst>
            <a:outerShdw dist="107763" dir="2700000" algn="ctr" rotWithShape="0">
              <a:srgbClr val="000000">
                <a:alpha val="50000"/>
              </a:srgb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01" name="Text Box 17"/>
          <p:cNvSpPr txBox="1">
            <a:spLocks noChangeArrowheads="1"/>
          </p:cNvSpPr>
          <p:nvPr/>
        </p:nvSpPr>
        <p:spPr bwMode="auto">
          <a:xfrm>
            <a:off x="6240463" y="3759678"/>
            <a:ext cx="2743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rtl="0" eaLnBrk="0" fontAlgn="base" hangingPunct="0">
              <a:spcBef>
                <a:spcPct val="0"/>
              </a:spcBef>
              <a:spcAft>
                <a:spcPct val="0"/>
              </a:spcAft>
            </a:pPr>
            <a:r>
              <a:rPr lang="he-IL" altLang="he-IL" sz="2400" dirty="0">
                <a:solidFill>
                  <a:srgbClr val="FF0000"/>
                </a:solidFill>
                <a:latin typeface="Gisha" panose="020B0502040204020203" pitchFamily="34" charset="-79"/>
                <a:cs typeface="Gisha" panose="020B0502040204020203" pitchFamily="34" charset="-79"/>
              </a:rPr>
              <a:t>מערכת מעברים עם יותר מדי מצבים</a:t>
            </a:r>
            <a:endParaRPr lang="en-US" altLang="he-IL" sz="2400" dirty="0">
              <a:solidFill>
                <a:srgbClr val="FF0000"/>
              </a:solidFill>
              <a:latin typeface="Gisha" panose="020B0502040204020203" pitchFamily="34" charset="-79"/>
              <a:cs typeface="Gisha" panose="020B0502040204020203" pitchFamily="34" charset="-79"/>
            </a:endParaRPr>
          </a:p>
        </p:txBody>
      </p:sp>
      <p:sp>
        <p:nvSpPr>
          <p:cNvPr id="102" name="Text Box 18"/>
          <p:cNvSpPr txBox="1">
            <a:spLocks noChangeArrowheads="1"/>
          </p:cNvSpPr>
          <p:nvPr/>
        </p:nvSpPr>
        <p:spPr bwMode="auto">
          <a:xfrm>
            <a:off x="475687" y="1066800"/>
            <a:ext cx="31089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fontAlgn="base" hangingPunct="0">
              <a:spcBef>
                <a:spcPct val="0"/>
              </a:spcBef>
              <a:spcAft>
                <a:spcPct val="0"/>
              </a:spcAft>
            </a:pPr>
            <a:r>
              <a:rPr lang="he-IL" altLang="he-IL" sz="2400" dirty="0">
                <a:solidFill>
                  <a:srgbClr val="0000FF"/>
                </a:solidFill>
                <a:latin typeface="Gisha" panose="020B0502040204020203" pitchFamily="34" charset="-79"/>
                <a:cs typeface="Gisha" panose="020B0502040204020203" pitchFamily="34" charset="-79"/>
              </a:rPr>
              <a:t>מערכת מעברים עם פחות מצבים</a:t>
            </a:r>
            <a:endParaRPr lang="en-US" altLang="he-IL" sz="2400" baseline="-25000" dirty="0">
              <a:solidFill>
                <a:srgbClr val="0000FF"/>
              </a:solidFill>
              <a:latin typeface="Gisha" panose="020B0502040204020203" pitchFamily="34" charset="-79"/>
              <a:cs typeface="Gisha" panose="020B0502040204020203" pitchFamily="34" charset="-79"/>
              <a:sym typeface="Symbol" panose="05050102010706020507" pitchFamily="18" charset="2"/>
            </a:endParaRPr>
          </a:p>
        </p:txBody>
      </p:sp>
      <p:grpSp>
        <p:nvGrpSpPr>
          <p:cNvPr id="103" name="Group 56"/>
          <p:cNvGrpSpPr>
            <a:grpSpLocks/>
          </p:cNvGrpSpPr>
          <p:nvPr/>
        </p:nvGrpSpPr>
        <p:grpSpPr bwMode="auto">
          <a:xfrm>
            <a:off x="3733800" y="1508177"/>
            <a:ext cx="1371600" cy="533400"/>
            <a:chOff x="2362" y="2112"/>
            <a:chExt cx="864" cy="336"/>
          </a:xfrm>
        </p:grpSpPr>
        <p:sp>
          <p:nvSpPr>
            <p:cNvPr id="104" name="Oval 7"/>
            <p:cNvSpPr>
              <a:spLocks noChangeArrowheads="1"/>
            </p:cNvSpPr>
            <p:nvPr/>
          </p:nvSpPr>
          <p:spPr bwMode="auto">
            <a:xfrm flipV="1">
              <a:off x="3130" y="2352"/>
              <a:ext cx="96" cy="96"/>
            </a:xfrm>
            <a:prstGeom prst="ellipse">
              <a:avLst/>
            </a:prstGeom>
            <a:solidFill>
              <a:srgbClr val="0066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05" name="Oval 8"/>
            <p:cNvSpPr>
              <a:spLocks noChangeArrowheads="1"/>
            </p:cNvSpPr>
            <p:nvPr/>
          </p:nvSpPr>
          <p:spPr bwMode="auto">
            <a:xfrm flipV="1">
              <a:off x="2362" y="2208"/>
              <a:ext cx="96" cy="96"/>
            </a:xfrm>
            <a:prstGeom prst="ellipse">
              <a:avLst/>
            </a:prstGeom>
            <a:solidFill>
              <a:srgbClr val="FF0000"/>
            </a:solidFill>
            <a:ln w="9525">
              <a:solidFill>
                <a:srgbClr val="000000"/>
              </a:solidFill>
              <a:round/>
              <a:headEnd/>
              <a:tailEnd/>
            </a:ln>
            <a:effectLst>
              <a:prstShdw prst="shdw18" dist="17961" dir="13500000">
                <a:srgbClr val="000000">
                  <a:gamma/>
                  <a:shade val="60000"/>
                  <a:invGamma/>
                </a:srgb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06" name="Oval 9"/>
            <p:cNvSpPr>
              <a:spLocks noChangeArrowheads="1"/>
            </p:cNvSpPr>
            <p:nvPr/>
          </p:nvSpPr>
          <p:spPr bwMode="auto">
            <a:xfrm flipV="1">
              <a:off x="2890" y="2112"/>
              <a:ext cx="96" cy="96"/>
            </a:xfrm>
            <a:prstGeom prst="ellipse">
              <a:avLst/>
            </a:prstGeom>
            <a:solidFill>
              <a:srgbClr val="33CC3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107" name="Group 58"/>
          <p:cNvGrpSpPr>
            <a:grpSpLocks/>
          </p:cNvGrpSpPr>
          <p:nvPr/>
        </p:nvGrpSpPr>
        <p:grpSpPr bwMode="auto">
          <a:xfrm>
            <a:off x="2514600" y="1660577"/>
            <a:ext cx="3124200" cy="2590800"/>
            <a:chOff x="1594" y="2208"/>
            <a:chExt cx="1968" cy="1632"/>
          </a:xfrm>
        </p:grpSpPr>
        <p:sp>
          <p:nvSpPr>
            <p:cNvPr id="108" name="Line 11"/>
            <p:cNvSpPr>
              <a:spLocks noChangeShapeType="1"/>
            </p:cNvSpPr>
            <p:nvPr/>
          </p:nvSpPr>
          <p:spPr bwMode="auto">
            <a:xfrm flipV="1">
              <a:off x="1594" y="2304"/>
              <a:ext cx="768" cy="1296"/>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09" name="Line 12"/>
            <p:cNvSpPr>
              <a:spLocks noChangeShapeType="1"/>
            </p:cNvSpPr>
            <p:nvPr/>
          </p:nvSpPr>
          <p:spPr bwMode="auto">
            <a:xfrm flipV="1">
              <a:off x="2314" y="2304"/>
              <a:ext cx="96" cy="1392"/>
            </a:xfrm>
            <a:prstGeom prst="line">
              <a:avLst/>
            </a:prstGeom>
            <a:noFill/>
            <a:ln w="28575">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10" name="Line 13"/>
            <p:cNvSpPr>
              <a:spLocks noChangeShapeType="1"/>
            </p:cNvSpPr>
            <p:nvPr/>
          </p:nvSpPr>
          <p:spPr bwMode="auto">
            <a:xfrm flipV="1">
              <a:off x="2410" y="2208"/>
              <a:ext cx="480" cy="1248"/>
            </a:xfrm>
            <a:prstGeom prst="line">
              <a:avLst/>
            </a:prstGeom>
            <a:noFill/>
            <a:ln w="28575">
              <a:solidFill>
                <a:srgbClr val="33CC33"/>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11" name="Line 14"/>
            <p:cNvSpPr>
              <a:spLocks noChangeShapeType="1"/>
            </p:cNvSpPr>
            <p:nvPr/>
          </p:nvSpPr>
          <p:spPr bwMode="auto">
            <a:xfrm flipH="1" flipV="1">
              <a:off x="2938" y="2208"/>
              <a:ext cx="192" cy="1296"/>
            </a:xfrm>
            <a:prstGeom prst="line">
              <a:avLst/>
            </a:prstGeom>
            <a:noFill/>
            <a:ln w="28575">
              <a:solidFill>
                <a:srgbClr val="33CC33"/>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12" name="Line 15"/>
            <p:cNvSpPr>
              <a:spLocks noChangeShapeType="1"/>
            </p:cNvSpPr>
            <p:nvPr/>
          </p:nvSpPr>
          <p:spPr bwMode="auto">
            <a:xfrm flipV="1">
              <a:off x="2890" y="2448"/>
              <a:ext cx="240" cy="1344"/>
            </a:xfrm>
            <a:prstGeom prst="line">
              <a:avLst/>
            </a:prstGeom>
            <a:noFill/>
            <a:ln w="28575">
              <a:solidFill>
                <a:srgbClr val="0066FF"/>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13" name="Line 16"/>
            <p:cNvSpPr>
              <a:spLocks noChangeShapeType="1"/>
            </p:cNvSpPr>
            <p:nvPr/>
          </p:nvSpPr>
          <p:spPr bwMode="auto">
            <a:xfrm flipH="1" flipV="1">
              <a:off x="3226" y="2448"/>
              <a:ext cx="336" cy="1392"/>
            </a:xfrm>
            <a:prstGeom prst="line">
              <a:avLst/>
            </a:prstGeom>
            <a:noFill/>
            <a:ln w="28575">
              <a:solidFill>
                <a:srgbClr val="0066FF"/>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grpSp>
      <p:grpSp>
        <p:nvGrpSpPr>
          <p:cNvPr id="117" name="Group 54"/>
          <p:cNvGrpSpPr>
            <a:grpSpLocks/>
          </p:cNvGrpSpPr>
          <p:nvPr/>
        </p:nvGrpSpPr>
        <p:grpSpPr bwMode="auto">
          <a:xfrm>
            <a:off x="2506663" y="3489377"/>
            <a:ext cx="3216275" cy="914400"/>
            <a:chOff x="1584" y="3360"/>
            <a:chExt cx="2026" cy="576"/>
          </a:xfrm>
        </p:grpSpPr>
        <p:sp>
          <p:nvSpPr>
            <p:cNvPr id="118" name="AutoShape 26"/>
            <p:cNvSpPr>
              <a:spLocks noChangeArrowheads="1"/>
            </p:cNvSpPr>
            <p:nvPr/>
          </p:nvSpPr>
          <p:spPr bwMode="auto">
            <a:xfrm>
              <a:off x="2410" y="3360"/>
              <a:ext cx="720" cy="240"/>
            </a:xfrm>
            <a:prstGeom prst="star16">
              <a:avLst>
                <a:gd name="adj" fmla="val 38889"/>
              </a:avLst>
            </a:prstGeom>
            <a:solidFill>
              <a:srgbClr val="33CC3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19" name="AutoShape 27"/>
            <p:cNvSpPr>
              <a:spLocks noChangeArrowheads="1"/>
            </p:cNvSpPr>
            <p:nvPr/>
          </p:nvSpPr>
          <p:spPr bwMode="auto">
            <a:xfrm>
              <a:off x="2890" y="3696"/>
              <a:ext cx="720" cy="240"/>
            </a:xfrm>
            <a:prstGeom prst="star16">
              <a:avLst>
                <a:gd name="adj" fmla="val 38889"/>
              </a:avLst>
            </a:prstGeom>
            <a:solidFill>
              <a:srgbClr val="0066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0" name="AutoShape 28"/>
            <p:cNvSpPr>
              <a:spLocks noChangeArrowheads="1"/>
            </p:cNvSpPr>
            <p:nvPr/>
          </p:nvSpPr>
          <p:spPr bwMode="auto">
            <a:xfrm>
              <a:off x="1584" y="3552"/>
              <a:ext cx="720" cy="240"/>
            </a:xfrm>
            <a:prstGeom prst="star16">
              <a:avLst>
                <a:gd name="adj" fmla="val 38889"/>
              </a:avLst>
            </a:prstGeom>
            <a:solidFill>
              <a:srgbClr val="FF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altLang="he-IL" sz="2400" b="0" i="0" u="none" strike="noStrike" kern="0" cap="none" spc="0" normalizeH="0" baseline="0" noProof="1">
                <a:ln>
                  <a:noFill/>
                </a:ln>
                <a:solidFill>
                  <a:srgbClr val="FF0000"/>
                </a:solidFill>
                <a:effectLst/>
                <a:uLnTx/>
                <a:uFillTx/>
                <a:latin typeface="Arial" panose="020B0604020202020204" pitchFamily="34" charset="0"/>
              </a:endParaRPr>
            </a:p>
          </p:txBody>
        </p:sp>
      </p:grpSp>
      <p:sp>
        <p:nvSpPr>
          <p:cNvPr id="121" name="Oval 29"/>
          <p:cNvSpPr>
            <a:spLocks noChangeArrowheads="1"/>
          </p:cNvSpPr>
          <p:nvPr/>
        </p:nvSpPr>
        <p:spPr bwMode="auto">
          <a:xfrm>
            <a:off x="3260725" y="39465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2" name="Oval 30"/>
          <p:cNvSpPr>
            <a:spLocks noChangeArrowheads="1"/>
          </p:cNvSpPr>
          <p:nvPr/>
        </p:nvSpPr>
        <p:spPr bwMode="auto">
          <a:xfrm>
            <a:off x="3032125" y="38703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3" name="Oval 31"/>
          <p:cNvSpPr>
            <a:spLocks noChangeArrowheads="1"/>
          </p:cNvSpPr>
          <p:nvPr/>
        </p:nvSpPr>
        <p:spPr bwMode="auto">
          <a:xfrm>
            <a:off x="2727325" y="39465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4" name="Line 32"/>
          <p:cNvSpPr>
            <a:spLocks noChangeShapeType="1"/>
          </p:cNvSpPr>
          <p:nvPr/>
        </p:nvSpPr>
        <p:spPr bwMode="auto">
          <a:xfrm flipV="1">
            <a:off x="3413125" y="3717977"/>
            <a:ext cx="685800" cy="2286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5" name="Oval 33"/>
          <p:cNvSpPr>
            <a:spLocks noChangeArrowheads="1"/>
          </p:cNvSpPr>
          <p:nvPr/>
        </p:nvSpPr>
        <p:spPr bwMode="auto">
          <a:xfrm>
            <a:off x="4098925" y="36417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6" name="Oval 34"/>
          <p:cNvSpPr>
            <a:spLocks noChangeArrowheads="1"/>
          </p:cNvSpPr>
          <p:nvPr/>
        </p:nvSpPr>
        <p:spPr bwMode="auto">
          <a:xfrm>
            <a:off x="4327525" y="35655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7" name="Oval 35"/>
          <p:cNvSpPr>
            <a:spLocks noChangeArrowheads="1"/>
          </p:cNvSpPr>
          <p:nvPr/>
        </p:nvSpPr>
        <p:spPr bwMode="auto">
          <a:xfrm>
            <a:off x="4860925" y="41751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8" name="Oval 36"/>
          <p:cNvSpPr>
            <a:spLocks noChangeArrowheads="1"/>
          </p:cNvSpPr>
          <p:nvPr/>
        </p:nvSpPr>
        <p:spPr bwMode="auto">
          <a:xfrm>
            <a:off x="5318125" y="41751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9" name="Oval 37"/>
          <p:cNvSpPr>
            <a:spLocks noChangeArrowheads="1"/>
          </p:cNvSpPr>
          <p:nvPr/>
        </p:nvSpPr>
        <p:spPr bwMode="auto">
          <a:xfrm>
            <a:off x="4556125" y="3641777"/>
            <a:ext cx="76200" cy="76200"/>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0" name="Line 39"/>
          <p:cNvSpPr>
            <a:spLocks noChangeShapeType="1"/>
          </p:cNvSpPr>
          <p:nvPr/>
        </p:nvSpPr>
        <p:spPr bwMode="auto">
          <a:xfrm>
            <a:off x="4975225" y="4214865"/>
            <a:ext cx="304800"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1" name="Line 45"/>
          <p:cNvSpPr>
            <a:spLocks noChangeShapeType="1"/>
          </p:cNvSpPr>
          <p:nvPr/>
        </p:nvSpPr>
        <p:spPr bwMode="auto">
          <a:xfrm flipH="1" flipV="1">
            <a:off x="4760913" y="3690990"/>
            <a:ext cx="228600" cy="4572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2" name="Line 49"/>
          <p:cNvSpPr>
            <a:spLocks noChangeShapeType="1"/>
          </p:cNvSpPr>
          <p:nvPr/>
        </p:nvSpPr>
        <p:spPr bwMode="auto">
          <a:xfrm>
            <a:off x="3413125" y="4022777"/>
            <a:ext cx="1447800" cy="2286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he-IL" sz="2400" b="0"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133" name="Group 63"/>
          <p:cNvGrpSpPr>
            <a:grpSpLocks/>
          </p:cNvGrpSpPr>
          <p:nvPr/>
        </p:nvGrpSpPr>
        <p:grpSpPr bwMode="auto">
          <a:xfrm>
            <a:off x="3413125" y="1584377"/>
            <a:ext cx="1158875" cy="2362200"/>
            <a:chOff x="2160" y="2160"/>
            <a:chExt cx="730" cy="1488"/>
          </a:xfrm>
        </p:grpSpPr>
        <p:sp>
          <p:nvSpPr>
            <p:cNvPr id="134" name="Line 41"/>
            <p:cNvSpPr>
              <a:spLocks noChangeShapeType="1"/>
            </p:cNvSpPr>
            <p:nvPr/>
          </p:nvSpPr>
          <p:spPr bwMode="auto">
            <a:xfrm flipV="1">
              <a:off x="2458" y="2160"/>
              <a:ext cx="432" cy="96"/>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35" name="Line 59"/>
            <p:cNvSpPr>
              <a:spLocks noChangeShapeType="1"/>
            </p:cNvSpPr>
            <p:nvPr/>
          </p:nvSpPr>
          <p:spPr bwMode="auto">
            <a:xfrm flipV="1">
              <a:off x="2160" y="3504"/>
              <a:ext cx="432" cy="144"/>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grpSp>
      <p:grpSp>
        <p:nvGrpSpPr>
          <p:cNvPr id="136" name="Group 66"/>
          <p:cNvGrpSpPr>
            <a:grpSpLocks/>
          </p:cNvGrpSpPr>
          <p:nvPr/>
        </p:nvGrpSpPr>
        <p:grpSpPr bwMode="auto">
          <a:xfrm>
            <a:off x="4975225" y="1660577"/>
            <a:ext cx="434975" cy="2554288"/>
            <a:chOff x="3144" y="2208"/>
            <a:chExt cx="274" cy="1609"/>
          </a:xfrm>
        </p:grpSpPr>
        <p:sp>
          <p:nvSpPr>
            <p:cNvPr id="137" name="AutoShape 47"/>
            <p:cNvSpPr>
              <a:spLocks noChangeArrowheads="1"/>
            </p:cNvSpPr>
            <p:nvPr/>
          </p:nvSpPr>
          <p:spPr bwMode="auto">
            <a:xfrm>
              <a:off x="3226" y="2208"/>
              <a:ext cx="192" cy="231"/>
            </a:xfrm>
            <a:custGeom>
              <a:avLst/>
              <a:gdLst>
                <a:gd name="G0" fmla="+- 7171602 0 0"/>
                <a:gd name="G1" fmla="+- -11790675 0 0"/>
                <a:gd name="G2" fmla="+- 7171602 0 -11790675"/>
                <a:gd name="G3" fmla="+- 10800 0 0"/>
                <a:gd name="G4" fmla="+- 0 0 7171602"/>
                <a:gd name="T0" fmla="*/ 360 256 1"/>
                <a:gd name="T1" fmla="*/ 0 256 1"/>
                <a:gd name="G5" fmla="+- G2 T0 T1"/>
                <a:gd name="G6" fmla="?: G2 G2 G5"/>
                <a:gd name="G7" fmla="+- 0 0 G6"/>
                <a:gd name="G8" fmla="+- 9469 0 0"/>
                <a:gd name="G9" fmla="+- 0 0 -11790675"/>
                <a:gd name="G10" fmla="+- 9469 0 2700"/>
                <a:gd name="G11" fmla="cos G10 7171602"/>
                <a:gd name="G12" fmla="sin G10 7171602"/>
                <a:gd name="G13" fmla="cos 13500 7171602"/>
                <a:gd name="G14" fmla="sin 13500 7171602"/>
                <a:gd name="G15" fmla="+- G11 10800 0"/>
                <a:gd name="G16" fmla="+- G12 10800 0"/>
                <a:gd name="G17" fmla="+- G13 10800 0"/>
                <a:gd name="G18" fmla="+- G14 10800 0"/>
                <a:gd name="G19" fmla="*/ 9469 1 2"/>
                <a:gd name="G20" fmla="+- G19 5400 0"/>
                <a:gd name="G21" fmla="cos G20 7171602"/>
                <a:gd name="G22" fmla="sin G20 7171602"/>
                <a:gd name="G23" fmla="+- G21 10800 0"/>
                <a:gd name="G24" fmla="+- G12 G23 G22"/>
                <a:gd name="G25" fmla="+- G22 G23 G11"/>
                <a:gd name="G26" fmla="cos 10800 7171602"/>
                <a:gd name="G27" fmla="sin 10800 7171602"/>
                <a:gd name="G28" fmla="cos 9469 7171602"/>
                <a:gd name="G29" fmla="sin 9469 7171602"/>
                <a:gd name="G30" fmla="+- G26 10800 0"/>
                <a:gd name="G31" fmla="+- G27 10800 0"/>
                <a:gd name="G32" fmla="+- G28 10800 0"/>
                <a:gd name="G33" fmla="+- G29 10800 0"/>
                <a:gd name="G34" fmla="+- G19 5400 0"/>
                <a:gd name="G35" fmla="cos G34 -11790675"/>
                <a:gd name="G36" fmla="sin G34 -11790675"/>
                <a:gd name="G37" fmla="+/ -11790675 7171602 2"/>
                <a:gd name="T2" fmla="*/ 180 256 1"/>
                <a:gd name="T3" fmla="*/ 0 256 1"/>
                <a:gd name="G38" fmla="+- G37 T2 T3"/>
                <a:gd name="G39" fmla="?: G2 G37 G38"/>
                <a:gd name="G40" fmla="cos 10800 G39"/>
                <a:gd name="G41" fmla="sin 10800 G39"/>
                <a:gd name="G42" fmla="cos 9469 G39"/>
                <a:gd name="G43" fmla="sin 9469 G39"/>
                <a:gd name="G44" fmla="+- G40 10800 0"/>
                <a:gd name="G45" fmla="+- G41 10800 0"/>
                <a:gd name="G46" fmla="+- G42 10800 0"/>
                <a:gd name="G47" fmla="+- G43 10800 0"/>
                <a:gd name="G48" fmla="+- G35 10800 0"/>
                <a:gd name="G49" fmla="+- G36 10800 0"/>
                <a:gd name="T4" fmla="*/ 19620 w 21600"/>
                <a:gd name="T5" fmla="*/ 4568 h 21600"/>
                <a:gd name="T6" fmla="*/ 665 w 21600"/>
                <a:gd name="T7" fmla="*/ 10784 h 21600"/>
                <a:gd name="T8" fmla="*/ 18533 w 21600"/>
                <a:gd name="T9" fmla="*/ 5336 h 21600"/>
                <a:gd name="T10" fmla="*/ 6309 w 21600"/>
                <a:gd name="T11" fmla="*/ 23531 h 21600"/>
                <a:gd name="T12" fmla="*/ 4254 w 21600"/>
                <a:gd name="T13" fmla="*/ 19237 h 21600"/>
                <a:gd name="T14" fmla="*/ 8548 w 21600"/>
                <a:gd name="T15" fmla="*/ 1718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7650" y="19729"/>
                  </a:moveTo>
                  <a:cubicBezTo>
                    <a:pt x="8661" y="20086"/>
                    <a:pt x="9727" y="20269"/>
                    <a:pt x="10800" y="20269"/>
                  </a:cubicBezTo>
                  <a:cubicBezTo>
                    <a:pt x="16029" y="20269"/>
                    <a:pt x="20269" y="16029"/>
                    <a:pt x="20269" y="10800"/>
                  </a:cubicBezTo>
                  <a:cubicBezTo>
                    <a:pt x="20269" y="5570"/>
                    <a:pt x="16029" y="1331"/>
                    <a:pt x="10800" y="1331"/>
                  </a:cubicBezTo>
                  <a:cubicBezTo>
                    <a:pt x="5576" y="1330"/>
                    <a:pt x="1339" y="5561"/>
                    <a:pt x="1331" y="10785"/>
                  </a:cubicBezTo>
                  <a:lnTo>
                    <a:pt x="0" y="10783"/>
                  </a:lnTo>
                  <a:cubicBezTo>
                    <a:pt x="9" y="4825"/>
                    <a:pt x="4841" y="-1"/>
                    <a:pt x="10800" y="0"/>
                  </a:cubicBezTo>
                  <a:cubicBezTo>
                    <a:pt x="16764" y="0"/>
                    <a:pt x="21600" y="4835"/>
                    <a:pt x="21600" y="10800"/>
                  </a:cubicBezTo>
                  <a:cubicBezTo>
                    <a:pt x="21600" y="16764"/>
                    <a:pt x="16764" y="21600"/>
                    <a:pt x="10800" y="21600"/>
                  </a:cubicBezTo>
                  <a:cubicBezTo>
                    <a:pt x="9576" y="21600"/>
                    <a:pt x="8361" y="21392"/>
                    <a:pt x="7207" y="20984"/>
                  </a:cubicBezTo>
                  <a:lnTo>
                    <a:pt x="6309" y="23531"/>
                  </a:lnTo>
                  <a:lnTo>
                    <a:pt x="4254" y="19237"/>
                  </a:lnTo>
                  <a:lnTo>
                    <a:pt x="8548" y="17183"/>
                  </a:lnTo>
                  <a:lnTo>
                    <a:pt x="7650" y="19729"/>
                  </a:lnTo>
                  <a:close/>
                </a:path>
              </a:pathLst>
            </a:custGeom>
            <a:solidFill>
              <a:srgbClr val="F8B93A"/>
            </a:solidFill>
            <a:ln w="9525">
              <a:solidFill>
                <a:srgbClr val="F8B93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38" name="Line 60"/>
            <p:cNvSpPr>
              <a:spLocks noChangeShapeType="1"/>
            </p:cNvSpPr>
            <p:nvPr/>
          </p:nvSpPr>
          <p:spPr bwMode="auto">
            <a:xfrm>
              <a:off x="3144" y="3817"/>
              <a:ext cx="192" cy="0"/>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grpSp>
      <p:grpSp>
        <p:nvGrpSpPr>
          <p:cNvPr id="139" name="Group 65"/>
          <p:cNvGrpSpPr>
            <a:grpSpLocks/>
          </p:cNvGrpSpPr>
          <p:nvPr/>
        </p:nvGrpSpPr>
        <p:grpSpPr bwMode="auto">
          <a:xfrm>
            <a:off x="4724400" y="1660577"/>
            <a:ext cx="304800" cy="2487613"/>
            <a:chOff x="2986" y="2208"/>
            <a:chExt cx="192" cy="1567"/>
          </a:xfrm>
        </p:grpSpPr>
        <p:sp>
          <p:nvSpPr>
            <p:cNvPr id="140" name="Line 44"/>
            <p:cNvSpPr>
              <a:spLocks noChangeShapeType="1"/>
            </p:cNvSpPr>
            <p:nvPr/>
          </p:nvSpPr>
          <p:spPr bwMode="auto">
            <a:xfrm flipH="1" flipV="1">
              <a:off x="2986" y="2208"/>
              <a:ext cx="192" cy="144"/>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41" name="Line 61"/>
            <p:cNvSpPr>
              <a:spLocks noChangeShapeType="1"/>
            </p:cNvSpPr>
            <p:nvPr/>
          </p:nvSpPr>
          <p:spPr bwMode="auto">
            <a:xfrm flipH="1" flipV="1">
              <a:off x="3009" y="3487"/>
              <a:ext cx="144" cy="288"/>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grpSp>
      <p:grpSp>
        <p:nvGrpSpPr>
          <p:cNvPr id="142" name="Group 64"/>
          <p:cNvGrpSpPr>
            <a:grpSpLocks/>
          </p:cNvGrpSpPr>
          <p:nvPr/>
        </p:nvGrpSpPr>
        <p:grpSpPr bwMode="auto">
          <a:xfrm>
            <a:off x="3413125" y="1812977"/>
            <a:ext cx="1447800" cy="2438400"/>
            <a:chOff x="2160" y="2304"/>
            <a:chExt cx="912" cy="1536"/>
          </a:xfrm>
        </p:grpSpPr>
        <p:sp>
          <p:nvSpPr>
            <p:cNvPr id="143" name="Line 52"/>
            <p:cNvSpPr>
              <a:spLocks noChangeShapeType="1"/>
            </p:cNvSpPr>
            <p:nvPr/>
          </p:nvSpPr>
          <p:spPr bwMode="auto">
            <a:xfrm>
              <a:off x="2448" y="2304"/>
              <a:ext cx="624" cy="144"/>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sp>
          <p:nvSpPr>
            <p:cNvPr id="144" name="Line 62"/>
            <p:cNvSpPr>
              <a:spLocks noChangeShapeType="1"/>
            </p:cNvSpPr>
            <p:nvPr/>
          </p:nvSpPr>
          <p:spPr bwMode="auto">
            <a:xfrm>
              <a:off x="2160" y="3696"/>
              <a:ext cx="912" cy="144"/>
            </a:xfrm>
            <a:prstGeom prst="line">
              <a:avLst/>
            </a:prstGeom>
            <a:noFill/>
            <a:ln w="38100">
              <a:solidFill>
                <a:srgbClr val="F8B93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rtl="0" eaLnBrk="0" fontAlgn="base" hangingPunct="0">
                <a:spcBef>
                  <a:spcPct val="0"/>
                </a:spcBef>
                <a:spcAft>
                  <a:spcPct val="0"/>
                </a:spcAft>
              </a:pPr>
              <a:endParaRPr lang="he-IL" sz="2400">
                <a:solidFill>
                  <a:srgbClr val="000000"/>
                </a:solidFill>
                <a:latin typeface="Arial" panose="020B0604020202020204" pitchFamily="34" charset="0"/>
              </a:endParaRPr>
            </a:p>
          </p:txBody>
        </p:sp>
      </p:grpSp>
      <p:sp>
        <p:nvSpPr>
          <p:cNvPr id="6" name="TextBox 5"/>
          <p:cNvSpPr txBox="1"/>
          <p:nvPr/>
        </p:nvSpPr>
        <p:spPr>
          <a:xfrm>
            <a:off x="76200" y="4892717"/>
            <a:ext cx="8991600" cy="646331"/>
          </a:xfrm>
          <a:prstGeom prst="rect">
            <a:avLst/>
          </a:prstGeom>
          <a:solidFill>
            <a:srgbClr val="336600"/>
          </a:solidFill>
        </p:spPr>
        <p:txBody>
          <a:bodyPr wrap="square" rtlCol="1">
            <a:spAutoFit/>
          </a:bodyPr>
          <a:lstStyle/>
          <a:p>
            <a:pPr algn="ctr"/>
            <a:r>
              <a:rPr lang="he-IL" sz="3600" dirty="0">
                <a:solidFill>
                  <a:schemeClr val="bg1"/>
                </a:solidFill>
                <a:latin typeface="Gisha" panose="020B0502040204020203" pitchFamily="34" charset="-79"/>
                <a:cs typeface="Gisha" panose="020B0502040204020203" pitchFamily="34" charset="-79"/>
              </a:rPr>
              <a:t>אבסטרקציה</a:t>
            </a:r>
          </a:p>
        </p:txBody>
      </p:sp>
      <p:sp>
        <p:nvSpPr>
          <p:cNvPr id="5" name="TextBox 4"/>
          <p:cNvSpPr txBox="1"/>
          <p:nvPr/>
        </p:nvSpPr>
        <p:spPr>
          <a:xfrm>
            <a:off x="6634432" y="2110574"/>
            <a:ext cx="2270125" cy="646331"/>
          </a:xfrm>
          <a:prstGeom prst="rect">
            <a:avLst/>
          </a:prstGeom>
          <a:solidFill>
            <a:srgbClr val="FFFFCC"/>
          </a:solidFill>
          <a:effectLst>
            <a:outerShdw blurRad="50800" dist="38100" dir="2700000" algn="tl" rotWithShape="0">
              <a:prstClr val="black">
                <a:alpha val="40000"/>
              </a:prstClr>
            </a:outerShdw>
          </a:effectLst>
        </p:spPr>
        <p:txBody>
          <a:bodyPr wrap="square" rtlCol="0">
            <a:spAutoFit/>
          </a:bodyPr>
          <a:lstStyle/>
          <a:p>
            <a:r>
              <a:rPr lang="he-IL" sz="1200" dirty="0" smtClean="0">
                <a:latin typeface="Gisha" panose="020B0502040204020203" pitchFamily="34" charset="-79"/>
                <a:cs typeface="Gisha" panose="020B0502040204020203" pitchFamily="34" charset="-79"/>
              </a:rPr>
              <a:t>לפחות אחד מאברי הקבוצה האדומה עובר לפחות לאחד מאברי הקבוצה הירוקה</a:t>
            </a:r>
            <a:endParaRPr lang="en-US" sz="1200" dirty="0">
              <a:latin typeface="Gisha" panose="020B0502040204020203" pitchFamily="34" charset="-79"/>
              <a:cs typeface="Gisha" panose="020B0502040204020203" pitchFamily="34" charset="-79"/>
            </a:endParaRPr>
          </a:p>
        </p:txBody>
      </p:sp>
      <p:sp>
        <p:nvSpPr>
          <p:cNvPr id="8" name="Freeform 7"/>
          <p:cNvSpPr/>
          <p:nvPr/>
        </p:nvSpPr>
        <p:spPr>
          <a:xfrm>
            <a:off x="3838755" y="2763320"/>
            <a:ext cx="3812875" cy="1242370"/>
          </a:xfrm>
          <a:custGeom>
            <a:avLst/>
            <a:gdLst>
              <a:gd name="connsiteX0" fmla="*/ 3812875 w 3812875"/>
              <a:gd name="connsiteY0" fmla="*/ 0 h 1242370"/>
              <a:gd name="connsiteX1" fmla="*/ 2898475 w 3812875"/>
              <a:gd name="connsiteY1" fmla="*/ 862642 h 1242370"/>
              <a:gd name="connsiteX2" fmla="*/ 1276709 w 3812875"/>
              <a:gd name="connsiteY2" fmla="*/ 1147314 h 1242370"/>
              <a:gd name="connsiteX3" fmla="*/ 370936 w 3812875"/>
              <a:gd name="connsiteY3" fmla="*/ 1242204 h 1242370"/>
              <a:gd name="connsiteX4" fmla="*/ 0 w 3812875"/>
              <a:gd name="connsiteY4" fmla="*/ 1130061 h 1242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2875" h="1242370">
                <a:moveTo>
                  <a:pt x="3812875" y="0"/>
                </a:moveTo>
                <a:cubicBezTo>
                  <a:pt x="3567022" y="335711"/>
                  <a:pt x="3321169" y="671423"/>
                  <a:pt x="2898475" y="862642"/>
                </a:cubicBezTo>
                <a:cubicBezTo>
                  <a:pt x="2475781" y="1053861"/>
                  <a:pt x="1697965" y="1084054"/>
                  <a:pt x="1276709" y="1147314"/>
                </a:cubicBezTo>
                <a:cubicBezTo>
                  <a:pt x="855452" y="1210574"/>
                  <a:pt x="583721" y="1245079"/>
                  <a:pt x="370936" y="1242204"/>
                </a:cubicBezTo>
                <a:cubicBezTo>
                  <a:pt x="158151" y="1239329"/>
                  <a:pt x="79075" y="1184695"/>
                  <a:pt x="0" y="1130061"/>
                </a:cubicBezTo>
              </a:path>
            </a:pathLst>
          </a:custGeom>
          <a:noFill/>
          <a:ln w="19050">
            <a:solidFill>
              <a:schemeClr val="accent2">
                <a:lumMod val="75000"/>
              </a:schemeClr>
            </a:solidFill>
            <a:headEnd type="none" w="med" len="med"/>
            <a:tailEnd type="triangl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 y="5701690"/>
            <a:ext cx="8915400" cy="923330"/>
          </a:xfrm>
          <a:prstGeom prst="rect">
            <a:avLst/>
          </a:prstGeom>
          <a:solidFill>
            <a:srgbClr val="FFFFCC"/>
          </a:solidFill>
        </p:spPr>
        <p:txBody>
          <a:bodyPr wrap="square" rtlCol="0">
            <a:spAutoFit/>
          </a:bodyPr>
          <a:lstStyle/>
          <a:p>
            <a:pPr marL="61913"/>
            <a:r>
              <a:rPr lang="he-IL" dirty="0" smtClean="0">
                <a:solidFill>
                  <a:schemeClr val="accent2">
                    <a:lumMod val="50000"/>
                  </a:schemeClr>
                </a:solidFill>
                <a:latin typeface="Gisha" panose="020B0502040204020203" pitchFamily="34" charset="-79"/>
                <a:cs typeface="Gisha" panose="020B0502040204020203" pitchFamily="34" charset="-79"/>
              </a:rPr>
              <a:t>דוגמא: נבדוק אם קיים מסלול למצב בעייתי בגרף התוכנית. אם לא, סימנו. אחרת, נבנה נוסחה לוגית המתארת את התנאים לאורך המסלול וננסה לספק אותה. אם הצלחנו, סימנו. אחרת, נוסיף תנאי לבדיקה, וננסה שוב.</a:t>
            </a:r>
            <a:endParaRPr lang="en-US" dirty="0">
              <a:solidFill>
                <a:schemeClr val="accent2">
                  <a:lumMod val="50000"/>
                </a:schemeClr>
              </a:solidFill>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136507171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782"/>
            <a:ext cx="7772400" cy="1143000"/>
          </a:xfrm>
        </p:spPr>
        <p:txBody>
          <a:bodyPr/>
          <a:lstStyle/>
          <a:p>
            <a:r>
              <a:rPr lang="he-IL" dirty="0">
                <a:latin typeface="Gisha" panose="020B0502040204020203" pitchFamily="34" charset="-79"/>
                <a:cs typeface="Gisha" panose="020B0502040204020203" pitchFamily="34" charset="-79"/>
              </a:rPr>
              <a:t>מה עושים?</a:t>
            </a:r>
          </a:p>
        </p:txBody>
      </p:sp>
      <p:sp>
        <p:nvSpPr>
          <p:cNvPr id="3" name="Date Placeholder 2"/>
          <p:cNvSpPr>
            <a:spLocks noGrp="1"/>
          </p:cNvSpPr>
          <p:nvPr>
            <p:ph type="dt" sz="half" idx="10"/>
          </p:nvPr>
        </p:nvSpPr>
        <p:spPr/>
        <p:txBody>
          <a:bodyPr/>
          <a:lstStyle/>
          <a:p>
            <a:fld id="{A7F926B5-663A-4127-A287-7B83208B40AD}" type="datetime8">
              <a:rPr lang="he-IL" smtClean="0"/>
              <a:pPr/>
              <a:t>19 מאי 24</a:t>
            </a:fld>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11</a:t>
            </a:fld>
            <a:endParaRPr lang="he-IL" dirty="0"/>
          </a:p>
        </p:txBody>
      </p:sp>
      <p:sp>
        <p:nvSpPr>
          <p:cNvPr id="6" name="TextBox 5"/>
          <p:cNvSpPr txBox="1"/>
          <p:nvPr/>
        </p:nvSpPr>
        <p:spPr>
          <a:xfrm>
            <a:off x="76200" y="5983069"/>
            <a:ext cx="8991600" cy="646331"/>
          </a:xfrm>
          <a:prstGeom prst="rect">
            <a:avLst/>
          </a:prstGeom>
          <a:solidFill>
            <a:srgbClr val="336600"/>
          </a:solidFill>
        </p:spPr>
        <p:txBody>
          <a:bodyPr wrap="square" rtlCol="1">
            <a:spAutoFit/>
          </a:bodyPr>
          <a:lstStyle/>
          <a:p>
            <a:pPr algn="ctr"/>
            <a:r>
              <a:rPr lang="he-IL" sz="3600" dirty="0">
                <a:solidFill>
                  <a:schemeClr val="bg1"/>
                </a:solidFill>
                <a:latin typeface="Gisha" panose="020B0502040204020203" pitchFamily="34" charset="-79"/>
                <a:cs typeface="Gisha" panose="020B0502040204020203" pitchFamily="34" charset="-79"/>
              </a:rPr>
              <a:t>ייצוג קבוצות מצבים באופן סימבולי</a:t>
            </a:r>
          </a:p>
        </p:txBody>
      </p:sp>
      <mc:AlternateContent xmlns:mc="http://schemas.openxmlformats.org/markup-compatibility/2006" xmlns:a14="http://schemas.microsoft.com/office/drawing/2010/main">
        <mc:Choice Requires="a14">
          <p:sp>
            <p:nvSpPr>
              <p:cNvPr id="5" name="Rectangle 4"/>
              <p:cNvSpPr/>
              <p:nvPr/>
            </p:nvSpPr>
            <p:spPr>
              <a:xfrm>
                <a:off x="1066800" y="1828800"/>
                <a:ext cx="1143000"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rtl="0"/>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oMath>
                  </m:oMathPara>
                </a14:m>
                <a:endParaRPr lang="he-IL" dirty="0"/>
              </a:p>
            </p:txBody>
          </p:sp>
        </mc:Choice>
        <mc:Fallback xmlns="">
          <p:sp>
            <p:nvSpPr>
              <p:cNvPr id="5" name="Rectangle 4"/>
              <p:cNvSpPr>
                <a:spLocks noRot="1" noChangeAspect="1" noMove="1" noResize="1" noEditPoints="1" noAdjustHandles="1" noChangeArrowheads="1" noChangeShapeType="1" noTextEdit="1"/>
              </p:cNvSpPr>
              <p:nvPr/>
            </p:nvSpPr>
            <p:spPr>
              <a:xfrm>
                <a:off x="1066800" y="1828800"/>
                <a:ext cx="1143000" cy="4572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1066800" y="2590800"/>
                <a:ext cx="1143000"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rtl="0"/>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2</m:t>
                          </m:r>
                        </m:sub>
                      </m:sSub>
                    </m:oMath>
                  </m:oMathPara>
                </a14:m>
                <a:endParaRPr lang="he-IL" dirty="0"/>
              </a:p>
            </p:txBody>
          </p:sp>
        </mc:Choice>
        <mc:Fallback xmlns="">
          <p:sp>
            <p:nvSpPr>
              <p:cNvPr id="50" name="Rectangle 49"/>
              <p:cNvSpPr>
                <a:spLocks noRot="1" noChangeAspect="1" noMove="1" noResize="1" noEditPoints="1" noAdjustHandles="1" noChangeArrowheads="1" noChangeShapeType="1" noTextEdit="1"/>
              </p:cNvSpPr>
              <p:nvPr/>
            </p:nvSpPr>
            <p:spPr>
              <a:xfrm>
                <a:off x="1066800" y="2590800"/>
                <a:ext cx="1143000" cy="4572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p:cNvSpPr/>
              <p:nvPr/>
            </p:nvSpPr>
            <p:spPr>
              <a:xfrm>
                <a:off x="1066800" y="3352800"/>
                <a:ext cx="1143000" cy="457200"/>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1" anchor="ctr"/>
              <a:lstStyle/>
              <a:p>
                <a:pPr algn="ctr" rtl="0"/>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3</m:t>
                          </m:r>
                        </m:sub>
                      </m:sSub>
                    </m:oMath>
                  </m:oMathPara>
                </a14:m>
                <a:endParaRPr lang="he-IL" dirty="0"/>
              </a:p>
            </p:txBody>
          </p:sp>
        </mc:Choice>
        <mc:Fallback xmlns="">
          <p:sp>
            <p:nvSpPr>
              <p:cNvPr id="51" name="Rectangle 50"/>
              <p:cNvSpPr>
                <a:spLocks noRot="1" noChangeAspect="1" noMove="1" noResize="1" noEditPoints="1" noAdjustHandles="1" noChangeArrowheads="1" noChangeShapeType="1" noTextEdit="1"/>
              </p:cNvSpPr>
              <p:nvPr/>
            </p:nvSpPr>
            <p:spPr>
              <a:xfrm>
                <a:off x="1066800" y="3352800"/>
                <a:ext cx="1143000" cy="4572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p:cNvSpPr/>
              <p:nvPr/>
            </p:nvSpPr>
            <p:spPr>
              <a:xfrm>
                <a:off x="1066800" y="4114800"/>
                <a:ext cx="1143000" cy="457200"/>
              </a:xfrm>
              <a:prstGeom prst="rect">
                <a:avLst/>
              </a:prstGeom>
              <a:solidFill>
                <a:srgbClr val="C00000"/>
              </a:solidFill>
            </p:spPr>
            <p:style>
              <a:lnRef idx="1">
                <a:schemeClr val="dk1"/>
              </a:lnRef>
              <a:fillRef idx="2">
                <a:schemeClr val="dk1"/>
              </a:fillRef>
              <a:effectRef idx="1">
                <a:schemeClr val="dk1"/>
              </a:effectRef>
              <a:fontRef idx="minor">
                <a:schemeClr val="dk1"/>
              </a:fontRef>
            </p:style>
            <p:txBody>
              <a:bodyPr rtlCol="1" anchor="ctr"/>
              <a:lstStyle/>
              <a:p>
                <a:pPr algn="ctr" rtl="0"/>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𝑙</m:t>
                          </m:r>
                        </m:e>
                        <m:sub>
                          <m:r>
                            <a:rPr lang="en-US" b="0" i="1" smtClean="0">
                              <a:solidFill>
                                <a:schemeClr val="bg1"/>
                              </a:solidFill>
                              <a:latin typeface="Cambria Math" panose="02040503050406030204" pitchFamily="18" charset="0"/>
                            </a:rPr>
                            <m:t>4</m:t>
                          </m:r>
                        </m:sub>
                      </m:sSub>
                    </m:oMath>
                  </m:oMathPara>
                </a14:m>
                <a:endParaRPr lang="en-US" b="0" dirty="0">
                  <a:solidFill>
                    <a:schemeClr val="bg1"/>
                  </a:solidFill>
                </a:endParaRPr>
              </a:p>
            </p:txBody>
          </p:sp>
        </mc:Choice>
        <mc:Fallback xmlns="">
          <p:sp>
            <p:nvSpPr>
              <p:cNvPr id="52" name="Rectangle 51"/>
              <p:cNvSpPr>
                <a:spLocks noRot="1" noChangeAspect="1" noMove="1" noResize="1" noEditPoints="1" noAdjustHandles="1" noChangeArrowheads="1" noChangeShapeType="1" noTextEdit="1"/>
              </p:cNvSpPr>
              <p:nvPr/>
            </p:nvSpPr>
            <p:spPr>
              <a:xfrm>
                <a:off x="1066800" y="4114800"/>
                <a:ext cx="1143000" cy="457200"/>
              </a:xfrm>
              <a:prstGeom prst="rect">
                <a:avLst/>
              </a:prstGeom>
              <a:blipFill>
                <a:blip r:embed="rId5"/>
                <a:stretch>
                  <a:fillRect/>
                </a:stretch>
              </a:blipFill>
            </p:spPr>
            <p:txBody>
              <a:bodyPr/>
              <a:lstStyle/>
              <a:p>
                <a:r>
                  <a:rPr lang="en-US">
                    <a:noFill/>
                  </a:rPr>
                  <a:t> </a:t>
                </a:r>
              </a:p>
            </p:txBody>
          </p:sp>
        </mc:Fallback>
      </mc:AlternateContent>
      <p:cxnSp>
        <p:nvCxnSpPr>
          <p:cNvPr id="13" name="Straight Arrow Connector 12"/>
          <p:cNvCxnSpPr/>
          <p:nvPr/>
        </p:nvCxnSpPr>
        <p:spPr>
          <a:xfrm>
            <a:off x="1638300" y="22860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p:nvPr/>
        </p:nvCxnSpPr>
        <p:spPr>
          <a:xfrm>
            <a:off x="1638300" y="30480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p:cNvCxnSpPr/>
          <p:nvPr/>
        </p:nvCxnSpPr>
        <p:spPr>
          <a:xfrm>
            <a:off x="1638300" y="38100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a:off x="1641236" y="1524000"/>
            <a:ext cx="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544569" y="1124019"/>
                <a:ext cx="2574486" cy="369332"/>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 </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0" smtClean="0">
                          <a:latin typeface="Cambria Math" panose="02040503050406030204" pitchFamily="18" charset="0"/>
                        </a:rPr>
                        <m:t>10</m:t>
                      </m:r>
                    </m:oMath>
                  </m:oMathPara>
                </a14:m>
                <a:endParaRPr lang="he-IL" dirty="0"/>
              </a:p>
            </p:txBody>
          </p:sp>
        </mc:Choice>
        <mc:Fallback xmlns="">
          <p:sp>
            <p:nvSpPr>
              <p:cNvPr id="18" name="TextBox 17"/>
              <p:cNvSpPr txBox="1">
                <a:spLocks noRot="1" noChangeAspect="1" noMove="1" noResize="1" noEditPoints="1" noAdjustHandles="1" noChangeArrowheads="1" noChangeShapeType="1" noTextEdit="1"/>
              </p:cNvSpPr>
              <p:nvPr/>
            </p:nvSpPr>
            <p:spPr>
              <a:xfrm>
                <a:off x="544569" y="1124019"/>
                <a:ext cx="2574486" cy="369332"/>
              </a:xfrm>
              <a:prstGeom prst="rect">
                <a:avLst/>
              </a:prstGeom>
              <a:blipFill>
                <a:blip r:embed="rId6"/>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1608992" y="2253734"/>
                <a:ext cx="2095638" cy="369332"/>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𝑡𝑟𝑢𝑒</m:t>
                      </m:r>
                      <m:r>
                        <a:rPr lang="en-US" b="0" i="1" smtClean="0">
                          <a:latin typeface="Cambria Math" panose="02040503050406030204" pitchFamily="18" charset="0"/>
                        </a:rPr>
                        <m:t> :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10</m:t>
                      </m:r>
                    </m:oMath>
                  </m:oMathPara>
                </a14:m>
                <a:endParaRPr lang="he-IL" dirty="0"/>
              </a:p>
            </p:txBody>
          </p:sp>
        </mc:Choice>
        <mc:Fallback xmlns="">
          <p:sp>
            <p:nvSpPr>
              <p:cNvPr id="68" name="TextBox 67"/>
              <p:cNvSpPr txBox="1">
                <a:spLocks noRot="1" noChangeAspect="1" noMove="1" noResize="1" noEditPoints="1" noAdjustHandles="1" noChangeArrowheads="1" noChangeShapeType="1" noTextEdit="1"/>
              </p:cNvSpPr>
              <p:nvPr/>
            </p:nvSpPr>
            <p:spPr>
              <a:xfrm>
                <a:off x="1608992" y="2253734"/>
                <a:ext cx="2095638" cy="369332"/>
              </a:xfrm>
              <a:prstGeom prst="rect">
                <a:avLst/>
              </a:prstGeom>
              <a:blipFill>
                <a:blip r:embed="rId7"/>
                <a:stretch>
                  <a:fillRect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1608992" y="3015734"/>
                <a:ext cx="1912703" cy="369332"/>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𝑡𝑟𝑢𝑒</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1</m:t>
                      </m:r>
                    </m:oMath>
                  </m:oMathPara>
                </a14:m>
                <a:endParaRPr lang="he-IL" dirty="0"/>
              </a:p>
            </p:txBody>
          </p:sp>
        </mc:Choice>
        <mc:Fallback xmlns="">
          <p:sp>
            <p:nvSpPr>
              <p:cNvPr id="69" name="TextBox 68"/>
              <p:cNvSpPr txBox="1">
                <a:spLocks noRot="1" noChangeAspect="1" noMove="1" noResize="1" noEditPoints="1" noAdjustHandles="1" noChangeArrowheads="1" noChangeShapeType="1" noTextEdit="1"/>
              </p:cNvSpPr>
              <p:nvPr/>
            </p:nvSpPr>
            <p:spPr>
              <a:xfrm>
                <a:off x="1608992" y="3015734"/>
                <a:ext cx="1912703"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1608992" y="3777734"/>
                <a:ext cx="1841081" cy="369332"/>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h</m:t>
                      </m:r>
                      <m:r>
                        <a:rPr lang="en-US" b="0" i="1" smtClean="0">
                          <a:latin typeface="Cambria Math" panose="02040503050406030204" pitchFamily="18" charset="0"/>
                        </a:rPr>
                        <m:t>𝑖𝑛𝑔</m:t>
                      </m:r>
                    </m:oMath>
                  </m:oMathPara>
                </a14:m>
                <a:endParaRPr lang="he-IL" dirty="0"/>
              </a:p>
            </p:txBody>
          </p:sp>
        </mc:Choice>
        <mc:Fallback xmlns="">
          <p:sp>
            <p:nvSpPr>
              <p:cNvPr id="70" name="TextBox 69"/>
              <p:cNvSpPr txBox="1">
                <a:spLocks noRot="1" noChangeAspect="1" noMove="1" noResize="1" noEditPoints="1" noAdjustHandles="1" noChangeArrowheads="1" noChangeShapeType="1" noTextEdit="1"/>
              </p:cNvSpPr>
              <p:nvPr/>
            </p:nvSpPr>
            <p:spPr>
              <a:xfrm>
                <a:off x="1608992" y="3777734"/>
                <a:ext cx="1841081" cy="369332"/>
              </a:xfrm>
              <a:prstGeom prst="rect">
                <a:avLst/>
              </a:prstGeom>
              <a:blipFill>
                <a:blip r:embed="rId9"/>
                <a:stretch>
                  <a:fillRect b="-11667"/>
                </a:stretch>
              </a:blipFill>
            </p:spPr>
            <p:txBody>
              <a:bodyPr/>
              <a:lstStyle/>
              <a:p>
                <a:r>
                  <a:rPr lang="en-US">
                    <a:noFill/>
                  </a:rPr>
                  <a:t> </a:t>
                </a:r>
              </a:p>
            </p:txBody>
          </p:sp>
        </mc:Fallback>
      </mc:AlternateContent>
      <p:sp>
        <p:nvSpPr>
          <p:cNvPr id="19" name="TextBox 18"/>
          <p:cNvSpPr txBox="1"/>
          <p:nvPr/>
        </p:nvSpPr>
        <p:spPr>
          <a:xfrm>
            <a:off x="762000" y="4648200"/>
            <a:ext cx="2139625" cy="369332"/>
          </a:xfrm>
          <a:prstGeom prst="rect">
            <a:avLst/>
          </a:prstGeom>
          <a:noFill/>
        </p:spPr>
        <p:txBody>
          <a:bodyPr wrap="none" rtlCol="1">
            <a:spAutoFit/>
          </a:bodyPr>
          <a:lstStyle/>
          <a:p>
            <a:pPr algn="l" rtl="0"/>
            <a:r>
              <a:rPr lang="en-US" dirty="0">
                <a:solidFill>
                  <a:srgbClr val="FF0000"/>
                </a:solidFill>
                <a:latin typeface="Gisha" panose="020B0502040204020203" pitchFamily="34" charset="-79"/>
                <a:cs typeface="Gisha" panose="020B0502040204020203" pitchFamily="34" charset="-79"/>
              </a:rPr>
              <a:t>Assertion violation</a:t>
            </a:r>
            <a:endParaRPr lang="he-IL" dirty="0">
              <a:solidFill>
                <a:srgbClr val="FF0000"/>
              </a:solidFill>
              <a:latin typeface="Gisha" panose="020B0502040204020203" pitchFamily="34" charset="-79"/>
              <a:cs typeface="Gisha" panose="020B0502040204020203" pitchFamily="34" charset="-79"/>
            </a:endParaRPr>
          </a:p>
        </p:txBody>
      </p:sp>
      <mc:AlternateContent xmlns:mc="http://schemas.openxmlformats.org/markup-compatibility/2006" xmlns:a14="http://schemas.microsoft.com/office/drawing/2010/main">
        <mc:Choice Requires="a14">
          <p:sp>
            <p:nvSpPr>
              <p:cNvPr id="20" name="Double Wave 19"/>
              <p:cNvSpPr/>
              <p:nvPr/>
            </p:nvSpPr>
            <p:spPr>
              <a:xfrm>
                <a:off x="5591175" y="4800600"/>
                <a:ext cx="1543050" cy="762000"/>
              </a:xfrm>
              <a:prstGeom prst="doubleWave">
                <a:avLst/>
              </a:prstGeom>
              <a:solidFill>
                <a:srgbClr val="CDF2FF"/>
              </a:solidFill>
              <a:ln w="28575">
                <a:solidFill>
                  <a:srgbClr val="002060"/>
                </a:solidFill>
              </a:ln>
            </p:spPr>
            <p:style>
              <a:lnRef idx="1">
                <a:schemeClr val="accent2"/>
              </a:lnRef>
              <a:fillRef idx="2">
                <a:schemeClr val="accent2"/>
              </a:fillRef>
              <a:effectRef idx="1">
                <a:schemeClr val="accent2"/>
              </a:effectRef>
              <a:fontRef idx="minor">
                <a:schemeClr val="dk1"/>
              </a:fontRef>
            </p:style>
            <p:txBody>
              <a:bodyPr rtlCol="1" anchor="ctr"/>
              <a:lstStyle/>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𝑎𝑡</m:t>
                      </m:r>
                      <m:r>
                        <m:rPr>
                          <m:lit/>
                        </m:rPr>
                        <a:rPr lang="en-US" b="0" i="1" smtClean="0">
                          <a:solidFill>
                            <a:srgbClr val="002060"/>
                          </a:solidFill>
                          <a:latin typeface="Cambria Math" panose="02040503050406030204" pitchFamily="18" charset="0"/>
                        </a:rPr>
                        <m:t>_</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𝑙</m:t>
                          </m:r>
                        </m:e>
                        <m:sub>
                          <m:r>
                            <a:rPr lang="en-US" b="0" i="1" smtClean="0">
                              <a:solidFill>
                                <a:srgbClr val="002060"/>
                              </a:solidFill>
                              <a:latin typeface="Cambria Math" panose="02040503050406030204" pitchFamily="18" charset="0"/>
                            </a:rPr>
                            <m:t>4</m:t>
                          </m:r>
                        </m:sub>
                      </m:sSub>
                    </m:oMath>
                  </m:oMathPara>
                </a14:m>
                <a:endParaRPr lang="he-IL" dirty="0">
                  <a:solidFill>
                    <a:srgbClr val="002060"/>
                  </a:solidFill>
                </a:endParaRPr>
              </a:p>
            </p:txBody>
          </p:sp>
        </mc:Choice>
        <mc:Fallback xmlns="">
          <p:sp>
            <p:nvSpPr>
              <p:cNvPr id="20" name="Double Wave 19"/>
              <p:cNvSpPr>
                <a:spLocks noRot="1" noChangeAspect="1" noMove="1" noResize="1" noEditPoints="1" noAdjustHandles="1" noChangeArrowheads="1" noChangeShapeType="1" noTextEdit="1"/>
              </p:cNvSpPr>
              <p:nvPr/>
            </p:nvSpPr>
            <p:spPr>
              <a:xfrm>
                <a:off x="5591175" y="4800600"/>
                <a:ext cx="1543050" cy="762000"/>
              </a:xfrm>
              <a:prstGeom prst="doubleWave">
                <a:avLst/>
              </a:prstGeom>
              <a:blipFill>
                <a:blip r:embed="rId10"/>
                <a:stretch>
                  <a:fillRect/>
                </a:stretch>
              </a:blipFill>
              <a:ln w="28575">
                <a:solidFill>
                  <a:srgbClr val="002060"/>
                </a:solidFill>
              </a:ln>
            </p:spPr>
            <p:txBody>
              <a:bodyPr/>
              <a:lstStyle/>
              <a:p>
                <a:r>
                  <a:rPr lang="en-US">
                    <a:noFill/>
                  </a:rPr>
                  <a:t> </a:t>
                </a:r>
              </a:p>
            </p:txBody>
          </p:sp>
        </mc:Fallback>
      </mc:AlternateContent>
      <p:grpSp>
        <p:nvGrpSpPr>
          <p:cNvPr id="28" name="Group 27"/>
          <p:cNvGrpSpPr/>
          <p:nvPr/>
        </p:nvGrpSpPr>
        <p:grpSpPr>
          <a:xfrm>
            <a:off x="5334000" y="3721588"/>
            <a:ext cx="2057400" cy="1126637"/>
            <a:chOff x="5334000" y="3479800"/>
            <a:chExt cx="2057400" cy="1126637"/>
          </a:xfrm>
          <a:solidFill>
            <a:srgbClr val="CDF2FF"/>
          </a:solidFill>
        </p:grpSpPr>
        <p:cxnSp>
          <p:nvCxnSpPr>
            <p:cNvPr id="22" name="Straight Arrow Connector 21"/>
            <p:cNvCxnSpPr/>
            <p:nvPr/>
          </p:nvCxnSpPr>
          <p:spPr>
            <a:xfrm flipH="1">
              <a:off x="6353908" y="4110404"/>
              <a:ext cx="2931" cy="496033"/>
            </a:xfrm>
            <a:prstGeom prst="straightConnector1">
              <a:avLst/>
            </a:prstGeom>
            <a:grpFill/>
            <a:ln w="28575">
              <a:solidFill>
                <a:srgbClr val="002060"/>
              </a:solidFill>
              <a:tailEnd type="triangle"/>
            </a:ln>
          </p:spPr>
          <p:style>
            <a:lnRef idx="1">
              <a:schemeClr val="accent2"/>
            </a:lnRef>
            <a:fillRef idx="2">
              <a:schemeClr val="accent2"/>
            </a:fillRef>
            <a:effectRef idx="1">
              <a:schemeClr val="accent2"/>
            </a:effectRef>
            <a:fontRef idx="minor">
              <a:schemeClr val="dk1"/>
            </a:fontRef>
          </p:style>
        </p:cxnSp>
        <mc:AlternateContent xmlns:mc="http://schemas.openxmlformats.org/markup-compatibility/2006" xmlns:a14="http://schemas.microsoft.com/office/drawing/2010/main">
          <mc:Choice Requires="a14">
            <p:sp>
              <p:nvSpPr>
                <p:cNvPr id="73" name="Double Wave 72"/>
                <p:cNvSpPr/>
                <p:nvPr/>
              </p:nvSpPr>
              <p:spPr>
                <a:xfrm>
                  <a:off x="5334000" y="3479800"/>
                  <a:ext cx="2057400" cy="838200"/>
                </a:xfrm>
                <a:prstGeom prst="doubleWave">
                  <a:avLst/>
                </a:prstGeom>
                <a:grpFill/>
                <a:ln w="28575">
                  <a:solidFill>
                    <a:srgbClr val="002060"/>
                  </a:solidFill>
                </a:ln>
              </p:spPr>
              <p:style>
                <a:lnRef idx="1">
                  <a:schemeClr val="accent2"/>
                </a:lnRef>
                <a:fillRef idx="2">
                  <a:schemeClr val="accent2"/>
                </a:fillRef>
                <a:effectRef idx="1">
                  <a:schemeClr val="accent2"/>
                </a:effectRef>
                <a:fontRef idx="minor">
                  <a:schemeClr val="dk1"/>
                </a:fontRef>
              </p:style>
              <p:txBody>
                <a:bodyPr rtlCol="1" anchor="ctr"/>
                <a:lstStyle/>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𝑎𝑡</m:t>
                        </m:r>
                        <m:r>
                          <m:rPr>
                            <m:lit/>
                          </m:rPr>
                          <a:rPr lang="en-US" b="0" i="1" smtClean="0">
                            <a:solidFill>
                              <a:srgbClr val="002060"/>
                            </a:solidFill>
                            <a:latin typeface="Cambria Math" panose="02040503050406030204" pitchFamily="18" charset="0"/>
                          </a:rPr>
                          <m:t>_</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𝑙</m:t>
                            </m:r>
                          </m:e>
                          <m:sub>
                            <m:r>
                              <a:rPr lang="en-US" b="0" i="1" smtClean="0">
                                <a:solidFill>
                                  <a:srgbClr val="002060"/>
                                </a:solidFill>
                                <a:latin typeface="Cambria Math" panose="02040503050406030204" pitchFamily="18" charset="0"/>
                              </a:rPr>
                              <m:t>3</m:t>
                            </m:r>
                          </m:sub>
                        </m:sSub>
                      </m:oMath>
                    </m:oMathPara>
                  </a14:m>
                  <a:endParaRPr lang="en-US" b="0" dirty="0">
                    <a:solidFill>
                      <a:srgbClr val="002060"/>
                    </a:solidFill>
                  </a:endParaRPr>
                </a:p>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𝑥</m:t>
                        </m:r>
                        <m:r>
                          <a:rPr lang="en-US" b="0" i="1" smtClean="0">
                            <a:solidFill>
                              <a:srgbClr val="002060"/>
                            </a:solidFill>
                            <a:latin typeface="Cambria Math" panose="02040503050406030204" pitchFamily="18" charset="0"/>
                          </a:rPr>
                          <m:t>&gt;</m:t>
                        </m:r>
                        <m:r>
                          <a:rPr lang="en-US" b="0" i="1" smtClean="0">
                            <a:solidFill>
                              <a:srgbClr val="002060"/>
                            </a:solidFill>
                            <a:latin typeface="Cambria Math" panose="02040503050406030204" pitchFamily="18" charset="0"/>
                          </a:rPr>
                          <m:t>𝑦</m:t>
                        </m:r>
                      </m:oMath>
                    </m:oMathPara>
                  </a14:m>
                  <a:endParaRPr lang="he-IL" dirty="0">
                    <a:solidFill>
                      <a:srgbClr val="002060"/>
                    </a:solidFill>
                  </a:endParaRPr>
                </a:p>
              </p:txBody>
            </p:sp>
          </mc:Choice>
          <mc:Fallback xmlns="">
            <p:sp>
              <p:nvSpPr>
                <p:cNvPr id="73" name="Double Wave 72"/>
                <p:cNvSpPr>
                  <a:spLocks noRot="1" noChangeAspect="1" noMove="1" noResize="1" noEditPoints="1" noAdjustHandles="1" noChangeArrowheads="1" noChangeShapeType="1" noTextEdit="1"/>
                </p:cNvSpPr>
                <p:nvPr/>
              </p:nvSpPr>
              <p:spPr>
                <a:xfrm>
                  <a:off x="5334000" y="3479800"/>
                  <a:ext cx="2057400" cy="838200"/>
                </a:xfrm>
                <a:prstGeom prst="doubleWave">
                  <a:avLst/>
                </a:prstGeom>
                <a:blipFill rotWithShape="0">
                  <a:blip r:embed="rId11"/>
                  <a:stretch>
                    <a:fillRect/>
                  </a:stretch>
                </a:blipFill>
                <a:ln w="28575">
                  <a:solidFill>
                    <a:srgbClr val="002060"/>
                  </a:solidFill>
                </a:ln>
              </p:spPr>
              <p:txBody>
                <a:bodyPr/>
                <a:lstStyle/>
                <a:p>
                  <a:r>
                    <a:rPr lang="he-IL">
                      <a:noFill/>
                    </a:rPr>
                    <a:t> </a:t>
                  </a:r>
                </a:p>
              </p:txBody>
            </p:sp>
          </mc:Fallback>
        </mc:AlternateContent>
      </p:grpSp>
      <p:grpSp>
        <p:nvGrpSpPr>
          <p:cNvPr id="29" name="Group 28"/>
          <p:cNvGrpSpPr/>
          <p:nvPr/>
        </p:nvGrpSpPr>
        <p:grpSpPr>
          <a:xfrm>
            <a:off x="5257800" y="2588602"/>
            <a:ext cx="2209800" cy="1193800"/>
            <a:chOff x="5105400" y="2387600"/>
            <a:chExt cx="2209800" cy="1193800"/>
          </a:xfrm>
          <a:solidFill>
            <a:srgbClr val="CDF2FF"/>
          </a:solidFill>
        </p:grpSpPr>
        <p:cxnSp>
          <p:nvCxnSpPr>
            <p:cNvPr id="83" name="Straight Arrow Connector 82"/>
            <p:cNvCxnSpPr/>
            <p:nvPr/>
          </p:nvCxnSpPr>
          <p:spPr>
            <a:xfrm>
              <a:off x="6186856" y="2913184"/>
              <a:ext cx="0" cy="668216"/>
            </a:xfrm>
            <a:prstGeom prst="straightConnector1">
              <a:avLst/>
            </a:prstGeom>
            <a:grpFill/>
            <a:ln w="28575">
              <a:solidFill>
                <a:srgbClr val="002060"/>
              </a:solidFill>
              <a:tailEnd type="triangle"/>
            </a:ln>
          </p:spPr>
          <p:style>
            <a:lnRef idx="1">
              <a:schemeClr val="accent2"/>
            </a:lnRef>
            <a:fillRef idx="2">
              <a:schemeClr val="accent2"/>
            </a:fillRef>
            <a:effectRef idx="1">
              <a:schemeClr val="accent2"/>
            </a:effectRef>
            <a:fontRef idx="minor">
              <a:schemeClr val="dk1"/>
            </a:fontRef>
          </p:style>
        </p:cxnSp>
        <mc:AlternateContent xmlns:mc="http://schemas.openxmlformats.org/markup-compatibility/2006" xmlns:a14="http://schemas.microsoft.com/office/drawing/2010/main">
          <mc:Choice Requires="a14">
            <p:sp>
              <p:nvSpPr>
                <p:cNvPr id="74" name="Double Wave 73"/>
                <p:cNvSpPr/>
                <p:nvPr/>
              </p:nvSpPr>
              <p:spPr>
                <a:xfrm>
                  <a:off x="5105400" y="2387600"/>
                  <a:ext cx="2209800" cy="838200"/>
                </a:xfrm>
                <a:prstGeom prst="doubleWave">
                  <a:avLst/>
                </a:prstGeom>
                <a:grpFill/>
                <a:ln w="28575">
                  <a:solidFill>
                    <a:srgbClr val="002060"/>
                  </a:solidFill>
                </a:ln>
              </p:spPr>
              <p:style>
                <a:lnRef idx="1">
                  <a:schemeClr val="accent2"/>
                </a:lnRef>
                <a:fillRef idx="2">
                  <a:schemeClr val="accent2"/>
                </a:fillRef>
                <a:effectRef idx="1">
                  <a:schemeClr val="accent2"/>
                </a:effectRef>
                <a:fontRef idx="minor">
                  <a:schemeClr val="dk1"/>
                </a:fontRef>
              </p:style>
              <p:txBody>
                <a:bodyPr rtlCol="1" anchor="ctr"/>
                <a:lstStyle/>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𝑎𝑡</m:t>
                        </m:r>
                        <m:r>
                          <m:rPr>
                            <m:lit/>
                          </m:rPr>
                          <a:rPr lang="en-US" b="0" i="1" smtClean="0">
                            <a:solidFill>
                              <a:srgbClr val="002060"/>
                            </a:solidFill>
                            <a:latin typeface="Cambria Math" panose="02040503050406030204" pitchFamily="18" charset="0"/>
                          </a:rPr>
                          <m:t>_</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𝑙</m:t>
                            </m:r>
                          </m:e>
                          <m:sub>
                            <m:r>
                              <a:rPr lang="en-US" b="0" i="1" smtClean="0">
                                <a:solidFill>
                                  <a:srgbClr val="002060"/>
                                </a:solidFill>
                                <a:latin typeface="Cambria Math" panose="02040503050406030204" pitchFamily="18" charset="0"/>
                              </a:rPr>
                              <m:t>2</m:t>
                            </m:r>
                          </m:sub>
                        </m:sSub>
                      </m:oMath>
                    </m:oMathPara>
                  </a14:m>
                  <a:endParaRPr lang="en-US" b="0" dirty="0">
                    <a:solidFill>
                      <a:srgbClr val="002060"/>
                    </a:solidFill>
                  </a:endParaRPr>
                </a:p>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𝑥</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1</m:t>
                        </m:r>
                        <m:r>
                          <a:rPr lang="en-US" b="0" i="1" smtClean="0">
                            <a:solidFill>
                              <a:srgbClr val="002060"/>
                            </a:solidFill>
                            <a:latin typeface="Cambria Math" panose="02040503050406030204" pitchFamily="18" charset="0"/>
                          </a:rPr>
                          <m:t>&gt;</m:t>
                        </m:r>
                        <m:r>
                          <a:rPr lang="en-US" b="0" i="1" smtClean="0">
                            <a:solidFill>
                              <a:srgbClr val="002060"/>
                            </a:solidFill>
                            <a:latin typeface="Cambria Math" panose="02040503050406030204" pitchFamily="18" charset="0"/>
                          </a:rPr>
                          <m:t>𝑦</m:t>
                        </m:r>
                      </m:oMath>
                    </m:oMathPara>
                  </a14:m>
                  <a:endParaRPr lang="he-IL" dirty="0">
                    <a:solidFill>
                      <a:srgbClr val="002060"/>
                    </a:solidFill>
                  </a:endParaRPr>
                </a:p>
              </p:txBody>
            </p:sp>
          </mc:Choice>
          <mc:Fallback xmlns="">
            <p:sp>
              <p:nvSpPr>
                <p:cNvPr id="74" name="Double Wave 73"/>
                <p:cNvSpPr>
                  <a:spLocks noRot="1" noChangeAspect="1" noMove="1" noResize="1" noEditPoints="1" noAdjustHandles="1" noChangeArrowheads="1" noChangeShapeType="1" noTextEdit="1"/>
                </p:cNvSpPr>
                <p:nvPr/>
              </p:nvSpPr>
              <p:spPr>
                <a:xfrm>
                  <a:off x="5105400" y="2387600"/>
                  <a:ext cx="2209800" cy="838200"/>
                </a:xfrm>
                <a:prstGeom prst="doubleWave">
                  <a:avLst/>
                </a:prstGeom>
                <a:blipFill rotWithShape="0">
                  <a:blip r:embed="rId12"/>
                  <a:stretch>
                    <a:fillRect/>
                  </a:stretch>
                </a:blipFill>
                <a:ln w="28575">
                  <a:solidFill>
                    <a:srgbClr val="002060"/>
                  </a:solidFill>
                </a:ln>
              </p:spPr>
              <p:txBody>
                <a:bodyPr/>
                <a:lstStyle/>
                <a:p>
                  <a:r>
                    <a:rPr lang="he-IL">
                      <a:noFill/>
                    </a:rPr>
                    <a:t> </a:t>
                  </a:r>
                </a:p>
              </p:txBody>
            </p:sp>
          </mc:Fallback>
        </mc:AlternateContent>
      </p:grpSp>
      <p:grpSp>
        <p:nvGrpSpPr>
          <p:cNvPr id="30" name="Group 29"/>
          <p:cNvGrpSpPr/>
          <p:nvPr/>
        </p:nvGrpSpPr>
        <p:grpSpPr>
          <a:xfrm>
            <a:off x="4953000" y="1524000"/>
            <a:ext cx="2819400" cy="1125416"/>
            <a:chOff x="4953000" y="1295400"/>
            <a:chExt cx="2819400" cy="1125416"/>
          </a:xfrm>
          <a:solidFill>
            <a:srgbClr val="CDF2FF"/>
          </a:solidFill>
        </p:grpSpPr>
        <p:cxnSp>
          <p:nvCxnSpPr>
            <p:cNvPr id="86" name="Straight Arrow Connector 85"/>
            <p:cNvCxnSpPr/>
            <p:nvPr/>
          </p:nvCxnSpPr>
          <p:spPr>
            <a:xfrm>
              <a:off x="6309944" y="1752600"/>
              <a:ext cx="0" cy="668216"/>
            </a:xfrm>
            <a:prstGeom prst="straightConnector1">
              <a:avLst/>
            </a:prstGeom>
            <a:grpFill/>
            <a:ln w="28575">
              <a:solidFill>
                <a:srgbClr val="002060"/>
              </a:solidFill>
              <a:tailEnd type="triangle"/>
            </a:ln>
          </p:spPr>
          <p:style>
            <a:lnRef idx="1">
              <a:schemeClr val="accent2"/>
            </a:lnRef>
            <a:fillRef idx="2">
              <a:schemeClr val="accent2"/>
            </a:fillRef>
            <a:effectRef idx="1">
              <a:schemeClr val="accent2"/>
            </a:effectRef>
            <a:fontRef idx="minor">
              <a:schemeClr val="dk1"/>
            </a:fontRef>
          </p:style>
        </p:cxnSp>
        <mc:AlternateContent xmlns:mc="http://schemas.openxmlformats.org/markup-compatibility/2006" xmlns:a14="http://schemas.microsoft.com/office/drawing/2010/main">
          <mc:Choice Requires="a14">
            <p:sp>
              <p:nvSpPr>
                <p:cNvPr id="77" name="Double Wave 76"/>
                <p:cNvSpPr/>
                <p:nvPr/>
              </p:nvSpPr>
              <p:spPr>
                <a:xfrm>
                  <a:off x="4953000" y="1295400"/>
                  <a:ext cx="2819400" cy="838200"/>
                </a:xfrm>
                <a:prstGeom prst="doubleWave">
                  <a:avLst/>
                </a:prstGeom>
                <a:grpFill/>
                <a:ln w="28575">
                  <a:solidFill>
                    <a:srgbClr val="002060"/>
                  </a:solidFill>
                </a:ln>
              </p:spPr>
              <p:style>
                <a:lnRef idx="1">
                  <a:schemeClr val="accent2"/>
                </a:lnRef>
                <a:fillRef idx="2">
                  <a:schemeClr val="accent2"/>
                </a:fillRef>
                <a:effectRef idx="1">
                  <a:schemeClr val="accent2"/>
                </a:effectRef>
                <a:fontRef idx="minor">
                  <a:schemeClr val="dk1"/>
                </a:fontRef>
              </p:style>
              <p:txBody>
                <a:bodyPr rtlCol="1" anchor="ctr"/>
                <a:lstStyle/>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𝑎𝑡</m:t>
                        </m:r>
                        <m:r>
                          <m:rPr>
                            <m:lit/>
                          </m:rPr>
                          <a:rPr lang="en-US" b="0" i="1" smtClean="0">
                            <a:solidFill>
                              <a:srgbClr val="002060"/>
                            </a:solidFill>
                            <a:latin typeface="Cambria Math" panose="02040503050406030204" pitchFamily="18" charset="0"/>
                          </a:rPr>
                          <m:t>_</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𝑙</m:t>
                            </m:r>
                          </m:e>
                          <m:sub>
                            <m:r>
                              <a:rPr lang="en-US" b="0" i="1" smtClean="0">
                                <a:solidFill>
                                  <a:srgbClr val="002060"/>
                                </a:solidFill>
                                <a:latin typeface="Cambria Math" panose="02040503050406030204" pitchFamily="18" charset="0"/>
                              </a:rPr>
                              <m:t>1</m:t>
                            </m:r>
                          </m:sub>
                        </m:sSub>
                      </m:oMath>
                    </m:oMathPara>
                  </a14:m>
                  <a:endParaRPr lang="en-US" b="0" dirty="0">
                    <a:solidFill>
                      <a:srgbClr val="002060"/>
                    </a:solidFill>
                  </a:endParaRPr>
                </a:p>
                <a:p>
                  <a:pPr algn="ctr" rtl="0"/>
                  <a14:m>
                    <m:oMathPara xmlns:m="http://schemas.openxmlformats.org/officeDocument/2006/math">
                      <m:oMathParaPr>
                        <m:jc m:val="center"/>
                      </m:oMathParaPr>
                      <m:oMath xmlns:m="http://schemas.openxmlformats.org/officeDocument/2006/math">
                        <m:r>
                          <a:rPr lang="en-US" b="0" i="1" smtClean="0">
                            <a:solidFill>
                              <a:srgbClr val="002060"/>
                            </a:solidFill>
                            <a:latin typeface="Cambria Math" panose="02040503050406030204" pitchFamily="18" charset="0"/>
                          </a:rPr>
                          <m:t>𝑥</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1</m:t>
                        </m:r>
                        <m:r>
                          <a:rPr lang="en-US" b="0" i="1" smtClean="0">
                            <a:solidFill>
                              <a:srgbClr val="002060"/>
                            </a:solidFill>
                            <a:latin typeface="Cambria Math" panose="02040503050406030204" pitchFamily="18" charset="0"/>
                          </a:rPr>
                          <m:t>&gt;</m:t>
                        </m:r>
                        <m:r>
                          <a:rPr lang="en-US" b="0" i="1" smtClean="0">
                            <a:solidFill>
                              <a:srgbClr val="002060"/>
                            </a:solidFill>
                            <a:latin typeface="Cambria Math" panose="02040503050406030204" pitchFamily="18" charset="0"/>
                          </a:rPr>
                          <m:t>𝑦</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10</m:t>
                        </m:r>
                      </m:oMath>
                    </m:oMathPara>
                  </a14:m>
                  <a:endParaRPr lang="he-IL" dirty="0">
                    <a:solidFill>
                      <a:srgbClr val="002060"/>
                    </a:solidFill>
                  </a:endParaRPr>
                </a:p>
              </p:txBody>
            </p:sp>
          </mc:Choice>
          <mc:Fallback xmlns="">
            <p:sp>
              <p:nvSpPr>
                <p:cNvPr id="77" name="Double Wave 76"/>
                <p:cNvSpPr>
                  <a:spLocks noRot="1" noChangeAspect="1" noMove="1" noResize="1" noEditPoints="1" noAdjustHandles="1" noChangeArrowheads="1" noChangeShapeType="1" noTextEdit="1"/>
                </p:cNvSpPr>
                <p:nvPr/>
              </p:nvSpPr>
              <p:spPr>
                <a:xfrm>
                  <a:off x="4953000" y="1295400"/>
                  <a:ext cx="2819400" cy="838200"/>
                </a:xfrm>
                <a:prstGeom prst="doubleWave">
                  <a:avLst/>
                </a:prstGeom>
                <a:blipFill rotWithShape="0">
                  <a:blip r:embed="rId13"/>
                  <a:stretch>
                    <a:fillRect/>
                  </a:stretch>
                </a:blipFill>
                <a:ln w="28575">
                  <a:solidFill>
                    <a:srgbClr val="002060"/>
                  </a:solidFill>
                </a:ln>
              </p:spPr>
              <p:txBody>
                <a:bodyPr/>
                <a:lstStyle/>
                <a:p>
                  <a:r>
                    <a:rPr lang="he-IL">
                      <a:noFill/>
                    </a:rPr>
                    <a:t> </a:t>
                  </a:r>
                </a:p>
              </p:txBody>
            </p:sp>
          </mc:Fallback>
        </mc:AlternateContent>
      </p:grpSp>
      <p:grpSp>
        <p:nvGrpSpPr>
          <p:cNvPr id="11" name="Group 10"/>
          <p:cNvGrpSpPr/>
          <p:nvPr/>
        </p:nvGrpSpPr>
        <p:grpSpPr>
          <a:xfrm>
            <a:off x="4419600" y="456330"/>
            <a:ext cx="4036682" cy="1037021"/>
            <a:chOff x="4419600" y="227730"/>
            <a:chExt cx="4036682" cy="1037021"/>
          </a:xfrm>
        </p:grpSpPr>
        <p:sp>
          <p:nvSpPr>
            <p:cNvPr id="8" name="TextBox 7"/>
            <p:cNvSpPr txBox="1"/>
            <p:nvPr/>
          </p:nvSpPr>
          <p:spPr>
            <a:xfrm>
              <a:off x="4419600" y="895419"/>
              <a:ext cx="4036682" cy="369332"/>
            </a:xfrm>
            <a:prstGeom prst="rect">
              <a:avLst/>
            </a:prstGeom>
            <a:noFill/>
          </p:spPr>
          <p:txBody>
            <a:bodyPr wrap="none" rtlCol="0">
              <a:spAutoFit/>
            </a:bodyPr>
            <a:lstStyle/>
            <a:p>
              <a:r>
                <a:rPr lang="he-IL" dirty="0" smtClean="0">
                  <a:solidFill>
                    <a:srgbClr val="336600"/>
                  </a:solidFill>
                  <a:latin typeface="Gisha" panose="020B0502040204020203" pitchFamily="34" charset="-79"/>
                  <a:cs typeface="Gisha" panose="020B0502040204020203" pitchFamily="34" charset="-79"/>
                </a:rPr>
                <a:t>לא אפשרי עם תנאי ההתחלה של התוכנית</a:t>
              </a:r>
              <a:endParaRPr lang="en-US" dirty="0">
                <a:solidFill>
                  <a:srgbClr val="336600"/>
                </a:solidFill>
                <a:latin typeface="Gisha" panose="020B0502040204020203" pitchFamily="34" charset="-79"/>
                <a:cs typeface="Gisha" panose="020B0502040204020203" pitchFamily="34" charset="-79"/>
              </a:endParaRPr>
            </a:p>
          </p:txBody>
        </p:sp>
        <p:pic>
          <p:nvPicPr>
            <p:cNvPr id="10" name="Picture 9"/>
            <p:cNvPicPr>
              <a:picLocks noChangeAspect="1"/>
            </p:cNvPicPr>
            <p:nvPr/>
          </p:nvPicPr>
          <p:blipFill>
            <a:blip r:embed="rId14">
              <a:clrChange>
                <a:clrFrom>
                  <a:srgbClr val="F3FFFF"/>
                </a:clrFrom>
                <a:clrTo>
                  <a:srgbClr val="F3FFFF">
                    <a:alpha val="0"/>
                  </a:srgbClr>
                </a:clrTo>
              </a:clrChange>
              <a:extLst>
                <a:ext uri="{BEBA8EAE-BF5A-486C-A8C5-ECC9F3942E4B}">
                  <a14:imgProps xmlns:a14="http://schemas.microsoft.com/office/drawing/2010/main">
                    <a14:imgLayer r:embed="rId15">
                      <a14:imgEffect>
                        <a14:colorTemperature colorTemp="5300"/>
                      </a14:imgEffect>
                    </a14:imgLayer>
                  </a14:imgProps>
                </a:ext>
              </a:extLst>
            </a:blip>
            <a:stretch>
              <a:fillRect/>
            </a:stretch>
          </p:blipFill>
          <p:spPr>
            <a:xfrm>
              <a:off x="6698576" y="227730"/>
              <a:ext cx="692824" cy="692824"/>
            </a:xfrm>
            <a:prstGeom prst="rect">
              <a:avLst/>
            </a:prstGeom>
          </p:spPr>
        </p:pic>
      </p:grpSp>
    </p:spTree>
    <p:extLst>
      <p:ext uri="{BB962C8B-B14F-4D97-AF65-F5344CB8AC3E}">
        <p14:creationId xmlns:p14="http://schemas.microsoft.com/office/powerpoint/2010/main" val="15442423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174" y="-76200"/>
            <a:ext cx="8057626" cy="1143000"/>
          </a:xfrm>
        </p:spPr>
        <p:txBody>
          <a:bodyPr/>
          <a:lstStyle/>
          <a:p>
            <a:r>
              <a:rPr lang="he-IL" dirty="0">
                <a:latin typeface="Gisha" panose="020B0502040204020203" pitchFamily="34" charset="-79"/>
                <a:cs typeface="Gisha" panose="020B0502040204020203" pitchFamily="34" charset="-79"/>
              </a:rPr>
              <a:t>סיכום פרק ראשון</a:t>
            </a:r>
            <a:endParaRPr lang="en-US" dirty="0">
              <a:latin typeface="Gisha" panose="020B0502040204020203" pitchFamily="34" charset="-79"/>
              <a:cs typeface="Gisha" panose="020B0502040204020203" pitchFamily="34" charset="-79"/>
            </a:endParaRPr>
          </a:p>
        </p:txBody>
      </p:sp>
      <p:sp>
        <p:nvSpPr>
          <p:cNvPr id="3" name="Date Placeholder 2"/>
          <p:cNvSpPr>
            <a:spLocks noGrp="1"/>
          </p:cNvSpPr>
          <p:nvPr>
            <p:ph type="dt" sz="half" idx="10"/>
          </p:nvPr>
        </p:nvSpPr>
        <p:spPr>
          <a:xfrm>
            <a:off x="6576619" y="6858000"/>
            <a:ext cx="2567381" cy="476250"/>
          </a:xfrm>
        </p:spPr>
        <p:txBody>
          <a:bodyPr/>
          <a:lstStyle/>
          <a:p>
            <a:fld id="{A7F926B5-663A-4127-A287-7B83208B40AD}" type="datetime8">
              <a:rPr lang="he-IL" smtClean="0">
                <a:latin typeface="Gisha" panose="020B0502040204020203" pitchFamily="34" charset="-79"/>
                <a:cs typeface="Gisha" panose="020B0502040204020203" pitchFamily="34" charset="-79"/>
              </a:rPr>
              <a:pPr/>
              <a:t>19 מאי 24</a:t>
            </a:fld>
            <a:endParaRPr lang="he-IL">
              <a:latin typeface="Gisha" panose="020B0502040204020203" pitchFamily="34" charset="-79"/>
              <a:cs typeface="Gisha" panose="020B0502040204020203" pitchFamily="34" charset="-79"/>
            </a:endParaRPr>
          </a:p>
        </p:txBody>
      </p:sp>
      <p:sp>
        <p:nvSpPr>
          <p:cNvPr id="4" name="Slide Number Placeholder 3"/>
          <p:cNvSpPr>
            <a:spLocks noGrp="1"/>
          </p:cNvSpPr>
          <p:nvPr>
            <p:ph type="sldNum" sz="quarter" idx="12"/>
          </p:nvPr>
        </p:nvSpPr>
        <p:spPr>
          <a:xfrm>
            <a:off x="135622" y="152400"/>
            <a:ext cx="473978" cy="457200"/>
          </a:xfrm>
        </p:spPr>
        <p:txBody>
          <a:bodyPr/>
          <a:lstStyle/>
          <a:p>
            <a:fld id="{021A1DA9-A2DD-4375-8887-E40ACC834D3F}" type="slidenum">
              <a:rPr lang="he-IL" smtClean="0">
                <a:latin typeface="Gisha" panose="020B0502040204020203" pitchFamily="34" charset="-79"/>
                <a:cs typeface="Gisha" panose="020B0502040204020203" pitchFamily="34" charset="-79"/>
              </a:rPr>
              <a:pPr/>
              <a:t>12</a:t>
            </a:fld>
            <a:endParaRPr lang="he-IL" dirty="0">
              <a:latin typeface="Gisha" panose="020B0502040204020203" pitchFamily="34" charset="-79"/>
              <a:cs typeface="Gisha" panose="020B0502040204020203" pitchFamily="34" charset="-79"/>
            </a:endParaRPr>
          </a:p>
        </p:txBody>
      </p:sp>
      <p:sp>
        <p:nvSpPr>
          <p:cNvPr id="5" name="Content Placeholder 4"/>
          <p:cNvSpPr>
            <a:spLocks noGrp="1"/>
          </p:cNvSpPr>
          <p:nvPr>
            <p:ph sz="quarter" idx="1"/>
          </p:nvPr>
        </p:nvSpPr>
        <p:spPr>
          <a:xfrm>
            <a:off x="76200" y="1447800"/>
            <a:ext cx="8610600" cy="4876800"/>
          </a:xfrm>
        </p:spPr>
        <p:txBody>
          <a:bodyPr>
            <a:normAutofit/>
          </a:bodyPr>
          <a:lstStyle/>
          <a:p>
            <a:pPr>
              <a:spcBef>
                <a:spcPts val="1800"/>
              </a:spcBef>
              <a:spcAft>
                <a:spcPts val="600"/>
              </a:spcAft>
            </a:pPr>
            <a:r>
              <a:rPr lang="he-IL" sz="2400" dirty="0">
                <a:solidFill>
                  <a:srgbClr val="0000FF"/>
                </a:solidFill>
                <a:latin typeface="Gisha" panose="020B0502040204020203" pitchFamily="34" charset="-79"/>
                <a:cs typeface="Gisha" panose="020B0502040204020203" pitchFamily="34" charset="-79"/>
              </a:rPr>
              <a:t>מערכות מעברים</a:t>
            </a:r>
            <a:r>
              <a:rPr lang="en-US" sz="2400" dirty="0">
                <a:latin typeface="Gisha" panose="020B0502040204020203" pitchFamily="34" charset="-79"/>
                <a:cs typeface="Gisha" panose="020B0502040204020203" pitchFamily="34" charset="-79"/>
              </a:rPr>
              <a:t/>
            </a:r>
            <a:br>
              <a:rPr lang="en-US" sz="2400" dirty="0">
                <a:latin typeface="Gisha" panose="020B0502040204020203" pitchFamily="34" charset="-79"/>
                <a:cs typeface="Gisha" panose="020B0502040204020203" pitchFamily="34" charset="-79"/>
              </a:rPr>
            </a:br>
            <a:r>
              <a:rPr lang="he-IL" sz="2400" dirty="0">
                <a:latin typeface="Gisha" panose="020B0502040204020203" pitchFamily="34" charset="-79"/>
                <a:cs typeface="Gisha" panose="020B0502040204020203" pitchFamily="34" charset="-79"/>
              </a:rPr>
              <a:t>מודל בסיסי לתיאור מערכות תוכנה וחומרה</a:t>
            </a:r>
          </a:p>
          <a:p>
            <a:pPr>
              <a:spcBef>
                <a:spcPts val="1800"/>
              </a:spcBef>
              <a:spcAft>
                <a:spcPts val="600"/>
              </a:spcAft>
            </a:pPr>
            <a:r>
              <a:rPr lang="he-IL" sz="2400" dirty="0">
                <a:solidFill>
                  <a:srgbClr val="0000FF"/>
                </a:solidFill>
                <a:latin typeface="Gisha" panose="020B0502040204020203" pitchFamily="34" charset="-79"/>
                <a:cs typeface="Gisha" panose="020B0502040204020203" pitchFamily="34" charset="-79"/>
              </a:rPr>
              <a:t>ריצות</a:t>
            </a:r>
            <a:r>
              <a:rPr lang="en-US" sz="2400" dirty="0">
                <a:solidFill>
                  <a:srgbClr val="0000FF"/>
                </a:solidFill>
                <a:latin typeface="Gisha" panose="020B0502040204020203" pitchFamily="34" charset="-79"/>
                <a:cs typeface="Gisha" panose="020B0502040204020203" pitchFamily="34" charset="-79"/>
              </a:rPr>
              <a:t/>
            </a:r>
            <a:br>
              <a:rPr lang="en-US" sz="2400" dirty="0">
                <a:solidFill>
                  <a:srgbClr val="0000FF"/>
                </a:solidFill>
                <a:latin typeface="Gisha" panose="020B0502040204020203" pitchFamily="34" charset="-79"/>
                <a:cs typeface="Gisha" panose="020B0502040204020203" pitchFamily="34" charset="-79"/>
              </a:rPr>
            </a:br>
            <a:r>
              <a:rPr lang="he-IL" sz="2400" dirty="0">
                <a:latin typeface="Gisha" panose="020B0502040204020203" pitchFamily="34" charset="-79"/>
                <a:cs typeface="Gisha" panose="020B0502040204020203" pitchFamily="34" charset="-79"/>
              </a:rPr>
              <a:t>סדרות מתחלפות של מצבים ומעברים שלא ניתן להאריך</a:t>
            </a:r>
          </a:p>
          <a:p>
            <a:pPr>
              <a:spcBef>
                <a:spcPts val="1800"/>
              </a:spcBef>
              <a:spcAft>
                <a:spcPts val="600"/>
              </a:spcAft>
            </a:pPr>
            <a:r>
              <a:rPr lang="he-IL" sz="2400" dirty="0">
                <a:solidFill>
                  <a:srgbClr val="0000FF"/>
                </a:solidFill>
                <a:latin typeface="Gisha" panose="020B0502040204020203" pitchFamily="34" charset="-79"/>
                <a:cs typeface="Gisha" panose="020B0502040204020203" pitchFamily="34" charset="-79"/>
              </a:rPr>
              <a:t>שזירה</a:t>
            </a:r>
            <a:r>
              <a:rPr lang="en-US" sz="2400" dirty="0">
                <a:solidFill>
                  <a:srgbClr val="0000FF"/>
                </a:solidFill>
                <a:latin typeface="Gisha" panose="020B0502040204020203" pitchFamily="34" charset="-79"/>
                <a:cs typeface="Gisha" panose="020B0502040204020203" pitchFamily="34" charset="-79"/>
              </a:rPr>
              <a:t/>
            </a:r>
            <a:br>
              <a:rPr lang="en-US" sz="2400" dirty="0">
                <a:solidFill>
                  <a:srgbClr val="0000FF"/>
                </a:solidFill>
                <a:latin typeface="Gisha" panose="020B0502040204020203" pitchFamily="34" charset="-79"/>
                <a:cs typeface="Gisha" panose="020B0502040204020203" pitchFamily="34" charset="-79"/>
              </a:rPr>
            </a:br>
            <a:r>
              <a:rPr lang="he-IL" sz="2400" dirty="0">
                <a:latin typeface="Gisha" panose="020B0502040204020203" pitchFamily="34" charset="-79"/>
                <a:cs typeface="Gisha" panose="020B0502040204020203" pitchFamily="34" charset="-79"/>
              </a:rPr>
              <a:t>מודל להרצת תהליכים מקבילים ע"י בחירה לא דטרמיניסטית</a:t>
            </a:r>
          </a:p>
          <a:p>
            <a:pPr>
              <a:spcBef>
                <a:spcPts val="1800"/>
              </a:spcBef>
              <a:spcAft>
                <a:spcPts val="600"/>
              </a:spcAft>
            </a:pPr>
            <a:r>
              <a:rPr lang="he-IL" sz="2400" dirty="0">
                <a:solidFill>
                  <a:srgbClr val="0000FF"/>
                </a:solidFill>
                <a:latin typeface="Gisha" panose="020B0502040204020203" pitchFamily="34" charset="-79"/>
                <a:cs typeface="Gisha" panose="020B0502040204020203" pitchFamily="34" charset="-79"/>
              </a:rPr>
              <a:t>משתנים משותפים</a:t>
            </a:r>
            <a:r>
              <a:rPr lang="en-US" sz="2400" dirty="0">
                <a:solidFill>
                  <a:srgbClr val="0000FF"/>
                </a:solidFill>
                <a:latin typeface="Gisha" panose="020B0502040204020203" pitchFamily="34" charset="-79"/>
                <a:cs typeface="Gisha" panose="020B0502040204020203" pitchFamily="34" charset="-79"/>
              </a:rPr>
              <a:t/>
            </a:r>
            <a:br>
              <a:rPr lang="en-US" sz="2400" dirty="0">
                <a:solidFill>
                  <a:srgbClr val="0000FF"/>
                </a:solidFill>
                <a:latin typeface="Gisha" panose="020B0502040204020203" pitchFamily="34" charset="-79"/>
                <a:cs typeface="Gisha" panose="020B0502040204020203" pitchFamily="34" charset="-79"/>
              </a:rPr>
            </a:br>
            <a:r>
              <a:rPr lang="he-IL" sz="2400" dirty="0">
                <a:latin typeface="Gisha" panose="020B0502040204020203" pitchFamily="34" charset="-79"/>
                <a:cs typeface="Gisha" panose="020B0502040204020203" pitchFamily="34" charset="-79"/>
              </a:rPr>
              <a:t>הרכבה מקבילה של מערכות מעברים אינה מספיקה</a:t>
            </a:r>
            <a:r>
              <a:rPr lang="en-US" sz="2400" dirty="0">
                <a:latin typeface="Gisha" panose="020B0502040204020203" pitchFamily="34" charset="-79"/>
                <a:cs typeface="Gisha" panose="020B0502040204020203" pitchFamily="34" charset="-79"/>
              </a:rPr>
              <a:t/>
            </a:r>
            <a:br>
              <a:rPr lang="en-US" sz="2400" dirty="0">
                <a:latin typeface="Gisha" panose="020B0502040204020203" pitchFamily="34" charset="-79"/>
                <a:cs typeface="Gisha" panose="020B0502040204020203" pitchFamily="34" charset="-79"/>
              </a:rPr>
            </a:br>
            <a:r>
              <a:rPr lang="he-IL" sz="2400" dirty="0">
                <a:latin typeface="Gisha" panose="020B0502040204020203" pitchFamily="34" charset="-79"/>
                <a:cs typeface="Gisha" panose="020B0502040204020203" pitchFamily="34" charset="-79"/>
              </a:rPr>
              <a:t>לכן משתמשים בהרכבת גרפי </a:t>
            </a:r>
            <a:r>
              <a:rPr lang="he-IL" sz="2400" dirty="0" err="1">
                <a:latin typeface="Gisha" panose="020B0502040204020203" pitchFamily="34" charset="-79"/>
                <a:cs typeface="Gisha" panose="020B0502040204020203" pitchFamily="34" charset="-79"/>
              </a:rPr>
              <a:t>תוכנית</a:t>
            </a:r>
            <a:r>
              <a:rPr lang="he-IL" sz="2400" dirty="0">
                <a:latin typeface="Gisha" panose="020B0502040204020203" pitchFamily="34" charset="-79"/>
                <a:cs typeface="Gisha" panose="020B0502040204020203" pitchFamily="34" charset="-79"/>
              </a:rPr>
              <a:t> (או בפריסת מערכות ערוצים)</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latin typeface="Gisha" panose="020B0502040204020203" pitchFamily="34" charset="-79"/>
                <a:cs typeface="Gisha" panose="020B0502040204020203" pitchFamily="34" charset="-79"/>
              </a:rPr>
              <a:t>סיכום פרק ראשון</a:t>
            </a:r>
          </a:p>
        </p:txBody>
      </p:sp>
      <p:sp>
        <p:nvSpPr>
          <p:cNvPr id="3" name="Date Placeholder 2"/>
          <p:cNvSpPr>
            <a:spLocks noGrp="1"/>
          </p:cNvSpPr>
          <p:nvPr>
            <p:ph type="dt" sz="half" idx="10"/>
          </p:nvPr>
        </p:nvSpPr>
        <p:spPr/>
        <p:txBody>
          <a:bodyPr/>
          <a:lstStyle/>
          <a:p>
            <a:fld id="{A7F926B5-663A-4127-A287-7B83208B40AD}" type="datetime8">
              <a:rPr lang="he-IL" smtClean="0"/>
              <a:pPr/>
              <a:t>19 מאי 24</a:t>
            </a:fld>
            <a:endParaRPr lang="he-IL"/>
          </a:p>
        </p:txBody>
      </p:sp>
      <p:sp>
        <p:nvSpPr>
          <p:cNvPr id="4" name="Slide Number Placeholder 3"/>
          <p:cNvSpPr>
            <a:spLocks noGrp="1"/>
          </p:cNvSpPr>
          <p:nvPr>
            <p:ph type="sldNum" sz="quarter" idx="12"/>
          </p:nvPr>
        </p:nvSpPr>
        <p:spPr/>
        <p:txBody>
          <a:bodyPr/>
          <a:lstStyle/>
          <a:p>
            <a:fld id="{021A1DA9-A2DD-4375-8887-E40ACC834D3F}" type="slidenum">
              <a:rPr lang="he-IL" smtClean="0"/>
              <a:pPr/>
              <a:t>13</a:t>
            </a:fld>
            <a:endParaRPr lang="he-IL" dirty="0"/>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381000" y="1447800"/>
                <a:ext cx="8305800" cy="5105400"/>
              </a:xfrm>
            </p:spPr>
            <p:txBody>
              <a:bodyPr>
                <a:normAutofit fontScale="92500" lnSpcReduction="20000"/>
              </a:bodyPr>
              <a:lstStyle/>
              <a:p>
                <a:pPr>
                  <a:spcBef>
                    <a:spcPts val="2400"/>
                  </a:spcBef>
                  <a:spcAft>
                    <a:spcPts val="1200"/>
                  </a:spcAft>
                </a:pPr>
                <a:r>
                  <a:rPr lang="he-IL" dirty="0">
                    <a:solidFill>
                      <a:srgbClr val="0000FF"/>
                    </a:solidFill>
                    <a:latin typeface="Gisha" panose="020B0502040204020203" pitchFamily="34" charset="-79"/>
                    <a:cs typeface="Gisha" panose="020B0502040204020203" pitchFamily="34" charset="-79"/>
                  </a:rPr>
                  <a:t>לחיצת יד </a:t>
                </a:r>
                <a:r>
                  <a:rPr lang="he-IL" dirty="0">
                    <a:latin typeface="Gisha" panose="020B0502040204020203" pitchFamily="34" charset="-79"/>
                    <a:cs typeface="Gisha" panose="020B0502040204020203" pitchFamily="34" charset="-79"/>
                  </a:rPr>
                  <a:t>(</a:t>
                </a:r>
                <a:r>
                  <a:rPr lang="en-US" dirty="0">
                    <a:latin typeface="Gisha" panose="020B0502040204020203" pitchFamily="34" charset="-79"/>
                    <a:cs typeface="Gisha" panose="020B0502040204020203" pitchFamily="34" charset="-79"/>
                  </a:rPr>
                  <a:t>handshaking</a:t>
                </a:r>
                <a:r>
                  <a:rPr lang="he-IL" dirty="0">
                    <a:latin typeface="Gisha" panose="020B0502040204020203" pitchFamily="34" charset="-79"/>
                    <a:cs typeface="Gisha" panose="020B0502040204020203" pitchFamily="34" charset="-79"/>
                  </a:rPr>
                  <a:t>) על קבוצת פעולות </a:t>
                </a:r>
                <a14:m>
                  <m:oMath xmlns:m="http://schemas.openxmlformats.org/officeDocument/2006/math">
                    <m:r>
                      <a:rPr lang="en-US" i="1" dirty="0" smtClean="0">
                        <a:latin typeface="Cambria Math"/>
                      </a:rPr>
                      <m:t>𝐻</m:t>
                    </m:r>
                  </m:oMath>
                </a14:m>
                <a:endParaRPr lang="he-IL" dirty="0">
                  <a:latin typeface="Gisha" panose="020B0502040204020203" pitchFamily="34" charset="-79"/>
                  <a:cs typeface="Gisha" panose="020B0502040204020203" pitchFamily="34" charset="-79"/>
                </a:endParaRPr>
              </a:p>
              <a:p>
                <a:pPr lvl="1">
                  <a:spcAft>
                    <a:spcPts val="1200"/>
                  </a:spcAft>
                </a:pPr>
                <a:r>
                  <a:rPr lang="he-IL" dirty="0">
                    <a:latin typeface="Gisha" panose="020B0502040204020203" pitchFamily="34" charset="-79"/>
                    <a:cs typeface="Gisha" panose="020B0502040204020203" pitchFamily="34" charset="-79"/>
                  </a:rPr>
                  <a:t>ביצוע הפעולות ב-</a:t>
                </a:r>
                <a14:m>
                  <m:oMath xmlns:m="http://schemas.openxmlformats.org/officeDocument/2006/math">
                    <m:r>
                      <a:rPr lang="en-US" i="1" dirty="0" smtClean="0">
                        <a:latin typeface="Cambria Math"/>
                      </a:rPr>
                      <m:t>𝐻</m:t>
                    </m:r>
                  </m:oMath>
                </a14:m>
                <a:r>
                  <a:rPr lang="he-IL" dirty="0">
                    <a:latin typeface="Gisha" panose="020B0502040204020203" pitchFamily="34" charset="-79"/>
                    <a:cs typeface="Gisha" panose="020B0502040204020203" pitchFamily="34" charset="-79"/>
                  </a:rPr>
                  <a:t> בו-זמנית והפעולות שאינן ב-</a:t>
                </a:r>
                <a14:m>
                  <m:oMath xmlns:m="http://schemas.openxmlformats.org/officeDocument/2006/math">
                    <m:r>
                      <a:rPr lang="en-US" i="1" dirty="0" smtClean="0">
                        <a:latin typeface="Cambria Math"/>
                      </a:rPr>
                      <m:t>𝐻</m:t>
                    </m:r>
                  </m:oMath>
                </a14:m>
                <a:r>
                  <a:rPr lang="he-IL" dirty="0">
                    <a:latin typeface="Gisha" panose="020B0502040204020203" pitchFamily="34" charset="-79"/>
                    <a:cs typeface="Gisha" panose="020B0502040204020203" pitchFamily="34" charset="-79"/>
                  </a:rPr>
                  <a:t> באופן</a:t>
                </a:r>
              </a:p>
              <a:p>
                <a:pPr>
                  <a:spcBef>
                    <a:spcPts val="2400"/>
                  </a:spcBef>
                  <a:spcAft>
                    <a:spcPts val="1200"/>
                  </a:spcAft>
                </a:pPr>
                <a:r>
                  <a:rPr lang="he-IL" dirty="0">
                    <a:solidFill>
                      <a:srgbClr val="0000FF"/>
                    </a:solidFill>
                    <a:latin typeface="Gisha" panose="020B0502040204020203" pitchFamily="34" charset="-79"/>
                    <a:cs typeface="Gisha" panose="020B0502040204020203" pitchFamily="34" charset="-79"/>
                  </a:rPr>
                  <a:t>מערכות ערוצים </a:t>
                </a:r>
                <a:r>
                  <a:rPr lang="he-IL" dirty="0">
                    <a:latin typeface="Gisha" panose="020B0502040204020203" pitchFamily="34" charset="-79"/>
                    <a:cs typeface="Gisha" panose="020B0502040204020203" pitchFamily="34" charset="-79"/>
                  </a:rPr>
                  <a:t>= גרפי תוכנית + ערוצי תקשורת </a:t>
                </a:r>
              </a:p>
              <a:p>
                <a:pPr lvl="1">
                  <a:spcAft>
                    <a:spcPts val="1200"/>
                  </a:spcAft>
                </a:pPr>
                <a:r>
                  <a:rPr lang="he-IL" dirty="0">
                    <a:latin typeface="Gisha" panose="020B0502040204020203" pitchFamily="34" charset="-79"/>
                    <a:cs typeface="Gisha" panose="020B0502040204020203" pitchFamily="34" charset="-79"/>
                  </a:rPr>
                  <a:t>לחיצת יד (כאשר </a:t>
                </a:r>
                <a14:m>
                  <m:oMath xmlns:m="http://schemas.openxmlformats.org/officeDocument/2006/math">
                    <m:r>
                      <a:rPr lang="en-US" i="1" dirty="0" smtClean="0">
                        <a:latin typeface="Cambria Math"/>
                      </a:rPr>
                      <m:t>𝑐𝑎𝑝</m:t>
                    </m:r>
                    <m:r>
                      <a:rPr lang="en-US" i="1" dirty="0" smtClean="0">
                        <a:latin typeface="Cambria Math"/>
                      </a:rPr>
                      <m:t>=</m:t>
                    </m:r>
                    <m:r>
                      <a:rPr lang="en-US" i="1" dirty="0" smtClean="0">
                        <a:latin typeface="Cambria Math"/>
                      </a:rPr>
                      <m:t>0</m:t>
                    </m:r>
                  </m:oMath>
                </a14:m>
                <a:r>
                  <a:rPr lang="he-IL" dirty="0">
                    <a:latin typeface="Gisha" panose="020B0502040204020203" pitchFamily="34" charset="-79"/>
                    <a:cs typeface="Gisha" panose="020B0502040204020203" pitchFamily="34" charset="-79"/>
                  </a:rPr>
                  <a:t>) או תקשורת אסינכרונית (כאשר </a:t>
                </a:r>
                <a14:m>
                  <m:oMath xmlns:m="http://schemas.openxmlformats.org/officeDocument/2006/math">
                    <m:r>
                      <a:rPr lang="en-US" i="1" dirty="0" smtClean="0">
                        <a:latin typeface="Cambria Math"/>
                      </a:rPr>
                      <m:t>𝑐𝑎𝑝</m:t>
                    </m:r>
                    <m:r>
                      <a:rPr lang="en-US" i="1" dirty="0" smtClean="0">
                        <a:latin typeface="Cambria Math"/>
                      </a:rPr>
                      <m:t>&gt;</m:t>
                    </m:r>
                    <m:r>
                      <a:rPr lang="en-US" i="1" dirty="0" smtClean="0">
                        <a:latin typeface="Cambria Math"/>
                      </a:rPr>
                      <m:t>0</m:t>
                    </m:r>
                  </m:oMath>
                </a14:m>
                <a:r>
                  <a:rPr lang="he-IL" dirty="0">
                    <a:latin typeface="Gisha" panose="020B0502040204020203" pitchFamily="34" charset="-79"/>
                    <a:cs typeface="Gisha" panose="020B0502040204020203" pitchFamily="34" charset="-79"/>
                  </a:rPr>
                  <a:t>)</a:t>
                </a:r>
              </a:p>
              <a:p>
                <a:pPr lvl="1">
                  <a:spcAft>
                    <a:spcPts val="1200"/>
                  </a:spcAft>
                </a:pPr>
                <a:r>
                  <a:rPr lang="he-IL" dirty="0">
                    <a:latin typeface="Gisha" panose="020B0502040204020203" pitchFamily="34" charset="-79"/>
                    <a:cs typeface="Gisha" panose="020B0502040204020203" pitchFamily="34" charset="-79"/>
                  </a:rPr>
                  <a:t>המודל הסמנטי מאחורי </a:t>
                </a:r>
                <a:r>
                  <a:rPr lang="en-US" dirty="0" err="1">
                    <a:latin typeface="Gisha" panose="020B0502040204020203" pitchFamily="34" charset="-79"/>
                    <a:cs typeface="Gisha" panose="020B0502040204020203" pitchFamily="34" charset="-79"/>
                  </a:rPr>
                  <a:t>Promela</a:t>
                </a:r>
                <a:endParaRPr lang="he-IL" dirty="0">
                  <a:latin typeface="Gisha" panose="020B0502040204020203" pitchFamily="34" charset="-79"/>
                  <a:cs typeface="Gisha" panose="020B0502040204020203" pitchFamily="34" charset="-79"/>
                </a:endParaRPr>
              </a:p>
              <a:p>
                <a:pPr>
                  <a:spcBef>
                    <a:spcPts val="2400"/>
                  </a:spcBef>
                  <a:spcAft>
                    <a:spcPts val="1200"/>
                  </a:spcAft>
                </a:pPr>
                <a:r>
                  <a:rPr lang="he-IL" dirty="0">
                    <a:solidFill>
                      <a:srgbClr val="FF0000"/>
                    </a:solidFill>
                    <a:latin typeface="Gisha" panose="020B0502040204020203" pitchFamily="34" charset="-79"/>
                    <a:cs typeface="Gisha" panose="020B0502040204020203" pitchFamily="34" charset="-79"/>
                  </a:rPr>
                  <a:t>בעיית ריבוי המצבים </a:t>
                </a:r>
                <a:r>
                  <a:rPr lang="en-US" sz="2400" dirty="0">
                    <a:solidFill>
                      <a:srgbClr val="FF0000"/>
                    </a:solidFill>
                    <a:latin typeface="Gisha" panose="020B0502040204020203" pitchFamily="34" charset="-79"/>
                    <a:cs typeface="Gisha" panose="020B0502040204020203" pitchFamily="34" charset="-79"/>
                  </a:rPr>
                  <a:t>State Explosion Problem</a:t>
                </a:r>
                <a:endParaRPr lang="en-US" dirty="0">
                  <a:solidFill>
                    <a:srgbClr val="FF0000"/>
                  </a:solidFill>
                  <a:latin typeface="Gisha" panose="020B0502040204020203" pitchFamily="34" charset="-79"/>
                  <a:cs typeface="Gisha" panose="020B0502040204020203" pitchFamily="34" charset="-79"/>
                </a:endParaRPr>
              </a:p>
              <a:p>
                <a:pPr lvl="1">
                  <a:spcAft>
                    <a:spcPts val="1200"/>
                  </a:spcAft>
                </a:pPr>
                <a:r>
                  <a:rPr lang="he-IL" dirty="0">
                    <a:latin typeface="Gisha" panose="020B0502040204020203" pitchFamily="34" charset="-79"/>
                    <a:cs typeface="Gisha" panose="020B0502040204020203" pitchFamily="34" charset="-79"/>
                  </a:rPr>
                  <a:t>גודל מערכת המצבים אקספוננציאלי במספר המשתנים, מספר הרכיבים המקבילים, ובמספר הערוצים</a:t>
                </a:r>
              </a:p>
              <a:p>
                <a:pPr lvl="1">
                  <a:spcAft>
                    <a:spcPts val="1200"/>
                  </a:spcAft>
                </a:pPr>
                <a:r>
                  <a:rPr lang="he-IL" dirty="0">
                    <a:latin typeface="Gisha" panose="020B0502040204020203" pitchFamily="34" charset="-79"/>
                    <a:cs typeface="Gisha" panose="020B0502040204020203" pitchFamily="34" charset="-79"/>
                  </a:rPr>
                  <a:t>אפשר לעקוף את הבעיה, במקרים מסוימים, באמצעות ייצוג סימבולי של קבוצות ובאמצעות אבסטרקציה</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381000" y="1447800"/>
                <a:ext cx="8305800" cy="5105400"/>
              </a:xfrm>
              <a:blipFill>
                <a:blip r:embed="rId2"/>
                <a:stretch>
                  <a:fillRect l="-1248" t="-2389" r="-587"/>
                </a:stretch>
              </a:blipFill>
            </p:spPr>
            <p:txBody>
              <a:bodyPr/>
              <a:lstStyle/>
              <a:p>
                <a:r>
                  <a:rPr lang="en-US">
                    <a:noFill/>
                  </a:rPr>
                  <a:t> </a:t>
                </a:r>
              </a:p>
            </p:txBody>
          </p:sp>
        </mc:Fallback>
      </mc:AlternateContent>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IRSTADMINISTRATOR@3HZWZZR6INUPNVTI" val="3557"/>
  <p:tag name="FIRSTGERAW@YFUXXLKFUVWYY57I" val="3555"/>
  <p:tag name="DEFAULTDISPLAYSOURCE" val="\documentclass{article}\pagestyle{empty}&#10;&#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13145</TotalTime>
  <Words>1191</Words>
  <Application>Microsoft Office PowerPoint</Application>
  <PresentationFormat>On-screen Show (4:3)</PresentationFormat>
  <Paragraphs>186</Paragraphs>
  <Slides>13</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13</vt:i4>
      </vt:variant>
    </vt:vector>
  </HeadingPairs>
  <TitlesOfParts>
    <vt:vector size="29" baseType="lpstr">
      <vt:lpstr>Aharoni</vt:lpstr>
      <vt:lpstr>Arial</vt:lpstr>
      <vt:lpstr>Calibri</vt:lpstr>
      <vt:lpstr>Cambria Math</vt:lpstr>
      <vt:lpstr>cmmi10</vt:lpstr>
      <vt:lpstr>cmr10</vt:lpstr>
      <vt:lpstr>cmsy10</vt:lpstr>
      <vt:lpstr>Franklin Gothic Book</vt:lpstr>
      <vt:lpstr>Gisha</vt:lpstr>
      <vt:lpstr>MT Extra</vt:lpstr>
      <vt:lpstr>Perpetua</vt:lpstr>
      <vt:lpstr>STMARY10</vt:lpstr>
      <vt:lpstr>Symbol</vt:lpstr>
      <vt:lpstr>Symbol</vt:lpstr>
      <vt:lpstr>Wingdings 2</vt:lpstr>
      <vt:lpstr>Equity</vt:lpstr>
      <vt:lpstr>בעיית פיצוץ המצבים state explosion</vt:lpstr>
      <vt:lpstr>מספר דרכים להגדרת מערכות מעברים</vt:lpstr>
      <vt:lpstr>מה מספר המצבים?</vt:lpstr>
      <vt:lpstr>בעיית ריבוי המצבים state explosion problem</vt:lpstr>
      <vt:lpstr>מערכות מעברים מגרף תוכנית</vt:lpstr>
      <vt:lpstr>תוכניות מקביליות</vt:lpstr>
      <vt:lpstr>מערכות ערוצים</vt:lpstr>
      <vt:lpstr>פרוטוקול הביט המתהפך</vt:lpstr>
      <vt:lpstr>אלגוריתם המניעה ההדדית של דֶיְיקְסְטְרָה</vt:lpstr>
      <vt:lpstr>מה עושים?</vt:lpstr>
      <vt:lpstr>מה עושים?</vt:lpstr>
      <vt:lpstr>סיכום פרק ראשון</vt:lpstr>
      <vt:lpstr>סיכום פרק ראשון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מקביליות</dc:title>
  <dc:creator>John Doil</dc:creator>
  <cp:lastModifiedBy>geraw</cp:lastModifiedBy>
  <cp:revision>968</cp:revision>
  <dcterms:created xsi:type="dcterms:W3CDTF">2009-09-27T20:49:26Z</dcterms:created>
  <dcterms:modified xsi:type="dcterms:W3CDTF">2024-05-19T06:55:59Z</dcterms:modified>
</cp:coreProperties>
</file>