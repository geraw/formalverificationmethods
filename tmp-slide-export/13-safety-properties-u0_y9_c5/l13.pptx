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4"/>
  </p:sldMasterIdLst>
  <p:notesMasterIdLst>
    <p:notesMasterId r:id="rId24"/>
  </p:notesMasterIdLst>
  <p:sldIdLst>
    <p:sldId id="256" r:id="rId5"/>
    <p:sldId id="310" r:id="rId6"/>
    <p:sldId id="311" r:id="rId7"/>
    <p:sldId id="269" r:id="rId8"/>
    <p:sldId id="320" r:id="rId9"/>
    <p:sldId id="324" r:id="rId10"/>
    <p:sldId id="321" r:id="rId11"/>
    <p:sldId id="319" r:id="rId12"/>
    <p:sldId id="317" r:id="rId13"/>
    <p:sldId id="322" r:id="rId14"/>
    <p:sldId id="323" r:id="rId15"/>
    <p:sldId id="312" r:id="rId16"/>
    <p:sldId id="270" r:id="rId17"/>
    <p:sldId id="314" r:id="rId18"/>
    <p:sldId id="300" r:id="rId19"/>
    <p:sldId id="315" r:id="rId20"/>
    <p:sldId id="313" r:id="rId21"/>
    <p:sldId id="308" r:id="rId22"/>
    <p:sldId id="309" r:id="rId23"/>
  </p:sldIdLst>
  <p:sldSz cx="9144000" cy="6858000" type="screen4x3"/>
  <p:notesSz cx="6858000" cy="9144000"/>
  <p:custDataLst>
    <p:tags r:id="rId25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00"/>
    <a:srgbClr val="248E16"/>
    <a:srgbClr val="33CC33"/>
    <a:srgbClr val="0040C0"/>
    <a:srgbClr val="000000"/>
    <a:srgbClr val="0000FF"/>
    <a:srgbClr val="E7FAE2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D45BAE-4C52-4FAA-8C1B-76046E4984BF}" v="188" dt="2025-06-04T15:47:19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706" autoAdjust="0"/>
  </p:normalViewPr>
  <p:slideViewPr>
    <p:cSldViewPr>
      <p:cViewPr varScale="1">
        <p:scale>
          <a:sx n="112" d="100"/>
          <a:sy n="112" d="100"/>
        </p:scale>
        <p:origin x="118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64"/>
    </p:cViewPr>
  </p:sorterViewPr>
  <p:notesViewPr>
    <p:cSldViewPr>
      <p:cViewPr varScale="1">
        <p:scale>
          <a:sx n="83" d="100"/>
          <a:sy n="83" d="100"/>
        </p:scale>
        <p:origin x="-310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E2BDAFAC-04AC-4F2C-BC81-BAE7D9C603F9}"/>
    <pc:docChg chg="modSld">
      <pc:chgData name="Gera Weiss" userId="f0aa0173-552d-4808-9782-d425e6aaf8d9" providerId="ADAL" clId="{E2BDAFAC-04AC-4F2C-BC81-BAE7D9C603F9}" dt="2024-07-28T08:35:05.771" v="0" actId="1582"/>
      <pc:docMkLst>
        <pc:docMk/>
      </pc:docMkLst>
      <pc:sldChg chg="modSp mod">
        <pc:chgData name="Gera Weiss" userId="f0aa0173-552d-4808-9782-d425e6aaf8d9" providerId="ADAL" clId="{E2BDAFAC-04AC-4F2C-BC81-BAE7D9C603F9}" dt="2024-07-28T08:35:05.771" v="0" actId="1582"/>
        <pc:sldMkLst>
          <pc:docMk/>
          <pc:sldMk cId="197012411" sldId="313"/>
        </pc:sldMkLst>
      </pc:sldChg>
    </pc:docChg>
  </pc:docChgLst>
  <pc:docChgLst>
    <pc:chgData name="Gera Weiss" userId="f0aa0173-552d-4808-9782-d425e6aaf8d9" providerId="ADAL" clId="{3FD45BAE-4C52-4FAA-8C1B-76046E4984BF}"/>
    <pc:docChg chg="undo custSel modSld">
      <pc:chgData name="Gera Weiss" userId="f0aa0173-552d-4808-9782-d425e6aaf8d9" providerId="ADAL" clId="{3FD45BAE-4C52-4FAA-8C1B-76046E4984BF}" dt="2025-06-04T15:48:24.960" v="211" actId="1035"/>
      <pc:docMkLst>
        <pc:docMk/>
      </pc:docMkLst>
      <pc:sldChg chg="addSp delSp modSp mod">
        <pc:chgData name="Gera Weiss" userId="f0aa0173-552d-4808-9782-d425e6aaf8d9" providerId="ADAL" clId="{3FD45BAE-4C52-4FAA-8C1B-76046E4984BF}" dt="2025-06-04T15:48:24.960" v="211" actId="1035"/>
        <pc:sldMkLst>
          <pc:docMk/>
          <pc:sldMk cId="3052350477" sldId="317"/>
        </pc:sldMkLst>
        <pc:spChg chg="mod">
          <ac:chgData name="Gera Weiss" userId="f0aa0173-552d-4808-9782-d425e6aaf8d9" providerId="ADAL" clId="{3FD45BAE-4C52-4FAA-8C1B-76046E4984BF}" dt="2025-06-04T15:34:51.078" v="1" actId="1076"/>
          <ac:spMkLst>
            <pc:docMk/>
            <pc:sldMk cId="3052350477" sldId="317"/>
            <ac:spMk id="7" creationId="{00000000-0000-0000-0000-000000000000}"/>
          </ac:spMkLst>
        </pc:spChg>
        <pc:spChg chg="add mod">
          <ac:chgData name="Gera Weiss" userId="f0aa0173-552d-4808-9782-d425e6aaf8d9" providerId="ADAL" clId="{3FD45BAE-4C52-4FAA-8C1B-76046E4984BF}" dt="2025-06-04T15:36:39.755" v="44" actId="20577"/>
          <ac:spMkLst>
            <pc:docMk/>
            <pc:sldMk cId="3052350477" sldId="317"/>
            <ac:spMk id="8" creationId="{6087F1A9-3C3A-4987-9BE1-258BD082B20A}"/>
          </ac:spMkLst>
        </pc:spChg>
        <pc:spChg chg="add mod">
          <ac:chgData name="Gera Weiss" userId="f0aa0173-552d-4808-9782-d425e6aaf8d9" providerId="ADAL" clId="{3FD45BAE-4C52-4FAA-8C1B-76046E4984BF}" dt="2025-06-04T15:39:42.501" v="109" actId="207"/>
          <ac:spMkLst>
            <pc:docMk/>
            <pc:sldMk cId="3052350477" sldId="317"/>
            <ac:spMk id="13" creationId="{E7196A42-362C-94FB-AA33-8803BC69F44E}"/>
          </ac:spMkLst>
        </pc:spChg>
        <pc:spChg chg="add mod">
          <ac:chgData name="Gera Weiss" userId="f0aa0173-552d-4808-9782-d425e6aaf8d9" providerId="ADAL" clId="{3FD45BAE-4C52-4FAA-8C1B-76046E4984BF}" dt="2025-06-04T15:48:24.960" v="211" actId="1035"/>
          <ac:spMkLst>
            <pc:docMk/>
            <pc:sldMk cId="3052350477" sldId="317"/>
            <ac:spMk id="14" creationId="{3A669FD8-B01C-1BBC-CC01-2A679D3F944F}"/>
          </ac:spMkLst>
        </pc:spChg>
        <pc:spChg chg="add del mod">
          <ac:chgData name="Gera Weiss" userId="f0aa0173-552d-4808-9782-d425e6aaf8d9" providerId="ADAL" clId="{3FD45BAE-4C52-4FAA-8C1B-76046E4984BF}" dt="2025-06-04T15:47:24.002" v="209" actId="478"/>
          <ac:spMkLst>
            <pc:docMk/>
            <pc:sldMk cId="3052350477" sldId="317"/>
            <ac:spMk id="15" creationId="{A4F50600-97EC-D45D-38A8-5FAA9E0D5B61}"/>
          </ac:spMkLst>
        </pc:spChg>
        <pc:grpChg chg="add del mod">
          <ac:chgData name="Gera Weiss" userId="f0aa0173-552d-4808-9782-d425e6aaf8d9" providerId="ADAL" clId="{3FD45BAE-4C52-4FAA-8C1B-76046E4984BF}" dt="2025-06-04T15:47:19.035" v="204"/>
          <ac:grpSpMkLst>
            <pc:docMk/>
            <pc:sldMk cId="3052350477" sldId="317"/>
            <ac:grpSpMk id="21" creationId="{EDBAD5C9-2D2A-7A45-B7EC-3C70CE37F233}"/>
          </ac:grpSpMkLst>
        </pc:grpChg>
        <pc:grpChg chg="mod">
          <ac:chgData name="Gera Weiss" userId="f0aa0173-552d-4808-9782-d425e6aaf8d9" providerId="ADAL" clId="{3FD45BAE-4C52-4FAA-8C1B-76046E4984BF}" dt="2025-06-04T15:47:18.226" v="200"/>
          <ac:grpSpMkLst>
            <pc:docMk/>
            <pc:sldMk cId="3052350477" sldId="317"/>
            <ac:grpSpMk id="24" creationId="{82C064EE-3F06-0CC3-D92C-AAF00724E8D7}"/>
          </ac:grpSpMkLst>
        </pc:grpChg>
        <pc:inkChg chg="add del">
          <ac:chgData name="Gera Weiss" userId="f0aa0173-552d-4808-9782-d425e6aaf8d9" providerId="ADAL" clId="{3FD45BAE-4C52-4FAA-8C1B-76046E4984BF}" dt="2025-06-04T15:46:03.786" v="188" actId="9405"/>
          <ac:inkMkLst>
            <pc:docMk/>
            <pc:sldMk cId="3052350477" sldId="317"/>
            <ac:inkMk id="16" creationId="{6C482056-FC00-1477-E445-C3A63BC0466E}"/>
          </ac:inkMkLst>
        </pc:inkChg>
        <pc:inkChg chg="add del">
          <ac:chgData name="Gera Weiss" userId="f0aa0173-552d-4808-9782-d425e6aaf8d9" providerId="ADAL" clId="{3FD45BAE-4C52-4FAA-8C1B-76046E4984BF}" dt="2025-06-04T15:47:20.094" v="208" actId="9405"/>
          <ac:inkMkLst>
            <pc:docMk/>
            <pc:sldMk cId="3052350477" sldId="317"/>
            <ac:inkMk id="17" creationId="{41C0EC42-8381-86D9-D78E-E4FF470CF201}"/>
          </ac:inkMkLst>
        </pc:inkChg>
        <pc:inkChg chg="add del">
          <ac:chgData name="Gera Weiss" userId="f0aa0173-552d-4808-9782-d425e6aaf8d9" providerId="ADAL" clId="{3FD45BAE-4C52-4FAA-8C1B-76046E4984BF}" dt="2025-06-04T15:47:19.546" v="206" actId="9405"/>
          <ac:inkMkLst>
            <pc:docMk/>
            <pc:sldMk cId="3052350477" sldId="317"/>
            <ac:inkMk id="18" creationId="{C69B1CC4-1F5A-B782-53F3-A8D3F06AD379}"/>
          </ac:inkMkLst>
        </pc:inkChg>
        <pc:inkChg chg="add del mod">
          <ac:chgData name="Gera Weiss" userId="f0aa0173-552d-4808-9782-d425e6aaf8d9" providerId="ADAL" clId="{3FD45BAE-4C52-4FAA-8C1B-76046E4984BF}" dt="2025-06-04T15:47:19.316" v="205" actId="9405"/>
          <ac:inkMkLst>
            <pc:docMk/>
            <pc:sldMk cId="3052350477" sldId="317"/>
            <ac:inkMk id="19" creationId="{E51BBC9A-3990-CD22-2388-F472B677AC2C}"/>
          </ac:inkMkLst>
        </pc:inkChg>
        <pc:inkChg chg="add del mod">
          <ac:chgData name="Gera Weiss" userId="f0aa0173-552d-4808-9782-d425e6aaf8d9" providerId="ADAL" clId="{3FD45BAE-4C52-4FAA-8C1B-76046E4984BF}" dt="2025-06-04T15:47:19.035" v="204"/>
          <ac:inkMkLst>
            <pc:docMk/>
            <pc:sldMk cId="3052350477" sldId="317"/>
            <ac:inkMk id="20" creationId="{CCB7D664-5AE1-3274-D3E8-CB379A5E8AD0}"/>
          </ac:inkMkLst>
        </pc:inkChg>
        <pc:inkChg chg="add del">
          <ac:chgData name="Gera Weiss" userId="f0aa0173-552d-4808-9782-d425e6aaf8d9" providerId="ADAL" clId="{3FD45BAE-4C52-4FAA-8C1B-76046E4984BF}" dt="2025-06-04T15:47:18.770" v="202" actId="9405"/>
          <ac:inkMkLst>
            <pc:docMk/>
            <pc:sldMk cId="3052350477" sldId="317"/>
            <ac:inkMk id="22" creationId="{8CCAF728-E673-BFCC-993D-00A050EF1C12}"/>
          </ac:inkMkLst>
        </pc:inkChg>
        <pc:inkChg chg="add del mod">
          <ac:chgData name="Gera Weiss" userId="f0aa0173-552d-4808-9782-d425e6aaf8d9" providerId="ADAL" clId="{3FD45BAE-4C52-4FAA-8C1B-76046E4984BF}" dt="2025-06-04T15:47:18.226" v="200"/>
          <ac:inkMkLst>
            <pc:docMk/>
            <pc:sldMk cId="3052350477" sldId="317"/>
            <ac:inkMk id="23" creationId="{4C4F8CE7-45D3-E7C3-003C-D114C0789F63}"/>
          </ac:inkMkLst>
        </pc:inkChg>
      </pc:sldChg>
    </pc:docChg>
  </pc:docChgLst>
  <pc:docChgLst>
    <pc:chgData name="Gera Weiss" userId="f0aa0173-552d-4808-9782-d425e6aaf8d9" providerId="ADAL" clId="{A44D7494-2E38-49C2-BAAF-A3F965AD6365}"/>
    <pc:docChg chg="addSld delSld modSld">
      <pc:chgData name="Gera Weiss" userId="f0aa0173-552d-4808-9782-d425e6aaf8d9" providerId="ADAL" clId="{A44D7494-2E38-49C2-BAAF-A3F965AD6365}" dt="2025-05-05T08:57:38.801" v="136"/>
      <pc:docMkLst>
        <pc:docMk/>
      </pc:docMkLst>
      <pc:sldChg chg="modSp mod">
        <pc:chgData name="Gera Weiss" userId="f0aa0173-552d-4808-9782-d425e6aaf8d9" providerId="ADAL" clId="{A44D7494-2E38-49C2-BAAF-A3F965AD6365}" dt="2025-05-05T08:31:43.781" v="2" actId="20577"/>
        <pc:sldMkLst>
          <pc:docMk/>
          <pc:sldMk cId="0" sldId="256"/>
        </pc:sldMkLst>
        <pc:spChg chg="mod">
          <ac:chgData name="Gera Weiss" userId="f0aa0173-552d-4808-9782-d425e6aaf8d9" providerId="ADAL" clId="{A44D7494-2E38-49C2-BAAF-A3F965AD6365}" dt="2025-05-05T08:31:43.781" v="2" actId="20577"/>
          <ac:spMkLst>
            <pc:docMk/>
            <pc:sldMk cId="0" sldId="256"/>
            <ac:spMk id="6" creationId="{2F486DF2-42DA-5F99-8A4F-665AE5229539}"/>
          </ac:spMkLst>
        </pc:spChg>
      </pc:sldChg>
      <pc:sldChg chg="del">
        <pc:chgData name="Gera Weiss" userId="f0aa0173-552d-4808-9782-d425e6aaf8d9" providerId="ADAL" clId="{A44D7494-2E38-49C2-BAAF-A3F965AD6365}" dt="2025-05-05T08:34:21.517" v="3" actId="47"/>
        <pc:sldMkLst>
          <pc:docMk/>
          <pc:sldMk cId="0" sldId="258"/>
        </pc:sldMkLst>
      </pc:sldChg>
      <pc:sldChg chg="addSp modSp mod">
        <pc:chgData name="Gera Weiss" userId="f0aa0173-552d-4808-9782-d425e6aaf8d9" providerId="ADAL" clId="{A44D7494-2E38-49C2-BAAF-A3F965AD6365}" dt="2025-05-05T08:57:38.801" v="136"/>
        <pc:sldMkLst>
          <pc:docMk/>
          <pc:sldMk cId="197012411" sldId="313"/>
        </pc:sldMkLst>
        <pc:spChg chg="add mod">
          <ac:chgData name="Gera Weiss" userId="f0aa0173-552d-4808-9782-d425e6aaf8d9" providerId="ADAL" clId="{A44D7494-2E38-49C2-BAAF-A3F965AD6365}" dt="2025-05-05T08:57:38.801" v="136"/>
          <ac:spMkLst>
            <pc:docMk/>
            <pc:sldMk cId="197012411" sldId="313"/>
            <ac:spMk id="5" creationId="{74A7E15E-328B-2C31-0D9E-5D495E42F451}"/>
          </ac:spMkLst>
        </pc:spChg>
        <pc:spChg chg="mod">
          <ac:chgData name="Gera Weiss" userId="f0aa0173-552d-4808-9782-d425e6aaf8d9" providerId="ADAL" clId="{A44D7494-2E38-49C2-BAAF-A3F965AD6365}" dt="2025-05-05T08:56:22.072" v="117" actId="20577"/>
          <ac:spMkLst>
            <pc:docMk/>
            <pc:sldMk cId="197012411" sldId="313"/>
            <ac:spMk id="10" creationId="{00000000-0000-0000-0000-000000000000}"/>
          </ac:spMkLst>
        </pc:spChg>
        <pc:grpChg chg="mod">
          <ac:chgData name="Gera Weiss" userId="f0aa0173-552d-4808-9782-d425e6aaf8d9" providerId="ADAL" clId="{A44D7494-2E38-49C2-BAAF-A3F965AD6365}" dt="2025-05-05T08:56:30.801" v="118" actId="1076"/>
          <ac:grpSpMkLst>
            <pc:docMk/>
            <pc:sldMk cId="197012411" sldId="313"/>
            <ac:grpSpMk id="30" creationId="{00000000-0000-0000-0000-000000000000}"/>
          </ac:grpSpMkLst>
        </pc:grpChg>
        <pc:graphicFrameChg chg="mod modGraphic">
          <ac:chgData name="Gera Weiss" userId="f0aa0173-552d-4808-9782-d425e6aaf8d9" providerId="ADAL" clId="{A44D7494-2E38-49C2-BAAF-A3F965AD6365}" dt="2025-05-05T08:57:11.648" v="134" actId="1038"/>
          <ac:graphicFrameMkLst>
            <pc:docMk/>
            <pc:sldMk cId="197012411" sldId="313"/>
            <ac:graphicFrameMk id="9" creationId="{00000000-0000-0000-0000-000000000000}"/>
          </ac:graphicFrameMkLst>
        </pc:graphicFrameChg>
      </pc:sldChg>
      <pc:sldChg chg="addSp delSp mod">
        <pc:chgData name="Gera Weiss" userId="f0aa0173-552d-4808-9782-d425e6aaf8d9" providerId="ADAL" clId="{A44D7494-2E38-49C2-BAAF-A3F965AD6365}" dt="2025-05-05T08:39:16.832" v="6"/>
        <pc:sldMkLst>
          <pc:docMk/>
          <pc:sldMk cId="2634891968" sldId="321"/>
        </pc:sldMkLst>
      </pc:sldChg>
      <pc:sldChg chg="addSp modSp add mod">
        <pc:chgData name="Gera Weiss" userId="f0aa0173-552d-4808-9782-d425e6aaf8d9" providerId="ADAL" clId="{A44D7494-2E38-49C2-BAAF-A3F965AD6365}" dt="2025-05-05T08:41:57.411" v="94" actId="1076"/>
        <pc:sldMkLst>
          <pc:docMk/>
          <pc:sldMk cId="2890882756" sldId="324"/>
        </pc:sldMkLst>
        <pc:spChg chg="mod">
          <ac:chgData name="Gera Weiss" userId="f0aa0173-552d-4808-9782-d425e6aaf8d9" providerId="ADAL" clId="{A44D7494-2E38-49C2-BAAF-A3F965AD6365}" dt="2025-05-05T08:39:28.566" v="8" actId="6549"/>
          <ac:spMkLst>
            <pc:docMk/>
            <pc:sldMk cId="2890882756" sldId="324"/>
            <ac:spMk id="2" creationId="{00000000-0000-0000-0000-000000000000}"/>
          </ac:spMkLst>
        </pc:spChg>
        <pc:spChg chg="add mod">
          <ac:chgData name="Gera Weiss" userId="f0aa0173-552d-4808-9782-d425e6aaf8d9" providerId="ADAL" clId="{A44D7494-2E38-49C2-BAAF-A3F965AD6365}" dt="2025-05-05T08:40:47.318" v="55" actId="20577"/>
          <ac:spMkLst>
            <pc:docMk/>
            <pc:sldMk cId="2890882756" sldId="324"/>
            <ac:spMk id="3" creationId="{C16AF191-5A01-81BD-1A1E-261DCE6ABC2F}"/>
          </ac:spMkLst>
        </pc:spChg>
        <pc:spChg chg="add mod">
          <ac:chgData name="Gera Weiss" userId="f0aa0173-552d-4808-9782-d425e6aaf8d9" providerId="ADAL" clId="{A44D7494-2E38-49C2-BAAF-A3F965AD6365}" dt="2025-05-05T08:41:57.411" v="94" actId="1076"/>
          <ac:spMkLst>
            <pc:docMk/>
            <pc:sldMk cId="2890882756" sldId="324"/>
            <ac:spMk id="7" creationId="{B99D3ECB-C94C-4F81-55A4-3F6C6101AB9C}"/>
          </ac:spMkLst>
        </pc:spChg>
      </pc:sldChg>
    </pc:docChg>
  </pc:docChgLst>
  <pc:docChgLst>
    <pc:chgData name="Gera Weiss" userId="f0aa0173-552d-4808-9782-d425e6aaf8d9" providerId="ADAL" clId="{C06D181D-6F2C-48B4-B242-629CAF348AA1}"/>
    <pc:docChg chg="custSel modSld">
      <pc:chgData name="Gera Weiss" userId="f0aa0173-552d-4808-9782-d425e6aaf8d9" providerId="ADAL" clId="{C06D181D-6F2C-48B4-B242-629CAF348AA1}" dt="2024-06-06T05:51:12.395" v="32" actId="1076"/>
      <pc:docMkLst>
        <pc:docMk/>
      </pc:docMkLst>
      <pc:sldChg chg="addSp delSp modSp mod">
        <pc:chgData name="Gera Weiss" userId="f0aa0173-552d-4808-9782-d425e6aaf8d9" providerId="ADAL" clId="{C06D181D-6F2C-48B4-B242-629CAF348AA1}" dt="2024-06-06T05:50:25.477" v="31" actId="1076"/>
        <pc:sldMkLst>
          <pc:docMk/>
          <pc:sldMk cId="2391071654" sldId="300"/>
        </pc:sldMkLst>
      </pc:sldChg>
      <pc:sldChg chg="modSp">
        <pc:chgData name="Gera Weiss" userId="f0aa0173-552d-4808-9782-d425e6aaf8d9" providerId="ADAL" clId="{C06D181D-6F2C-48B4-B242-629CAF348AA1}" dt="2024-06-06T05:43:10.991" v="3" actId="20577"/>
        <pc:sldMkLst>
          <pc:docMk/>
          <pc:sldMk cId="833021941" sldId="314"/>
        </pc:sldMkLst>
      </pc:sldChg>
      <pc:sldChg chg="modSp">
        <pc:chgData name="Gera Weiss" userId="f0aa0173-552d-4808-9782-d425e6aaf8d9" providerId="ADAL" clId="{C06D181D-6F2C-48B4-B242-629CAF348AA1}" dt="2024-06-06T05:51:12.395" v="32" actId="1076"/>
        <pc:sldMkLst>
          <pc:docMk/>
          <pc:sldMk cId="4051774087" sldId="31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D14501-CE2F-4EB4-A5C7-DDF3548B71EF}" type="doc">
      <dgm:prSet loTypeId="urn:microsoft.com/office/officeart/2005/8/layout/venn2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pPr rtl="1"/>
          <a:endParaRPr lang="he-IL"/>
        </a:p>
      </dgm:t>
    </dgm:pt>
    <dgm:pt modelId="{196F6C8A-4539-474E-9524-A0CEC5DF53C4}">
      <dgm:prSet phldrT="[Text]" custT="1"/>
      <dgm:spPr/>
      <dgm:t>
        <a:bodyPr/>
        <a:lstStyle/>
        <a:p>
          <a:pPr rtl="1"/>
          <a:r>
            <a:rPr lang="he-IL" sz="2000" dirty="0">
              <a:latin typeface="Gisha" panose="020B0502040204020203" pitchFamily="34" charset="-79"/>
              <a:cs typeface="Gisha" panose="020B0502040204020203" pitchFamily="34" charset="-79"/>
            </a:rPr>
            <a:t>תכונות זמן לינארי</a:t>
          </a:r>
        </a:p>
      </dgm:t>
    </dgm:pt>
    <dgm:pt modelId="{D2021F3E-309A-4364-ABEE-83FDF32828BA}" type="parTrans" cxnId="{479768C4-A33C-4449-A4E2-1D619CEE3797}">
      <dgm:prSet/>
      <dgm:spPr/>
      <dgm:t>
        <a:bodyPr/>
        <a:lstStyle/>
        <a:p>
          <a:pPr rtl="1"/>
          <a:endParaRPr lang="he-IL" sz="20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57AD3594-8368-4559-8A5A-68239A4ADA1A}" type="sibTrans" cxnId="{479768C4-A33C-4449-A4E2-1D619CEE3797}">
      <dgm:prSet/>
      <dgm:spPr/>
      <dgm:t>
        <a:bodyPr/>
        <a:lstStyle/>
        <a:p>
          <a:pPr rtl="1"/>
          <a:endParaRPr lang="he-IL" sz="20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0B48389C-D87C-4544-8643-6C6317ACD7E3}">
      <dgm:prSet phldrT="[Text]" custT="1"/>
      <dgm:spPr/>
      <dgm:t>
        <a:bodyPr/>
        <a:lstStyle/>
        <a:p>
          <a:pPr rtl="1"/>
          <a:r>
            <a:rPr lang="he-IL" sz="2000" dirty="0">
              <a:latin typeface="Gisha" panose="020B0502040204020203" pitchFamily="34" charset="-79"/>
              <a:cs typeface="Gisha" panose="020B0502040204020203" pitchFamily="34" charset="-79"/>
            </a:rPr>
            <a:t>תכונות בטיחות</a:t>
          </a:r>
        </a:p>
      </dgm:t>
    </dgm:pt>
    <dgm:pt modelId="{297DDD98-E353-4C7E-AA7B-E4843E74E9C1}" type="parTrans" cxnId="{563F9DF0-A055-4907-AF7E-E2F146941D48}">
      <dgm:prSet/>
      <dgm:spPr/>
      <dgm:t>
        <a:bodyPr/>
        <a:lstStyle/>
        <a:p>
          <a:pPr rtl="1"/>
          <a:endParaRPr lang="he-IL" sz="20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6E73CDF4-1E22-4492-AA18-C611C45DA140}" type="sibTrans" cxnId="{563F9DF0-A055-4907-AF7E-E2F146941D48}">
      <dgm:prSet/>
      <dgm:spPr/>
      <dgm:t>
        <a:bodyPr/>
        <a:lstStyle/>
        <a:p>
          <a:pPr rtl="1"/>
          <a:endParaRPr lang="he-IL" sz="20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36C3B86D-77FB-40C7-8768-6F4BC2EACF0B}">
      <dgm:prSet phldrT="[Text]" custT="1"/>
      <dgm:spPr/>
      <dgm:t>
        <a:bodyPr/>
        <a:lstStyle/>
        <a:p>
          <a:pPr rtl="1"/>
          <a:r>
            <a:rPr lang="he-IL" sz="2000" dirty="0">
              <a:latin typeface="Gisha" panose="020B0502040204020203" pitchFamily="34" charset="-79"/>
              <a:cs typeface="Gisha" panose="020B0502040204020203" pitchFamily="34" charset="-79"/>
            </a:rPr>
            <a:t>תכונות שמורה</a:t>
          </a:r>
        </a:p>
      </dgm:t>
    </dgm:pt>
    <dgm:pt modelId="{F9B16D79-B8B3-4A0D-8B49-BA0ED799E765}" type="parTrans" cxnId="{5E71863C-BD37-46C2-9226-391EAF46E4E7}">
      <dgm:prSet/>
      <dgm:spPr/>
      <dgm:t>
        <a:bodyPr/>
        <a:lstStyle/>
        <a:p>
          <a:pPr rtl="1"/>
          <a:endParaRPr lang="he-IL" sz="20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23C7625D-E7F8-4181-9356-6FD858997286}" type="sibTrans" cxnId="{5E71863C-BD37-46C2-9226-391EAF46E4E7}">
      <dgm:prSet/>
      <dgm:spPr/>
      <dgm:t>
        <a:bodyPr/>
        <a:lstStyle/>
        <a:p>
          <a:pPr rtl="1"/>
          <a:endParaRPr lang="he-IL" sz="20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2E47A49D-1CA1-4A3C-A386-74B56729B7C4}" type="pres">
      <dgm:prSet presAssocID="{56D14501-CE2F-4EB4-A5C7-DDF3548B71EF}" presName="Name0" presStyleCnt="0">
        <dgm:presLayoutVars>
          <dgm:chMax val="7"/>
          <dgm:resizeHandles val="exact"/>
        </dgm:presLayoutVars>
      </dgm:prSet>
      <dgm:spPr/>
    </dgm:pt>
    <dgm:pt modelId="{B4D6EC73-7F72-4C10-A829-966A73DB01B6}" type="pres">
      <dgm:prSet presAssocID="{56D14501-CE2F-4EB4-A5C7-DDF3548B71EF}" presName="comp1" presStyleCnt="0"/>
      <dgm:spPr/>
    </dgm:pt>
    <dgm:pt modelId="{C088C467-C59D-4EFC-922C-6B5CFF44B4F5}" type="pres">
      <dgm:prSet presAssocID="{56D14501-CE2F-4EB4-A5C7-DDF3548B71EF}" presName="circle1" presStyleLbl="node1" presStyleIdx="0" presStyleCnt="3" custScaleX="282500" custLinFactNeighborX="-8750"/>
      <dgm:spPr/>
    </dgm:pt>
    <dgm:pt modelId="{6B8B859F-6849-437F-A494-2D3348D57FAD}" type="pres">
      <dgm:prSet presAssocID="{56D14501-CE2F-4EB4-A5C7-DDF3548B71EF}" presName="c1text" presStyleLbl="node1" presStyleIdx="0" presStyleCnt="3">
        <dgm:presLayoutVars>
          <dgm:bulletEnabled val="1"/>
        </dgm:presLayoutVars>
      </dgm:prSet>
      <dgm:spPr/>
    </dgm:pt>
    <dgm:pt modelId="{811ADA15-B9CD-4674-8BA1-A52961E63A55}" type="pres">
      <dgm:prSet presAssocID="{56D14501-CE2F-4EB4-A5C7-DDF3548B71EF}" presName="comp2" presStyleCnt="0"/>
      <dgm:spPr/>
    </dgm:pt>
    <dgm:pt modelId="{68478B98-F230-40C0-85FB-7D21190F5EDC}" type="pres">
      <dgm:prSet presAssocID="{56D14501-CE2F-4EB4-A5C7-DDF3548B71EF}" presName="circle2" presStyleLbl="node1" presStyleIdx="1" presStyleCnt="3" custScaleX="240000" custScaleY="86667"/>
      <dgm:spPr/>
    </dgm:pt>
    <dgm:pt modelId="{384E96C4-018C-4CB4-B517-D4910A32038C}" type="pres">
      <dgm:prSet presAssocID="{56D14501-CE2F-4EB4-A5C7-DDF3548B71EF}" presName="c2text" presStyleLbl="node1" presStyleIdx="1" presStyleCnt="3">
        <dgm:presLayoutVars>
          <dgm:bulletEnabled val="1"/>
        </dgm:presLayoutVars>
      </dgm:prSet>
      <dgm:spPr/>
    </dgm:pt>
    <dgm:pt modelId="{943F8F99-0574-497F-B8EA-52AE74191D32}" type="pres">
      <dgm:prSet presAssocID="{56D14501-CE2F-4EB4-A5C7-DDF3548B71EF}" presName="comp3" presStyleCnt="0"/>
      <dgm:spPr/>
    </dgm:pt>
    <dgm:pt modelId="{7665203A-BE4A-4F22-A27B-50426E82EFA0}" type="pres">
      <dgm:prSet presAssocID="{56D14501-CE2F-4EB4-A5C7-DDF3548B71EF}" presName="circle3" presStyleLbl="node1" presStyleIdx="2" presStyleCnt="3" custScaleX="230000" custScaleY="47500" custLinFactNeighborX="5000" custLinFactNeighborY="-13750"/>
      <dgm:spPr/>
    </dgm:pt>
    <dgm:pt modelId="{C19D20C6-5932-405C-986B-44C791FD8059}" type="pres">
      <dgm:prSet presAssocID="{56D14501-CE2F-4EB4-A5C7-DDF3548B71EF}" presName="c3text" presStyleLbl="node1" presStyleIdx="2" presStyleCnt="3">
        <dgm:presLayoutVars>
          <dgm:bulletEnabled val="1"/>
        </dgm:presLayoutVars>
      </dgm:prSet>
      <dgm:spPr/>
    </dgm:pt>
  </dgm:ptLst>
  <dgm:cxnLst>
    <dgm:cxn modelId="{C916E80A-D064-4B05-835A-3FF61EDF3F8E}" type="presOf" srcId="{0B48389C-D87C-4544-8643-6C6317ACD7E3}" destId="{384E96C4-018C-4CB4-B517-D4910A32038C}" srcOrd="1" destOrd="0" presId="urn:microsoft.com/office/officeart/2005/8/layout/venn2"/>
    <dgm:cxn modelId="{927FCD16-C1E9-4321-9551-A833DA209767}" type="presOf" srcId="{36C3B86D-77FB-40C7-8768-6F4BC2EACF0B}" destId="{C19D20C6-5932-405C-986B-44C791FD8059}" srcOrd="1" destOrd="0" presId="urn:microsoft.com/office/officeart/2005/8/layout/venn2"/>
    <dgm:cxn modelId="{60E2781F-B541-4EE2-B310-110E0D6CB5CD}" type="presOf" srcId="{0B48389C-D87C-4544-8643-6C6317ACD7E3}" destId="{68478B98-F230-40C0-85FB-7D21190F5EDC}" srcOrd="0" destOrd="0" presId="urn:microsoft.com/office/officeart/2005/8/layout/venn2"/>
    <dgm:cxn modelId="{40C43720-7A36-49D5-923A-8BCCFC06C603}" type="presOf" srcId="{36C3B86D-77FB-40C7-8768-6F4BC2EACF0B}" destId="{7665203A-BE4A-4F22-A27B-50426E82EFA0}" srcOrd="0" destOrd="0" presId="urn:microsoft.com/office/officeart/2005/8/layout/venn2"/>
    <dgm:cxn modelId="{5E71863C-BD37-46C2-9226-391EAF46E4E7}" srcId="{56D14501-CE2F-4EB4-A5C7-DDF3548B71EF}" destId="{36C3B86D-77FB-40C7-8768-6F4BC2EACF0B}" srcOrd="2" destOrd="0" parTransId="{F9B16D79-B8B3-4A0D-8B49-BA0ED799E765}" sibTransId="{23C7625D-E7F8-4181-9356-6FD858997286}"/>
    <dgm:cxn modelId="{6A09175C-D069-486B-B97E-2BA01FDDC2F3}" type="presOf" srcId="{196F6C8A-4539-474E-9524-A0CEC5DF53C4}" destId="{C088C467-C59D-4EFC-922C-6B5CFF44B4F5}" srcOrd="0" destOrd="0" presId="urn:microsoft.com/office/officeart/2005/8/layout/venn2"/>
    <dgm:cxn modelId="{06CBD083-75FA-4823-879D-B22839258DA9}" type="presOf" srcId="{196F6C8A-4539-474E-9524-A0CEC5DF53C4}" destId="{6B8B859F-6849-437F-A494-2D3348D57FAD}" srcOrd="1" destOrd="0" presId="urn:microsoft.com/office/officeart/2005/8/layout/venn2"/>
    <dgm:cxn modelId="{4E4296AE-77D4-4AD9-ADD1-4AB401D4F2B9}" type="presOf" srcId="{56D14501-CE2F-4EB4-A5C7-DDF3548B71EF}" destId="{2E47A49D-1CA1-4A3C-A386-74B56729B7C4}" srcOrd="0" destOrd="0" presId="urn:microsoft.com/office/officeart/2005/8/layout/venn2"/>
    <dgm:cxn modelId="{479768C4-A33C-4449-A4E2-1D619CEE3797}" srcId="{56D14501-CE2F-4EB4-A5C7-DDF3548B71EF}" destId="{196F6C8A-4539-474E-9524-A0CEC5DF53C4}" srcOrd="0" destOrd="0" parTransId="{D2021F3E-309A-4364-ABEE-83FDF32828BA}" sibTransId="{57AD3594-8368-4559-8A5A-68239A4ADA1A}"/>
    <dgm:cxn modelId="{563F9DF0-A055-4907-AF7E-E2F146941D48}" srcId="{56D14501-CE2F-4EB4-A5C7-DDF3548B71EF}" destId="{0B48389C-D87C-4544-8643-6C6317ACD7E3}" srcOrd="1" destOrd="0" parTransId="{297DDD98-E353-4C7E-AA7B-E4843E74E9C1}" sibTransId="{6E73CDF4-1E22-4492-AA18-C611C45DA140}"/>
    <dgm:cxn modelId="{B74D6A9C-E0CB-410F-900A-179BED2C015F}" type="presParOf" srcId="{2E47A49D-1CA1-4A3C-A386-74B56729B7C4}" destId="{B4D6EC73-7F72-4C10-A829-966A73DB01B6}" srcOrd="0" destOrd="0" presId="urn:microsoft.com/office/officeart/2005/8/layout/venn2"/>
    <dgm:cxn modelId="{BCC7F121-2CB0-4A6F-8ABF-FB7B30FF28CE}" type="presParOf" srcId="{B4D6EC73-7F72-4C10-A829-966A73DB01B6}" destId="{C088C467-C59D-4EFC-922C-6B5CFF44B4F5}" srcOrd="0" destOrd="0" presId="urn:microsoft.com/office/officeart/2005/8/layout/venn2"/>
    <dgm:cxn modelId="{4257F0AE-FCBE-4F52-887C-385B91D1CCFA}" type="presParOf" srcId="{B4D6EC73-7F72-4C10-A829-966A73DB01B6}" destId="{6B8B859F-6849-437F-A494-2D3348D57FAD}" srcOrd="1" destOrd="0" presId="urn:microsoft.com/office/officeart/2005/8/layout/venn2"/>
    <dgm:cxn modelId="{001D7FBC-2208-4C3E-83DB-41777955ECF8}" type="presParOf" srcId="{2E47A49D-1CA1-4A3C-A386-74B56729B7C4}" destId="{811ADA15-B9CD-4674-8BA1-A52961E63A55}" srcOrd="1" destOrd="0" presId="urn:microsoft.com/office/officeart/2005/8/layout/venn2"/>
    <dgm:cxn modelId="{31D213F8-C429-410F-9A85-F98DBEF52080}" type="presParOf" srcId="{811ADA15-B9CD-4674-8BA1-A52961E63A55}" destId="{68478B98-F230-40C0-85FB-7D21190F5EDC}" srcOrd="0" destOrd="0" presId="urn:microsoft.com/office/officeart/2005/8/layout/venn2"/>
    <dgm:cxn modelId="{10429613-3C5D-4651-A7FF-52F8DE7F0E06}" type="presParOf" srcId="{811ADA15-B9CD-4674-8BA1-A52961E63A55}" destId="{384E96C4-018C-4CB4-B517-D4910A32038C}" srcOrd="1" destOrd="0" presId="urn:microsoft.com/office/officeart/2005/8/layout/venn2"/>
    <dgm:cxn modelId="{384C1BFC-88AA-4C7D-A40B-361415B19F89}" type="presParOf" srcId="{2E47A49D-1CA1-4A3C-A386-74B56729B7C4}" destId="{943F8F99-0574-497F-B8EA-52AE74191D32}" srcOrd="2" destOrd="0" presId="urn:microsoft.com/office/officeart/2005/8/layout/venn2"/>
    <dgm:cxn modelId="{9BF00A82-6E3F-4040-815C-D11A33EEC796}" type="presParOf" srcId="{943F8F99-0574-497F-B8EA-52AE74191D32}" destId="{7665203A-BE4A-4F22-A27B-50426E82EFA0}" srcOrd="0" destOrd="0" presId="urn:microsoft.com/office/officeart/2005/8/layout/venn2"/>
    <dgm:cxn modelId="{7A32AD66-BD3E-4781-B1B6-91B3C63091AB}" type="presParOf" srcId="{943F8F99-0574-497F-B8EA-52AE74191D32}" destId="{C19D20C6-5932-405C-986B-44C791FD8059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D14501-CE2F-4EB4-A5C7-DDF3548B71EF}" type="doc">
      <dgm:prSet loTypeId="urn:microsoft.com/office/officeart/2005/8/layout/venn2" loCatId="relationship" qsTypeId="urn:microsoft.com/office/officeart/2005/8/quickstyle/simple3" qsCatId="simple" csTypeId="urn:microsoft.com/office/officeart/2005/8/colors/accent2_3" csCatId="accent2" phldr="1"/>
      <dgm:spPr/>
      <dgm:t>
        <a:bodyPr/>
        <a:lstStyle/>
        <a:p>
          <a:pPr rtl="1"/>
          <a:endParaRPr lang="he-IL"/>
        </a:p>
      </dgm:t>
    </dgm:pt>
    <dgm:pt modelId="{196F6C8A-4539-474E-9524-A0CEC5DF53C4}">
      <dgm:prSet phldrT="[Text]" custT="1"/>
      <dgm:spPr/>
      <dgm:t>
        <a:bodyPr/>
        <a:lstStyle/>
        <a:p>
          <a:pPr rtl="1"/>
          <a:r>
            <a:rPr lang="he-IL" sz="18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זמן לינארי</a:t>
          </a:r>
        </a:p>
      </dgm:t>
    </dgm:pt>
    <dgm:pt modelId="{D2021F3E-309A-4364-ABEE-83FDF32828BA}" type="parTrans" cxnId="{479768C4-A33C-4449-A4E2-1D619CEE3797}">
      <dgm:prSet/>
      <dgm:spPr/>
      <dgm:t>
        <a:bodyPr/>
        <a:lstStyle/>
        <a:p>
          <a:pPr rtl="1"/>
          <a:endParaRPr lang="he-IL" sz="1800"/>
        </a:p>
      </dgm:t>
    </dgm:pt>
    <dgm:pt modelId="{57AD3594-8368-4559-8A5A-68239A4ADA1A}" type="sibTrans" cxnId="{479768C4-A33C-4449-A4E2-1D619CEE3797}">
      <dgm:prSet/>
      <dgm:spPr/>
      <dgm:t>
        <a:bodyPr/>
        <a:lstStyle/>
        <a:p>
          <a:pPr rtl="1"/>
          <a:endParaRPr lang="he-IL" sz="1800"/>
        </a:p>
      </dgm:t>
    </dgm:pt>
    <dgm:pt modelId="{36C3B86D-77FB-40C7-8768-6F4BC2EACF0B}">
      <dgm:prSet phldrT="[Text]" custT="1"/>
      <dgm:spPr/>
      <dgm:t>
        <a:bodyPr/>
        <a:lstStyle/>
        <a:p>
          <a:pPr rtl="1"/>
          <a:r>
            <a:rPr lang="he-IL" sz="18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שמורה</a:t>
          </a:r>
        </a:p>
      </dgm:t>
    </dgm:pt>
    <dgm:pt modelId="{F9B16D79-B8B3-4A0D-8B49-BA0ED799E765}" type="parTrans" cxnId="{5E71863C-BD37-46C2-9226-391EAF46E4E7}">
      <dgm:prSet/>
      <dgm:spPr/>
      <dgm:t>
        <a:bodyPr/>
        <a:lstStyle/>
        <a:p>
          <a:pPr rtl="1"/>
          <a:endParaRPr lang="he-IL" sz="1800"/>
        </a:p>
      </dgm:t>
    </dgm:pt>
    <dgm:pt modelId="{23C7625D-E7F8-4181-9356-6FD858997286}" type="sibTrans" cxnId="{5E71863C-BD37-46C2-9226-391EAF46E4E7}">
      <dgm:prSet/>
      <dgm:spPr/>
      <dgm:t>
        <a:bodyPr/>
        <a:lstStyle/>
        <a:p>
          <a:pPr rtl="1"/>
          <a:endParaRPr lang="he-IL" sz="1800"/>
        </a:p>
      </dgm:t>
    </dgm:pt>
    <dgm:pt modelId="{11CB0073-22A3-4B10-8CC9-03DAB7A2A0B1}">
      <dgm:prSet phldrT="[Text]" custT="1"/>
      <dgm:spPr/>
      <dgm:t>
        <a:bodyPr/>
        <a:lstStyle/>
        <a:p>
          <a:pPr rtl="1"/>
          <a:r>
            <a:rPr lang="he-IL" sz="18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בטיחות</a:t>
          </a:r>
        </a:p>
      </dgm:t>
    </dgm:pt>
    <dgm:pt modelId="{A0C72913-FE3C-4BC5-9C02-7FB2EB407EBD}" type="parTrans" cxnId="{0DE3F7D5-FD2A-436E-A758-10964E474F53}">
      <dgm:prSet/>
      <dgm:spPr/>
      <dgm:t>
        <a:bodyPr/>
        <a:lstStyle/>
        <a:p>
          <a:endParaRPr lang="en-US" sz="1600"/>
        </a:p>
      </dgm:t>
    </dgm:pt>
    <dgm:pt modelId="{A8519AFA-FE3B-4A27-953E-77C871383354}" type="sibTrans" cxnId="{0DE3F7D5-FD2A-436E-A758-10964E474F53}">
      <dgm:prSet/>
      <dgm:spPr/>
      <dgm:t>
        <a:bodyPr/>
        <a:lstStyle/>
        <a:p>
          <a:endParaRPr lang="en-US" sz="1600"/>
        </a:p>
      </dgm:t>
    </dgm:pt>
    <dgm:pt modelId="{FACC0A7C-B265-485F-91AA-0070D5C2BBAC}">
      <dgm:prSet phldrT="[Text]" custT="1"/>
      <dgm:spPr/>
      <dgm:t>
        <a:bodyPr/>
        <a:lstStyle/>
        <a:p>
          <a:pPr rtl="1"/>
          <a:r>
            <a:rPr lang="he-IL" sz="18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בטיחות רגולריות</a:t>
          </a:r>
        </a:p>
      </dgm:t>
    </dgm:pt>
    <dgm:pt modelId="{AC490365-C0F9-426F-A086-46343DBC6561}" type="parTrans" cxnId="{B3526C9F-DF9F-4A5A-948F-CD7B92D73575}">
      <dgm:prSet/>
      <dgm:spPr/>
      <dgm:t>
        <a:bodyPr/>
        <a:lstStyle/>
        <a:p>
          <a:endParaRPr lang="en-US" sz="1600"/>
        </a:p>
      </dgm:t>
    </dgm:pt>
    <dgm:pt modelId="{F154BA92-4257-4936-A73C-59499D030202}" type="sibTrans" cxnId="{B3526C9F-DF9F-4A5A-948F-CD7B92D73575}">
      <dgm:prSet/>
      <dgm:spPr/>
      <dgm:t>
        <a:bodyPr/>
        <a:lstStyle/>
        <a:p>
          <a:endParaRPr lang="en-US" sz="1600"/>
        </a:p>
      </dgm:t>
    </dgm:pt>
    <dgm:pt modelId="{2E47A49D-1CA1-4A3C-A386-74B56729B7C4}" type="pres">
      <dgm:prSet presAssocID="{56D14501-CE2F-4EB4-A5C7-DDF3548B71EF}" presName="Name0" presStyleCnt="0">
        <dgm:presLayoutVars>
          <dgm:chMax val="7"/>
          <dgm:resizeHandles val="exact"/>
        </dgm:presLayoutVars>
      </dgm:prSet>
      <dgm:spPr/>
    </dgm:pt>
    <dgm:pt modelId="{B4D6EC73-7F72-4C10-A829-966A73DB01B6}" type="pres">
      <dgm:prSet presAssocID="{56D14501-CE2F-4EB4-A5C7-DDF3548B71EF}" presName="comp1" presStyleCnt="0"/>
      <dgm:spPr/>
    </dgm:pt>
    <dgm:pt modelId="{C088C467-C59D-4EFC-922C-6B5CFF44B4F5}" type="pres">
      <dgm:prSet presAssocID="{56D14501-CE2F-4EB4-A5C7-DDF3548B71EF}" presName="circle1" presStyleLbl="node1" presStyleIdx="0" presStyleCnt="4" custScaleX="208621" custScaleY="87572" custLinFactNeighborX="-8750"/>
      <dgm:spPr/>
    </dgm:pt>
    <dgm:pt modelId="{6B8B859F-6849-437F-A494-2D3348D57FAD}" type="pres">
      <dgm:prSet presAssocID="{56D14501-CE2F-4EB4-A5C7-DDF3548B71EF}" presName="c1text" presStyleLbl="node1" presStyleIdx="0" presStyleCnt="4">
        <dgm:presLayoutVars>
          <dgm:bulletEnabled val="1"/>
        </dgm:presLayoutVars>
      </dgm:prSet>
      <dgm:spPr/>
    </dgm:pt>
    <dgm:pt modelId="{811ADA15-B9CD-4674-8BA1-A52961E63A55}" type="pres">
      <dgm:prSet presAssocID="{56D14501-CE2F-4EB4-A5C7-DDF3548B71EF}" presName="comp2" presStyleCnt="0"/>
      <dgm:spPr/>
    </dgm:pt>
    <dgm:pt modelId="{68478B98-F230-40C0-85FB-7D21190F5EDC}" type="pres">
      <dgm:prSet presAssocID="{56D14501-CE2F-4EB4-A5C7-DDF3548B71EF}" presName="circle2" presStyleLbl="node1" presStyleIdx="1" presStyleCnt="4" custScaleX="210000" custScaleY="78757" custLinFactNeighborX="-9471" custLinFactNeighborY="-2177"/>
      <dgm:spPr/>
    </dgm:pt>
    <dgm:pt modelId="{384E96C4-018C-4CB4-B517-D4910A32038C}" type="pres">
      <dgm:prSet presAssocID="{56D14501-CE2F-4EB4-A5C7-DDF3548B71EF}" presName="c2text" presStyleLbl="node1" presStyleIdx="1" presStyleCnt="4">
        <dgm:presLayoutVars>
          <dgm:bulletEnabled val="1"/>
        </dgm:presLayoutVars>
      </dgm:prSet>
      <dgm:spPr/>
    </dgm:pt>
    <dgm:pt modelId="{943F8F99-0574-497F-B8EA-52AE74191D32}" type="pres">
      <dgm:prSet presAssocID="{56D14501-CE2F-4EB4-A5C7-DDF3548B71EF}" presName="comp3" presStyleCnt="0"/>
      <dgm:spPr/>
    </dgm:pt>
    <dgm:pt modelId="{7665203A-BE4A-4F22-A27B-50426E82EFA0}" type="pres">
      <dgm:prSet presAssocID="{56D14501-CE2F-4EB4-A5C7-DDF3548B71EF}" presName="circle3" presStyleLbl="node1" presStyleIdx="2" presStyleCnt="4" custScaleX="262911" custScaleY="60781" custLinFactNeighborX="-5975" custLinFactNeighborY="-15944"/>
      <dgm:spPr/>
    </dgm:pt>
    <dgm:pt modelId="{C19D20C6-5932-405C-986B-44C791FD8059}" type="pres">
      <dgm:prSet presAssocID="{56D14501-CE2F-4EB4-A5C7-DDF3548B71EF}" presName="c3text" presStyleLbl="node1" presStyleIdx="2" presStyleCnt="4">
        <dgm:presLayoutVars>
          <dgm:bulletEnabled val="1"/>
        </dgm:presLayoutVars>
      </dgm:prSet>
      <dgm:spPr/>
    </dgm:pt>
    <dgm:pt modelId="{0A35BC79-C655-4109-AA75-F114EA333402}" type="pres">
      <dgm:prSet presAssocID="{56D14501-CE2F-4EB4-A5C7-DDF3548B71EF}" presName="comp4" presStyleCnt="0"/>
      <dgm:spPr/>
    </dgm:pt>
    <dgm:pt modelId="{21B9FF40-A790-4D39-8451-2B7CF307B7FE}" type="pres">
      <dgm:prSet presAssocID="{56D14501-CE2F-4EB4-A5C7-DDF3548B71EF}" presName="circle4" presStyleLbl="node1" presStyleIdx="3" presStyleCnt="4" custScaleX="256877" custScaleY="40000" custLinFactNeighborX="-21695" custLinFactNeighborY="-37745"/>
      <dgm:spPr/>
    </dgm:pt>
    <dgm:pt modelId="{BB9CCF46-C5CB-4A92-8267-7A30B0E1BE75}" type="pres">
      <dgm:prSet presAssocID="{56D14501-CE2F-4EB4-A5C7-DDF3548B71EF}" presName="c4text" presStyleLbl="node1" presStyleIdx="3" presStyleCnt="4">
        <dgm:presLayoutVars>
          <dgm:bulletEnabled val="1"/>
        </dgm:presLayoutVars>
      </dgm:prSet>
      <dgm:spPr/>
    </dgm:pt>
  </dgm:ptLst>
  <dgm:cxnLst>
    <dgm:cxn modelId="{DD09EA01-7F94-4DA6-9EB9-A87BF21C38EC}" type="presOf" srcId="{36C3B86D-77FB-40C7-8768-6F4BC2EACF0B}" destId="{BB9CCF46-C5CB-4A92-8267-7A30B0E1BE75}" srcOrd="1" destOrd="0" presId="urn:microsoft.com/office/officeart/2005/8/layout/venn2"/>
    <dgm:cxn modelId="{1E528220-2FAA-404F-8937-993263904812}" type="presOf" srcId="{FACC0A7C-B265-485F-91AA-0070D5C2BBAC}" destId="{C19D20C6-5932-405C-986B-44C791FD8059}" srcOrd="1" destOrd="0" presId="urn:microsoft.com/office/officeart/2005/8/layout/venn2"/>
    <dgm:cxn modelId="{7982C837-77EE-4C89-8A80-5E60BE774C30}" type="presOf" srcId="{36C3B86D-77FB-40C7-8768-6F4BC2EACF0B}" destId="{21B9FF40-A790-4D39-8451-2B7CF307B7FE}" srcOrd="0" destOrd="0" presId="urn:microsoft.com/office/officeart/2005/8/layout/venn2"/>
    <dgm:cxn modelId="{5E71863C-BD37-46C2-9226-391EAF46E4E7}" srcId="{56D14501-CE2F-4EB4-A5C7-DDF3548B71EF}" destId="{36C3B86D-77FB-40C7-8768-6F4BC2EACF0B}" srcOrd="3" destOrd="0" parTransId="{F9B16D79-B8B3-4A0D-8B49-BA0ED799E765}" sibTransId="{23C7625D-E7F8-4181-9356-6FD858997286}"/>
    <dgm:cxn modelId="{6A09175C-D069-486B-B97E-2BA01FDDC2F3}" type="presOf" srcId="{196F6C8A-4539-474E-9524-A0CEC5DF53C4}" destId="{C088C467-C59D-4EFC-922C-6B5CFF44B4F5}" srcOrd="0" destOrd="0" presId="urn:microsoft.com/office/officeart/2005/8/layout/venn2"/>
    <dgm:cxn modelId="{65B1526B-81B9-4A0B-973B-D01B729F87A1}" type="presOf" srcId="{FACC0A7C-B265-485F-91AA-0070D5C2BBAC}" destId="{7665203A-BE4A-4F22-A27B-50426E82EFA0}" srcOrd="0" destOrd="0" presId="urn:microsoft.com/office/officeart/2005/8/layout/venn2"/>
    <dgm:cxn modelId="{06CBD083-75FA-4823-879D-B22839258DA9}" type="presOf" srcId="{196F6C8A-4539-474E-9524-A0CEC5DF53C4}" destId="{6B8B859F-6849-437F-A494-2D3348D57FAD}" srcOrd="1" destOrd="0" presId="urn:microsoft.com/office/officeart/2005/8/layout/venn2"/>
    <dgm:cxn modelId="{B3526C9F-DF9F-4A5A-948F-CD7B92D73575}" srcId="{56D14501-CE2F-4EB4-A5C7-DDF3548B71EF}" destId="{FACC0A7C-B265-485F-91AA-0070D5C2BBAC}" srcOrd="2" destOrd="0" parTransId="{AC490365-C0F9-426F-A086-46343DBC6561}" sibTransId="{F154BA92-4257-4936-A73C-59499D030202}"/>
    <dgm:cxn modelId="{4E4296AE-77D4-4AD9-ADD1-4AB401D4F2B9}" type="presOf" srcId="{56D14501-CE2F-4EB4-A5C7-DDF3548B71EF}" destId="{2E47A49D-1CA1-4A3C-A386-74B56729B7C4}" srcOrd="0" destOrd="0" presId="urn:microsoft.com/office/officeart/2005/8/layout/venn2"/>
    <dgm:cxn modelId="{2EA1A2B6-4B3D-4AAB-9ACA-EA9E00D60D80}" type="presOf" srcId="{11CB0073-22A3-4B10-8CC9-03DAB7A2A0B1}" destId="{68478B98-F230-40C0-85FB-7D21190F5EDC}" srcOrd="0" destOrd="0" presId="urn:microsoft.com/office/officeart/2005/8/layout/venn2"/>
    <dgm:cxn modelId="{479768C4-A33C-4449-A4E2-1D619CEE3797}" srcId="{56D14501-CE2F-4EB4-A5C7-DDF3548B71EF}" destId="{196F6C8A-4539-474E-9524-A0CEC5DF53C4}" srcOrd="0" destOrd="0" parTransId="{D2021F3E-309A-4364-ABEE-83FDF32828BA}" sibTransId="{57AD3594-8368-4559-8A5A-68239A4ADA1A}"/>
    <dgm:cxn modelId="{0DE3F7D5-FD2A-436E-A758-10964E474F53}" srcId="{56D14501-CE2F-4EB4-A5C7-DDF3548B71EF}" destId="{11CB0073-22A3-4B10-8CC9-03DAB7A2A0B1}" srcOrd="1" destOrd="0" parTransId="{A0C72913-FE3C-4BC5-9C02-7FB2EB407EBD}" sibTransId="{A8519AFA-FE3B-4A27-953E-77C871383354}"/>
    <dgm:cxn modelId="{C783F4EB-9E17-4FA0-9076-71C6DBB457A5}" type="presOf" srcId="{11CB0073-22A3-4B10-8CC9-03DAB7A2A0B1}" destId="{384E96C4-018C-4CB4-B517-D4910A32038C}" srcOrd="1" destOrd="0" presId="urn:microsoft.com/office/officeart/2005/8/layout/venn2"/>
    <dgm:cxn modelId="{B74D6A9C-E0CB-410F-900A-179BED2C015F}" type="presParOf" srcId="{2E47A49D-1CA1-4A3C-A386-74B56729B7C4}" destId="{B4D6EC73-7F72-4C10-A829-966A73DB01B6}" srcOrd="0" destOrd="0" presId="urn:microsoft.com/office/officeart/2005/8/layout/venn2"/>
    <dgm:cxn modelId="{BCC7F121-2CB0-4A6F-8ABF-FB7B30FF28CE}" type="presParOf" srcId="{B4D6EC73-7F72-4C10-A829-966A73DB01B6}" destId="{C088C467-C59D-4EFC-922C-6B5CFF44B4F5}" srcOrd="0" destOrd="0" presId="urn:microsoft.com/office/officeart/2005/8/layout/venn2"/>
    <dgm:cxn modelId="{4257F0AE-FCBE-4F52-887C-385B91D1CCFA}" type="presParOf" srcId="{B4D6EC73-7F72-4C10-A829-966A73DB01B6}" destId="{6B8B859F-6849-437F-A494-2D3348D57FAD}" srcOrd="1" destOrd="0" presId="urn:microsoft.com/office/officeart/2005/8/layout/venn2"/>
    <dgm:cxn modelId="{001D7FBC-2208-4C3E-83DB-41777955ECF8}" type="presParOf" srcId="{2E47A49D-1CA1-4A3C-A386-74B56729B7C4}" destId="{811ADA15-B9CD-4674-8BA1-A52961E63A55}" srcOrd="1" destOrd="0" presId="urn:microsoft.com/office/officeart/2005/8/layout/venn2"/>
    <dgm:cxn modelId="{31D213F8-C429-410F-9A85-F98DBEF52080}" type="presParOf" srcId="{811ADA15-B9CD-4674-8BA1-A52961E63A55}" destId="{68478B98-F230-40C0-85FB-7D21190F5EDC}" srcOrd="0" destOrd="0" presId="urn:microsoft.com/office/officeart/2005/8/layout/venn2"/>
    <dgm:cxn modelId="{10429613-3C5D-4651-A7FF-52F8DE7F0E06}" type="presParOf" srcId="{811ADA15-B9CD-4674-8BA1-A52961E63A55}" destId="{384E96C4-018C-4CB4-B517-D4910A32038C}" srcOrd="1" destOrd="0" presId="urn:microsoft.com/office/officeart/2005/8/layout/venn2"/>
    <dgm:cxn modelId="{384C1BFC-88AA-4C7D-A40B-361415B19F89}" type="presParOf" srcId="{2E47A49D-1CA1-4A3C-A386-74B56729B7C4}" destId="{943F8F99-0574-497F-B8EA-52AE74191D32}" srcOrd="2" destOrd="0" presId="urn:microsoft.com/office/officeart/2005/8/layout/venn2"/>
    <dgm:cxn modelId="{9BF00A82-6E3F-4040-815C-D11A33EEC796}" type="presParOf" srcId="{943F8F99-0574-497F-B8EA-52AE74191D32}" destId="{7665203A-BE4A-4F22-A27B-50426E82EFA0}" srcOrd="0" destOrd="0" presId="urn:microsoft.com/office/officeart/2005/8/layout/venn2"/>
    <dgm:cxn modelId="{7A32AD66-BD3E-4781-B1B6-91B3C63091AB}" type="presParOf" srcId="{943F8F99-0574-497F-B8EA-52AE74191D32}" destId="{C19D20C6-5932-405C-986B-44C791FD8059}" srcOrd="1" destOrd="0" presId="urn:microsoft.com/office/officeart/2005/8/layout/venn2"/>
    <dgm:cxn modelId="{FDFBC8F6-3DCF-4D01-8421-48D025EFE9DD}" type="presParOf" srcId="{2E47A49D-1CA1-4A3C-A386-74B56729B7C4}" destId="{0A35BC79-C655-4109-AA75-F114EA333402}" srcOrd="3" destOrd="0" presId="urn:microsoft.com/office/officeart/2005/8/layout/venn2"/>
    <dgm:cxn modelId="{1013380A-ADFE-4ABD-9157-5AFE603F04B5}" type="presParOf" srcId="{0A35BC79-C655-4109-AA75-F114EA333402}" destId="{21B9FF40-A790-4D39-8451-2B7CF307B7FE}" srcOrd="0" destOrd="0" presId="urn:microsoft.com/office/officeart/2005/8/layout/venn2"/>
    <dgm:cxn modelId="{E0607CAE-1A0B-43B8-A54D-938EC7A48EDB}" type="presParOf" srcId="{0A35BC79-C655-4109-AA75-F114EA333402}" destId="{BB9CCF46-C5CB-4A92-8267-7A30B0E1BE75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8C467-C59D-4EFC-922C-6B5CFF44B4F5}">
      <dsp:nvSpPr>
        <dsp:cNvPr id="0" name=""/>
        <dsp:cNvSpPr/>
      </dsp:nvSpPr>
      <dsp:spPr>
        <a:xfrm>
          <a:off x="-257492" y="0"/>
          <a:ext cx="7677785" cy="271780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45000"/>
                <a:satMod val="155000"/>
              </a:schemeClr>
            </a:gs>
            <a:gs pos="60000">
              <a:schemeClr val="accent4">
                <a:hueOff val="0"/>
                <a:satOff val="0"/>
                <a:lumOff val="0"/>
                <a:alphaOff val="0"/>
                <a:shade val="95000"/>
                <a:satMod val="15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>
              <a:latin typeface="Gisha" panose="020B0502040204020203" pitchFamily="34" charset="-79"/>
              <a:cs typeface="Gisha" panose="020B0502040204020203" pitchFamily="34" charset="-79"/>
            </a:rPr>
            <a:t>תכונות זמן לינארי</a:t>
          </a:r>
        </a:p>
      </dsp:txBody>
      <dsp:txXfrm>
        <a:off x="2239707" y="135889"/>
        <a:ext cx="2683385" cy="407670"/>
      </dsp:txXfrm>
    </dsp:sp>
    <dsp:sp modelId="{68478B98-F230-40C0-85FB-7D21190F5EDC}">
      <dsp:nvSpPr>
        <dsp:cNvPr id="0" name=""/>
        <dsp:cNvSpPr/>
      </dsp:nvSpPr>
      <dsp:spPr>
        <a:xfrm>
          <a:off x="1135379" y="815336"/>
          <a:ext cx="4892040" cy="1766576"/>
        </a:xfrm>
        <a:prstGeom prst="ellipse">
          <a:avLst/>
        </a:prstGeom>
        <a:gradFill rotWithShape="0">
          <a:gsLst>
            <a:gs pos="0">
              <a:schemeClr val="accent4">
                <a:hueOff val="10211516"/>
                <a:satOff val="-11993"/>
                <a:lumOff val="4608"/>
                <a:alphaOff val="0"/>
                <a:shade val="45000"/>
                <a:satMod val="155000"/>
              </a:schemeClr>
            </a:gs>
            <a:gs pos="60000">
              <a:schemeClr val="accent4">
                <a:hueOff val="10211516"/>
                <a:satOff val="-11993"/>
                <a:lumOff val="4608"/>
                <a:alphaOff val="0"/>
                <a:shade val="95000"/>
                <a:satMod val="150000"/>
              </a:schemeClr>
            </a:gs>
            <a:gs pos="100000">
              <a:schemeClr val="accent4">
                <a:hueOff val="10211516"/>
                <a:satOff val="-11993"/>
                <a:lumOff val="4608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>
              <a:latin typeface="Gisha" panose="020B0502040204020203" pitchFamily="34" charset="-79"/>
              <a:cs typeface="Gisha" panose="020B0502040204020203" pitchFamily="34" charset="-79"/>
            </a:rPr>
            <a:t>תכונות בטיחות</a:t>
          </a:r>
        </a:p>
      </dsp:txBody>
      <dsp:txXfrm>
        <a:off x="2441554" y="925747"/>
        <a:ext cx="2279690" cy="331233"/>
      </dsp:txXfrm>
    </dsp:sp>
    <dsp:sp modelId="{7665203A-BE4A-4F22-A27B-50426E82EFA0}">
      <dsp:nvSpPr>
        <dsp:cNvPr id="0" name=""/>
        <dsp:cNvSpPr/>
      </dsp:nvSpPr>
      <dsp:spPr>
        <a:xfrm>
          <a:off x="2086610" y="1528762"/>
          <a:ext cx="3125469" cy="645477"/>
        </a:xfrm>
        <a:prstGeom prst="ellipse">
          <a:avLst/>
        </a:prstGeom>
        <a:gradFill rotWithShape="0">
          <a:gsLst>
            <a:gs pos="0">
              <a:schemeClr val="accent4">
                <a:hueOff val="20423033"/>
                <a:satOff val="-23986"/>
                <a:lumOff val="9216"/>
                <a:alphaOff val="0"/>
                <a:shade val="45000"/>
                <a:satMod val="155000"/>
              </a:schemeClr>
            </a:gs>
            <a:gs pos="60000">
              <a:schemeClr val="accent4">
                <a:hueOff val="20423033"/>
                <a:satOff val="-23986"/>
                <a:lumOff val="9216"/>
                <a:alphaOff val="0"/>
                <a:shade val="95000"/>
                <a:satMod val="150000"/>
              </a:schemeClr>
            </a:gs>
            <a:gs pos="100000">
              <a:schemeClr val="accent4">
                <a:hueOff val="20423033"/>
                <a:satOff val="-23986"/>
                <a:lumOff val="9216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>
              <a:latin typeface="Gisha" panose="020B0502040204020203" pitchFamily="34" charset="-79"/>
              <a:cs typeface="Gisha" panose="020B0502040204020203" pitchFamily="34" charset="-79"/>
            </a:rPr>
            <a:t>תכונות שמורה</a:t>
          </a:r>
        </a:p>
      </dsp:txBody>
      <dsp:txXfrm>
        <a:off x="2544324" y="1690131"/>
        <a:ext cx="2210041" cy="3227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8C467-C59D-4EFC-922C-6B5CFF44B4F5}">
      <dsp:nvSpPr>
        <dsp:cNvPr id="0" name=""/>
        <dsp:cNvSpPr/>
      </dsp:nvSpPr>
      <dsp:spPr>
        <a:xfrm>
          <a:off x="3527084" y="208201"/>
          <a:ext cx="6989890" cy="2934118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65000"/>
                <a:satMod val="270000"/>
              </a:schemeClr>
            </a:gs>
            <a:gs pos="25000">
              <a:schemeClr val="accent2">
                <a:shade val="80000"/>
                <a:hueOff val="0"/>
                <a:satOff val="0"/>
                <a:lumOff val="0"/>
                <a:alphaOff val="0"/>
                <a:tint val="60000"/>
                <a:satMod val="3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זמן לינארי</a:t>
          </a:r>
        </a:p>
      </dsp:txBody>
      <dsp:txXfrm>
        <a:off x="6044842" y="354907"/>
        <a:ext cx="1954373" cy="440117"/>
      </dsp:txXfrm>
    </dsp:sp>
    <dsp:sp modelId="{68478B98-F230-40C0-85FB-7D21190F5EDC}">
      <dsp:nvSpPr>
        <dsp:cNvPr id="0" name=""/>
        <dsp:cNvSpPr/>
      </dsp:nvSpPr>
      <dsp:spPr>
        <a:xfrm>
          <a:off x="4246900" y="896451"/>
          <a:ext cx="5628875" cy="2111015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-79340"/>
                <a:satOff val="-14280"/>
                <a:lumOff val="11530"/>
                <a:alphaOff val="0"/>
                <a:tint val="65000"/>
                <a:satMod val="270000"/>
              </a:schemeClr>
            </a:gs>
            <a:gs pos="25000">
              <a:schemeClr val="accent2">
                <a:shade val="80000"/>
                <a:hueOff val="-79340"/>
                <a:satOff val="-14280"/>
                <a:lumOff val="11530"/>
                <a:alphaOff val="0"/>
                <a:tint val="60000"/>
                <a:satMod val="300000"/>
              </a:schemeClr>
            </a:gs>
            <a:gs pos="100000">
              <a:schemeClr val="accent2">
                <a:shade val="80000"/>
                <a:hueOff val="-79340"/>
                <a:satOff val="-14280"/>
                <a:lumOff val="11530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בטיחות</a:t>
          </a:r>
        </a:p>
      </dsp:txBody>
      <dsp:txXfrm>
        <a:off x="6077691" y="1023112"/>
        <a:ext cx="1967291" cy="379982"/>
      </dsp:txXfrm>
    </dsp:sp>
    <dsp:sp modelId="{7665203A-BE4A-4F22-A27B-50426E82EFA0}">
      <dsp:nvSpPr>
        <dsp:cNvPr id="0" name=""/>
        <dsp:cNvSpPr/>
      </dsp:nvSpPr>
      <dsp:spPr>
        <a:xfrm>
          <a:off x="4552417" y="1413896"/>
          <a:ext cx="5285332" cy="1221888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-158679"/>
                <a:satOff val="-28560"/>
                <a:lumOff val="23061"/>
                <a:alphaOff val="0"/>
                <a:tint val="65000"/>
                <a:satMod val="270000"/>
              </a:schemeClr>
            </a:gs>
            <a:gs pos="25000">
              <a:schemeClr val="accent2">
                <a:shade val="80000"/>
                <a:hueOff val="-158679"/>
                <a:satOff val="-28560"/>
                <a:lumOff val="23061"/>
                <a:alphaOff val="0"/>
                <a:tint val="60000"/>
                <a:satMod val="300000"/>
              </a:schemeClr>
            </a:gs>
            <a:gs pos="100000">
              <a:schemeClr val="accent2">
                <a:shade val="80000"/>
                <a:hueOff val="-158679"/>
                <a:satOff val="-28560"/>
                <a:lumOff val="23061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בטיחות רגולריות</a:t>
          </a:r>
        </a:p>
      </dsp:txBody>
      <dsp:txXfrm>
        <a:off x="5963601" y="1505538"/>
        <a:ext cx="2462965" cy="274924"/>
      </dsp:txXfrm>
    </dsp:sp>
    <dsp:sp modelId="{21B9FF40-A790-4D39-8451-2B7CF307B7FE}">
      <dsp:nvSpPr>
        <dsp:cNvPr id="0" name=""/>
        <dsp:cNvSpPr/>
      </dsp:nvSpPr>
      <dsp:spPr>
        <a:xfrm>
          <a:off x="5303098" y="1906513"/>
          <a:ext cx="3442687" cy="536083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-238019"/>
                <a:satOff val="-42840"/>
                <a:lumOff val="34591"/>
                <a:alphaOff val="0"/>
                <a:tint val="65000"/>
                <a:satMod val="270000"/>
              </a:schemeClr>
            </a:gs>
            <a:gs pos="25000">
              <a:schemeClr val="accent2">
                <a:shade val="80000"/>
                <a:hueOff val="-238019"/>
                <a:satOff val="-42840"/>
                <a:lumOff val="34591"/>
                <a:alphaOff val="0"/>
                <a:tint val="60000"/>
                <a:satMod val="300000"/>
              </a:schemeClr>
            </a:gs>
            <a:gs pos="100000">
              <a:schemeClr val="accent2">
                <a:shade val="80000"/>
                <a:hueOff val="-238019"/>
                <a:satOff val="-42840"/>
                <a:lumOff val="34591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שמורה</a:t>
          </a:r>
        </a:p>
      </dsp:txBody>
      <dsp:txXfrm>
        <a:off x="5807268" y="2040534"/>
        <a:ext cx="2434347" cy="2680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2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 dirty="0"/>
              <a:t>עדכון אחרון </a:t>
            </a:r>
            <a:fld id="{7B086AAE-F14E-4B30-87F9-1FD42B9BCCB9}" type="datetime8">
              <a:rPr lang="he-IL" smtClean="0"/>
              <a:pPr/>
              <a:t>04 יוני 25</a:t>
            </a:fld>
            <a:endParaRPr lang="he-IL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19100" y="1447800"/>
            <a:ext cx="8305800" cy="5334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7" name="Picture 2" descr="סרט מודעות צהוב – ויקיפדיה">
            <a:extLst>
              <a:ext uri="{FF2B5EF4-FFF2-40B4-BE49-F238E27FC236}">
                <a16:creationId xmlns:a16="http://schemas.microsoft.com/office/drawing/2014/main" id="{4456406A-399A-2EAE-72B1-AA42B5C19F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34" y="2314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7" Type="http://schemas.openxmlformats.org/officeDocument/2006/relationships/image" Target="../media/image180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50.png"/><Relationship Id="rId4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30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://upload.wikimedia.org/wikipedia/commons/1/18/Bankomat_050421.jp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0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indleinstitute.org/books/lets-do-nothing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en/car-accident-car-crash-car-accident-1995852/" TargetMode="Externa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וייס</a:t>
            </a:r>
          </a:p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תכונות בטיחות</a:t>
            </a:r>
            <a:b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Safety Properties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486DF2-42DA-5F99-8A4F-665AE5229539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576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Picture 2" descr="סרט מודעות צהוב – ויקיפדיה">
            <a:extLst>
              <a:ext uri="{FF2B5EF4-FFF2-40B4-BE49-F238E27FC236}">
                <a16:creationId xmlns:a16="http://schemas.microsoft.com/office/drawing/2014/main" id="{4456406A-399A-2EAE-72B1-AA42B5C19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1047"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52600" y="4419600"/>
            <a:ext cx="57150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7772400" cy="914400"/>
          </a:xfrm>
        </p:spPr>
        <p:txBody>
          <a:bodyPr>
            <a:normAutofit fontScale="90000"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תזכורת: תכונות זמן ליניארי</a:t>
            </a:r>
            <a:b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Linear Time Properties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828800"/>
                <a:ext cx="8939844" cy="4572000"/>
              </a:xfrm>
            </p:spPr>
            <p:txBody>
              <a:bodyPr>
                <a:noAutofit/>
              </a:bodyPr>
              <a:lstStyle/>
              <a:p>
                <a:r>
                  <a:rPr lang="he-IL" sz="28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היא תת-קבוצה של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</m:oMath>
                </a14:m>
                <a:endParaRPr lang="he-IL" sz="2800" baseline="600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800" baseline="60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רצפי העקבות שאנחנו מחשיבים חוקיים</a:t>
                </a:r>
                <a:endParaRPr lang="en-US" sz="28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en-US" sz="2800" baseline="60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מצבים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תכונת זמן ליניארי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endParaRPr lang="he-IL" sz="2800" baseline="60000" dirty="0">
                  <a:solidFill>
                    <a:srgbClr val="0040C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⊨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אם ורק אם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8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⊆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𝑃</m:t>
                    </m:r>
                  </m:oMath>
                </a14:m>
                <a:endParaRPr lang="en-US" sz="2800" baseline="600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800" baseline="60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800"/>
                  </a:spcBef>
                </a:pP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התכונה מתקיימת אם כל התנהגויות המערכת "</a:t>
                </a:r>
                <a:r>
                  <a:rPr lang="he-IL" sz="28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חוקיות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828800"/>
                <a:ext cx="8939844" cy="4572000"/>
              </a:xfrm>
              <a:blipFill>
                <a:blip r:embed="rId2"/>
                <a:stretch>
                  <a:fillRect t="-2800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234175"/>
      </p:ext>
    </p:extLst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978950" y="1974866"/>
            <a:ext cx="4955250" cy="4231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Arial Rounded MT Bold" panose="020F0704030504030204" pitchFamily="34" charset="0"/>
              </a:rPr>
              <a:pPr/>
              <a:t>04 יוני 25</a:t>
            </a:fld>
            <a:endParaRPr lang="he-IL">
              <a:latin typeface="Arial Rounded MT Bold" panose="020F07040305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Arial Rounded MT Bold" panose="020F0704030504030204" pitchFamily="34" charset="0"/>
              </a:rPr>
              <a:pPr/>
              <a:t>3</a:t>
            </a:fld>
            <a:endParaRPr lang="he-IL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3400" y="1153406"/>
                <a:ext cx="8077200" cy="223567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𝐼𝑛𝑣</m:t>
                        </m:r>
                      </m:sub>
                    </m:sSub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שמורה</a:t>
                </a:r>
                <a:r>
                  <a:rPr lang="he-IL" sz="2400" dirty="0">
                    <a:solidFill>
                      <a:srgbClr val="004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קיים תנאי מצב 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/>
                      </a:rPr>
                      <m:t>𝜙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:b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Bef>
                    <a:spcPts val="240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𝐼𝑛𝑣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 = </m:t>
                      </m:r>
                      <m:r>
                        <a:rPr lang="en-US" sz="2400" i="1" dirty="0" smtClean="0">
                          <a:latin typeface="Cambria Math"/>
                        </a:rPr>
                        <m:t>{</m:t>
                      </m:r>
                      <m:r>
                        <a:rPr lang="en-US" sz="2000" i="1" dirty="0" smtClean="0">
                          <a:latin typeface="Cambria Math"/>
                        </a:rPr>
                        <m:t> </m:t>
                      </m:r>
                      <m:r>
                        <a:rPr lang="he-IL" sz="2000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he-IL" sz="2000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000" i="1" dirty="0" smtClean="0">
                          <a:latin typeface="Cambria Math"/>
                        </a:rPr>
                        <m:t>: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/>
                        </a:rPr>
                        <m:t>∀</m:t>
                      </m:r>
                      <m:r>
                        <a:rPr lang="en-US" sz="2000" i="1" dirty="0" smtClean="0">
                          <a:latin typeface="Cambria Math"/>
                        </a:rPr>
                        <m:t>𝑗</m:t>
                      </m:r>
                      <m:r>
                        <a:rPr lang="en-US" sz="2000" b="0" i="1" dirty="0" smtClean="0">
                          <a:latin typeface="Cambria Math"/>
                        </a:rPr>
                        <m:t>≥</m:t>
                      </m:r>
                      <m:r>
                        <a:rPr lang="en-US" sz="2000" i="1" dirty="0" smtClean="0">
                          <a:latin typeface="Cambria Math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0</m:t>
                      </m:r>
                      <m:r>
                        <a:rPr lang="en-US" sz="2000" b="0" i="1" dirty="0" smtClean="0">
                          <a:latin typeface="Cambria Math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.</m:t>
                      </m:r>
                      <m:r>
                        <a:rPr lang="en-US" sz="2000" b="0" i="1" dirty="0" smtClean="0">
                          <a:latin typeface="Cambria Math"/>
                        </a:rPr>
                        <m:t> </m:t>
                      </m:r>
                      <m:r>
                        <a:rPr lang="en-US" sz="2000" i="1" dirty="0" smtClean="0">
                          <a:latin typeface="Cambria Math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]⊨</m:t>
                      </m:r>
                      <m:r>
                        <a:rPr lang="en-US" sz="2000" b="0" i="1" dirty="0" smtClean="0">
                          <a:latin typeface="Cambria Math"/>
                        </a:rPr>
                        <m:t>𝜙</m:t>
                      </m:r>
                      <m:r>
                        <a:rPr lang="en-US" sz="2000" i="1" dirty="0" smtClean="0"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4572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𝜙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נקרא תנאי השמורה (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invariant condition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endParaRPr lang="he-IL" sz="18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2"/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594360" lvl="2" indent="0">
                  <a:buNone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2"/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3400" y="1153406"/>
                <a:ext cx="8077200" cy="2235678"/>
              </a:xfrm>
              <a:blipFill>
                <a:blip r:embed="rId2"/>
                <a:stretch>
                  <a:fillRect t="-1362" r="-1132" b="-42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0" y="-152400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תזכורת: שמורות (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invariants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60938" y="3810000"/>
                <a:ext cx="5422125" cy="370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𝑚𝑢𝑡𝑒𝑥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:∀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⊨¬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𝑐𝑟𝑖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𝑐𝑟𝑖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938" y="3810000"/>
                <a:ext cx="5422125" cy="3700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6205" y="4362353"/>
                <a:ext cx="7374839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𝑖𝑛𝑑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∧  ∀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.  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⊨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⊨</m:t>
                                  </m:r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05" y="4362353"/>
                <a:ext cx="7374839" cy="404983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426138" y="3414876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תכונות שמורה: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08283" y="5100146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לא תכונות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 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שמורה: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72974" y="5495270"/>
                <a:ext cx="5998052" cy="370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𝑠𝑡𝑎𝑟𝑣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]⊨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→∃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74" y="5495270"/>
                <a:ext cx="5998052" cy="370358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31741" y="6047943"/>
                <a:ext cx="7280519" cy="3989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𝑡𝑟𝑎𝑓𝑖𝑐𝑙𝑖𝑔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→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 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41" y="6047943"/>
                <a:ext cx="7280519" cy="398955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91686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תכונה של מצב / תכונה של ריצה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1564614"/>
                <a:ext cx="8305800" cy="46094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4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הפסוקים האטומיים והפונקציה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𝐿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המתאימה אותם למצבים מְאַפְשְׁרוֹת לנו לדבר על תכונות של מצבים</a:t>
                </a:r>
              </a:p>
              <a:p>
                <a:pPr>
                  <a:spcBef>
                    <a:spcPts val="36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למשל: </a:t>
                </a:r>
                <a:b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תהליך </a:t>
                </a:r>
                <a14:m>
                  <m:oMath xmlns:m="http://schemas.openxmlformats.org/officeDocument/2006/math">
                    <m:r>
                      <a:rPr lang="he-IL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1</m:t>
                    </m:r>
                    <m:r>
                      <a:rPr lang="he-IL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נמצא בקטע הקריט</a:t>
                </a:r>
                <a:r>
                  <a:rPr lang="he-IL" sz="2000" dirty="0">
                    <a:solidFill>
                      <a:srgbClr val="004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המצב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מקיים את הפסוק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או את הפסוק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" (סימון: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𝑠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⊨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𝑝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∨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sz="2000" dirty="0">
                    <a:solidFill>
                      <a:srgbClr val="004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endParaRPr lang="he-IL" sz="2000" dirty="0">
                  <a:solidFill>
                    <a:srgbClr val="0070C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spcBef>
                    <a:spcPts val="36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אנחנו מתעניינים גם בתכונות של ריצות כמו:</a:t>
                </a:r>
                <a:br>
                  <a:rPr lang="en-US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itchFamily="2" charset="2"/>
                  </a:rPr>
                  <a:t>"הרמזור לא יישאר אדום למשך יותר משלושה צעדים רצופים"</a:t>
                </a:r>
              </a:p>
              <a:p>
                <a:pPr>
                  <a:spcBef>
                    <a:spcPts val="36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לא מספיק לבדוק מצבים לחוד כפי שבדקנו תכונות שמורה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1564614"/>
                <a:ext cx="8305800" cy="4609446"/>
              </a:xfrm>
              <a:blipFill>
                <a:blip r:embed="rId2"/>
                <a:stretch>
                  <a:fillRect t="-1190" r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325985" y="2957714"/>
            <a:ext cx="1301504" cy="1942779"/>
            <a:chOff x="756814" y="2864037"/>
            <a:chExt cx="1811216" cy="2703635"/>
          </a:xfrm>
        </p:grpSpPr>
        <p:sp>
          <p:nvSpPr>
            <p:cNvPr id="6" name="Rectangle 5"/>
            <p:cNvSpPr/>
            <p:nvPr/>
          </p:nvSpPr>
          <p:spPr>
            <a:xfrm>
              <a:off x="756814" y="3930837"/>
              <a:ext cx="304800" cy="304800"/>
            </a:xfrm>
            <a:prstGeom prst="rect">
              <a:avLst/>
            </a:prstGeom>
            <a:solidFill>
              <a:srgbClr val="33CC33"/>
            </a:solidFill>
            <a:ln>
              <a:solidFill>
                <a:srgbClr val="33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721037" y="3702237"/>
              <a:ext cx="304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395722" y="4388037"/>
              <a:ext cx="304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263230" y="4370452"/>
              <a:ext cx="304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909214" y="4974191"/>
              <a:ext cx="304800" cy="304800"/>
            </a:xfrm>
            <a:prstGeom prst="rect">
              <a:avLst/>
            </a:prstGeom>
            <a:solidFill>
              <a:srgbClr val="33CC33"/>
            </a:solidFill>
            <a:ln>
              <a:solidFill>
                <a:srgbClr val="33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68637" y="2864037"/>
              <a:ext cx="3048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56814" y="3092637"/>
              <a:ext cx="304800" cy="304800"/>
            </a:xfrm>
            <a:prstGeom prst="rect">
              <a:avLst/>
            </a:prstGeom>
            <a:solidFill>
              <a:srgbClr val="33CC33"/>
            </a:solidFill>
            <a:ln>
              <a:solidFill>
                <a:srgbClr val="33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 flipV="1">
              <a:off x="909214" y="4235637"/>
              <a:ext cx="152400" cy="7385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909214" y="3397437"/>
              <a:ext cx="0" cy="5334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 flipV="1">
              <a:off x="1061614" y="3383911"/>
              <a:ext cx="659423" cy="47072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1548122" y="4007037"/>
              <a:ext cx="172915" cy="38100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1061614" y="4083237"/>
              <a:ext cx="313593" cy="28135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1700522" y="4522852"/>
              <a:ext cx="562708" cy="1758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1061614" y="5271664"/>
              <a:ext cx="26715" cy="29600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1828800" y="3124200"/>
              <a:ext cx="586830" cy="124625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1" idx="1"/>
            </p:cNvCxnSpPr>
            <p:nvPr/>
          </p:nvCxnSpPr>
          <p:spPr>
            <a:xfrm flipH="1">
              <a:off x="1061615" y="3016437"/>
              <a:ext cx="507022" cy="2286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1229796" y="4675252"/>
              <a:ext cx="1033434" cy="44322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1061614" y="2864037"/>
              <a:ext cx="486508" cy="2286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/>
          <p:cNvCxnSpPr>
            <a:cxnSpLocks/>
          </p:cNvCxnSpPr>
          <p:nvPr/>
        </p:nvCxnSpPr>
        <p:spPr>
          <a:xfrm flipH="1" flipV="1">
            <a:off x="889581" y="4577709"/>
            <a:ext cx="47772" cy="636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-13907" y="5232567"/>
            <a:ext cx="138550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2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הבעיה יכולה להיות במקטע של הריצה, לא רק במצב יחיד</a:t>
            </a:r>
          </a:p>
        </p:txBody>
      </p:sp>
      <p:cxnSp>
        <p:nvCxnSpPr>
          <p:cNvPr id="27" name="Straight Arrow Connector 26"/>
          <p:cNvCxnSpPr>
            <a:cxnSpLocks/>
          </p:cNvCxnSpPr>
          <p:nvPr/>
        </p:nvCxnSpPr>
        <p:spPr>
          <a:xfrm flipH="1" flipV="1">
            <a:off x="1819616" y="4259217"/>
            <a:ext cx="642805" cy="27205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Cartoon Computer Icons Drawing Woman - Girl Thinking Clipart Gif PNG Image  | Transparent PNG Free Download on SeekPNG">
            <a:extLst>
              <a:ext uri="{FF2B5EF4-FFF2-40B4-BE49-F238E27FC236}">
                <a16:creationId xmlns:a16="http://schemas.microsoft.com/office/drawing/2014/main" id="{272429FC-E695-4D31-988F-E4A8D1735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43" y="5875394"/>
            <a:ext cx="641970" cy="852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39304" y="1905000"/>
            <a:ext cx="8153400" cy="1600200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93426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הגדרה: תכונות בטיחות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399"/>
            <a:ext cx="457200" cy="477371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6700" y="1066800"/>
                <a:ext cx="8610600" cy="541020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600"/>
                  </a:spcBef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ורק אם</a:t>
                </a:r>
                <a:b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 algn="ctr">
                  <a:lnSpc>
                    <a:spcPct val="160000"/>
                  </a:lnSpc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מילה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שלא מקיימת את התכונה,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</a:t>
                </a:r>
              </a:p>
              <a:p>
                <a:pPr lvl="1" algn="ctr">
                  <a:lnSpc>
                    <a:spcPct val="160000"/>
                  </a:lnSpc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יש </a:t>
                </a:r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רֵישָׁא,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𝜌</m:t>
                    </m:r>
                    <m:r>
                      <a:rPr lang="he-IL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כך שכל מילה שתמשיך את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𝜌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לא תקיים את התכונה:</a:t>
                </a:r>
              </a:p>
              <a:p>
                <a:pPr lvl="1" algn="ctr" rtl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/>
                        </a:rPr>
                        <m:t>∩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𝜌</m:t>
                          </m:r>
                          <m:r>
                            <a:rPr lang="he-I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⊏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b="0" i="0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000" b="0" i="0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∅</m:t>
                      </m:r>
                    </m:oMath>
                  </m:oMathPara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4200"/>
                  </a:spcBef>
                </a:pP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/>
                      </a:rPr>
                      <m:t>𝜌</m:t>
                    </m:r>
                  </m:oMath>
                </a14:m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נקראת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"רֵישָׁא רעה"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buNone/>
                </a:pP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סימון: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𝐵𝑎𝑑𝑃𝑟𝑒𝑓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</a:t>
                </a:r>
                <a:r>
                  <a:rPr lang="en-US" sz="20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הרישות הרעות של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baseline="-25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/>
                      </a:rPr>
                      <m:t>𝜌</m:t>
                    </m:r>
                  </m:oMath>
                </a14:m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"רֵישָׁא רעה מינימאלית"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4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𝜌</m:t>
                    </m:r>
                    <m:r>
                      <a:rPr lang="en-US" sz="2000" b="0" i="1" dirty="0" smtClean="0">
                        <a:latin typeface="Cambria Math"/>
                      </a:rPr>
                      <m:t>∈</m:t>
                    </m:r>
                    <m:r>
                      <a:rPr lang="en-US" sz="2000" i="1" dirty="0" err="1" smtClean="0">
                        <a:latin typeface="Cambria Math"/>
                      </a:rPr>
                      <m:t>𝐵𝑎𝑑𝑃𝑟𝑒𝑓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אבל אין רֵישָׁא ממש של</a:t>
                </a:r>
                <a14:m>
                  <m:oMath xmlns:m="http://schemas.openxmlformats.org/officeDocument/2006/math">
                    <m:r>
                      <a:rPr lang="he-IL" sz="2000" b="0" i="1" dirty="0" smtClean="0">
                        <a:latin typeface="Cambria Math"/>
                      </a:rPr>
                      <m:t>𝜌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ב-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𝐵𝑎𝑑𝑃𝑟𝑒𝑓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endParaRPr lang="en-US" sz="2000" baseline="-25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6700" y="1066800"/>
                <a:ext cx="8610600" cy="5410200"/>
              </a:xfrm>
              <a:blipFill>
                <a:blip r:embed="rId2"/>
                <a:stretch>
                  <a:fillRect t="-901" r="-106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2194" y="3886200"/>
                <a:ext cx="2075919" cy="1021556"/>
              </a:xfrm>
              <a:prstGeom prst="flowChartAlternateProcess">
                <a:avLst/>
              </a:prstGeom>
              <a:solidFill>
                <a:srgbClr val="FFFF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he-IL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⊏</m:t>
                    </m:r>
                    <m:r>
                      <a:rPr lang="en-US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dirty="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סימון שאומר ש-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he-IL" dirty="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רֵישָׁא של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94" y="3886200"/>
                <a:ext cx="2075919" cy="1021556"/>
              </a:xfrm>
              <a:prstGeom prst="flowChartAlternateProcess">
                <a:avLst/>
              </a:prstGeom>
              <a:blipFill>
                <a:blip r:embed="rId3"/>
                <a:stretch>
                  <a:fillRect b="-419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2308113" y="3337036"/>
            <a:ext cx="2771407" cy="701563"/>
          </a:xfrm>
          <a:custGeom>
            <a:avLst/>
            <a:gdLst>
              <a:gd name="connsiteX0" fmla="*/ 2769079 w 2769079"/>
              <a:gd name="connsiteY0" fmla="*/ 0 h 828136"/>
              <a:gd name="connsiteX1" fmla="*/ 2199736 w 2769079"/>
              <a:gd name="connsiteY1" fmla="*/ 629729 h 828136"/>
              <a:gd name="connsiteX2" fmla="*/ 0 w 2769079"/>
              <a:gd name="connsiteY2" fmla="*/ 828136 h 828136"/>
              <a:gd name="connsiteX0" fmla="*/ 2769079 w 2769079"/>
              <a:gd name="connsiteY0" fmla="*/ 0 h 828136"/>
              <a:gd name="connsiteX1" fmla="*/ 1781303 w 2769079"/>
              <a:gd name="connsiteY1" fmla="*/ 587439 h 828136"/>
              <a:gd name="connsiteX2" fmla="*/ 0 w 2769079"/>
              <a:gd name="connsiteY2" fmla="*/ 828136 h 828136"/>
              <a:gd name="connsiteX0" fmla="*/ 2675145 w 2675145"/>
              <a:gd name="connsiteY0" fmla="*/ 0 h 849282"/>
              <a:gd name="connsiteX1" fmla="*/ 1781303 w 2675145"/>
              <a:gd name="connsiteY1" fmla="*/ 608585 h 849282"/>
              <a:gd name="connsiteX2" fmla="*/ 0 w 2675145"/>
              <a:gd name="connsiteY2" fmla="*/ 849282 h 849282"/>
              <a:gd name="connsiteX0" fmla="*/ 2675145 w 2675145"/>
              <a:gd name="connsiteY0" fmla="*/ 0 h 849282"/>
              <a:gd name="connsiteX1" fmla="*/ 1610514 w 2675145"/>
              <a:gd name="connsiteY1" fmla="*/ 481711 h 849282"/>
              <a:gd name="connsiteX2" fmla="*/ 0 w 2675145"/>
              <a:gd name="connsiteY2" fmla="*/ 849282 h 849282"/>
              <a:gd name="connsiteX0" fmla="*/ 2675145 w 2675145"/>
              <a:gd name="connsiteY0" fmla="*/ 0 h 849282"/>
              <a:gd name="connsiteX1" fmla="*/ 1943552 w 2675145"/>
              <a:gd name="connsiteY1" fmla="*/ 650875 h 849282"/>
              <a:gd name="connsiteX2" fmla="*/ 0 w 2675145"/>
              <a:gd name="connsiteY2" fmla="*/ 849282 h 849282"/>
              <a:gd name="connsiteX0" fmla="*/ 2743460 w 2743460"/>
              <a:gd name="connsiteY0" fmla="*/ 0 h 859855"/>
              <a:gd name="connsiteX1" fmla="*/ 1943552 w 2743460"/>
              <a:gd name="connsiteY1" fmla="*/ 661448 h 859855"/>
              <a:gd name="connsiteX2" fmla="*/ 0 w 2743460"/>
              <a:gd name="connsiteY2" fmla="*/ 859855 h 859855"/>
              <a:gd name="connsiteX0" fmla="*/ 2743460 w 2743460"/>
              <a:gd name="connsiteY0" fmla="*/ 0 h 859855"/>
              <a:gd name="connsiteX1" fmla="*/ 1943552 w 2743460"/>
              <a:gd name="connsiteY1" fmla="*/ 661448 h 859855"/>
              <a:gd name="connsiteX2" fmla="*/ 0 w 2743460"/>
              <a:gd name="connsiteY2" fmla="*/ 859855 h 85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3460" h="859855">
                <a:moveTo>
                  <a:pt x="2743460" y="0"/>
                </a:moveTo>
                <a:cubicBezTo>
                  <a:pt x="2561454" y="288145"/>
                  <a:pt x="2405065" y="523425"/>
                  <a:pt x="1943552" y="661448"/>
                </a:cubicBezTo>
                <a:cubicBezTo>
                  <a:pt x="1482039" y="799471"/>
                  <a:pt x="869111" y="829663"/>
                  <a:pt x="0" y="859855"/>
                </a:cubicBezTo>
              </a:path>
            </a:pathLst>
          </a:custGeom>
          <a:noFill/>
          <a:ln w="28575"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2094639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93426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תכונות בטיחות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399"/>
            <a:ext cx="457200" cy="477371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134166"/>
                <a:ext cx="8686800" cy="541020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600"/>
                  </a:spcBef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4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/>
                      </a:rPr>
                      <m:t>𝜎</m:t>
                    </m:r>
                  </m:oMath>
                </a14:m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שאינה מקיימת את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יש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רֵישָׁא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𝜌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כך שכל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ש-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רֵישָׁא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שלה לא מקיימת את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3600"/>
                  </a:spcBef>
                  <a:buNone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134166"/>
                <a:ext cx="8686800" cy="5410200"/>
              </a:xfrm>
              <a:blipFill>
                <a:blip r:embed="rId2"/>
                <a:stretch>
                  <a:fillRect l="-632" t="-1014" r="-1263" b="-1261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 rot="381783">
                <a:off x="4132917" y="4555988"/>
                <a:ext cx="762902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1783">
                <a:off x="4132917" y="4555988"/>
                <a:ext cx="76290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3505200" y="4495800"/>
            <a:ext cx="1981200" cy="2057400"/>
            <a:chOff x="3657600" y="4648200"/>
            <a:chExt cx="1981200" cy="19050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5638800" y="4648200"/>
              <a:ext cx="0" cy="1905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657600" y="4648200"/>
              <a:ext cx="0" cy="1905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 rot="21386384">
                <a:off x="3896491" y="5142899"/>
                <a:ext cx="121920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⊏</m:t>
                      </m:r>
                      <m:r>
                        <a:rPr lang="he-IL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b="0" dirty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86384">
                <a:off x="3896491" y="5142899"/>
                <a:ext cx="1219200" cy="369332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3505200" y="4800600"/>
            <a:ext cx="1981200" cy="1609725"/>
            <a:chOff x="3657600" y="4800600"/>
            <a:chExt cx="1600200" cy="1609725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3657600" y="4800600"/>
              <a:ext cx="1600200" cy="2286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3657600" y="5410200"/>
              <a:ext cx="1600200" cy="1524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3657600" y="6181725"/>
              <a:ext cx="1600200" cy="2286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 rot="422628">
                <a:off x="3604763" y="5945605"/>
                <a:ext cx="184159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s.t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b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22628">
                <a:off x="3604763" y="5945605"/>
                <a:ext cx="18415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 flipH="1">
                <a:off x="6019800" y="2438400"/>
                <a:ext cx="2667000" cy="923330"/>
              </a:xfrm>
              <a:prstGeom prst="homePlate">
                <a:avLst/>
              </a:prstGeom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square" rtlCol="1">
                <a:spAutoFit/>
              </a:bodyPr>
              <a:lstStyle>
                <a:defPPr>
                  <a:defRPr lang="he-IL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מתמטיקאי המנסה להוכיח ש-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תכונת בטיחות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19800" y="2438400"/>
                <a:ext cx="2667000" cy="923330"/>
              </a:xfrm>
              <a:prstGeom prst="homePlat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762000" y="2438400"/>
            <a:ext cx="2209800" cy="923330"/>
          </a:xfrm>
          <a:prstGeom prst="homePlate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יריב המנסה להראות שההוכחה אינה נכונה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Pentagon 27"/>
              <p:cNvSpPr/>
              <p:nvPr/>
            </p:nvSpPr>
            <p:spPr>
              <a:xfrm>
                <a:off x="762000" y="5867400"/>
                <a:ext cx="2590800" cy="646331"/>
              </a:xfrm>
              <a:prstGeom prst="homePlate">
                <a:avLst/>
              </a:prstGeom>
              <a:solidFill>
                <a:srgbClr val="3366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1">
                <a:spAutoFit/>
              </a:bodyPr>
              <a:lstStyle/>
              <a:p>
                <a:pPr algn="ctr"/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ההוכחה נכונה אם היריב לא יכול למצוא כזאת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8" name="Pentagon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867400"/>
                <a:ext cx="2590800" cy="646331"/>
              </a:xfrm>
              <a:prstGeom prst="homePlat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basketball player dribbling a ball&#10;&#10;Description automatically generated">
            <a:extLst>
              <a:ext uri="{FF2B5EF4-FFF2-40B4-BE49-F238E27FC236}">
                <a16:creationId xmlns:a16="http://schemas.microsoft.com/office/drawing/2014/main" id="{CE6715E1-7F5A-9CA3-7325-B2229EEB48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805282"/>
            <a:ext cx="3835813" cy="29462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entagon 27">
                <a:extLst>
                  <a:ext uri="{FF2B5EF4-FFF2-40B4-BE49-F238E27FC236}">
                    <a16:creationId xmlns:a16="http://schemas.microsoft.com/office/drawing/2014/main" id="{C16AF191-5A01-81BD-1A1E-261DCE6ABC2F}"/>
                  </a:ext>
                </a:extLst>
              </p:cNvPr>
              <p:cNvSpPr/>
              <p:nvPr/>
            </p:nvSpPr>
            <p:spPr>
              <a:xfrm>
                <a:off x="800370" y="4443644"/>
                <a:ext cx="2590800" cy="646331"/>
              </a:xfrm>
              <a:prstGeom prst="homePlate">
                <a:avLst/>
              </a:prstGeom>
              <a:solidFill>
                <a:srgbClr val="3366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1">
                <a:spAutoFit/>
              </a:bodyPr>
              <a:lstStyle/>
              <a:p>
                <a:pPr algn="ctr"/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היריב יכול לתת כל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שהוא רוצה</a:t>
                </a:r>
              </a:p>
            </p:txBody>
          </p:sp>
        </mc:Choice>
        <mc:Fallback xmlns="">
          <p:sp>
            <p:nvSpPr>
              <p:cNvPr id="3" name="Pentagon 27">
                <a:extLst>
                  <a:ext uri="{FF2B5EF4-FFF2-40B4-BE49-F238E27FC236}">
                    <a16:creationId xmlns:a16="http://schemas.microsoft.com/office/drawing/2014/main" id="{C16AF191-5A01-81BD-1A1E-261DCE6AB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70" y="4443644"/>
                <a:ext cx="2590800" cy="646331"/>
              </a:xfrm>
              <a:prstGeom prst="homePlat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entagon 27">
                <a:extLst>
                  <a:ext uri="{FF2B5EF4-FFF2-40B4-BE49-F238E27FC236}">
                    <a16:creationId xmlns:a16="http://schemas.microsoft.com/office/drawing/2014/main" id="{B99D3ECB-C94C-4F81-55A4-3F6C6101AB9C}"/>
                  </a:ext>
                </a:extLst>
              </p:cNvPr>
              <p:cNvSpPr/>
              <p:nvPr/>
            </p:nvSpPr>
            <p:spPr>
              <a:xfrm flipH="1">
                <a:off x="5560286" y="5087034"/>
                <a:ext cx="2595429" cy="646331"/>
              </a:xfrm>
              <a:prstGeom prst="homePlate">
                <a:avLst/>
              </a:prstGeom>
              <a:solidFill>
                <a:srgbClr val="3366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1">
                <a:spAutoFit/>
              </a:bodyPr>
              <a:lstStyle/>
              <a:p>
                <a:pPr algn="ctr"/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המוכיח צריך למצוא רישא רעה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𝜌</m:t>
                    </m:r>
                  </m:oMath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Pentagon 27">
                <a:extLst>
                  <a:ext uri="{FF2B5EF4-FFF2-40B4-BE49-F238E27FC236}">
                    <a16:creationId xmlns:a16="http://schemas.microsoft.com/office/drawing/2014/main" id="{B99D3ECB-C94C-4F81-55A4-3F6C6101AB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60286" y="5087034"/>
                <a:ext cx="2595429" cy="646331"/>
              </a:xfrm>
              <a:prstGeom prst="homePlat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882756"/>
      </p:ext>
    </p:extLst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786995" y="1905000"/>
            <a:ext cx="5299605" cy="1162484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93426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ניסוח שקול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399"/>
            <a:ext cx="457200" cy="477371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6700" y="1080709"/>
                <a:ext cx="8610600" cy="249196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600"/>
                  </a:spcBef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ורק אם</a:t>
                </a:r>
                <a:b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lvl="1" indent="0" algn="ctr">
                  <a:lnSpc>
                    <a:spcPct val="160000"/>
                  </a:lnSpc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מילה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שלא מקיימת את התכונה,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/>
                      </a:rPr>
                      <m:t>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</a:t>
                </a:r>
              </a:p>
              <a:p>
                <a:pPr lvl="1" algn="ctr">
                  <a:lnSpc>
                    <a:spcPct val="160000"/>
                  </a:lnSpc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קיים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≥−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1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כך ש-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200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⇒  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6700" y="1080709"/>
                <a:ext cx="8610600" cy="2491960"/>
              </a:xfrm>
              <a:blipFill>
                <a:blip r:embed="rId2"/>
                <a:stretch>
                  <a:fillRect t="-1956" r="-106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4AE73BA0-20F0-29D2-ED20-B2C2DDE7277B}"/>
              </a:ext>
            </a:extLst>
          </p:cNvPr>
          <p:cNvGrpSpPr/>
          <p:nvPr/>
        </p:nvGrpSpPr>
        <p:grpSpPr>
          <a:xfrm>
            <a:off x="2411452" y="3505200"/>
            <a:ext cx="4433865" cy="2812523"/>
            <a:chOff x="2411452" y="3505200"/>
            <a:chExt cx="4433865" cy="2812523"/>
          </a:xfrm>
        </p:grpSpPr>
        <p:pic>
          <p:nvPicPr>
            <p:cNvPr id="32" name="Picture 31" descr="A person walking on a road&#10;&#10;Description automatically generated">
              <a:extLst>
                <a:ext uri="{FF2B5EF4-FFF2-40B4-BE49-F238E27FC236}">
                  <a16:creationId xmlns:a16="http://schemas.microsoft.com/office/drawing/2014/main" id="{6CCAE6DA-D6FF-4CF6-27F8-78F578959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1482" y="3505200"/>
              <a:ext cx="4059503" cy="2655564"/>
            </a:xfrm>
            <a:prstGeom prst="rect">
              <a:avLst/>
            </a:prstGeom>
          </p:spPr>
        </p:pic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D088417-6E7F-3C1B-D363-0D2459A9C841}"/>
                </a:ext>
              </a:extLst>
            </p:cNvPr>
            <p:cNvSpPr/>
            <p:nvPr/>
          </p:nvSpPr>
          <p:spPr>
            <a:xfrm>
              <a:off x="4626713" y="3662159"/>
              <a:ext cx="9259" cy="994299"/>
            </a:xfrm>
            <a:custGeom>
              <a:avLst/>
              <a:gdLst>
                <a:gd name="connsiteX0" fmla="*/ 8878 w 9259"/>
                <a:gd name="connsiteY0" fmla="*/ 994299 h 994299"/>
                <a:gd name="connsiteX1" fmla="*/ 0 w 9259"/>
                <a:gd name="connsiteY1" fmla="*/ 0 h 99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59" h="994299">
                  <a:moveTo>
                    <a:pt x="8878" y="994299"/>
                  </a:moveTo>
                  <a:cubicBezTo>
                    <a:pt x="9617" y="580007"/>
                    <a:pt x="10357" y="165716"/>
                    <a:pt x="0" y="0"/>
                  </a:cubicBezTo>
                </a:path>
              </a:pathLst>
            </a:custGeom>
            <a:noFill/>
            <a:ln w="76200">
              <a:solidFill>
                <a:schemeClr val="accent1"/>
              </a:solidFill>
              <a:tailEnd type="stealth" w="sm" len="sm"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F32F53E-599B-AD17-AAB6-00E49D2945EF}"/>
                </a:ext>
              </a:extLst>
            </p:cNvPr>
            <p:cNvSpPr/>
            <p:nvPr/>
          </p:nvSpPr>
          <p:spPr>
            <a:xfrm rot="3697813" flipH="1">
              <a:off x="5873166" y="3359244"/>
              <a:ext cx="45719" cy="1898582"/>
            </a:xfrm>
            <a:custGeom>
              <a:avLst/>
              <a:gdLst>
                <a:gd name="connsiteX0" fmla="*/ 8878 w 9259"/>
                <a:gd name="connsiteY0" fmla="*/ 994299 h 994299"/>
                <a:gd name="connsiteX1" fmla="*/ 0 w 9259"/>
                <a:gd name="connsiteY1" fmla="*/ 0 h 99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59" h="994299">
                  <a:moveTo>
                    <a:pt x="8878" y="994299"/>
                  </a:moveTo>
                  <a:cubicBezTo>
                    <a:pt x="9617" y="580007"/>
                    <a:pt x="10357" y="165716"/>
                    <a:pt x="0" y="0"/>
                  </a:cubicBezTo>
                </a:path>
              </a:pathLst>
            </a:custGeom>
            <a:noFill/>
            <a:ln w="76200">
              <a:solidFill>
                <a:schemeClr val="accent1"/>
              </a:solidFill>
              <a:tailEnd type="stealth" w="sm" len="sm"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C1C1554-21B1-B048-A723-87F7FC9BB232}"/>
                </a:ext>
              </a:extLst>
            </p:cNvPr>
            <p:cNvSpPr/>
            <p:nvPr/>
          </p:nvSpPr>
          <p:spPr>
            <a:xfrm rot="17902187">
              <a:off x="3337883" y="3359245"/>
              <a:ext cx="45719" cy="1898582"/>
            </a:xfrm>
            <a:custGeom>
              <a:avLst/>
              <a:gdLst>
                <a:gd name="connsiteX0" fmla="*/ 8878 w 9259"/>
                <a:gd name="connsiteY0" fmla="*/ 994299 h 994299"/>
                <a:gd name="connsiteX1" fmla="*/ 0 w 9259"/>
                <a:gd name="connsiteY1" fmla="*/ 0 h 99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59" h="994299">
                  <a:moveTo>
                    <a:pt x="8878" y="994299"/>
                  </a:moveTo>
                  <a:cubicBezTo>
                    <a:pt x="9617" y="580007"/>
                    <a:pt x="10357" y="165716"/>
                    <a:pt x="0" y="0"/>
                  </a:cubicBezTo>
                </a:path>
              </a:pathLst>
            </a:custGeom>
            <a:noFill/>
            <a:ln w="76200">
              <a:solidFill>
                <a:schemeClr val="accent1"/>
              </a:solidFill>
              <a:tailEnd type="stealth" w="sm" len="sm"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F61500E-751A-06AB-E613-EA93DA92DC77}"/>
                </a:ext>
              </a:extLst>
            </p:cNvPr>
            <p:cNvSpPr/>
            <p:nvPr/>
          </p:nvSpPr>
          <p:spPr>
            <a:xfrm>
              <a:off x="4617454" y="5323424"/>
              <a:ext cx="9259" cy="994299"/>
            </a:xfrm>
            <a:custGeom>
              <a:avLst/>
              <a:gdLst>
                <a:gd name="connsiteX0" fmla="*/ 8878 w 9259"/>
                <a:gd name="connsiteY0" fmla="*/ 994299 h 994299"/>
                <a:gd name="connsiteX1" fmla="*/ 0 w 9259"/>
                <a:gd name="connsiteY1" fmla="*/ 0 h 99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59" h="994299">
                  <a:moveTo>
                    <a:pt x="8878" y="994299"/>
                  </a:moveTo>
                  <a:cubicBezTo>
                    <a:pt x="9617" y="580007"/>
                    <a:pt x="10357" y="165716"/>
                    <a:pt x="0" y="0"/>
                  </a:cubicBezTo>
                </a:path>
              </a:pathLst>
            </a:custGeom>
            <a:noFill/>
            <a:ln w="76200">
              <a:solidFill>
                <a:srgbClr val="336600"/>
              </a:solidFill>
              <a:tailEnd type="stealth" w="sm" len="sm"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975855" y="5250499"/>
                <a:ext cx="991233" cy="461665"/>
              </a:xfrm>
              <a:prstGeom prst="rect">
                <a:avLst/>
              </a:prstGeom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336600"/>
                          </a:solidFill>
                          <a:effectLst>
                            <a:glow rad="1016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336600"/>
                              </a:solidFill>
                              <a:effectLst>
                                <a:glow rad="101600">
                                  <a:schemeClr val="accent3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336600"/>
                              </a:solidFill>
                              <a:effectLst>
                                <a:glow rad="101600">
                                  <a:schemeClr val="accent3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sz="2400" i="1">
                              <a:solidFill>
                                <a:srgbClr val="336600"/>
                              </a:solidFill>
                              <a:effectLst>
                                <a:glow rad="101600">
                                  <a:schemeClr val="accent3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336600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855" y="5250499"/>
                <a:ext cx="9912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6"/>
          <p:cNvSpPr/>
          <p:nvPr/>
        </p:nvSpPr>
        <p:spPr>
          <a:xfrm>
            <a:off x="4753155" y="5460293"/>
            <a:ext cx="1276709" cy="439701"/>
          </a:xfrm>
          <a:custGeom>
            <a:avLst/>
            <a:gdLst>
              <a:gd name="connsiteX0" fmla="*/ 0 w 1276709"/>
              <a:gd name="connsiteY0" fmla="*/ 405669 h 439701"/>
              <a:gd name="connsiteX1" fmla="*/ 474453 w 1276709"/>
              <a:gd name="connsiteY1" fmla="*/ 405669 h 439701"/>
              <a:gd name="connsiteX2" fmla="*/ 621102 w 1276709"/>
              <a:gd name="connsiteY2" fmla="*/ 51986 h 439701"/>
              <a:gd name="connsiteX3" fmla="*/ 1276709 w 1276709"/>
              <a:gd name="connsiteY3" fmla="*/ 8854 h 439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6709" h="439701">
                <a:moveTo>
                  <a:pt x="0" y="405669"/>
                </a:moveTo>
                <a:cubicBezTo>
                  <a:pt x="185468" y="435142"/>
                  <a:pt x="370936" y="464616"/>
                  <a:pt x="474453" y="405669"/>
                </a:cubicBezTo>
                <a:cubicBezTo>
                  <a:pt x="577970" y="346722"/>
                  <a:pt x="487393" y="118122"/>
                  <a:pt x="621102" y="51986"/>
                </a:cubicBezTo>
                <a:cubicBezTo>
                  <a:pt x="754811" y="-14150"/>
                  <a:pt x="1015760" y="-2648"/>
                  <a:pt x="1276709" y="8854"/>
                </a:cubicBezTo>
              </a:path>
            </a:pathLst>
          </a:custGeom>
          <a:ln>
            <a:solidFill>
              <a:srgbClr val="336600"/>
            </a:solidFill>
            <a:headEnd type="triangle" w="med" len="med"/>
            <a:tailEnd type="none" w="med" len="med"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65500" dist="38100" dir="5400000" rotWithShape="0">
              <a:srgbClr val="000000">
                <a:alpha val="40000"/>
              </a:srgb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9196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786995" y="1905000"/>
            <a:ext cx="5299605" cy="1162484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93426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ניסוח שקול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399"/>
            <a:ext cx="457200" cy="477371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8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6700" y="1080709"/>
                <a:ext cx="8610600" cy="249196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600"/>
                  </a:spcBef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ורק אם</a:t>
                </a:r>
                <a:b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lvl="1" indent="0" algn="ctr">
                  <a:lnSpc>
                    <a:spcPct val="160000"/>
                  </a:lnSpc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מילה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שלא מקיימת את התכונה,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/>
                      </a:rPr>
                      <m:t>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</a:t>
                </a:r>
              </a:p>
              <a:p>
                <a:pPr lvl="1" algn="ctr">
                  <a:lnSpc>
                    <a:spcPct val="160000"/>
                  </a:lnSpc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קיים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≥−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1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כך ש-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200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⇒  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6700" y="1080709"/>
                <a:ext cx="8610600" cy="2491960"/>
              </a:xfrm>
              <a:blipFill>
                <a:blip r:embed="rId2"/>
                <a:stretch>
                  <a:fillRect t="-1956" r="-106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5369108" y="4667120"/>
            <a:ext cx="3212123" cy="1910159"/>
          </a:xfrm>
          <a:prstGeom prst="ellipse">
            <a:avLst/>
          </a:prstGeom>
          <a:solidFill>
            <a:srgbClr val="33CC33">
              <a:alpha val="16863"/>
            </a:srgb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640080" rIns="0" rtlCol="0" anchor="ctr"/>
          <a:lstStyle/>
          <a:p>
            <a:pPr algn="ctr"/>
            <a:r>
              <a:rPr lang="he-IL" sz="2800" dirty="0">
                <a:solidFill>
                  <a:srgbClr val="33CC33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תכונת בטיחות</a:t>
            </a:r>
            <a:endParaRPr lang="en-US" sz="2800" dirty="0">
              <a:solidFill>
                <a:srgbClr val="33CC33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4123950" y="3610764"/>
            <a:ext cx="239971" cy="297771"/>
            <a:chOff x="7509466" y="4812189"/>
            <a:chExt cx="270296" cy="369332"/>
          </a:xfrm>
        </p:grpSpPr>
        <p:sp>
          <p:nvSpPr>
            <p:cNvPr id="11" name="Oval 10"/>
            <p:cNvSpPr/>
            <p:nvPr/>
          </p:nvSpPr>
          <p:spPr>
            <a:xfrm>
              <a:off x="7509466" y="4967377"/>
              <a:ext cx="76199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7543800" y="4812189"/>
                  <a:ext cx="2359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3800" y="4812189"/>
                  <a:ext cx="235962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4286" b="-40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/>
              <p:cNvSpPr/>
              <p:nvPr/>
            </p:nvSpPr>
            <p:spPr>
              <a:xfrm>
                <a:off x="1014716" y="3677566"/>
                <a:ext cx="6641123" cy="2971800"/>
              </a:xfrm>
              <a:prstGeom prst="ellipse">
                <a:avLst/>
              </a:prstGeom>
              <a:solidFill>
                <a:srgbClr val="000000">
                  <a:alpha val="16863"/>
                </a:srgbClr>
              </a:solid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tIns="2651760" bIns="0" rtlCol="0" anchor="b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   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[..</m:t>
                          </m:r>
                          <m:r>
                            <a:rPr lang="he-IL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]⊏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16" y="3677566"/>
                <a:ext cx="6641123" cy="29718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/>
              <p:cNvSpPr/>
              <p:nvPr/>
            </p:nvSpPr>
            <p:spPr>
              <a:xfrm>
                <a:off x="1940108" y="3677566"/>
                <a:ext cx="4648200" cy="2442424"/>
              </a:xfrm>
              <a:prstGeom prst="ellipse">
                <a:avLst/>
              </a:prstGeom>
              <a:solidFill>
                <a:srgbClr val="000000">
                  <a:alpha val="16863"/>
                </a:srgbClr>
              </a:solid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tIns="1920240" rtlCol="0" anchor="b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   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[..</m:t>
                          </m:r>
                          <m:r>
                            <a:rPr lang="he-IL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]⊏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Oval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108" y="3677566"/>
                <a:ext cx="4648200" cy="244242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2583831" y="3687655"/>
                <a:ext cx="3231486" cy="1747228"/>
              </a:xfrm>
              <a:prstGeom prst="ellipse">
                <a:avLst/>
              </a:prstGeom>
              <a:solidFill>
                <a:srgbClr val="000000">
                  <a:alpha val="16863"/>
                </a:srgbClr>
              </a:solid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tIns="1280160" rtlCol="0" anchor="b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   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[.. </m:t>
                          </m:r>
                          <m:r>
                            <a:rPr lang="he-IL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]⊏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831" y="3687655"/>
                <a:ext cx="3231486" cy="174722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Question mark stock illustration. Illustration of human - 6906191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367" y="210977"/>
            <a:ext cx="729094" cy="72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val 14"/>
          <p:cNvSpPr/>
          <p:nvPr/>
        </p:nvSpPr>
        <p:spPr>
          <a:xfrm>
            <a:off x="3077668" y="3701123"/>
            <a:ext cx="2198697" cy="860146"/>
          </a:xfrm>
          <a:prstGeom prst="ellipse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1280160" rtlCol="0" anchor="b"/>
          <a:lstStyle/>
          <a:p>
            <a:pPr algn="ctr" rtl="0"/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379691" y="3690194"/>
            <a:ext cx="1594649" cy="595438"/>
          </a:xfrm>
          <a:prstGeom prst="ellipse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1280160" rtlCol="0" anchor="b"/>
          <a:lstStyle/>
          <a:p>
            <a:pPr algn="ctr" rtl="0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3681716" y="3709601"/>
            <a:ext cx="1066801" cy="366008"/>
          </a:xfrm>
          <a:prstGeom prst="ellipse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1280160" rtlCol="0" anchor="b"/>
          <a:lstStyle/>
          <a:p>
            <a:pPr algn="ctr" rtl="0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 rot="20454402">
            <a:off x="1001318" y="3441587"/>
            <a:ext cx="3128597" cy="1523509"/>
          </a:xfrm>
          <a:prstGeom prst="ellipse">
            <a:avLst/>
          </a:prstGeom>
          <a:solidFill>
            <a:srgbClr val="FF0000">
              <a:alpha val="16863"/>
            </a:srgb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he-IL" sz="28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תכונת בטיחות</a:t>
            </a:r>
            <a:endParaRPr lang="en-US" sz="2800" dirty="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6946347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-277861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דוגמאות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9</a:t>
            </a:fld>
            <a:endParaRPr lang="he-IL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295400" y="1050045"/>
            <a:ext cx="7772400" cy="45720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000" dirty="0">
                <a:latin typeface="Gisha" panose="020B0502040204020203" pitchFamily="34" charset="-79"/>
                <a:cs typeface="Gisha" panose="020B0502040204020203" pitchFamily="34" charset="-79"/>
              </a:rPr>
              <a:t>מי מהבאות הן תכונות בטיחות? הוכיחו טענותיכם.</a:t>
            </a:r>
            <a:endParaRPr lang="en-US" sz="20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4415" y="2615529"/>
                <a:ext cx="5029199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  ∀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∨¬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5" y="2615529"/>
                <a:ext cx="5029199" cy="400944"/>
              </a:xfrm>
              <a:prstGeom prst="rect">
                <a:avLst/>
              </a:prstGeom>
              <a:blipFill>
                <a:blip r:embed="rId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54414" y="3707814"/>
                <a:ext cx="5612986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4" y="3707814"/>
                <a:ext cx="5612986" cy="400944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24990" y="1676400"/>
            <a:ext cx="4310795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he-IL" sz="2000" dirty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איך נוכיח שתכונה אינה תכונת בטיחות?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4414" y="4800099"/>
                <a:ext cx="5029200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4" y="4800099"/>
                <a:ext cx="5029200" cy="400944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4414" y="5892385"/>
                <a:ext cx="5029200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 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such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that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4" y="5892385"/>
                <a:ext cx="5029200" cy="400944"/>
              </a:xfrm>
              <a:prstGeom prst="rect">
                <a:avLst/>
              </a:prstGeom>
              <a:blipFill>
                <a:blip r:embed="rId5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9B4FCD-ED72-4EDC-BCA0-5820344F0F4C}"/>
              </a:ext>
            </a:extLst>
          </p:cNvPr>
          <p:cNvSpPr txBox="1"/>
          <p:nvPr/>
        </p:nvSpPr>
        <p:spPr>
          <a:xfrm>
            <a:off x="4707047" y="1676400"/>
            <a:ext cx="4310795" cy="400110"/>
          </a:xfrm>
          <a:prstGeom prst="rect">
            <a:avLst/>
          </a:prstGeom>
          <a:solidFill>
            <a:srgbClr val="E7FAE2"/>
          </a:solidFill>
        </p:spPr>
        <p:txBody>
          <a:bodyPr wrap="square" rtlCol="0">
            <a:spAutoFit/>
          </a:bodyPr>
          <a:lstStyle/>
          <a:p>
            <a:pPr algn="ctr"/>
            <a:r>
              <a:rPr lang="he-IL" sz="2000" dirty="0">
                <a:solidFill>
                  <a:srgbClr val="3366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איך נוכיח שתכונה היא תכונת בטיחות?</a:t>
            </a:r>
            <a:endParaRPr lang="en-US" sz="2000" dirty="0">
              <a:solidFill>
                <a:srgbClr val="3366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7F1A9-3C3A-4987-9BE1-258BD082B20A}"/>
                  </a:ext>
                </a:extLst>
              </p:cNvPr>
              <p:cNvSpPr txBox="1"/>
              <p:nvPr/>
            </p:nvSpPr>
            <p:spPr>
              <a:xfrm>
                <a:off x="2971800" y="4291708"/>
                <a:ext cx="5612986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7F1A9-3C3A-4987-9BE1-258BD082B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291708"/>
                <a:ext cx="5612986" cy="400944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196A42-362C-94FB-AA33-8803BC69F44E}"/>
                  </a:ext>
                </a:extLst>
              </p:cNvPr>
              <p:cNvSpPr txBox="1"/>
              <p:nvPr/>
            </p:nvSpPr>
            <p:spPr>
              <a:xfrm>
                <a:off x="2971800" y="5339118"/>
                <a:ext cx="5867400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he-IL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→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196A42-362C-94FB-AA33-8803BC69F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5339118"/>
                <a:ext cx="5867400" cy="400944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669FD8-B01C-1BBC-CC01-2A679D3F944F}"/>
                  </a:ext>
                </a:extLst>
              </p:cNvPr>
              <p:cNvSpPr txBox="1"/>
              <p:nvPr/>
            </p:nvSpPr>
            <p:spPr>
              <a:xfrm>
                <a:off x="2971800" y="6248400"/>
                <a:ext cx="5867400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he-IL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669FD8-B01C-1BBC-CC01-2A679D3F9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6248400"/>
                <a:ext cx="5867400" cy="400944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35047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-277861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דוגמאות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10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14400" y="1447800"/>
                <a:ext cx="7696200" cy="3632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Aft>
                    <a:spcPts val="1200"/>
                  </a:spcAft>
                </a:pPr>
                <a:r>
                  <a:rPr lang="he-IL" sz="2000" u="sng" dirty="0">
                    <a:latin typeface="Gisha" panose="020B0502040204020203" pitchFamily="34" charset="-79"/>
                    <a:cs typeface="Gisha" panose="020B0502040204020203" pitchFamily="34" charset="-79"/>
                  </a:rPr>
                  <a:t>טענה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התכונה הבאה היא תכונת בטיחות</a:t>
                </a:r>
              </a:p>
              <a:p>
                <a:pPr algn="ctr" rtl="0">
                  <a:spcAft>
                    <a:spcPts val="12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he-IL" sz="2000" u="sng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הוכחה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</a:p>
              <a:p>
                <a:pPr marL="800100" lvl="1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תהי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Gisha" panose="020B0502040204020203" pitchFamily="34" charset="-79"/>
                      </a:rPr>
                      <m:t>⊭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כלשהי.</a:t>
                </a:r>
              </a:p>
              <a:p>
                <a:pPr marL="800100" lvl="1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לפי הגדרת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 קיים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]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𝑝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∉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[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]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800100" lvl="1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תהי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</m:e>
                      <m:sup>
                        <m: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כך 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800100" lvl="1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לפי הגדרת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</m:e>
                      <m:sup>
                        <m: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800100" lvl="1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קיבלנו שיש ל-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רישא רעה שכל המשך שלה לא יקיים את התכונה.</a:t>
                </a: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47800"/>
                <a:ext cx="7696200" cy="3632598"/>
              </a:xfrm>
              <a:prstGeom prst="rect">
                <a:avLst/>
              </a:prstGeom>
              <a:blipFill>
                <a:blip r:embed="rId2"/>
                <a:stretch>
                  <a:fillRect t="-1008" r="-713" b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9B4FCD-ED72-4EDC-BCA0-5820344F0F4C}"/>
              </a:ext>
            </a:extLst>
          </p:cNvPr>
          <p:cNvSpPr txBox="1"/>
          <p:nvPr/>
        </p:nvSpPr>
        <p:spPr>
          <a:xfrm>
            <a:off x="2514600" y="806726"/>
            <a:ext cx="4310795" cy="400110"/>
          </a:xfrm>
          <a:prstGeom prst="rect">
            <a:avLst/>
          </a:prstGeom>
          <a:solidFill>
            <a:srgbClr val="E7FAE2"/>
          </a:solidFill>
        </p:spPr>
        <p:txBody>
          <a:bodyPr wrap="square" rtlCol="0">
            <a:spAutoFit/>
          </a:bodyPr>
          <a:lstStyle/>
          <a:p>
            <a:pPr algn="ctr"/>
            <a:r>
              <a:rPr lang="he-IL" sz="2000" dirty="0">
                <a:solidFill>
                  <a:srgbClr val="3366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איך נוכיח שתכונה היא תכונת בטיחות?</a:t>
            </a:r>
            <a:endParaRPr lang="en-US" sz="2000" dirty="0">
              <a:solidFill>
                <a:srgbClr val="3366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4991819" y="5710610"/>
            <a:ext cx="3752490" cy="424413"/>
          </a:xfrm>
          <a:custGeom>
            <a:avLst/>
            <a:gdLst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1268083 w 7875917"/>
              <a:gd name="connsiteY2" fmla="*/ 715993 h 802257"/>
              <a:gd name="connsiteX3" fmla="*/ 2380890 w 7875917"/>
              <a:gd name="connsiteY3" fmla="*/ 353683 h 802257"/>
              <a:gd name="connsiteX4" fmla="*/ 3045124 w 7875917"/>
              <a:gd name="connsiteY4" fmla="*/ 448574 h 802257"/>
              <a:gd name="connsiteX5" fmla="*/ 4114800 w 7875917"/>
              <a:gd name="connsiteY5" fmla="*/ 353683 h 802257"/>
              <a:gd name="connsiteX6" fmla="*/ 4390845 w 7875917"/>
              <a:gd name="connsiteY6" fmla="*/ 25880 h 802257"/>
              <a:gd name="connsiteX7" fmla="*/ 5460520 w 7875917"/>
              <a:gd name="connsiteY7" fmla="*/ 370936 h 802257"/>
              <a:gd name="connsiteX8" fmla="*/ 6599207 w 7875917"/>
              <a:gd name="connsiteY8" fmla="*/ 405442 h 802257"/>
              <a:gd name="connsiteX9" fmla="*/ 7341079 w 7875917"/>
              <a:gd name="connsiteY9" fmla="*/ 439948 h 802257"/>
              <a:gd name="connsiteX10" fmla="*/ 7875917 w 7875917"/>
              <a:gd name="connsiteY10" fmla="*/ 0 h 802257"/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1268083 w 7875917"/>
              <a:gd name="connsiteY2" fmla="*/ 715993 h 802257"/>
              <a:gd name="connsiteX3" fmla="*/ 2380890 w 7875917"/>
              <a:gd name="connsiteY3" fmla="*/ 353683 h 802257"/>
              <a:gd name="connsiteX4" fmla="*/ 3045124 w 7875917"/>
              <a:gd name="connsiteY4" fmla="*/ 448574 h 802257"/>
              <a:gd name="connsiteX5" fmla="*/ 4390845 w 7875917"/>
              <a:gd name="connsiteY5" fmla="*/ 25880 h 802257"/>
              <a:gd name="connsiteX6" fmla="*/ 5460520 w 7875917"/>
              <a:gd name="connsiteY6" fmla="*/ 370936 h 802257"/>
              <a:gd name="connsiteX7" fmla="*/ 6599207 w 7875917"/>
              <a:gd name="connsiteY7" fmla="*/ 405442 h 802257"/>
              <a:gd name="connsiteX8" fmla="*/ 7341079 w 7875917"/>
              <a:gd name="connsiteY8" fmla="*/ 439948 h 802257"/>
              <a:gd name="connsiteX9" fmla="*/ 7875917 w 7875917"/>
              <a:gd name="connsiteY9" fmla="*/ 0 h 802257"/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1268083 w 7875917"/>
              <a:gd name="connsiteY2" fmla="*/ 715993 h 802257"/>
              <a:gd name="connsiteX3" fmla="*/ 2380890 w 7875917"/>
              <a:gd name="connsiteY3" fmla="*/ 353683 h 802257"/>
              <a:gd name="connsiteX4" fmla="*/ 4390845 w 7875917"/>
              <a:gd name="connsiteY4" fmla="*/ 25880 h 802257"/>
              <a:gd name="connsiteX5" fmla="*/ 5460520 w 7875917"/>
              <a:gd name="connsiteY5" fmla="*/ 370936 h 802257"/>
              <a:gd name="connsiteX6" fmla="*/ 6599207 w 7875917"/>
              <a:gd name="connsiteY6" fmla="*/ 405442 h 802257"/>
              <a:gd name="connsiteX7" fmla="*/ 7341079 w 7875917"/>
              <a:gd name="connsiteY7" fmla="*/ 439948 h 802257"/>
              <a:gd name="connsiteX8" fmla="*/ 7875917 w 7875917"/>
              <a:gd name="connsiteY8" fmla="*/ 0 h 802257"/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1268083 w 7875917"/>
              <a:gd name="connsiteY2" fmla="*/ 715993 h 802257"/>
              <a:gd name="connsiteX3" fmla="*/ 4390845 w 7875917"/>
              <a:gd name="connsiteY3" fmla="*/ 25880 h 802257"/>
              <a:gd name="connsiteX4" fmla="*/ 5460520 w 7875917"/>
              <a:gd name="connsiteY4" fmla="*/ 370936 h 802257"/>
              <a:gd name="connsiteX5" fmla="*/ 6599207 w 7875917"/>
              <a:gd name="connsiteY5" fmla="*/ 405442 h 802257"/>
              <a:gd name="connsiteX6" fmla="*/ 7341079 w 7875917"/>
              <a:gd name="connsiteY6" fmla="*/ 439948 h 802257"/>
              <a:gd name="connsiteX7" fmla="*/ 7875917 w 7875917"/>
              <a:gd name="connsiteY7" fmla="*/ 0 h 802257"/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4390845 w 7875917"/>
              <a:gd name="connsiteY2" fmla="*/ 25880 h 802257"/>
              <a:gd name="connsiteX3" fmla="*/ 5460520 w 7875917"/>
              <a:gd name="connsiteY3" fmla="*/ 370936 h 802257"/>
              <a:gd name="connsiteX4" fmla="*/ 6599207 w 7875917"/>
              <a:gd name="connsiteY4" fmla="*/ 405442 h 802257"/>
              <a:gd name="connsiteX5" fmla="*/ 7341079 w 7875917"/>
              <a:gd name="connsiteY5" fmla="*/ 439948 h 802257"/>
              <a:gd name="connsiteX6" fmla="*/ 7875917 w 7875917"/>
              <a:gd name="connsiteY6" fmla="*/ 0 h 802257"/>
              <a:gd name="connsiteX0" fmla="*/ 0 w 7875917"/>
              <a:gd name="connsiteY0" fmla="*/ 802257 h 802257"/>
              <a:gd name="connsiteX1" fmla="*/ 4390845 w 7875917"/>
              <a:gd name="connsiteY1" fmla="*/ 25880 h 802257"/>
              <a:gd name="connsiteX2" fmla="*/ 5460520 w 7875917"/>
              <a:gd name="connsiteY2" fmla="*/ 370936 h 802257"/>
              <a:gd name="connsiteX3" fmla="*/ 6599207 w 7875917"/>
              <a:gd name="connsiteY3" fmla="*/ 405442 h 802257"/>
              <a:gd name="connsiteX4" fmla="*/ 7341079 w 7875917"/>
              <a:gd name="connsiteY4" fmla="*/ 439948 h 802257"/>
              <a:gd name="connsiteX5" fmla="*/ 7875917 w 7875917"/>
              <a:gd name="connsiteY5" fmla="*/ 0 h 802257"/>
              <a:gd name="connsiteX0" fmla="*/ 0 w 3485072"/>
              <a:gd name="connsiteY0" fmla="*/ 25880 h 464766"/>
              <a:gd name="connsiteX1" fmla="*/ 1069675 w 3485072"/>
              <a:gd name="connsiteY1" fmla="*/ 370936 h 464766"/>
              <a:gd name="connsiteX2" fmla="*/ 2208362 w 3485072"/>
              <a:gd name="connsiteY2" fmla="*/ 405442 h 464766"/>
              <a:gd name="connsiteX3" fmla="*/ 2950234 w 3485072"/>
              <a:gd name="connsiteY3" fmla="*/ 439948 h 464766"/>
              <a:gd name="connsiteX4" fmla="*/ 3485072 w 3485072"/>
              <a:gd name="connsiteY4" fmla="*/ 0 h 464766"/>
              <a:gd name="connsiteX0" fmla="*/ 0 w 3666226"/>
              <a:gd name="connsiteY0" fmla="*/ 9593 h 428938"/>
              <a:gd name="connsiteX1" fmla="*/ 1069675 w 3666226"/>
              <a:gd name="connsiteY1" fmla="*/ 354649 h 428938"/>
              <a:gd name="connsiteX2" fmla="*/ 2208362 w 3666226"/>
              <a:gd name="connsiteY2" fmla="*/ 389155 h 428938"/>
              <a:gd name="connsiteX3" fmla="*/ 2950234 w 3666226"/>
              <a:gd name="connsiteY3" fmla="*/ 423661 h 428938"/>
              <a:gd name="connsiteX4" fmla="*/ 3666226 w 3666226"/>
              <a:gd name="connsiteY4" fmla="*/ 268384 h 428938"/>
              <a:gd name="connsiteX0" fmla="*/ 0 w 3666226"/>
              <a:gd name="connsiteY0" fmla="*/ 9593 h 428938"/>
              <a:gd name="connsiteX1" fmla="*/ 1069675 w 3666226"/>
              <a:gd name="connsiteY1" fmla="*/ 354649 h 428938"/>
              <a:gd name="connsiteX2" fmla="*/ 2208362 w 3666226"/>
              <a:gd name="connsiteY2" fmla="*/ 389155 h 428938"/>
              <a:gd name="connsiteX3" fmla="*/ 2950234 w 3666226"/>
              <a:gd name="connsiteY3" fmla="*/ 423661 h 428938"/>
              <a:gd name="connsiteX4" fmla="*/ 3666226 w 3666226"/>
              <a:gd name="connsiteY4" fmla="*/ 268384 h 428938"/>
              <a:gd name="connsiteX0" fmla="*/ 0 w 3752490"/>
              <a:gd name="connsiteY0" fmla="*/ 9593 h 424413"/>
              <a:gd name="connsiteX1" fmla="*/ 1069675 w 3752490"/>
              <a:gd name="connsiteY1" fmla="*/ 354649 h 424413"/>
              <a:gd name="connsiteX2" fmla="*/ 2208362 w 3752490"/>
              <a:gd name="connsiteY2" fmla="*/ 389155 h 424413"/>
              <a:gd name="connsiteX3" fmla="*/ 2950234 w 3752490"/>
              <a:gd name="connsiteY3" fmla="*/ 423661 h 424413"/>
              <a:gd name="connsiteX4" fmla="*/ 3752490 w 3752490"/>
              <a:gd name="connsiteY4" fmla="*/ 354648 h 424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52490" h="424413">
                <a:moveTo>
                  <a:pt x="0" y="9593"/>
                </a:moveTo>
                <a:cubicBezTo>
                  <a:pt x="910087" y="-62294"/>
                  <a:pt x="701615" y="291389"/>
                  <a:pt x="1069675" y="354649"/>
                </a:cubicBezTo>
                <a:cubicBezTo>
                  <a:pt x="1437735" y="417909"/>
                  <a:pt x="2208362" y="389155"/>
                  <a:pt x="2208362" y="389155"/>
                </a:cubicBezTo>
                <a:cubicBezTo>
                  <a:pt x="2521788" y="400657"/>
                  <a:pt x="2692879" y="429412"/>
                  <a:pt x="2950234" y="423661"/>
                </a:cubicBezTo>
                <a:cubicBezTo>
                  <a:pt x="3207589" y="417910"/>
                  <a:pt x="3358550" y="213031"/>
                  <a:pt x="3752490" y="35464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879447" y="5695760"/>
            <a:ext cx="93909" cy="808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609600" y="5538784"/>
            <a:ext cx="4261449" cy="277417"/>
          </a:xfrm>
          <a:custGeom>
            <a:avLst/>
            <a:gdLst>
              <a:gd name="connsiteX0" fmla="*/ 0 w 4261449"/>
              <a:gd name="connsiteY0" fmla="*/ 172793 h 277417"/>
              <a:gd name="connsiteX1" fmla="*/ 923027 w 4261449"/>
              <a:gd name="connsiteY1" fmla="*/ 264 h 277417"/>
              <a:gd name="connsiteX2" fmla="*/ 2406770 w 4261449"/>
              <a:gd name="connsiteY2" fmla="*/ 207298 h 277417"/>
              <a:gd name="connsiteX3" fmla="*/ 2777706 w 4261449"/>
              <a:gd name="connsiteY3" fmla="*/ 43397 h 277417"/>
              <a:gd name="connsiteX4" fmla="*/ 3726612 w 4261449"/>
              <a:gd name="connsiteY4" fmla="*/ 267683 h 277417"/>
              <a:gd name="connsiteX5" fmla="*/ 4261449 w 4261449"/>
              <a:gd name="connsiteY5" fmla="*/ 215925 h 27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61449" h="277417">
                <a:moveTo>
                  <a:pt x="0" y="172793"/>
                </a:moveTo>
                <a:cubicBezTo>
                  <a:pt x="260949" y="83653"/>
                  <a:pt x="521899" y="-5487"/>
                  <a:pt x="923027" y="264"/>
                </a:cubicBezTo>
                <a:cubicBezTo>
                  <a:pt x="1324155" y="6015"/>
                  <a:pt x="2097657" y="200109"/>
                  <a:pt x="2406770" y="207298"/>
                </a:cubicBezTo>
                <a:cubicBezTo>
                  <a:pt x="2715883" y="214487"/>
                  <a:pt x="2557732" y="33333"/>
                  <a:pt x="2777706" y="43397"/>
                </a:cubicBezTo>
                <a:cubicBezTo>
                  <a:pt x="2997680" y="53461"/>
                  <a:pt x="3479322" y="238928"/>
                  <a:pt x="3726612" y="267683"/>
                </a:cubicBezTo>
                <a:cubicBezTo>
                  <a:pt x="3973902" y="296438"/>
                  <a:pt x="4117675" y="256181"/>
                  <a:pt x="4261449" y="215925"/>
                </a:cubicBezTo>
              </a:path>
            </a:pathLst>
          </a:custGeom>
          <a:noFill/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4957313" y="5486400"/>
            <a:ext cx="3717985" cy="199297"/>
          </a:xfrm>
          <a:custGeom>
            <a:avLst/>
            <a:gdLst>
              <a:gd name="connsiteX0" fmla="*/ 0 w 3717985"/>
              <a:gd name="connsiteY0" fmla="*/ 199297 h 199297"/>
              <a:gd name="connsiteX1" fmla="*/ 362309 w 3717985"/>
              <a:gd name="connsiteY1" fmla="*/ 890 h 199297"/>
              <a:gd name="connsiteX2" fmla="*/ 1500996 w 3717985"/>
              <a:gd name="connsiteY2" fmla="*/ 121659 h 199297"/>
              <a:gd name="connsiteX3" fmla="*/ 2794958 w 3717985"/>
              <a:gd name="connsiteY3" fmla="*/ 9516 h 199297"/>
              <a:gd name="connsiteX4" fmla="*/ 3717985 w 3717985"/>
              <a:gd name="connsiteY4" fmla="*/ 156165 h 19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7985" h="199297">
                <a:moveTo>
                  <a:pt x="0" y="199297"/>
                </a:moveTo>
                <a:cubicBezTo>
                  <a:pt x="56071" y="106563"/>
                  <a:pt x="112143" y="13830"/>
                  <a:pt x="362309" y="890"/>
                </a:cubicBezTo>
                <a:cubicBezTo>
                  <a:pt x="612475" y="-12050"/>
                  <a:pt x="1095555" y="120221"/>
                  <a:pt x="1500996" y="121659"/>
                </a:cubicBezTo>
                <a:cubicBezTo>
                  <a:pt x="1906437" y="123097"/>
                  <a:pt x="2425460" y="3765"/>
                  <a:pt x="2794958" y="9516"/>
                </a:cubicBezTo>
                <a:cubicBezTo>
                  <a:pt x="3164456" y="15267"/>
                  <a:pt x="3441220" y="85716"/>
                  <a:pt x="3717985" y="156165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4935747" y="5794117"/>
            <a:ext cx="3821502" cy="899435"/>
          </a:xfrm>
          <a:custGeom>
            <a:avLst/>
            <a:gdLst>
              <a:gd name="connsiteX0" fmla="*/ 0 w 3821502"/>
              <a:gd name="connsiteY0" fmla="*/ 0 h 899435"/>
              <a:gd name="connsiteX1" fmla="*/ 379563 w 3821502"/>
              <a:gd name="connsiteY1" fmla="*/ 457200 h 899435"/>
              <a:gd name="connsiteX2" fmla="*/ 1104182 w 3821502"/>
              <a:gd name="connsiteY2" fmla="*/ 508958 h 899435"/>
              <a:gd name="connsiteX3" fmla="*/ 1475117 w 3821502"/>
              <a:gd name="connsiteY3" fmla="*/ 897147 h 899435"/>
              <a:gd name="connsiteX4" fmla="*/ 2303253 w 3821502"/>
              <a:gd name="connsiteY4" fmla="*/ 672860 h 899435"/>
              <a:gd name="connsiteX5" fmla="*/ 3295291 w 3821502"/>
              <a:gd name="connsiteY5" fmla="*/ 741871 h 899435"/>
              <a:gd name="connsiteX6" fmla="*/ 3821502 w 3821502"/>
              <a:gd name="connsiteY6" fmla="*/ 603849 h 899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21502" h="899435">
                <a:moveTo>
                  <a:pt x="0" y="0"/>
                </a:moveTo>
                <a:cubicBezTo>
                  <a:pt x="97766" y="186187"/>
                  <a:pt x="195533" y="372374"/>
                  <a:pt x="379563" y="457200"/>
                </a:cubicBezTo>
                <a:cubicBezTo>
                  <a:pt x="563593" y="542026"/>
                  <a:pt x="921590" y="435634"/>
                  <a:pt x="1104182" y="508958"/>
                </a:cubicBezTo>
                <a:cubicBezTo>
                  <a:pt x="1286774" y="582282"/>
                  <a:pt x="1275272" y="869830"/>
                  <a:pt x="1475117" y="897147"/>
                </a:cubicBezTo>
                <a:cubicBezTo>
                  <a:pt x="1674962" y="924464"/>
                  <a:pt x="1999891" y="698739"/>
                  <a:pt x="2303253" y="672860"/>
                </a:cubicBezTo>
                <a:cubicBezTo>
                  <a:pt x="2606615" y="646981"/>
                  <a:pt x="3042250" y="753373"/>
                  <a:pt x="3295291" y="741871"/>
                </a:cubicBezTo>
                <a:cubicBezTo>
                  <a:pt x="3548333" y="730369"/>
                  <a:pt x="3749615" y="661358"/>
                  <a:pt x="3821502" y="603849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296727" y="5820887"/>
                <a:ext cx="9202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..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727" y="5820887"/>
                <a:ext cx="9202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V="1">
            <a:off x="4572000" y="5943600"/>
            <a:ext cx="228600" cy="3810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44299" y="6243834"/>
            <a:ext cx="2186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200" dirty="0">
                <a:solidFill>
                  <a:srgbClr val="C0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רישא רעה שכל המשך שלה לא מקיים את התכונה</a:t>
            </a:r>
            <a:endParaRPr lang="en-US" sz="1200" dirty="0">
              <a:solidFill>
                <a:srgbClr val="C0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8794933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-277861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דוגמאות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04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11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14400" y="1447800"/>
                <a:ext cx="7696200" cy="3181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Aft>
                    <a:spcPts val="1200"/>
                  </a:spcAft>
                </a:pPr>
                <a:r>
                  <a:rPr lang="he-IL" sz="2000" u="sng" dirty="0">
                    <a:latin typeface="Gisha" panose="020B0502040204020203" pitchFamily="34" charset="-79"/>
                    <a:cs typeface="Gisha" panose="020B0502040204020203" pitchFamily="34" charset="-79"/>
                  </a:rPr>
                  <a:t>טענה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התכונה הבאה אינה תכונת בטיחות</a:t>
                </a:r>
              </a:p>
              <a:p>
                <a:pPr algn="ctr" rtl="0">
                  <a:spcAft>
                    <a:spcPts val="12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such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that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he-IL" sz="2000" u="sng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הוכחה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</a:p>
              <a:p>
                <a:pPr marL="800100" lvl="1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ניקח את המילה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שאינה שייכת ל-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he-IL" sz="2000" b="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800100" lvl="1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נבנה את המילה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</m:e>
                      <m:sup>
                        <m: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={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}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endParaRPr lang="en-US" sz="2000" b="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800100" lvl="1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ע"פ הגדרת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800100" lvl="1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קיבלנו שלכל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קיימת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וגם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47800"/>
                <a:ext cx="7696200" cy="3181705"/>
              </a:xfrm>
              <a:prstGeom prst="rect">
                <a:avLst/>
              </a:prstGeom>
              <a:blipFill>
                <a:blip r:embed="rId2"/>
                <a:stretch>
                  <a:fillRect t="-1152" r="-713" b="-2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 12"/>
          <p:cNvSpPr/>
          <p:nvPr/>
        </p:nvSpPr>
        <p:spPr>
          <a:xfrm>
            <a:off x="1589666" y="5510560"/>
            <a:ext cx="6402238" cy="302786"/>
          </a:xfrm>
          <a:custGeom>
            <a:avLst/>
            <a:gdLst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1268083 w 7875917"/>
              <a:gd name="connsiteY2" fmla="*/ 715993 h 802257"/>
              <a:gd name="connsiteX3" fmla="*/ 2380890 w 7875917"/>
              <a:gd name="connsiteY3" fmla="*/ 353683 h 802257"/>
              <a:gd name="connsiteX4" fmla="*/ 3045124 w 7875917"/>
              <a:gd name="connsiteY4" fmla="*/ 448574 h 802257"/>
              <a:gd name="connsiteX5" fmla="*/ 4114800 w 7875917"/>
              <a:gd name="connsiteY5" fmla="*/ 353683 h 802257"/>
              <a:gd name="connsiteX6" fmla="*/ 4390845 w 7875917"/>
              <a:gd name="connsiteY6" fmla="*/ 25880 h 802257"/>
              <a:gd name="connsiteX7" fmla="*/ 5460520 w 7875917"/>
              <a:gd name="connsiteY7" fmla="*/ 370936 h 802257"/>
              <a:gd name="connsiteX8" fmla="*/ 6599207 w 7875917"/>
              <a:gd name="connsiteY8" fmla="*/ 405442 h 802257"/>
              <a:gd name="connsiteX9" fmla="*/ 7341079 w 7875917"/>
              <a:gd name="connsiteY9" fmla="*/ 439948 h 802257"/>
              <a:gd name="connsiteX10" fmla="*/ 7875917 w 7875917"/>
              <a:gd name="connsiteY10" fmla="*/ 0 h 802257"/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1268083 w 7875917"/>
              <a:gd name="connsiteY2" fmla="*/ 715993 h 802257"/>
              <a:gd name="connsiteX3" fmla="*/ 2380890 w 7875917"/>
              <a:gd name="connsiteY3" fmla="*/ 353683 h 802257"/>
              <a:gd name="connsiteX4" fmla="*/ 3045124 w 7875917"/>
              <a:gd name="connsiteY4" fmla="*/ 448574 h 802257"/>
              <a:gd name="connsiteX5" fmla="*/ 4390845 w 7875917"/>
              <a:gd name="connsiteY5" fmla="*/ 25880 h 802257"/>
              <a:gd name="connsiteX6" fmla="*/ 5460520 w 7875917"/>
              <a:gd name="connsiteY6" fmla="*/ 370936 h 802257"/>
              <a:gd name="connsiteX7" fmla="*/ 6599207 w 7875917"/>
              <a:gd name="connsiteY7" fmla="*/ 405442 h 802257"/>
              <a:gd name="connsiteX8" fmla="*/ 7341079 w 7875917"/>
              <a:gd name="connsiteY8" fmla="*/ 439948 h 802257"/>
              <a:gd name="connsiteX9" fmla="*/ 7875917 w 7875917"/>
              <a:gd name="connsiteY9" fmla="*/ 0 h 802257"/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1268083 w 7875917"/>
              <a:gd name="connsiteY2" fmla="*/ 715993 h 802257"/>
              <a:gd name="connsiteX3" fmla="*/ 2380890 w 7875917"/>
              <a:gd name="connsiteY3" fmla="*/ 353683 h 802257"/>
              <a:gd name="connsiteX4" fmla="*/ 4390845 w 7875917"/>
              <a:gd name="connsiteY4" fmla="*/ 25880 h 802257"/>
              <a:gd name="connsiteX5" fmla="*/ 5460520 w 7875917"/>
              <a:gd name="connsiteY5" fmla="*/ 370936 h 802257"/>
              <a:gd name="connsiteX6" fmla="*/ 6599207 w 7875917"/>
              <a:gd name="connsiteY6" fmla="*/ 405442 h 802257"/>
              <a:gd name="connsiteX7" fmla="*/ 7341079 w 7875917"/>
              <a:gd name="connsiteY7" fmla="*/ 439948 h 802257"/>
              <a:gd name="connsiteX8" fmla="*/ 7875917 w 7875917"/>
              <a:gd name="connsiteY8" fmla="*/ 0 h 802257"/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1268083 w 7875917"/>
              <a:gd name="connsiteY2" fmla="*/ 715993 h 802257"/>
              <a:gd name="connsiteX3" fmla="*/ 4390845 w 7875917"/>
              <a:gd name="connsiteY3" fmla="*/ 25880 h 802257"/>
              <a:gd name="connsiteX4" fmla="*/ 5460520 w 7875917"/>
              <a:gd name="connsiteY4" fmla="*/ 370936 h 802257"/>
              <a:gd name="connsiteX5" fmla="*/ 6599207 w 7875917"/>
              <a:gd name="connsiteY5" fmla="*/ 405442 h 802257"/>
              <a:gd name="connsiteX6" fmla="*/ 7341079 w 7875917"/>
              <a:gd name="connsiteY6" fmla="*/ 439948 h 802257"/>
              <a:gd name="connsiteX7" fmla="*/ 7875917 w 7875917"/>
              <a:gd name="connsiteY7" fmla="*/ 0 h 802257"/>
              <a:gd name="connsiteX0" fmla="*/ 0 w 7875917"/>
              <a:gd name="connsiteY0" fmla="*/ 802257 h 802257"/>
              <a:gd name="connsiteX1" fmla="*/ 776377 w 7875917"/>
              <a:gd name="connsiteY1" fmla="*/ 508959 h 802257"/>
              <a:gd name="connsiteX2" fmla="*/ 4390845 w 7875917"/>
              <a:gd name="connsiteY2" fmla="*/ 25880 h 802257"/>
              <a:gd name="connsiteX3" fmla="*/ 5460520 w 7875917"/>
              <a:gd name="connsiteY3" fmla="*/ 370936 h 802257"/>
              <a:gd name="connsiteX4" fmla="*/ 6599207 w 7875917"/>
              <a:gd name="connsiteY4" fmla="*/ 405442 h 802257"/>
              <a:gd name="connsiteX5" fmla="*/ 7341079 w 7875917"/>
              <a:gd name="connsiteY5" fmla="*/ 439948 h 802257"/>
              <a:gd name="connsiteX6" fmla="*/ 7875917 w 7875917"/>
              <a:gd name="connsiteY6" fmla="*/ 0 h 802257"/>
              <a:gd name="connsiteX0" fmla="*/ 0 w 7875917"/>
              <a:gd name="connsiteY0" fmla="*/ 802257 h 802257"/>
              <a:gd name="connsiteX1" fmla="*/ 4390845 w 7875917"/>
              <a:gd name="connsiteY1" fmla="*/ 25880 h 802257"/>
              <a:gd name="connsiteX2" fmla="*/ 5460520 w 7875917"/>
              <a:gd name="connsiteY2" fmla="*/ 370936 h 802257"/>
              <a:gd name="connsiteX3" fmla="*/ 6599207 w 7875917"/>
              <a:gd name="connsiteY3" fmla="*/ 405442 h 802257"/>
              <a:gd name="connsiteX4" fmla="*/ 7341079 w 7875917"/>
              <a:gd name="connsiteY4" fmla="*/ 439948 h 802257"/>
              <a:gd name="connsiteX5" fmla="*/ 7875917 w 7875917"/>
              <a:gd name="connsiteY5" fmla="*/ 0 h 802257"/>
              <a:gd name="connsiteX0" fmla="*/ 0 w 3485072"/>
              <a:gd name="connsiteY0" fmla="*/ 25880 h 464766"/>
              <a:gd name="connsiteX1" fmla="*/ 1069675 w 3485072"/>
              <a:gd name="connsiteY1" fmla="*/ 370936 h 464766"/>
              <a:gd name="connsiteX2" fmla="*/ 2208362 w 3485072"/>
              <a:gd name="connsiteY2" fmla="*/ 405442 h 464766"/>
              <a:gd name="connsiteX3" fmla="*/ 2950234 w 3485072"/>
              <a:gd name="connsiteY3" fmla="*/ 439948 h 464766"/>
              <a:gd name="connsiteX4" fmla="*/ 3485072 w 3485072"/>
              <a:gd name="connsiteY4" fmla="*/ 0 h 464766"/>
              <a:gd name="connsiteX0" fmla="*/ 0 w 3666226"/>
              <a:gd name="connsiteY0" fmla="*/ 9593 h 428938"/>
              <a:gd name="connsiteX1" fmla="*/ 1069675 w 3666226"/>
              <a:gd name="connsiteY1" fmla="*/ 354649 h 428938"/>
              <a:gd name="connsiteX2" fmla="*/ 2208362 w 3666226"/>
              <a:gd name="connsiteY2" fmla="*/ 389155 h 428938"/>
              <a:gd name="connsiteX3" fmla="*/ 2950234 w 3666226"/>
              <a:gd name="connsiteY3" fmla="*/ 423661 h 428938"/>
              <a:gd name="connsiteX4" fmla="*/ 3666226 w 3666226"/>
              <a:gd name="connsiteY4" fmla="*/ 268384 h 428938"/>
              <a:gd name="connsiteX0" fmla="*/ 0 w 3666226"/>
              <a:gd name="connsiteY0" fmla="*/ 9593 h 428938"/>
              <a:gd name="connsiteX1" fmla="*/ 1069675 w 3666226"/>
              <a:gd name="connsiteY1" fmla="*/ 354649 h 428938"/>
              <a:gd name="connsiteX2" fmla="*/ 2208362 w 3666226"/>
              <a:gd name="connsiteY2" fmla="*/ 389155 h 428938"/>
              <a:gd name="connsiteX3" fmla="*/ 2950234 w 3666226"/>
              <a:gd name="connsiteY3" fmla="*/ 423661 h 428938"/>
              <a:gd name="connsiteX4" fmla="*/ 3666226 w 3666226"/>
              <a:gd name="connsiteY4" fmla="*/ 268384 h 428938"/>
              <a:gd name="connsiteX0" fmla="*/ 0 w 3752490"/>
              <a:gd name="connsiteY0" fmla="*/ 9593 h 424413"/>
              <a:gd name="connsiteX1" fmla="*/ 1069675 w 3752490"/>
              <a:gd name="connsiteY1" fmla="*/ 354649 h 424413"/>
              <a:gd name="connsiteX2" fmla="*/ 2208362 w 3752490"/>
              <a:gd name="connsiteY2" fmla="*/ 389155 h 424413"/>
              <a:gd name="connsiteX3" fmla="*/ 2950234 w 3752490"/>
              <a:gd name="connsiteY3" fmla="*/ 423661 h 424413"/>
              <a:gd name="connsiteX4" fmla="*/ 3752490 w 3752490"/>
              <a:gd name="connsiteY4" fmla="*/ 354648 h 424413"/>
              <a:gd name="connsiteX0" fmla="*/ 0 w 3815925"/>
              <a:gd name="connsiteY0" fmla="*/ 9593 h 438100"/>
              <a:gd name="connsiteX1" fmla="*/ 1069675 w 3815925"/>
              <a:gd name="connsiteY1" fmla="*/ 354649 h 438100"/>
              <a:gd name="connsiteX2" fmla="*/ 2208362 w 3815925"/>
              <a:gd name="connsiteY2" fmla="*/ 389155 h 438100"/>
              <a:gd name="connsiteX3" fmla="*/ 2950234 w 3815925"/>
              <a:gd name="connsiteY3" fmla="*/ 423661 h 438100"/>
              <a:gd name="connsiteX4" fmla="*/ 3815925 w 3815925"/>
              <a:gd name="connsiteY4" fmla="*/ 130362 h 438100"/>
              <a:gd name="connsiteX0" fmla="*/ 0 w 3815925"/>
              <a:gd name="connsiteY0" fmla="*/ 9593 h 438100"/>
              <a:gd name="connsiteX1" fmla="*/ 1069675 w 3815925"/>
              <a:gd name="connsiteY1" fmla="*/ 354649 h 438100"/>
              <a:gd name="connsiteX2" fmla="*/ 2208362 w 3815925"/>
              <a:gd name="connsiteY2" fmla="*/ 389155 h 438100"/>
              <a:gd name="connsiteX3" fmla="*/ 2950234 w 3815925"/>
              <a:gd name="connsiteY3" fmla="*/ 423661 h 438100"/>
              <a:gd name="connsiteX4" fmla="*/ 3815925 w 3815925"/>
              <a:gd name="connsiteY4" fmla="*/ 130362 h 438100"/>
              <a:gd name="connsiteX0" fmla="*/ 0 w 3815925"/>
              <a:gd name="connsiteY0" fmla="*/ 9593 h 438100"/>
              <a:gd name="connsiteX1" fmla="*/ 1069675 w 3815925"/>
              <a:gd name="connsiteY1" fmla="*/ 354649 h 438100"/>
              <a:gd name="connsiteX2" fmla="*/ 2208362 w 3815925"/>
              <a:gd name="connsiteY2" fmla="*/ 389155 h 438100"/>
              <a:gd name="connsiteX3" fmla="*/ 2950234 w 3815925"/>
              <a:gd name="connsiteY3" fmla="*/ 423661 h 438100"/>
              <a:gd name="connsiteX4" fmla="*/ 3815925 w 3815925"/>
              <a:gd name="connsiteY4" fmla="*/ 130362 h 438100"/>
              <a:gd name="connsiteX0" fmla="*/ 0 w 3362817"/>
              <a:gd name="connsiteY0" fmla="*/ 9947 h 421201"/>
              <a:gd name="connsiteX1" fmla="*/ 616567 w 3362817"/>
              <a:gd name="connsiteY1" fmla="*/ 337750 h 421201"/>
              <a:gd name="connsiteX2" fmla="*/ 1755254 w 3362817"/>
              <a:gd name="connsiteY2" fmla="*/ 372256 h 421201"/>
              <a:gd name="connsiteX3" fmla="*/ 2497126 w 3362817"/>
              <a:gd name="connsiteY3" fmla="*/ 406762 h 421201"/>
              <a:gd name="connsiteX4" fmla="*/ 3362817 w 3362817"/>
              <a:gd name="connsiteY4" fmla="*/ 113463 h 421201"/>
              <a:gd name="connsiteX0" fmla="*/ 0 w 3362817"/>
              <a:gd name="connsiteY0" fmla="*/ 0 h 411254"/>
              <a:gd name="connsiteX1" fmla="*/ 616567 w 3362817"/>
              <a:gd name="connsiteY1" fmla="*/ 327803 h 411254"/>
              <a:gd name="connsiteX2" fmla="*/ 1755254 w 3362817"/>
              <a:gd name="connsiteY2" fmla="*/ 362309 h 411254"/>
              <a:gd name="connsiteX3" fmla="*/ 2497126 w 3362817"/>
              <a:gd name="connsiteY3" fmla="*/ 396815 h 411254"/>
              <a:gd name="connsiteX4" fmla="*/ 3362817 w 3362817"/>
              <a:gd name="connsiteY4" fmla="*/ 103516 h 41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2817" h="411254">
                <a:moveTo>
                  <a:pt x="0" y="0"/>
                </a:moveTo>
                <a:cubicBezTo>
                  <a:pt x="552132" y="178279"/>
                  <a:pt x="324025" y="267418"/>
                  <a:pt x="616567" y="327803"/>
                </a:cubicBezTo>
                <a:cubicBezTo>
                  <a:pt x="909109" y="388188"/>
                  <a:pt x="1755254" y="362309"/>
                  <a:pt x="1755254" y="362309"/>
                </a:cubicBezTo>
                <a:cubicBezTo>
                  <a:pt x="2068680" y="373811"/>
                  <a:pt x="2229199" y="439947"/>
                  <a:pt x="2497126" y="396815"/>
                </a:cubicBezTo>
                <a:cubicBezTo>
                  <a:pt x="2765053" y="353683"/>
                  <a:pt x="2923566" y="39536"/>
                  <a:pt x="3362817" y="103516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289353" y="5114079"/>
                <a:ext cx="8002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𝜎</m:t>
                      </m:r>
                      <m:r>
                        <a:rPr lang="he-IL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∉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353" y="5114079"/>
                <a:ext cx="8002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356705" y="832438"/>
            <a:ext cx="4310795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he-IL" sz="2000" dirty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איך נוכיח שתכונה אינה תכונת בטיחות?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234989" y="5323950"/>
            <a:ext cx="1756913" cy="482691"/>
          </a:xfrm>
          <a:custGeom>
            <a:avLst/>
            <a:gdLst>
              <a:gd name="connsiteX0" fmla="*/ 1570008 w 1570008"/>
              <a:gd name="connsiteY0" fmla="*/ 20497 h 960777"/>
              <a:gd name="connsiteX1" fmla="*/ 793630 w 1570008"/>
              <a:gd name="connsiteY1" fmla="*/ 37750 h 960777"/>
              <a:gd name="connsiteX2" fmla="*/ 526211 w 1570008"/>
              <a:gd name="connsiteY2" fmla="*/ 365554 h 960777"/>
              <a:gd name="connsiteX3" fmla="*/ 224287 w 1570008"/>
              <a:gd name="connsiteY3" fmla="*/ 451818 h 960777"/>
              <a:gd name="connsiteX4" fmla="*/ 0 w 1570008"/>
              <a:gd name="connsiteY4" fmla="*/ 960777 h 96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0008" h="960777">
                <a:moveTo>
                  <a:pt x="1570008" y="20497"/>
                </a:moveTo>
                <a:cubicBezTo>
                  <a:pt x="1268802" y="369"/>
                  <a:pt x="967596" y="-19759"/>
                  <a:pt x="793630" y="37750"/>
                </a:cubicBezTo>
                <a:cubicBezTo>
                  <a:pt x="619664" y="95259"/>
                  <a:pt x="621101" y="296543"/>
                  <a:pt x="526211" y="365554"/>
                </a:cubicBezTo>
                <a:cubicBezTo>
                  <a:pt x="431321" y="434565"/>
                  <a:pt x="311989" y="352614"/>
                  <a:pt x="224287" y="451818"/>
                </a:cubicBezTo>
                <a:cubicBezTo>
                  <a:pt x="136585" y="551022"/>
                  <a:pt x="68292" y="755899"/>
                  <a:pt x="0" y="960777"/>
                </a:cubicBezTo>
              </a:path>
            </a:pathLst>
          </a:custGeom>
          <a:noFill/>
          <a:ln>
            <a:solidFill>
              <a:srgbClr val="3366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 flipV="1">
            <a:off x="4147870" y="5832845"/>
            <a:ext cx="3844032" cy="322103"/>
          </a:xfrm>
          <a:custGeom>
            <a:avLst/>
            <a:gdLst>
              <a:gd name="connsiteX0" fmla="*/ 1570008 w 1570008"/>
              <a:gd name="connsiteY0" fmla="*/ 20497 h 960777"/>
              <a:gd name="connsiteX1" fmla="*/ 793630 w 1570008"/>
              <a:gd name="connsiteY1" fmla="*/ 37750 h 960777"/>
              <a:gd name="connsiteX2" fmla="*/ 526211 w 1570008"/>
              <a:gd name="connsiteY2" fmla="*/ 365554 h 960777"/>
              <a:gd name="connsiteX3" fmla="*/ 224287 w 1570008"/>
              <a:gd name="connsiteY3" fmla="*/ 451818 h 960777"/>
              <a:gd name="connsiteX4" fmla="*/ 0 w 1570008"/>
              <a:gd name="connsiteY4" fmla="*/ 960777 h 96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0008" h="960777">
                <a:moveTo>
                  <a:pt x="1570008" y="20497"/>
                </a:moveTo>
                <a:cubicBezTo>
                  <a:pt x="1268802" y="369"/>
                  <a:pt x="967596" y="-19759"/>
                  <a:pt x="793630" y="37750"/>
                </a:cubicBezTo>
                <a:cubicBezTo>
                  <a:pt x="619664" y="95259"/>
                  <a:pt x="621101" y="296543"/>
                  <a:pt x="526211" y="365554"/>
                </a:cubicBezTo>
                <a:cubicBezTo>
                  <a:pt x="431321" y="434565"/>
                  <a:pt x="311989" y="352614"/>
                  <a:pt x="224287" y="451818"/>
                </a:cubicBezTo>
                <a:cubicBezTo>
                  <a:pt x="136585" y="551022"/>
                  <a:pt x="68292" y="755899"/>
                  <a:pt x="0" y="960777"/>
                </a:cubicBezTo>
              </a:path>
            </a:pathLst>
          </a:custGeom>
          <a:noFill/>
          <a:ln>
            <a:solidFill>
              <a:srgbClr val="3366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3107554" y="5105400"/>
            <a:ext cx="4884348" cy="638128"/>
          </a:xfrm>
          <a:custGeom>
            <a:avLst/>
            <a:gdLst>
              <a:gd name="connsiteX0" fmla="*/ 1570008 w 1570008"/>
              <a:gd name="connsiteY0" fmla="*/ 20497 h 960777"/>
              <a:gd name="connsiteX1" fmla="*/ 793630 w 1570008"/>
              <a:gd name="connsiteY1" fmla="*/ 37750 h 960777"/>
              <a:gd name="connsiteX2" fmla="*/ 526211 w 1570008"/>
              <a:gd name="connsiteY2" fmla="*/ 365554 h 960777"/>
              <a:gd name="connsiteX3" fmla="*/ 224287 w 1570008"/>
              <a:gd name="connsiteY3" fmla="*/ 451818 h 960777"/>
              <a:gd name="connsiteX4" fmla="*/ 0 w 1570008"/>
              <a:gd name="connsiteY4" fmla="*/ 960777 h 96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0008" h="960777">
                <a:moveTo>
                  <a:pt x="1570008" y="20497"/>
                </a:moveTo>
                <a:cubicBezTo>
                  <a:pt x="1268802" y="369"/>
                  <a:pt x="967596" y="-19759"/>
                  <a:pt x="793630" y="37750"/>
                </a:cubicBezTo>
                <a:cubicBezTo>
                  <a:pt x="619664" y="95259"/>
                  <a:pt x="621101" y="296543"/>
                  <a:pt x="526211" y="365554"/>
                </a:cubicBezTo>
                <a:cubicBezTo>
                  <a:pt x="431321" y="434565"/>
                  <a:pt x="311989" y="352614"/>
                  <a:pt x="224287" y="451818"/>
                </a:cubicBezTo>
                <a:cubicBezTo>
                  <a:pt x="136585" y="551022"/>
                  <a:pt x="68292" y="755899"/>
                  <a:pt x="0" y="960777"/>
                </a:cubicBezTo>
              </a:path>
            </a:pathLst>
          </a:custGeom>
          <a:noFill/>
          <a:ln>
            <a:solidFill>
              <a:srgbClr val="3366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 flipV="1">
            <a:off x="2472432" y="5739444"/>
            <a:ext cx="5519470" cy="642706"/>
          </a:xfrm>
          <a:custGeom>
            <a:avLst/>
            <a:gdLst>
              <a:gd name="connsiteX0" fmla="*/ 1570008 w 1570008"/>
              <a:gd name="connsiteY0" fmla="*/ 20497 h 960777"/>
              <a:gd name="connsiteX1" fmla="*/ 793630 w 1570008"/>
              <a:gd name="connsiteY1" fmla="*/ 37750 h 960777"/>
              <a:gd name="connsiteX2" fmla="*/ 526211 w 1570008"/>
              <a:gd name="connsiteY2" fmla="*/ 365554 h 960777"/>
              <a:gd name="connsiteX3" fmla="*/ 224287 w 1570008"/>
              <a:gd name="connsiteY3" fmla="*/ 451818 h 960777"/>
              <a:gd name="connsiteX4" fmla="*/ 0 w 1570008"/>
              <a:gd name="connsiteY4" fmla="*/ 960777 h 96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0008" h="960777">
                <a:moveTo>
                  <a:pt x="1570008" y="20497"/>
                </a:moveTo>
                <a:cubicBezTo>
                  <a:pt x="1268802" y="369"/>
                  <a:pt x="967596" y="-19759"/>
                  <a:pt x="793630" y="37750"/>
                </a:cubicBezTo>
                <a:cubicBezTo>
                  <a:pt x="619664" y="95259"/>
                  <a:pt x="621101" y="296543"/>
                  <a:pt x="526211" y="365554"/>
                </a:cubicBezTo>
                <a:cubicBezTo>
                  <a:pt x="431321" y="434565"/>
                  <a:pt x="311989" y="352614"/>
                  <a:pt x="224287" y="451818"/>
                </a:cubicBezTo>
                <a:cubicBezTo>
                  <a:pt x="136585" y="551022"/>
                  <a:pt x="68292" y="755899"/>
                  <a:pt x="0" y="960777"/>
                </a:cubicBezTo>
              </a:path>
            </a:pathLst>
          </a:custGeom>
          <a:noFill/>
          <a:ln>
            <a:solidFill>
              <a:srgbClr val="3366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 flipV="1">
            <a:off x="5875553" y="5866636"/>
            <a:ext cx="2142227" cy="153164"/>
          </a:xfrm>
          <a:custGeom>
            <a:avLst/>
            <a:gdLst>
              <a:gd name="connsiteX0" fmla="*/ 1570008 w 1570008"/>
              <a:gd name="connsiteY0" fmla="*/ 20497 h 960777"/>
              <a:gd name="connsiteX1" fmla="*/ 793630 w 1570008"/>
              <a:gd name="connsiteY1" fmla="*/ 37750 h 960777"/>
              <a:gd name="connsiteX2" fmla="*/ 526211 w 1570008"/>
              <a:gd name="connsiteY2" fmla="*/ 365554 h 960777"/>
              <a:gd name="connsiteX3" fmla="*/ 224287 w 1570008"/>
              <a:gd name="connsiteY3" fmla="*/ 451818 h 960777"/>
              <a:gd name="connsiteX4" fmla="*/ 0 w 1570008"/>
              <a:gd name="connsiteY4" fmla="*/ 960777 h 960777"/>
              <a:gd name="connsiteX0" fmla="*/ 1570008 w 1570008"/>
              <a:gd name="connsiteY0" fmla="*/ 2738219 h 3678499"/>
              <a:gd name="connsiteX1" fmla="*/ 793630 w 1570008"/>
              <a:gd name="connsiteY1" fmla="*/ 2755472 h 3678499"/>
              <a:gd name="connsiteX2" fmla="*/ 500923 w 1570008"/>
              <a:gd name="connsiteY2" fmla="*/ 1471 h 3678499"/>
              <a:gd name="connsiteX3" fmla="*/ 224287 w 1570008"/>
              <a:gd name="connsiteY3" fmla="*/ 3169540 h 3678499"/>
              <a:gd name="connsiteX4" fmla="*/ 0 w 1570008"/>
              <a:gd name="connsiteY4" fmla="*/ 3678499 h 3678499"/>
              <a:gd name="connsiteX0" fmla="*/ 1570008 w 1570008"/>
              <a:gd name="connsiteY0" fmla="*/ 2892594 h 3832874"/>
              <a:gd name="connsiteX1" fmla="*/ 837885 w 1570008"/>
              <a:gd name="connsiteY1" fmla="*/ 734447 h 3832874"/>
              <a:gd name="connsiteX2" fmla="*/ 500923 w 1570008"/>
              <a:gd name="connsiteY2" fmla="*/ 155846 h 3832874"/>
              <a:gd name="connsiteX3" fmla="*/ 224287 w 1570008"/>
              <a:gd name="connsiteY3" fmla="*/ 3323915 h 3832874"/>
              <a:gd name="connsiteX4" fmla="*/ 0 w 1570008"/>
              <a:gd name="connsiteY4" fmla="*/ 3832874 h 3832874"/>
              <a:gd name="connsiteX0" fmla="*/ 1570008 w 1570008"/>
              <a:gd name="connsiteY0" fmla="*/ 3550547 h 4490827"/>
              <a:gd name="connsiteX1" fmla="*/ 837885 w 1570008"/>
              <a:gd name="connsiteY1" fmla="*/ 1392400 h 4490827"/>
              <a:gd name="connsiteX2" fmla="*/ 500923 w 1570008"/>
              <a:gd name="connsiteY2" fmla="*/ 813799 h 4490827"/>
              <a:gd name="connsiteX3" fmla="*/ 224287 w 1570008"/>
              <a:gd name="connsiteY3" fmla="*/ 3981868 h 4490827"/>
              <a:gd name="connsiteX4" fmla="*/ 0 w 1570008"/>
              <a:gd name="connsiteY4" fmla="*/ 4490827 h 4490827"/>
              <a:gd name="connsiteX0" fmla="*/ 1570008 w 1570008"/>
              <a:gd name="connsiteY0" fmla="*/ 3431498 h 4371778"/>
              <a:gd name="connsiteX1" fmla="*/ 837885 w 1570008"/>
              <a:gd name="connsiteY1" fmla="*/ 1273351 h 4371778"/>
              <a:gd name="connsiteX2" fmla="*/ 500923 w 1570008"/>
              <a:gd name="connsiteY2" fmla="*/ 694750 h 4371778"/>
              <a:gd name="connsiteX3" fmla="*/ 173710 w 1570008"/>
              <a:gd name="connsiteY3" fmla="*/ 1506133 h 4371778"/>
              <a:gd name="connsiteX4" fmla="*/ 0 w 1570008"/>
              <a:gd name="connsiteY4" fmla="*/ 4371778 h 4371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0008" h="4371778">
                <a:moveTo>
                  <a:pt x="1570008" y="3431498"/>
                </a:moveTo>
                <a:cubicBezTo>
                  <a:pt x="1268802" y="3411370"/>
                  <a:pt x="1041354" y="3723597"/>
                  <a:pt x="837885" y="1273351"/>
                </a:cubicBezTo>
                <a:cubicBezTo>
                  <a:pt x="634416" y="-1176895"/>
                  <a:pt x="611619" y="655953"/>
                  <a:pt x="500923" y="694750"/>
                </a:cubicBezTo>
                <a:cubicBezTo>
                  <a:pt x="390227" y="733547"/>
                  <a:pt x="257197" y="893295"/>
                  <a:pt x="173710" y="1506133"/>
                </a:cubicBezTo>
                <a:cubicBezTo>
                  <a:pt x="90223" y="2118971"/>
                  <a:pt x="68292" y="4166900"/>
                  <a:pt x="0" y="4371778"/>
                </a:cubicBezTo>
              </a:path>
            </a:pathLst>
          </a:custGeom>
          <a:noFill/>
          <a:ln>
            <a:solidFill>
              <a:srgbClr val="3366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089224" y="5731646"/>
            <a:ext cx="93909" cy="59554"/>
          </a:xfrm>
          <a:prstGeom prst="ellipse">
            <a:avLst/>
          </a:prstGeom>
          <a:solidFill>
            <a:srgbClr val="248E16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411593" y="5660134"/>
            <a:ext cx="93909" cy="59554"/>
          </a:xfrm>
          <a:prstGeom prst="ellipse">
            <a:avLst/>
          </a:prstGeom>
          <a:solidFill>
            <a:srgbClr val="248E16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105245" y="5762212"/>
            <a:ext cx="93909" cy="59554"/>
          </a:xfrm>
          <a:prstGeom prst="ellipse">
            <a:avLst/>
          </a:prstGeom>
          <a:solidFill>
            <a:srgbClr val="248E16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832424" y="5799220"/>
            <a:ext cx="93909" cy="59554"/>
          </a:xfrm>
          <a:prstGeom prst="ellipse">
            <a:avLst/>
          </a:prstGeom>
          <a:solidFill>
            <a:srgbClr val="248E16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213424" y="5781968"/>
            <a:ext cx="93909" cy="59554"/>
          </a:xfrm>
          <a:prstGeom prst="ellipse">
            <a:avLst/>
          </a:prstGeom>
          <a:solidFill>
            <a:srgbClr val="248E16"/>
          </a:solidFill>
          <a:ln>
            <a:solidFill>
              <a:srgbClr val="33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8360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היחס בין תכונות בטיחות ותכונות שמורה?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12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714502" y="1384300"/>
            <a:ext cx="5905500" cy="558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כל </a:t>
            </a:r>
            <a:r>
              <a:rPr lang="he-IL" sz="28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תכונת שמורה </a:t>
            </a:r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היא גם </a:t>
            </a:r>
            <a:r>
              <a:rPr lang="he-IL" sz="28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תכונת בטיחות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532752623"/>
              </p:ext>
            </p:extLst>
          </p:nvPr>
        </p:nvGraphicFramePr>
        <p:xfrm>
          <a:off x="1085852" y="2190750"/>
          <a:ext cx="7162800" cy="271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96362" y="5031085"/>
            <a:ext cx="115127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הוכחה?</a:t>
            </a:r>
          </a:p>
        </p:txBody>
      </p:sp>
    </p:spTree>
    <p:extLst>
      <p:ext uri="{BB962C8B-B14F-4D97-AF65-F5344CB8AC3E}">
        <p14:creationId xmlns:p14="http://schemas.microsoft.com/office/powerpoint/2010/main" val="85138382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397" y="298686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דוגמה לתכונת בטיחות </a:t>
            </a:r>
            <a:b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שאינה תכונת שמורה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13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0" y="1676400"/>
            <a:ext cx="8991600" cy="4572000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מכונה אוטומטית המספקת שירותי בנקאות (</a:t>
            </a:r>
            <a:r>
              <a:rPr lang="en-US" sz="2200" dirty="0">
                <a:latin typeface="Gisha" panose="020B0502040204020203" pitchFamily="34" charset="-79"/>
                <a:cs typeface="Gisha" panose="020B0502040204020203" pitchFamily="34" charset="-79"/>
              </a:rPr>
              <a:t>ATM</a:t>
            </a: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>
              <a:spcBef>
                <a:spcPts val="2400"/>
              </a:spcBef>
            </a:pP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דרישה טבעית: </a:t>
            </a:r>
            <a:r>
              <a:rPr lang="he-IL" sz="22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"כסף ניתן רק לאחר שהוקלד קוד הסודי נכון (</a:t>
            </a:r>
            <a:r>
              <a:rPr lang="en-US" sz="22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PIN</a:t>
            </a:r>
            <a:r>
              <a:rPr lang="he-IL" sz="22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)"</a:t>
            </a:r>
          </a:p>
          <a:p>
            <a:pPr>
              <a:spcBef>
                <a:spcPts val="2400"/>
              </a:spcBef>
            </a:pP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תכונה זאת </a:t>
            </a:r>
            <a:r>
              <a:rPr lang="he-IL" sz="22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אינה שמורה </a:t>
            </a: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מכיוון שהיא לא תכונה של מצב</a:t>
            </a:r>
          </a:p>
          <a:p>
            <a:pPr>
              <a:spcBef>
                <a:spcPts val="2400"/>
              </a:spcBef>
            </a:pP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היא </a:t>
            </a:r>
            <a:r>
              <a:rPr lang="he-IL" sz="22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תכונת</a:t>
            </a:r>
            <a:r>
              <a:rPr lang="he-IL" sz="2200" dirty="0">
                <a:solidFill>
                  <a:srgbClr val="0040C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2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בטיחות</a:t>
            </a: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 (</a:t>
            </a:r>
            <a:r>
              <a:rPr lang="en-US" sz="2200" dirty="0">
                <a:latin typeface="Gisha" panose="020B0502040204020203" pitchFamily="34" charset="-79"/>
                <a:cs typeface="Gisha" panose="020B0502040204020203" pitchFamily="34" charset="-79"/>
              </a:rPr>
              <a:t>safety property</a:t>
            </a: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) מכיוון שלכל ריצה שמפירה את התכונה יש </a:t>
            </a:r>
            <a:r>
              <a:rPr lang="he-IL" sz="2200" b="1" dirty="0">
                <a:latin typeface="Gisha" panose="020B0502040204020203" pitchFamily="34" charset="-79"/>
                <a:cs typeface="Gisha" panose="020B0502040204020203" pitchFamily="34" charset="-79"/>
              </a:rPr>
              <a:t>רֵישָא (</a:t>
            </a:r>
            <a:r>
              <a:rPr lang="en-US" sz="2200" dirty="0">
                <a:latin typeface="Gisha" panose="020B0502040204020203" pitchFamily="34" charset="-79"/>
                <a:cs typeface="Gisha" panose="020B0502040204020203" pitchFamily="34" charset="-79"/>
              </a:rPr>
              <a:t>prefix</a:t>
            </a:r>
            <a:r>
              <a:rPr lang="he-IL" sz="2200" b="1" dirty="0">
                <a:latin typeface="Gisha" panose="020B0502040204020203" pitchFamily="34" charset="-79"/>
                <a:cs typeface="Gisha" panose="020B0502040204020203" pitchFamily="34" charset="-79"/>
              </a:rPr>
              <a:t>) רעה</a:t>
            </a: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 סופית</a:t>
            </a:r>
          </a:p>
          <a:p>
            <a:pPr>
              <a:spcBef>
                <a:spcPts val="2400"/>
              </a:spcBef>
            </a:pP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יתרון של תכונות בטיחות: קבוצה רחבה יותר של תכונות שניתן לבדוק באמצעות גרסאות של אלגוריתמי חיפוש בגרף (</a:t>
            </a:r>
            <a:r>
              <a:rPr lang="en-US" sz="2200" dirty="0">
                <a:latin typeface="Gisha" panose="020B0502040204020203" pitchFamily="34" charset="-79"/>
                <a:cs typeface="Gisha" panose="020B0502040204020203" pitchFamily="34" charset="-79"/>
              </a:rPr>
              <a:t>DFS, BFS</a:t>
            </a: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>
              <a:spcBef>
                <a:spcPts val="2400"/>
              </a:spcBef>
            </a:pPr>
            <a:r>
              <a:rPr lang="he-IL" sz="22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שמורה </a:t>
            </a:r>
            <a:r>
              <a:rPr lang="he-IL" sz="2200" dirty="0">
                <a:latin typeface="Gisha" panose="020B0502040204020203" pitchFamily="34" charset="-79"/>
                <a:cs typeface="Gisha" panose="020B0502040204020203" pitchFamily="34" charset="-79"/>
              </a:rPr>
              <a:t>הם מקרה פרטי של תכונות בטיחות (ראינו בשקף הקודם)</a:t>
            </a:r>
          </a:p>
          <a:p>
            <a:pPr>
              <a:spcBef>
                <a:spcPts val="2400"/>
              </a:spcBef>
              <a:buNone/>
            </a:pPr>
            <a:endParaRPr lang="he-IL" sz="22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2400"/>
              </a:spcBef>
            </a:pPr>
            <a:endParaRPr lang="he-IL" sz="22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2400"/>
              </a:spcBef>
            </a:pPr>
            <a:endParaRPr lang="he-IL" sz="22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2400"/>
              </a:spcBef>
            </a:pPr>
            <a:endParaRPr lang="he-IL" sz="22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2400"/>
              </a:spcBef>
            </a:pPr>
            <a:endParaRPr lang="he-IL" sz="22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2400"/>
              </a:spcBef>
            </a:pPr>
            <a:endParaRPr lang="he-IL" sz="22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2400"/>
              </a:spcBef>
            </a:pPr>
            <a:endParaRPr lang="he-IL" sz="22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2400"/>
              </a:spcBef>
            </a:pPr>
            <a:endParaRPr lang="he-IL" sz="22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 descr="קובץ:Bankomat 05042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049" y="1076138"/>
            <a:ext cx="1123949" cy="1183105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-76200"/>
            <a:ext cx="8285673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תכונת בטיחות רגולרית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499" y="6858000"/>
            <a:ext cx="2640043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399" y="152400"/>
            <a:ext cx="487393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14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34544" y="1227156"/>
                <a:ext cx="8703512" cy="10666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ctr">
                  <a:spcBef>
                    <a:spcPts val="2400"/>
                  </a:spcBef>
                  <a:spcAft>
                    <a:spcPts val="1200"/>
                  </a:spcAft>
                  <a:buClr>
                    <a:srgbClr val="9B2D1F"/>
                  </a:buClr>
                </a:pPr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"אור אדום נדלק רק אחרי אור צהוב"</a:t>
                </a:r>
              </a:p>
              <a:p>
                <a:pPr marL="58738" lvl="2" algn="ctr" rtl="0">
                  <a:spcBef>
                    <a:spcPts val="2400"/>
                  </a:spcBef>
                  <a:buClr>
                    <a:srgbClr val="9B2D1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{</m:t>
                      </m:r>
                      <m:r>
                        <a:rPr lang="he-IL" sz="20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he-IL" sz="20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MT Extra"/>
                        </a:rPr>
                        <m:t>∈</m:t>
                      </m:r>
                      <m:sSup>
                        <m:sSupPr>
                          <m:ctrlP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MT Extr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MT Extra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MT Extra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MT Extra"/>
                                    </a:rPr>
                                    <m:t>2</m:t>
                                  </m:r>
                                </m:e>
                                <m:sup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sym typeface="MT Extra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sym typeface="MT Extra"/>
                                        </a:rPr>
                                        <m:t>𝑟𝑒𝑑</m:t>
                                      </m:r>
                                      <m:r>
                                        <a:rPr lang="en-US" sz="2000" b="0" i="1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sym typeface="MT Extra"/>
                                        </a:rPr>
                                        <m:t>,</m:t>
                                      </m:r>
                                      <m:r>
                                        <a:rPr lang="en-US" sz="2000" b="0" i="1" dirty="0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sym typeface="MT Extra"/>
                                        </a:rPr>
                                        <m:t>𝑦𝑒𝑙𝑙𝑜𝑤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MT Extra"/>
                            </a:rPr>
                            <m:t>𝜔</m:t>
                          </m:r>
                        </m:sup>
                      </m:sSup>
                      <m:r>
                        <a:rPr lang="en-US" sz="20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:  </m:t>
                      </m:r>
                      <m:r>
                        <a:rPr lang="en-US" sz="20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he-IL" sz="20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0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sz="20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 err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&gt;</m:t>
                          </m:r>
                          <m: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∧ </m:t>
                          </m:r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000" i="1" dirty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𝑦𝑒𝑙𝑙𝑜𝑤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he-IL" sz="20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44" y="1227156"/>
                <a:ext cx="8703512" cy="1066639"/>
              </a:xfrm>
              <a:prstGeom prst="rect">
                <a:avLst/>
              </a:prstGeom>
              <a:blipFill>
                <a:blip r:embed="rId2"/>
                <a:stretch>
                  <a:fillRect t="-6286" b="-7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34544" y="2683327"/>
            <a:ext cx="86106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לפעמים ניתן לתאר את הרישות הרעות </a:t>
            </a:r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כשפה רגולרית</a:t>
            </a: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. לדוגמה, קבוצת הרישות הרעות המינימאליות עבור התכונה למעלה היא השפה המתקבלת על ידי האוטומט: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10487"/>
            <a:ext cx="7696200" cy="1653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3021941"/>
      </p:ext>
    </p:extLst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919" y="-157195"/>
            <a:ext cx="7772400" cy="1143000"/>
          </a:xfrm>
        </p:spPr>
        <p:txBody>
          <a:bodyPr>
            <a:norm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כתיבה מקוצרת של האותיות (קבוצות)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495800"/>
            <a:ext cx="831583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" t="11958" r="-1" b="8660"/>
          <a:stretch/>
        </p:blipFill>
        <p:spPr bwMode="auto">
          <a:xfrm>
            <a:off x="1585546" y="2180491"/>
            <a:ext cx="6110654" cy="193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66473" y="1337826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Bef>
                <a:spcPts val="2400"/>
              </a:spcBef>
              <a:spcAft>
                <a:spcPts val="1200"/>
              </a:spcAft>
              <a:buClr>
                <a:srgbClr val="9B2D1F"/>
              </a:buClr>
            </a:pPr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"אור אדום נדלק רק אחרי שדלק קודם אור צהוב"</a:t>
            </a:r>
          </a:p>
        </p:txBody>
      </p:sp>
      <p:pic>
        <p:nvPicPr>
          <p:cNvPr id="10" name="Picture 9" descr="A cartoon of robots holding a sign&#10;&#10;Description automatically generated">
            <a:extLst>
              <a:ext uri="{FF2B5EF4-FFF2-40B4-BE49-F238E27FC236}">
                <a16:creationId xmlns:a16="http://schemas.microsoft.com/office/drawing/2014/main" id="{007421E3-7C87-91D9-83AC-22BC12E03C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493477"/>
            <a:ext cx="1242646" cy="1242646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107165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2865" y="2653004"/>
            <a:ext cx="7239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676400"/>
            <a:ext cx="7848599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תכונת בטיחות למכונת מכירת המשקאות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8992" y="1143000"/>
                <a:ext cx="8305800" cy="52578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דרישה טבעית :</a:t>
                </a:r>
              </a:p>
              <a:p>
                <a:pPr algn="ctr">
                  <a:spcBef>
                    <a:spcPts val="1200"/>
                  </a:spcBef>
                  <a:buNone/>
                </a:pP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"מספר המטבעות שהוכנסו הוא לפחות מספר המשקאות שניתנו"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𝑖</m:t>
                    </m:r>
                    <m:r>
                      <a:rPr lang="en-US" sz="2400" b="0" i="1" dirty="0" smtClean="0">
                        <a:latin typeface="Cambria Math"/>
                      </a:rPr>
                      <m:t>≥</m:t>
                    </m:r>
                    <m:r>
                      <a:rPr lang="en-US" sz="240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0" indent="0" algn="l" rtl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he-I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he-IL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sz="2400" i="1" smtClean="0">
                                  <a:latin typeface="Cambria Math"/>
                                </a:rPr>
                                <m:t>0</m:t>
                              </m:r>
                              <m:r>
                                <a:rPr lang="he-IL" sz="2400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he-IL" sz="2400" b="0" i="1" smtClean="0">
                                  <a:latin typeface="Cambria Math"/>
                                </a:rPr>
                                <m:t> :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𝑑𝑟𝑖𝑛𝑘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he-IL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i="1" smtClean="0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 ≤</m:t>
                      </m:r>
                      <m:r>
                        <a:rPr lang="he-IL" sz="24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he-I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sz="2400" i="1">
                                  <a:latin typeface="Cambria Math"/>
                                </a:rPr>
                                <m:t>0</m:t>
                              </m:r>
                              <m:r>
                                <a:rPr lang="he-IL" sz="2400" i="1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he-IL" sz="2400" i="1">
                                  <a:latin typeface="Cambria Math"/>
                                </a:rPr>
                                <m:t> :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𝑝𝑎𝑦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he-IL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רישות רעות:</a:t>
                </a:r>
              </a:p>
              <a:p>
                <a:pPr algn="l" rtl="0">
                  <a:spcBef>
                    <a:spcPts val="0"/>
                  </a:spcBef>
                  <a:buNone/>
                </a:pP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  <m:r>
                      <a:rPr lang="en-US" sz="2000" i="1" dirty="0" smtClean="0">
                        <a:latin typeface="Cambria Math"/>
                      </a:rPr>
                      <m:t> {</m:t>
                    </m:r>
                    <m:r>
                      <a:rPr lang="en-US" sz="2000" i="1" dirty="0" smtClean="0">
                        <a:latin typeface="Cambria Math"/>
                      </a:rPr>
                      <m:t>𝑝𝑎𝑦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𝑑𝑟𝑖𝑛𝑘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𝑑𝑟𝑖𝑛𝑘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1200"/>
                  </a:spcBef>
                  <a:buNone/>
                </a:pP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𝑝𝑎𝑦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𝑑𝑟𝑖𝑛𝑘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  <m:r>
                      <a:rPr lang="en-US" sz="2000" i="1" dirty="0" smtClean="0">
                        <a:latin typeface="Cambria Math"/>
                      </a:rPr>
                      <m:t>{</m:t>
                    </m:r>
                    <m:r>
                      <a:rPr lang="en-US" sz="2000" i="1" dirty="0" smtClean="0">
                        <a:latin typeface="Cambria Math"/>
                      </a:rPr>
                      <m:t>𝑝𝑎𝑦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𝑑𝑟𝑖𝑛𝑘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𝑑𝑟𝑖𝑛𝑘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קל לבדוק שכל הגרסאות שהצגנו למכונות מכירת השתייה עומדות בדרישה</a:t>
                </a:r>
              </a:p>
              <a:p>
                <a:pPr algn="r">
                  <a:spcBef>
                    <a:spcPts val="18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זאת דוגמה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לתכונת בטיחות</a:t>
                </a:r>
                <a:br>
                  <a:rPr lang="en-US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שלא ניתן לבטא את הרישות הרעות שלה כשפה רגולרית</a:t>
                </a:r>
              </a:p>
              <a:p>
                <a:pPr>
                  <a:spcBef>
                    <a:spcPts val="1200"/>
                  </a:spcBef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8992" y="1143000"/>
                <a:ext cx="8305800" cy="5257800"/>
              </a:xfrm>
              <a:blipFill>
                <a:blip r:embed="rId2"/>
                <a:stretch>
                  <a:fillRect l="-1761" t="-1044" r="-587" b="-43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letstalkpayments.com/wp-content/uploads/2013/09/Vending-machine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2089" y="5302667"/>
            <a:ext cx="849882" cy="154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774087"/>
      </p:ext>
    </p:extLst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הגדרה: תכונות בטיחות רֵגוּלָרִיּוֹת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826538916"/>
              </p:ext>
            </p:extLst>
          </p:nvPr>
        </p:nvGraphicFramePr>
        <p:xfrm>
          <a:off x="-2438400" y="3581400"/>
          <a:ext cx="14630400" cy="3350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322775" y="1800236"/>
            <a:ext cx="6596742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משפט: כל תכונת שְׁמוּרָה היא תכונת בטיחות רגולרית</a:t>
            </a:r>
          </a:p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הוכחה: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881168" y="2329479"/>
            <a:ext cx="2143664" cy="1162079"/>
            <a:chOff x="431321" y="5082416"/>
            <a:chExt cx="2362918" cy="1366160"/>
          </a:xfrm>
        </p:grpSpPr>
        <p:cxnSp>
          <p:nvCxnSpPr>
            <p:cNvPr id="11" name="Straight Arrow Connector 10"/>
            <p:cNvCxnSpPr>
              <a:endCxn id="7" idx="2"/>
            </p:cNvCxnSpPr>
            <p:nvPr/>
          </p:nvCxnSpPr>
          <p:spPr>
            <a:xfrm>
              <a:off x="431321" y="6142008"/>
              <a:ext cx="25447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13" name="Elbow Connector 12"/>
            <p:cNvCxnSpPr/>
            <p:nvPr/>
          </p:nvCxnSpPr>
          <p:spPr>
            <a:xfrm rot="14220000" flipH="1">
              <a:off x="920267" y="5788810"/>
              <a:ext cx="306568" cy="329960"/>
            </a:xfrm>
            <a:prstGeom prst="curvedConnector4">
              <a:avLst>
                <a:gd name="adj1" fmla="val -74567"/>
                <a:gd name="adj2" fmla="val 169281"/>
              </a:avLst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1444037" y="5709488"/>
                  <a:ext cx="641901" cy="434193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US" dirty="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037" y="5709488"/>
                  <a:ext cx="641901" cy="434193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22"/>
            <p:cNvSpPr/>
            <p:nvPr/>
          </p:nvSpPr>
          <p:spPr>
            <a:xfrm>
              <a:off x="2134318" y="5835440"/>
              <a:ext cx="659921" cy="613136"/>
            </a:xfrm>
            <a:prstGeom prst="ellipse">
              <a:avLst/>
            </a:prstGeom>
            <a:solidFill>
              <a:srgbClr val="FFFFCC"/>
            </a:solidFill>
            <a:ln w="76200" cmpd="dbl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685800" y="5835440"/>
              <a:ext cx="659921" cy="613136"/>
            </a:xfrm>
            <a:prstGeom prst="ellipse">
              <a:avLst/>
            </a:prstGeom>
            <a:solidFill>
              <a:srgbClr val="FFFFCC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24" name="Straight Arrow Connector 23"/>
            <p:cNvCxnSpPr>
              <a:stCxn id="7" idx="6"/>
              <a:endCxn id="23" idx="2"/>
            </p:cNvCxnSpPr>
            <p:nvPr/>
          </p:nvCxnSpPr>
          <p:spPr>
            <a:xfrm>
              <a:off x="1345721" y="6142008"/>
              <a:ext cx="78859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985997" y="5082416"/>
                  <a:ext cx="451070" cy="434193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US" dirty="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997" y="5082416"/>
                  <a:ext cx="451070" cy="434193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/>
          <p:cNvSpPr txBox="1"/>
          <p:nvPr/>
        </p:nvSpPr>
        <p:spPr>
          <a:xfrm>
            <a:off x="609600" y="1134778"/>
            <a:ext cx="823815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תכונה שקבוצת הרישות הרעות המינימליות שלה היא שפה רגולרית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4A7E15E-328B-2C31-0D9E-5D495E42F451}"/>
              </a:ext>
            </a:extLst>
          </p:cNvPr>
          <p:cNvSpPr/>
          <p:nvPr/>
        </p:nvSpPr>
        <p:spPr>
          <a:xfrm>
            <a:off x="1397977" y="1556238"/>
            <a:ext cx="1696915" cy="3798277"/>
          </a:xfrm>
          <a:custGeom>
            <a:avLst/>
            <a:gdLst>
              <a:gd name="connsiteX0" fmla="*/ 1696915 w 1696915"/>
              <a:gd name="connsiteY0" fmla="*/ 3798277 h 3798277"/>
              <a:gd name="connsiteX1" fmla="*/ 351692 w 1696915"/>
              <a:gd name="connsiteY1" fmla="*/ 1116624 h 3798277"/>
              <a:gd name="connsiteX2" fmla="*/ 0 w 1696915"/>
              <a:gd name="connsiteY2" fmla="*/ 0 h 3798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6915" h="3798277">
                <a:moveTo>
                  <a:pt x="1696915" y="3798277"/>
                </a:moveTo>
                <a:cubicBezTo>
                  <a:pt x="1165713" y="2773973"/>
                  <a:pt x="634511" y="1749670"/>
                  <a:pt x="351692" y="1116624"/>
                </a:cubicBezTo>
                <a:cubicBezTo>
                  <a:pt x="68873" y="483578"/>
                  <a:pt x="34436" y="241789"/>
                  <a:pt x="0" y="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241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19200" y="5576668"/>
            <a:ext cx="67056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60282" y="2828453"/>
            <a:ext cx="3962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תכונות חַיּוּת מול תכונות בטיחות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18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תכונות </a:t>
            </a: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בטיחות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מבטאות דרישה "</a:t>
            </a: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שמשהו רע לא יקרה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</a:p>
          <a:p>
            <a:pPr>
              <a:spcBef>
                <a:spcPts val="36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אפשר לעמוד בדרישה אם לא עושים כלום!</a:t>
            </a:r>
          </a:p>
          <a:p>
            <a:pPr lvl="1" algn="ctr">
              <a:spcBef>
                <a:spcPts val="1200"/>
              </a:spcBef>
              <a:buNone/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כך, אף פעם לא נגיע למצב "רע"</a:t>
            </a:r>
          </a:p>
          <a:p>
            <a:pPr>
              <a:spcBef>
                <a:spcPts val="36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לכן: נוסיף גם תכונות</a:t>
            </a:r>
            <a:r>
              <a:rPr lang="he-IL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חַיּוּת</a:t>
            </a:r>
          </a:p>
          <a:p>
            <a:pPr lvl="1">
              <a:spcBef>
                <a:spcPts val="12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כדי לדרוש שתהייה </a:t>
            </a:r>
            <a:r>
              <a:rPr lang="he-IL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"התקדמות"</a:t>
            </a:r>
          </a:p>
          <a:p>
            <a:pPr>
              <a:spcBef>
                <a:spcPts val="3600"/>
              </a:spcBef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דרישות חַיּוּת אומרות:</a:t>
            </a:r>
          </a:p>
          <a:p>
            <a:pPr algn="ctr">
              <a:spcBef>
                <a:spcPts val="1200"/>
              </a:spcBef>
              <a:buNone/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בסופו של דבר יקרה "משהו טוב" [</a:t>
            </a:r>
            <a:r>
              <a:rPr lang="en-US" dirty="0" err="1">
                <a:latin typeface="Gisha" panose="020B0502040204020203" pitchFamily="34" charset="-79"/>
                <a:cs typeface="Gisha" panose="020B0502040204020203" pitchFamily="34" charset="-79"/>
              </a:rPr>
              <a:t>Lamport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 1977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]</a:t>
            </a:r>
            <a:b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</a:b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E69F91-7636-4EC1-BCE7-193DDDF8B1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044"/>
          <a:stretch/>
        </p:blipFill>
        <p:spPr>
          <a:xfrm>
            <a:off x="1828800" y="3714244"/>
            <a:ext cx="1524000" cy="15761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BB09CC-FA5A-4FC4-82B4-C9632503E5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5879" y="1854534"/>
            <a:ext cx="2464025" cy="142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6182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המחשה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04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b="43124"/>
          <a:stretch/>
        </p:blipFill>
        <p:spPr bwMode="auto">
          <a:xfrm>
            <a:off x="783336" y="1066800"/>
            <a:ext cx="7543800" cy="291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419600" y="3986784"/>
            <a:ext cx="4191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חַיּוּת</a:t>
            </a:r>
          </a:p>
          <a:p>
            <a:pPr algn="ctr"/>
            <a:endParaRPr lang="he-IL" sz="2400" dirty="0">
              <a:solidFill>
                <a:srgbClr val="0040C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"משהו טוב יקרה"</a:t>
            </a:r>
          </a:p>
          <a:p>
            <a:pPr algn="ctr"/>
            <a:endParaRPr lang="he-IL" sz="24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תמיד יכול להיות </a:t>
            </a:r>
          </a:p>
          <a:p>
            <a:pPr algn="ctr"/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"שהדבר הטוב" יקרה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5400" y="3986784"/>
            <a:ext cx="294540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בטיחות</a:t>
            </a:r>
          </a:p>
          <a:p>
            <a:pPr algn="ctr"/>
            <a:endParaRPr lang="he-IL" sz="2400" dirty="0">
              <a:solidFill>
                <a:srgbClr val="0040C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"משהו רע לא יקרה"</a:t>
            </a:r>
          </a:p>
          <a:p>
            <a:pPr algn="ctr"/>
            <a:endParaRPr lang="he-IL" sz="24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ניתן לתקן את הדבר הרע</a:t>
            </a:r>
          </a:p>
        </p:txBody>
      </p:sp>
    </p:spTree>
    <p:extLst>
      <p:ext uri="{BB962C8B-B14F-4D97-AF65-F5344CB8AC3E}">
        <p14:creationId xmlns:p14="http://schemas.microsoft.com/office/powerpoint/2010/main" val="2417806520"/>
      </p:ext>
    </p:extLst>
  </p:cSld>
  <p:clrMapOvr>
    <a:masterClrMapping/>
  </p:clrMapOvr>
  <p:transition>
    <p:dissolv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BMGANINFUVWYY57I" val="393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E1AAFD6D87EF124ABDE3DE81066420D6" ma:contentTypeVersion="38" ma:contentTypeDescription="צור מסמך חדש." ma:contentTypeScope="" ma:versionID="7dc8de498b177eeafeae0d7a49551f98">
  <xsd:schema xmlns:xsd="http://www.w3.org/2001/XMLSchema" xmlns:xs="http://www.w3.org/2001/XMLSchema" xmlns:p="http://schemas.microsoft.com/office/2006/metadata/properties" xmlns:ns3="530aed44-bba2-4740-9d53-81a4ff59885a" xmlns:ns4="13339362-a64d-4447-adeb-f6f56907af71" targetNamespace="http://schemas.microsoft.com/office/2006/metadata/properties" ma:root="true" ma:fieldsID="cb40fed1f2fbbb46392d564f644825fc" ns3:_="" ns4:_="">
    <xsd:import namespace="530aed44-bba2-4740-9d53-81a4ff59885a"/>
    <xsd:import namespace="13339362-a64d-4447-adeb-f6f56907af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Teams_Channel_Section_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0aed44-bba2-4740-9d53-81a4ff5988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NotebookType" ma:index="17" nillable="true" ma:displayName="Notebook Type" ma:internalName="NotebookType">
      <xsd:simpleType>
        <xsd:restriction base="dms:Text"/>
      </xsd:simpleType>
    </xsd:element>
    <xsd:element name="FolderType" ma:index="18" nillable="true" ma:displayName="Folder Type" ma:internalName="FolderType">
      <xsd:simpleType>
        <xsd:restriction base="dms:Text"/>
      </xsd:simpleType>
    </xsd:element>
    <xsd:element name="CultureName" ma:index="19" nillable="true" ma:displayName="Culture Name" ma:internalName="CultureName">
      <xsd:simpleType>
        <xsd:restriction base="dms:Text"/>
      </xsd:simpleType>
    </xsd:element>
    <xsd:element name="AppVersion" ma:index="20" nillable="true" ma:displayName="App Version" ma:internalName="AppVersion">
      <xsd:simpleType>
        <xsd:restriction base="dms:Text"/>
      </xsd:simpleType>
    </xsd:element>
    <xsd:element name="TeamsChannelId" ma:index="21" nillable="true" ma:displayName="Teams Channel Id" ma:internalName="TeamsChannelId">
      <xsd:simpleType>
        <xsd:restriction base="dms:Text"/>
      </xsd:simpleType>
    </xsd:element>
    <xsd:element name="Owner" ma:index="22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3" nillable="true" ma:displayName="Math Settings" ma:internalName="Math_Settings">
      <xsd:simpleType>
        <xsd:restriction base="dms:Text"/>
      </xsd:simpleType>
    </xsd:element>
    <xsd:element name="DefaultSectionNames" ma:index="24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5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6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7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9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0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1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2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3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4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5" nillable="true" ma:displayName="Is Collaboration Space Locked" ma:internalName="Is_Collaboration_Space_Locked">
      <xsd:simpleType>
        <xsd:restriction base="dms:Boolean"/>
      </xsd:simpleType>
    </xsd:element>
    <xsd:element name="IsNotebookLocked" ma:index="36" nillable="true" ma:displayName="Is Notebook Locked" ma:internalName="IsNotebookLocked">
      <xsd:simpleType>
        <xsd:restriction base="dms:Boolean"/>
      </xsd:simpleType>
    </xsd:element>
    <xsd:element name="Teams_Channel_Section_Location" ma:index="37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Length (seconds)" ma:internalName="MediaLengthInSeconds" ma:readOnly="true">
      <xsd:simpleType>
        <xsd:restriction base="dms:Unknown"/>
      </xsd:simpleType>
    </xsd:element>
    <xsd:element name="_activity" ma:index="42" nillable="true" ma:displayName="_activity" ma:hidden="true" ma:internalName="_activity">
      <xsd:simpleType>
        <xsd:restriction base="dms:Note"/>
      </xsd:simpleType>
    </xsd:element>
    <xsd:element name="MediaServiceObjectDetectorVersions" ma:index="4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4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339362-a64d-4447-adeb-f6f56907af71" elementFormDefault="qualified">
    <xsd:import namespace="http://schemas.microsoft.com/office/2006/documentManagement/types"/>
    <xsd:import namespace="http://schemas.microsoft.com/office/infopath/2007/PartnerControls"/>
    <xsd:element name="SharedWithUsers" ma:index="38" nillable="true" ma:displayName="משותף עם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משותף עם פרטים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40" nillable="true" ma:displayName="Hash של רמז לשיתוף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530aed44-bba2-4740-9d53-81a4ff59885a" xsi:nil="true"/>
    <Invited_Teachers xmlns="530aed44-bba2-4740-9d53-81a4ff59885a" xsi:nil="true"/>
    <Invited_Students xmlns="530aed44-bba2-4740-9d53-81a4ff59885a" xsi:nil="true"/>
    <IsNotebookLocked xmlns="530aed44-bba2-4740-9d53-81a4ff59885a" xsi:nil="true"/>
    <CultureName xmlns="530aed44-bba2-4740-9d53-81a4ff59885a" xsi:nil="true"/>
    <Templates xmlns="530aed44-bba2-4740-9d53-81a4ff59885a" xsi:nil="true"/>
    <TeamsChannelId xmlns="530aed44-bba2-4740-9d53-81a4ff59885a" xsi:nil="true"/>
    <Students xmlns="530aed44-bba2-4740-9d53-81a4ff59885a">
      <UserInfo>
        <DisplayName/>
        <AccountId xsi:nil="true"/>
        <AccountType/>
      </UserInfo>
    </Students>
    <Student_Groups xmlns="530aed44-bba2-4740-9d53-81a4ff59885a">
      <UserInfo>
        <DisplayName/>
        <AccountId xsi:nil="true"/>
        <AccountType/>
      </UserInfo>
    </Student_Groups>
    <Math_Settings xmlns="530aed44-bba2-4740-9d53-81a4ff59885a" xsi:nil="true"/>
    <Self_Registration_Enabled xmlns="530aed44-bba2-4740-9d53-81a4ff59885a" xsi:nil="true"/>
    <Teams_Channel_Section_Location xmlns="530aed44-bba2-4740-9d53-81a4ff59885a" xsi:nil="true"/>
    <LMS_Mappings xmlns="530aed44-bba2-4740-9d53-81a4ff59885a" xsi:nil="true"/>
    <NotebookType xmlns="530aed44-bba2-4740-9d53-81a4ff59885a" xsi:nil="true"/>
    <Has_Teacher_Only_SectionGroup xmlns="530aed44-bba2-4740-9d53-81a4ff59885a" xsi:nil="true"/>
    <DefaultSectionNames xmlns="530aed44-bba2-4740-9d53-81a4ff59885a" xsi:nil="true"/>
    <FolderType xmlns="530aed44-bba2-4740-9d53-81a4ff59885a" xsi:nil="true"/>
    <Owner xmlns="530aed44-bba2-4740-9d53-81a4ff59885a">
      <UserInfo>
        <DisplayName/>
        <AccountId xsi:nil="true"/>
        <AccountType/>
      </UserInfo>
    </Owner>
    <Teachers xmlns="530aed44-bba2-4740-9d53-81a4ff59885a">
      <UserInfo>
        <DisplayName/>
        <AccountId xsi:nil="true"/>
        <AccountType/>
      </UserInfo>
    </Teachers>
    <Is_Collaboration_Space_Locked xmlns="530aed44-bba2-4740-9d53-81a4ff59885a" xsi:nil="true"/>
    <Distribution_Groups xmlns="530aed44-bba2-4740-9d53-81a4ff59885a" xsi:nil="true"/>
    <_activity xmlns="530aed44-bba2-4740-9d53-81a4ff59885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E5C894-5910-4B26-8C32-1C6B890FE8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0aed44-bba2-4740-9d53-81a4ff59885a"/>
    <ds:schemaRef ds:uri="13339362-a64d-4447-adeb-f6f56907af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FBA9BC-A298-47BB-900C-9D0F4FB68AE6}">
  <ds:schemaRefs>
    <ds:schemaRef ds:uri="http://schemas.microsoft.com/office/2006/documentManagement/types"/>
    <ds:schemaRef ds:uri="530aed44-bba2-4740-9d53-81a4ff59885a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13339362-a64d-4447-adeb-f6f56907af7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F7E35BD-B1A5-419C-A7AF-D05488CEAB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19252</TotalTime>
  <Words>1135</Words>
  <Application>Microsoft Office PowerPoint</Application>
  <PresentationFormat>On-screen Show (4:3)</PresentationFormat>
  <Paragraphs>204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Aharoni</vt:lpstr>
      <vt:lpstr>Arial</vt:lpstr>
      <vt:lpstr>Arial Rounded MT Bold</vt:lpstr>
      <vt:lpstr>Calibri</vt:lpstr>
      <vt:lpstr>Cambria Math</vt:lpstr>
      <vt:lpstr>Franklin Gothic Book</vt:lpstr>
      <vt:lpstr>Gisha</vt:lpstr>
      <vt:lpstr>Perpetua</vt:lpstr>
      <vt:lpstr>Wingdings 2</vt:lpstr>
      <vt:lpstr>Equity</vt:lpstr>
      <vt:lpstr>תכונות בטיחות Safety Properties</vt:lpstr>
      <vt:lpstr>תזכורת: תכונות זמן ליניארי  Linear Time Properties</vt:lpstr>
      <vt:lpstr>תזכורת: שמורות (invariants)</vt:lpstr>
      <vt:lpstr>תכונה של מצב / תכונה של ריצה</vt:lpstr>
      <vt:lpstr>הגדרה: תכונות בטיחות</vt:lpstr>
      <vt:lpstr>תכונות בטיחות</vt:lpstr>
      <vt:lpstr>ניסוח שקול</vt:lpstr>
      <vt:lpstr>ניסוח שקול</vt:lpstr>
      <vt:lpstr>דוגמאות</vt:lpstr>
      <vt:lpstr>דוגמאות</vt:lpstr>
      <vt:lpstr>דוגמאות</vt:lpstr>
      <vt:lpstr>היחס בין תכונות בטיחות ותכונות שמורה?</vt:lpstr>
      <vt:lpstr>דוגמה לתכונת בטיחות  שאינה תכונת שמורה</vt:lpstr>
      <vt:lpstr>תכונת בטיחות רגולרית</vt:lpstr>
      <vt:lpstr>כתיבה מקוצרת של האותיות (קבוצות)</vt:lpstr>
      <vt:lpstr>תכונת בטיחות למכונת מכירת המשקאות</vt:lpstr>
      <vt:lpstr>הגדרה: תכונות בטיחות רֵגוּלָרִיּוֹת</vt:lpstr>
      <vt:lpstr>תכונות חַיּוּת מול תכונות בטיחות</vt:lpstr>
      <vt:lpstr>המחשה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1607</cp:revision>
  <dcterms:created xsi:type="dcterms:W3CDTF">2009-09-27T20:49:26Z</dcterms:created>
  <dcterms:modified xsi:type="dcterms:W3CDTF">2025-06-04T15:48:37Z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0x010100E1AAFD6D87EF124ABDE3DE81066420D6</vt:lpwstr>
  </property>
</Properties>
</file>