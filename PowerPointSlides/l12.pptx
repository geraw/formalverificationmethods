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08" r:id="rId1"/>
  </p:sldMasterIdLst>
  <p:notesMasterIdLst>
    <p:notesMasterId r:id="rId21"/>
  </p:notesMasterIdLst>
  <p:sldIdLst>
    <p:sldId id="256" r:id="rId2"/>
    <p:sldId id="258" r:id="rId3"/>
    <p:sldId id="267" r:id="rId4"/>
    <p:sldId id="314" r:id="rId5"/>
    <p:sldId id="315" r:id="rId6"/>
    <p:sldId id="316" r:id="rId7"/>
    <p:sldId id="317" r:id="rId8"/>
    <p:sldId id="319" r:id="rId9"/>
    <p:sldId id="277" r:id="rId10"/>
    <p:sldId id="309" r:id="rId11"/>
    <p:sldId id="332" r:id="rId12"/>
    <p:sldId id="333" r:id="rId13"/>
    <p:sldId id="310" r:id="rId14"/>
    <p:sldId id="279" r:id="rId15"/>
    <p:sldId id="283" r:id="rId16"/>
    <p:sldId id="280" r:id="rId17"/>
    <p:sldId id="311" r:id="rId18"/>
    <p:sldId id="312" r:id="rId19"/>
    <p:sldId id="313" r:id="rId20"/>
  </p:sldIdLst>
  <p:sldSz cx="9144000" cy="6858000" type="screen4x3"/>
  <p:notesSz cx="6858000" cy="9144000"/>
  <p:custDataLst>
    <p:tags r:id="rId22"/>
  </p:custDataLst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40C0"/>
    <a:srgbClr val="FFFFCC"/>
    <a:srgbClr val="248E16"/>
    <a:srgbClr val="33CC33"/>
    <a:srgbClr val="3366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B9546F-A495-4BBC-A420-5DBF006B94D3}" v="57" dt="2024-06-01T20:18:24.8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60"/>
        <p:guide pos="2880"/>
      </p:guideLst>
    </p:cSldViewPr>
  </p:slide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a Weiss" userId="f0aa0173-552d-4808-9782-d425e6aaf8d9" providerId="ADAL" clId="{17B9546F-A495-4BBC-A420-5DBF006B94D3}"/>
    <pc:docChg chg="custSel addSld delSld modSld sldOrd">
      <pc:chgData name="Gera Weiss" userId="f0aa0173-552d-4808-9782-d425e6aaf8d9" providerId="ADAL" clId="{17B9546F-A495-4BBC-A420-5DBF006B94D3}" dt="2024-06-01T20:18:24.852" v="139" actId="20577"/>
      <pc:docMkLst>
        <pc:docMk/>
      </pc:docMkLst>
      <pc:sldChg chg="modTransition">
        <pc:chgData name="Gera Weiss" userId="f0aa0173-552d-4808-9782-d425e6aaf8d9" providerId="ADAL" clId="{17B9546F-A495-4BBC-A420-5DBF006B94D3}" dt="2024-06-01T20:17:25.417" v="136"/>
        <pc:sldMkLst>
          <pc:docMk/>
          <pc:sldMk cId="0" sldId="256"/>
        </pc:sldMkLst>
      </pc:sldChg>
      <pc:sldChg chg="modTransition">
        <pc:chgData name="Gera Weiss" userId="f0aa0173-552d-4808-9782-d425e6aaf8d9" providerId="ADAL" clId="{17B9546F-A495-4BBC-A420-5DBF006B94D3}" dt="2024-06-01T20:17:25.417" v="136"/>
        <pc:sldMkLst>
          <pc:docMk/>
          <pc:sldMk cId="0" sldId="258"/>
        </pc:sldMkLst>
      </pc:sldChg>
      <pc:sldChg chg="modSp mod modTransition">
        <pc:chgData name="Gera Weiss" userId="f0aa0173-552d-4808-9782-d425e6aaf8d9" providerId="ADAL" clId="{17B9546F-A495-4BBC-A420-5DBF006B94D3}" dt="2024-06-01T20:17:25.417" v="136"/>
        <pc:sldMkLst>
          <pc:docMk/>
          <pc:sldMk cId="0" sldId="267"/>
        </pc:sldMkLst>
        <pc:spChg chg="mod">
          <ac:chgData name="Gera Weiss" userId="f0aa0173-552d-4808-9782-d425e6aaf8d9" providerId="ADAL" clId="{17B9546F-A495-4BBC-A420-5DBF006B94D3}" dt="2024-06-01T20:07:23.404" v="10" actId="20577"/>
          <ac:spMkLst>
            <pc:docMk/>
            <pc:sldMk cId="0" sldId="267"/>
            <ac:spMk id="5" creationId="{00000000-0000-0000-0000-000000000000}"/>
          </ac:spMkLst>
        </pc:spChg>
        <pc:spChg chg="mod">
          <ac:chgData name="Gera Weiss" userId="f0aa0173-552d-4808-9782-d425e6aaf8d9" providerId="ADAL" clId="{17B9546F-A495-4BBC-A420-5DBF006B94D3}" dt="2024-06-01T20:07:33.153" v="13" actId="1035"/>
          <ac:spMkLst>
            <pc:docMk/>
            <pc:sldMk cId="0" sldId="267"/>
            <ac:spMk id="8" creationId="{00000000-0000-0000-0000-000000000000}"/>
          </ac:spMkLst>
        </pc:spChg>
        <pc:spChg chg="mod">
          <ac:chgData name="Gera Weiss" userId="f0aa0173-552d-4808-9782-d425e6aaf8d9" providerId="ADAL" clId="{17B9546F-A495-4BBC-A420-5DBF006B94D3}" dt="2024-06-01T20:07:33.153" v="13" actId="1035"/>
          <ac:spMkLst>
            <pc:docMk/>
            <pc:sldMk cId="0" sldId="267"/>
            <ac:spMk id="9" creationId="{00000000-0000-0000-0000-000000000000}"/>
          </ac:spMkLst>
        </pc:spChg>
        <pc:spChg chg="mod">
          <ac:chgData name="Gera Weiss" userId="f0aa0173-552d-4808-9782-d425e6aaf8d9" providerId="ADAL" clId="{17B9546F-A495-4BBC-A420-5DBF006B94D3}" dt="2024-06-01T20:07:33.153" v="13" actId="1035"/>
          <ac:spMkLst>
            <pc:docMk/>
            <pc:sldMk cId="0" sldId="267"/>
            <ac:spMk id="11" creationId="{00000000-0000-0000-0000-000000000000}"/>
          </ac:spMkLst>
        </pc:spChg>
        <pc:spChg chg="mod">
          <ac:chgData name="Gera Weiss" userId="f0aa0173-552d-4808-9782-d425e6aaf8d9" providerId="ADAL" clId="{17B9546F-A495-4BBC-A420-5DBF006B94D3}" dt="2024-06-01T20:07:33.153" v="13" actId="1035"/>
          <ac:spMkLst>
            <pc:docMk/>
            <pc:sldMk cId="0" sldId="267"/>
            <ac:spMk id="12" creationId="{00000000-0000-0000-0000-000000000000}"/>
          </ac:spMkLst>
        </pc:spChg>
        <pc:spChg chg="mod">
          <ac:chgData name="Gera Weiss" userId="f0aa0173-552d-4808-9782-d425e6aaf8d9" providerId="ADAL" clId="{17B9546F-A495-4BBC-A420-5DBF006B94D3}" dt="2024-06-01T20:07:33.153" v="13" actId="1035"/>
          <ac:spMkLst>
            <pc:docMk/>
            <pc:sldMk cId="0" sldId="267"/>
            <ac:spMk id="13" creationId="{00000000-0000-0000-0000-000000000000}"/>
          </ac:spMkLst>
        </pc:spChg>
        <pc:spChg chg="mod">
          <ac:chgData name="Gera Weiss" userId="f0aa0173-552d-4808-9782-d425e6aaf8d9" providerId="ADAL" clId="{17B9546F-A495-4BBC-A420-5DBF006B94D3}" dt="2024-06-01T20:07:33.153" v="13" actId="1035"/>
          <ac:spMkLst>
            <pc:docMk/>
            <pc:sldMk cId="0" sldId="267"/>
            <ac:spMk id="19" creationId="{00000000-0000-0000-0000-000000000000}"/>
          </ac:spMkLst>
        </pc:spChg>
        <pc:cxnChg chg="mod">
          <ac:chgData name="Gera Weiss" userId="f0aa0173-552d-4808-9782-d425e6aaf8d9" providerId="ADAL" clId="{17B9546F-A495-4BBC-A420-5DBF006B94D3}" dt="2024-06-01T20:07:33.153" v="13" actId="1035"/>
          <ac:cxnSpMkLst>
            <pc:docMk/>
            <pc:sldMk cId="0" sldId="267"/>
            <ac:cxnSpMk id="15" creationId="{00000000-0000-0000-0000-000000000000}"/>
          </ac:cxnSpMkLst>
        </pc:cxnChg>
      </pc:sldChg>
      <pc:sldChg chg="del">
        <pc:chgData name="Gera Weiss" userId="f0aa0173-552d-4808-9782-d425e6aaf8d9" providerId="ADAL" clId="{17B9546F-A495-4BBC-A420-5DBF006B94D3}" dt="2024-06-01T20:12:32.763" v="47" actId="47"/>
        <pc:sldMkLst>
          <pc:docMk/>
          <pc:sldMk cId="0" sldId="276"/>
        </pc:sldMkLst>
      </pc:sldChg>
      <pc:sldChg chg="modTransition">
        <pc:chgData name="Gera Weiss" userId="f0aa0173-552d-4808-9782-d425e6aaf8d9" providerId="ADAL" clId="{17B9546F-A495-4BBC-A420-5DBF006B94D3}" dt="2024-06-01T20:17:25.417" v="136"/>
        <pc:sldMkLst>
          <pc:docMk/>
          <pc:sldMk cId="0" sldId="277"/>
        </pc:sldMkLst>
      </pc:sldChg>
      <pc:sldChg chg="modTransition">
        <pc:chgData name="Gera Weiss" userId="f0aa0173-552d-4808-9782-d425e6aaf8d9" providerId="ADAL" clId="{17B9546F-A495-4BBC-A420-5DBF006B94D3}" dt="2024-06-01T20:17:25.417" v="136"/>
        <pc:sldMkLst>
          <pc:docMk/>
          <pc:sldMk cId="0" sldId="279"/>
        </pc:sldMkLst>
      </pc:sldChg>
      <pc:sldChg chg="modTransition">
        <pc:chgData name="Gera Weiss" userId="f0aa0173-552d-4808-9782-d425e6aaf8d9" providerId="ADAL" clId="{17B9546F-A495-4BBC-A420-5DBF006B94D3}" dt="2024-06-01T20:17:25.417" v="136"/>
        <pc:sldMkLst>
          <pc:docMk/>
          <pc:sldMk cId="0" sldId="280"/>
        </pc:sldMkLst>
      </pc:sldChg>
      <pc:sldChg chg="modTransition">
        <pc:chgData name="Gera Weiss" userId="f0aa0173-552d-4808-9782-d425e6aaf8d9" providerId="ADAL" clId="{17B9546F-A495-4BBC-A420-5DBF006B94D3}" dt="2024-06-01T20:17:25.417" v="136"/>
        <pc:sldMkLst>
          <pc:docMk/>
          <pc:sldMk cId="0" sldId="283"/>
        </pc:sldMkLst>
      </pc:sldChg>
      <pc:sldChg chg="addSp modSp mod modTransition modAnim">
        <pc:chgData name="Gera Weiss" userId="f0aa0173-552d-4808-9782-d425e6aaf8d9" providerId="ADAL" clId="{17B9546F-A495-4BBC-A420-5DBF006B94D3}" dt="2024-06-01T20:17:25.417" v="136"/>
        <pc:sldMkLst>
          <pc:docMk/>
          <pc:sldMk cId="1237798355" sldId="309"/>
        </pc:sldMkLst>
        <pc:spChg chg="mod">
          <ac:chgData name="Gera Weiss" userId="f0aa0173-552d-4808-9782-d425e6aaf8d9" providerId="ADAL" clId="{17B9546F-A495-4BBC-A420-5DBF006B94D3}" dt="2024-06-01T20:16:41.598" v="134" actId="20577"/>
          <ac:spMkLst>
            <pc:docMk/>
            <pc:sldMk cId="1237798355" sldId="309"/>
            <ac:spMk id="9" creationId="{00000000-0000-0000-0000-000000000000}"/>
          </ac:spMkLst>
        </pc:spChg>
        <pc:spChg chg="add mod">
          <ac:chgData name="Gera Weiss" userId="f0aa0173-552d-4808-9782-d425e6aaf8d9" providerId="ADAL" clId="{17B9546F-A495-4BBC-A420-5DBF006B94D3}" dt="2024-06-01T20:15:50.252" v="120" actId="164"/>
          <ac:spMkLst>
            <pc:docMk/>
            <pc:sldMk cId="1237798355" sldId="309"/>
            <ac:spMk id="11" creationId="{E1B43A96-C6EA-B102-4B2A-BCF49C62ACD3}"/>
          </ac:spMkLst>
        </pc:spChg>
        <pc:spChg chg="add mod">
          <ac:chgData name="Gera Weiss" userId="f0aa0173-552d-4808-9782-d425e6aaf8d9" providerId="ADAL" clId="{17B9546F-A495-4BBC-A420-5DBF006B94D3}" dt="2024-06-01T20:16:21.405" v="133" actId="1036"/>
          <ac:spMkLst>
            <pc:docMk/>
            <pc:sldMk cId="1237798355" sldId="309"/>
            <ac:spMk id="12" creationId="{F68FDF4E-BE39-A5DC-C8A1-D0CCAD41B2D9}"/>
          </ac:spMkLst>
        </pc:spChg>
        <pc:grpChg chg="add mod">
          <ac:chgData name="Gera Weiss" userId="f0aa0173-552d-4808-9782-d425e6aaf8d9" providerId="ADAL" clId="{17B9546F-A495-4BBC-A420-5DBF006B94D3}" dt="2024-06-01T20:15:50.252" v="120" actId="164"/>
          <ac:grpSpMkLst>
            <pc:docMk/>
            <pc:sldMk cId="1237798355" sldId="309"/>
            <ac:grpSpMk id="13" creationId="{15BA9EA6-6DA8-E94A-6E46-3F172EA507DB}"/>
          </ac:grpSpMkLst>
        </pc:grpChg>
        <pc:picChg chg="add mod">
          <ac:chgData name="Gera Weiss" userId="f0aa0173-552d-4808-9782-d425e6aaf8d9" providerId="ADAL" clId="{17B9546F-A495-4BBC-A420-5DBF006B94D3}" dt="2024-06-01T20:13:42.249" v="52" actId="1076"/>
          <ac:picMkLst>
            <pc:docMk/>
            <pc:sldMk cId="1237798355" sldId="309"/>
            <ac:picMk id="10" creationId="{5E5BCDBC-C731-FFF5-39BA-E31394E8D490}"/>
          </ac:picMkLst>
        </pc:picChg>
      </pc:sldChg>
      <pc:sldChg chg="modTransition">
        <pc:chgData name="Gera Weiss" userId="f0aa0173-552d-4808-9782-d425e6aaf8d9" providerId="ADAL" clId="{17B9546F-A495-4BBC-A420-5DBF006B94D3}" dt="2024-06-01T20:17:25.417" v="136"/>
        <pc:sldMkLst>
          <pc:docMk/>
          <pc:sldMk cId="1321612912" sldId="310"/>
        </pc:sldMkLst>
      </pc:sldChg>
      <pc:sldChg chg="modSp modTransition">
        <pc:chgData name="Gera Weiss" userId="f0aa0173-552d-4808-9782-d425e6aaf8d9" providerId="ADAL" clId="{17B9546F-A495-4BBC-A420-5DBF006B94D3}" dt="2024-06-01T20:18:24.852" v="139" actId="20577"/>
        <pc:sldMkLst>
          <pc:docMk/>
          <pc:sldMk cId="1491334420" sldId="311"/>
        </pc:sldMkLst>
        <pc:spChg chg="mod">
          <ac:chgData name="Gera Weiss" userId="f0aa0173-552d-4808-9782-d425e6aaf8d9" providerId="ADAL" clId="{17B9546F-A495-4BBC-A420-5DBF006B94D3}" dt="2024-06-01T20:18:24.852" v="139" actId="20577"/>
          <ac:spMkLst>
            <pc:docMk/>
            <pc:sldMk cId="1491334420" sldId="311"/>
            <ac:spMk id="7" creationId="{00000000-0000-0000-0000-000000000000}"/>
          </ac:spMkLst>
        </pc:spChg>
      </pc:sldChg>
      <pc:sldChg chg="modTransition">
        <pc:chgData name="Gera Weiss" userId="f0aa0173-552d-4808-9782-d425e6aaf8d9" providerId="ADAL" clId="{17B9546F-A495-4BBC-A420-5DBF006B94D3}" dt="2024-06-01T20:17:25.417" v="136"/>
        <pc:sldMkLst>
          <pc:docMk/>
          <pc:sldMk cId="3109010807" sldId="312"/>
        </pc:sldMkLst>
      </pc:sldChg>
      <pc:sldChg chg="modTransition">
        <pc:chgData name="Gera Weiss" userId="f0aa0173-552d-4808-9782-d425e6aaf8d9" providerId="ADAL" clId="{17B9546F-A495-4BBC-A420-5DBF006B94D3}" dt="2024-06-01T20:17:25.417" v="136"/>
        <pc:sldMkLst>
          <pc:docMk/>
          <pc:sldMk cId="2020304023" sldId="313"/>
        </pc:sldMkLst>
      </pc:sldChg>
      <pc:sldChg chg="modSp mod modTransition">
        <pc:chgData name="Gera Weiss" userId="f0aa0173-552d-4808-9782-d425e6aaf8d9" providerId="ADAL" clId="{17B9546F-A495-4BBC-A420-5DBF006B94D3}" dt="2024-06-01T20:17:25.417" v="136"/>
        <pc:sldMkLst>
          <pc:docMk/>
          <pc:sldMk cId="780842433" sldId="314"/>
        </pc:sldMkLst>
        <pc:spChg chg="mod">
          <ac:chgData name="Gera Weiss" userId="f0aa0173-552d-4808-9782-d425e6aaf8d9" providerId="ADAL" clId="{17B9546F-A495-4BBC-A420-5DBF006B94D3}" dt="2024-06-01T20:12:16.066" v="46" actId="313"/>
          <ac:spMkLst>
            <pc:docMk/>
            <pc:sldMk cId="780842433" sldId="314"/>
            <ac:spMk id="5" creationId="{00000000-0000-0000-0000-000000000000}"/>
          </ac:spMkLst>
        </pc:spChg>
      </pc:sldChg>
      <pc:sldChg chg="modTransition">
        <pc:chgData name="Gera Weiss" userId="f0aa0173-552d-4808-9782-d425e6aaf8d9" providerId="ADAL" clId="{17B9546F-A495-4BBC-A420-5DBF006B94D3}" dt="2024-06-01T20:17:25.417" v="136"/>
        <pc:sldMkLst>
          <pc:docMk/>
          <pc:sldMk cId="1519536145" sldId="315"/>
        </pc:sldMkLst>
      </pc:sldChg>
      <pc:sldChg chg="modTransition">
        <pc:chgData name="Gera Weiss" userId="f0aa0173-552d-4808-9782-d425e6aaf8d9" providerId="ADAL" clId="{17B9546F-A495-4BBC-A420-5DBF006B94D3}" dt="2024-06-01T20:17:25.417" v="136"/>
        <pc:sldMkLst>
          <pc:docMk/>
          <pc:sldMk cId="1603593156" sldId="316"/>
        </pc:sldMkLst>
      </pc:sldChg>
      <pc:sldChg chg="modSp modTransition">
        <pc:chgData name="Gera Weiss" userId="f0aa0173-552d-4808-9782-d425e6aaf8d9" providerId="ADAL" clId="{17B9546F-A495-4BBC-A420-5DBF006B94D3}" dt="2024-06-01T20:17:25.417" v="136"/>
        <pc:sldMkLst>
          <pc:docMk/>
          <pc:sldMk cId="1333192315" sldId="317"/>
        </pc:sldMkLst>
        <pc:spChg chg="mod">
          <ac:chgData name="Gera Weiss" userId="f0aa0173-552d-4808-9782-d425e6aaf8d9" providerId="ADAL" clId="{17B9546F-A495-4BBC-A420-5DBF006B94D3}" dt="2024-06-01T20:10:01.638" v="43" actId="122"/>
          <ac:spMkLst>
            <pc:docMk/>
            <pc:sldMk cId="1333192315" sldId="317"/>
            <ac:spMk id="20" creationId="{00000000-0000-0000-0000-000000000000}"/>
          </ac:spMkLst>
        </pc:spChg>
      </pc:sldChg>
      <pc:sldChg chg="modSp add ord modTransition">
        <pc:chgData name="Gera Weiss" userId="f0aa0173-552d-4808-9782-d425e6aaf8d9" providerId="ADAL" clId="{17B9546F-A495-4BBC-A420-5DBF006B94D3}" dt="2024-06-01T20:17:25.417" v="136"/>
        <pc:sldMkLst>
          <pc:docMk/>
          <pc:sldMk cId="2554457429" sldId="319"/>
        </pc:sldMkLst>
        <pc:graphicFrameChg chg="mod">
          <ac:chgData name="Gera Weiss" userId="f0aa0173-552d-4808-9782-d425e6aaf8d9" providerId="ADAL" clId="{17B9546F-A495-4BBC-A420-5DBF006B94D3}" dt="2024-06-01T20:11:47.918" v="45"/>
          <ac:graphicFrameMkLst>
            <pc:docMk/>
            <pc:sldMk cId="2554457429" sldId="319"/>
            <ac:graphicFrameMk id="7" creationId="{00000000-0000-0000-0000-000000000000}"/>
          </ac:graphicFrameMkLst>
        </pc:graphicFrameChg>
      </pc:sldChg>
      <pc:sldChg chg="add modTransition">
        <pc:chgData name="Gera Weiss" userId="f0aa0173-552d-4808-9782-d425e6aaf8d9" providerId="ADAL" clId="{17B9546F-A495-4BBC-A420-5DBF006B94D3}" dt="2024-06-01T20:17:25.417" v="136"/>
        <pc:sldMkLst>
          <pc:docMk/>
          <pc:sldMk cId="4218242056" sldId="332"/>
        </pc:sldMkLst>
      </pc:sldChg>
      <pc:sldChg chg="add modTransition">
        <pc:chgData name="Gera Weiss" userId="f0aa0173-552d-4808-9782-d425e6aaf8d9" providerId="ADAL" clId="{17B9546F-A495-4BBC-A420-5DBF006B94D3}" dt="2024-06-01T20:17:25.417" v="136"/>
        <pc:sldMkLst>
          <pc:docMk/>
          <pc:sldMk cId="2397198511" sldId="333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9B9D48-BFE1-4B5B-B999-17ED8E72D0F1}" type="doc">
      <dgm:prSet loTypeId="urn:microsoft.com/office/officeart/2005/8/layout/venn2" loCatId="relationship" qsTypeId="urn:microsoft.com/office/officeart/2005/8/quickstyle/3d1" qsCatId="3D" csTypeId="urn:microsoft.com/office/officeart/2005/8/colors/colorful5" csCatId="colorful" phldr="1"/>
      <dgm:spPr/>
      <dgm:t>
        <a:bodyPr/>
        <a:lstStyle/>
        <a:p>
          <a:pPr rtl="1"/>
          <a:endParaRPr lang="he-IL"/>
        </a:p>
      </dgm:t>
    </dgm:pt>
    <dgm:pt modelId="{DB6B0759-4A82-4506-8F87-F3F321A872BE}">
      <dgm:prSet phldrT="[Text]" custT="1"/>
      <dgm:spPr/>
      <dgm:t>
        <a:bodyPr/>
        <a:lstStyle/>
        <a:p>
          <a:pPr rtl="1"/>
          <a:r>
            <a:rPr lang="he-IL" sz="2800">
              <a:latin typeface="Gisha" panose="020B0502040204020203" pitchFamily="34" charset="-79"/>
              <a:cs typeface="Gisha" panose="020B0502040204020203" pitchFamily="34" charset="-79"/>
            </a:rPr>
            <a:t>תכונות זמן לינארי</a:t>
          </a:r>
        </a:p>
      </dgm:t>
    </dgm:pt>
    <dgm:pt modelId="{57BBB3C8-33D5-4E0E-83ED-51E214906978}" type="parTrans" cxnId="{4C0A7472-A798-40DF-99AE-B6C36CB326B5}">
      <dgm:prSet/>
      <dgm:spPr/>
      <dgm:t>
        <a:bodyPr/>
        <a:lstStyle/>
        <a:p>
          <a:pPr rtl="1"/>
          <a:endParaRPr lang="he-IL" sz="28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D186B485-933A-4D4A-AE56-5F5ABBCDF3C5}" type="sibTrans" cxnId="{4C0A7472-A798-40DF-99AE-B6C36CB326B5}">
      <dgm:prSet/>
      <dgm:spPr/>
      <dgm:t>
        <a:bodyPr/>
        <a:lstStyle/>
        <a:p>
          <a:pPr rtl="1"/>
          <a:endParaRPr lang="he-IL" sz="28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FFD4B02C-E9A7-4680-A1C5-4AB9B365C9B2}">
      <dgm:prSet phldrT="[Text]" custT="1"/>
      <dgm:spPr/>
      <dgm:t>
        <a:bodyPr/>
        <a:lstStyle/>
        <a:p>
          <a:pPr rtl="1"/>
          <a:r>
            <a:rPr lang="he-IL" sz="2800">
              <a:latin typeface="Gisha" panose="020B0502040204020203" pitchFamily="34" charset="-79"/>
              <a:cs typeface="Gisha" panose="020B0502040204020203" pitchFamily="34" charset="-79"/>
            </a:rPr>
            <a:t>תכונות בטיחות רגולריות</a:t>
          </a:r>
        </a:p>
      </dgm:t>
    </dgm:pt>
    <dgm:pt modelId="{58E3E8C2-926A-43F0-8DED-04740D0A4621}" type="parTrans" cxnId="{186E0B02-2796-480F-9806-6BF8A2BAA591}">
      <dgm:prSet/>
      <dgm:spPr/>
      <dgm:t>
        <a:bodyPr/>
        <a:lstStyle/>
        <a:p>
          <a:pPr rtl="1"/>
          <a:endParaRPr lang="he-IL" sz="28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1D989631-8AF2-4E35-8F2D-E72AC9D19FF9}" type="sibTrans" cxnId="{186E0B02-2796-480F-9806-6BF8A2BAA591}">
      <dgm:prSet/>
      <dgm:spPr/>
      <dgm:t>
        <a:bodyPr/>
        <a:lstStyle/>
        <a:p>
          <a:pPr rtl="1"/>
          <a:endParaRPr lang="he-IL" sz="28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599CB997-C508-4377-BA74-A97873AC033C}">
      <dgm:prSet phldrT="[Text]" custT="1"/>
      <dgm:spPr/>
      <dgm:t>
        <a:bodyPr/>
        <a:lstStyle/>
        <a:p>
          <a:pPr rtl="1"/>
          <a:r>
            <a:rPr lang="he-IL" sz="2800">
              <a:latin typeface="Gisha" panose="020B0502040204020203" pitchFamily="34" charset="-79"/>
              <a:cs typeface="Gisha" panose="020B0502040204020203" pitchFamily="34" charset="-79"/>
            </a:rPr>
            <a:t>תכונות שְׁמוּרָה</a:t>
          </a:r>
        </a:p>
      </dgm:t>
    </dgm:pt>
    <dgm:pt modelId="{CAE80D41-68B3-428D-8DB5-BD77B67F6232}" type="parTrans" cxnId="{14A6A11F-7256-4F3C-A64A-02F88D3B3813}">
      <dgm:prSet/>
      <dgm:spPr/>
      <dgm:t>
        <a:bodyPr/>
        <a:lstStyle/>
        <a:p>
          <a:pPr rtl="1"/>
          <a:endParaRPr lang="he-IL" sz="28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BCF4D331-B2E8-41DD-B8FA-78E5F885E2B8}" type="sibTrans" cxnId="{14A6A11F-7256-4F3C-A64A-02F88D3B3813}">
      <dgm:prSet/>
      <dgm:spPr/>
      <dgm:t>
        <a:bodyPr/>
        <a:lstStyle/>
        <a:p>
          <a:pPr rtl="1"/>
          <a:endParaRPr lang="he-IL" sz="28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A8E2BAAD-202A-42ED-B7BD-F164649DF9F4}">
      <dgm:prSet phldrT="[Text]" custT="1"/>
      <dgm:spPr/>
      <dgm:t>
        <a:bodyPr/>
        <a:lstStyle/>
        <a:p>
          <a:pPr rtl="1"/>
          <a:r>
            <a:rPr lang="he-IL" sz="2800">
              <a:latin typeface="Gisha" panose="020B0502040204020203" pitchFamily="34" charset="-79"/>
              <a:cs typeface="Gisha" panose="020B0502040204020203" pitchFamily="34" charset="-79"/>
            </a:rPr>
            <a:t>תכונות בטיחות</a:t>
          </a:r>
        </a:p>
      </dgm:t>
    </dgm:pt>
    <dgm:pt modelId="{036A74D9-BAEB-43F1-AFCE-D6BFBB154026}" type="parTrans" cxnId="{F534FE19-E578-4465-ABB0-E469D0D9D8D7}">
      <dgm:prSet/>
      <dgm:spPr/>
      <dgm:t>
        <a:bodyPr/>
        <a:lstStyle/>
        <a:p>
          <a:pPr rtl="1"/>
          <a:endParaRPr lang="he-IL" sz="28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B3453CD6-9EFC-48C7-B092-EEBBEBA85679}" type="sibTrans" cxnId="{F534FE19-E578-4465-ABB0-E469D0D9D8D7}">
      <dgm:prSet/>
      <dgm:spPr/>
      <dgm:t>
        <a:bodyPr/>
        <a:lstStyle/>
        <a:p>
          <a:pPr rtl="1"/>
          <a:endParaRPr lang="he-IL" sz="28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B0DB5C95-267D-46CA-826C-77939A35DAFF}" type="pres">
      <dgm:prSet presAssocID="{E29B9D48-BFE1-4B5B-B999-17ED8E72D0F1}" presName="Name0" presStyleCnt="0">
        <dgm:presLayoutVars>
          <dgm:chMax val="7"/>
          <dgm:resizeHandles val="exact"/>
        </dgm:presLayoutVars>
      </dgm:prSet>
      <dgm:spPr/>
    </dgm:pt>
    <dgm:pt modelId="{06552911-370A-4025-AF37-BEB313A613D1}" type="pres">
      <dgm:prSet presAssocID="{E29B9D48-BFE1-4B5B-B999-17ED8E72D0F1}" presName="comp1" presStyleCnt="0"/>
      <dgm:spPr/>
    </dgm:pt>
    <dgm:pt modelId="{05B91942-484E-4AAA-9241-0B47DC569E6E}" type="pres">
      <dgm:prSet presAssocID="{E29B9D48-BFE1-4B5B-B999-17ED8E72D0F1}" presName="circle1" presStyleLbl="node1" presStyleIdx="0" presStyleCnt="4" custScaleX="157674" custLinFactNeighborX="18"/>
      <dgm:spPr/>
    </dgm:pt>
    <dgm:pt modelId="{F86574D6-CC3B-48A1-A7B3-428EEA2009BD}" type="pres">
      <dgm:prSet presAssocID="{E29B9D48-BFE1-4B5B-B999-17ED8E72D0F1}" presName="c1text" presStyleLbl="node1" presStyleIdx="0" presStyleCnt="4">
        <dgm:presLayoutVars>
          <dgm:bulletEnabled val="1"/>
        </dgm:presLayoutVars>
      </dgm:prSet>
      <dgm:spPr/>
    </dgm:pt>
    <dgm:pt modelId="{1721864D-7DFB-4ECF-9BC2-B213785C758D}" type="pres">
      <dgm:prSet presAssocID="{E29B9D48-BFE1-4B5B-B999-17ED8E72D0F1}" presName="comp2" presStyleCnt="0"/>
      <dgm:spPr/>
    </dgm:pt>
    <dgm:pt modelId="{308FB91F-8CB6-47A8-A22B-748A5BEB9D75}" type="pres">
      <dgm:prSet presAssocID="{E29B9D48-BFE1-4B5B-B999-17ED8E72D0F1}" presName="circle2" presStyleLbl="node1" presStyleIdx="1" presStyleCnt="4" custScaleX="179348"/>
      <dgm:spPr/>
    </dgm:pt>
    <dgm:pt modelId="{3BB4C851-2893-4195-B6E4-1573D3CD7C2B}" type="pres">
      <dgm:prSet presAssocID="{E29B9D48-BFE1-4B5B-B999-17ED8E72D0F1}" presName="c2text" presStyleLbl="node1" presStyleIdx="1" presStyleCnt="4">
        <dgm:presLayoutVars>
          <dgm:bulletEnabled val="1"/>
        </dgm:presLayoutVars>
      </dgm:prSet>
      <dgm:spPr/>
    </dgm:pt>
    <dgm:pt modelId="{4F494F61-7C55-4F05-9457-774C02C0824B}" type="pres">
      <dgm:prSet presAssocID="{E29B9D48-BFE1-4B5B-B999-17ED8E72D0F1}" presName="comp3" presStyleCnt="0"/>
      <dgm:spPr/>
    </dgm:pt>
    <dgm:pt modelId="{50F4FDA9-400C-4720-9901-7204A887D5DE}" type="pres">
      <dgm:prSet presAssocID="{E29B9D48-BFE1-4B5B-B999-17ED8E72D0F1}" presName="circle3" presStyleLbl="node1" presStyleIdx="2" presStyleCnt="4" custScaleX="190821"/>
      <dgm:spPr/>
    </dgm:pt>
    <dgm:pt modelId="{9FAC6FBA-6E03-4284-8458-4A0279F8BA73}" type="pres">
      <dgm:prSet presAssocID="{E29B9D48-BFE1-4B5B-B999-17ED8E72D0F1}" presName="c3text" presStyleLbl="node1" presStyleIdx="2" presStyleCnt="4">
        <dgm:presLayoutVars>
          <dgm:bulletEnabled val="1"/>
        </dgm:presLayoutVars>
      </dgm:prSet>
      <dgm:spPr/>
    </dgm:pt>
    <dgm:pt modelId="{C321AB7B-3A88-493C-8E04-94050DEE02E4}" type="pres">
      <dgm:prSet presAssocID="{E29B9D48-BFE1-4B5B-B999-17ED8E72D0F1}" presName="comp4" presStyleCnt="0"/>
      <dgm:spPr/>
    </dgm:pt>
    <dgm:pt modelId="{049CB9AC-3CFE-4863-B653-5293D711C87F}" type="pres">
      <dgm:prSet presAssocID="{E29B9D48-BFE1-4B5B-B999-17ED8E72D0F1}" presName="circle4" presStyleLbl="node1" presStyleIdx="3" presStyleCnt="4" custScaleX="141304" custScaleY="81159"/>
      <dgm:spPr/>
    </dgm:pt>
    <dgm:pt modelId="{8112AB5C-0FC4-4AF0-8231-009E7053EA05}" type="pres">
      <dgm:prSet presAssocID="{E29B9D48-BFE1-4B5B-B999-17ED8E72D0F1}" presName="c4text" presStyleLbl="node1" presStyleIdx="3" presStyleCnt="4">
        <dgm:presLayoutVars>
          <dgm:bulletEnabled val="1"/>
        </dgm:presLayoutVars>
      </dgm:prSet>
      <dgm:spPr/>
    </dgm:pt>
  </dgm:ptLst>
  <dgm:cxnLst>
    <dgm:cxn modelId="{186E0B02-2796-480F-9806-6BF8A2BAA591}" srcId="{E29B9D48-BFE1-4B5B-B999-17ED8E72D0F1}" destId="{FFD4B02C-E9A7-4680-A1C5-4AB9B365C9B2}" srcOrd="2" destOrd="0" parTransId="{58E3E8C2-926A-43F0-8DED-04740D0A4621}" sibTransId="{1D989631-8AF2-4E35-8F2D-E72AC9D19FF9}"/>
    <dgm:cxn modelId="{F534FE19-E578-4465-ABB0-E469D0D9D8D7}" srcId="{E29B9D48-BFE1-4B5B-B999-17ED8E72D0F1}" destId="{A8E2BAAD-202A-42ED-B7BD-F164649DF9F4}" srcOrd="1" destOrd="0" parTransId="{036A74D9-BAEB-43F1-AFCE-D6BFBB154026}" sibTransId="{B3453CD6-9EFC-48C7-B092-EEBBEBA85679}"/>
    <dgm:cxn modelId="{14A6A11F-7256-4F3C-A64A-02F88D3B3813}" srcId="{E29B9D48-BFE1-4B5B-B999-17ED8E72D0F1}" destId="{599CB997-C508-4377-BA74-A97873AC033C}" srcOrd="3" destOrd="0" parTransId="{CAE80D41-68B3-428D-8DB5-BD77B67F6232}" sibTransId="{BCF4D331-B2E8-41DD-B8FA-78E5F885E2B8}"/>
    <dgm:cxn modelId="{D3AEAF23-F472-4F55-A9EC-FB4584356AD8}" type="presOf" srcId="{599CB997-C508-4377-BA74-A97873AC033C}" destId="{8112AB5C-0FC4-4AF0-8231-009E7053EA05}" srcOrd="1" destOrd="0" presId="urn:microsoft.com/office/officeart/2005/8/layout/venn2"/>
    <dgm:cxn modelId="{324CC731-7F2C-4836-BE1C-2DC752D52F84}" type="presOf" srcId="{A8E2BAAD-202A-42ED-B7BD-F164649DF9F4}" destId="{308FB91F-8CB6-47A8-A22B-748A5BEB9D75}" srcOrd="0" destOrd="0" presId="urn:microsoft.com/office/officeart/2005/8/layout/venn2"/>
    <dgm:cxn modelId="{F910E832-CA0A-4211-AC17-E9C8EE6B7BF3}" type="presOf" srcId="{DB6B0759-4A82-4506-8F87-F3F321A872BE}" destId="{05B91942-484E-4AAA-9241-0B47DC569E6E}" srcOrd="0" destOrd="0" presId="urn:microsoft.com/office/officeart/2005/8/layout/venn2"/>
    <dgm:cxn modelId="{F50D095D-7490-4E3C-8776-96F0CD758209}" type="presOf" srcId="{A8E2BAAD-202A-42ED-B7BD-F164649DF9F4}" destId="{3BB4C851-2893-4195-B6E4-1573D3CD7C2B}" srcOrd="1" destOrd="0" presId="urn:microsoft.com/office/officeart/2005/8/layout/venn2"/>
    <dgm:cxn modelId="{4C0A7472-A798-40DF-99AE-B6C36CB326B5}" srcId="{E29B9D48-BFE1-4B5B-B999-17ED8E72D0F1}" destId="{DB6B0759-4A82-4506-8F87-F3F321A872BE}" srcOrd="0" destOrd="0" parTransId="{57BBB3C8-33D5-4E0E-83ED-51E214906978}" sibTransId="{D186B485-933A-4D4A-AE56-5F5ABBCDF3C5}"/>
    <dgm:cxn modelId="{DFB9C77B-1D8A-4758-987D-3A452E207D8B}" type="presOf" srcId="{FFD4B02C-E9A7-4680-A1C5-4AB9B365C9B2}" destId="{50F4FDA9-400C-4720-9901-7204A887D5DE}" srcOrd="0" destOrd="0" presId="urn:microsoft.com/office/officeart/2005/8/layout/venn2"/>
    <dgm:cxn modelId="{0507248C-E5E2-419E-9A54-5FADBD954E9A}" type="presOf" srcId="{DB6B0759-4A82-4506-8F87-F3F321A872BE}" destId="{F86574D6-CC3B-48A1-A7B3-428EEA2009BD}" srcOrd="1" destOrd="0" presId="urn:microsoft.com/office/officeart/2005/8/layout/venn2"/>
    <dgm:cxn modelId="{21044FA1-8644-4FF9-AF2C-BE22391A8315}" type="presOf" srcId="{FFD4B02C-E9A7-4680-A1C5-4AB9B365C9B2}" destId="{9FAC6FBA-6E03-4284-8458-4A0279F8BA73}" srcOrd="1" destOrd="0" presId="urn:microsoft.com/office/officeart/2005/8/layout/venn2"/>
    <dgm:cxn modelId="{06EDBBA4-300F-4D1D-9522-B93A172276A5}" type="presOf" srcId="{599CB997-C508-4377-BA74-A97873AC033C}" destId="{049CB9AC-3CFE-4863-B653-5293D711C87F}" srcOrd="0" destOrd="0" presId="urn:microsoft.com/office/officeart/2005/8/layout/venn2"/>
    <dgm:cxn modelId="{34CE66D8-528B-4668-9580-A2C704671C1D}" type="presOf" srcId="{E29B9D48-BFE1-4B5B-B999-17ED8E72D0F1}" destId="{B0DB5C95-267D-46CA-826C-77939A35DAFF}" srcOrd="0" destOrd="0" presId="urn:microsoft.com/office/officeart/2005/8/layout/venn2"/>
    <dgm:cxn modelId="{D97D0A26-98AC-4D20-9330-05784257BAF5}" type="presParOf" srcId="{B0DB5C95-267D-46CA-826C-77939A35DAFF}" destId="{06552911-370A-4025-AF37-BEB313A613D1}" srcOrd="0" destOrd="0" presId="urn:microsoft.com/office/officeart/2005/8/layout/venn2"/>
    <dgm:cxn modelId="{CEEB368F-88EC-4162-AAAC-F20885C5A869}" type="presParOf" srcId="{06552911-370A-4025-AF37-BEB313A613D1}" destId="{05B91942-484E-4AAA-9241-0B47DC569E6E}" srcOrd="0" destOrd="0" presId="urn:microsoft.com/office/officeart/2005/8/layout/venn2"/>
    <dgm:cxn modelId="{416FCB05-2706-4DC7-B5C5-DE127BBE957E}" type="presParOf" srcId="{06552911-370A-4025-AF37-BEB313A613D1}" destId="{F86574D6-CC3B-48A1-A7B3-428EEA2009BD}" srcOrd="1" destOrd="0" presId="urn:microsoft.com/office/officeart/2005/8/layout/venn2"/>
    <dgm:cxn modelId="{0B6256AB-9339-45FC-B684-A3EBE4205DA0}" type="presParOf" srcId="{B0DB5C95-267D-46CA-826C-77939A35DAFF}" destId="{1721864D-7DFB-4ECF-9BC2-B213785C758D}" srcOrd="1" destOrd="0" presId="urn:microsoft.com/office/officeart/2005/8/layout/venn2"/>
    <dgm:cxn modelId="{2DAB5404-004F-41C1-AD47-FC76803B2173}" type="presParOf" srcId="{1721864D-7DFB-4ECF-9BC2-B213785C758D}" destId="{308FB91F-8CB6-47A8-A22B-748A5BEB9D75}" srcOrd="0" destOrd="0" presId="urn:microsoft.com/office/officeart/2005/8/layout/venn2"/>
    <dgm:cxn modelId="{94A31238-52AC-4519-86DC-807FC9FD3224}" type="presParOf" srcId="{1721864D-7DFB-4ECF-9BC2-B213785C758D}" destId="{3BB4C851-2893-4195-B6E4-1573D3CD7C2B}" srcOrd="1" destOrd="0" presId="urn:microsoft.com/office/officeart/2005/8/layout/venn2"/>
    <dgm:cxn modelId="{EE9461C9-D645-4E8D-8D19-A54C256F93DE}" type="presParOf" srcId="{B0DB5C95-267D-46CA-826C-77939A35DAFF}" destId="{4F494F61-7C55-4F05-9457-774C02C0824B}" srcOrd="2" destOrd="0" presId="urn:microsoft.com/office/officeart/2005/8/layout/venn2"/>
    <dgm:cxn modelId="{DC34F17A-DF2A-4E64-BACB-1F7F2A370BA5}" type="presParOf" srcId="{4F494F61-7C55-4F05-9457-774C02C0824B}" destId="{50F4FDA9-400C-4720-9901-7204A887D5DE}" srcOrd="0" destOrd="0" presId="urn:microsoft.com/office/officeart/2005/8/layout/venn2"/>
    <dgm:cxn modelId="{5E07C7F6-44DD-447F-82F7-F4CEF1D03F1A}" type="presParOf" srcId="{4F494F61-7C55-4F05-9457-774C02C0824B}" destId="{9FAC6FBA-6E03-4284-8458-4A0279F8BA73}" srcOrd="1" destOrd="0" presId="urn:microsoft.com/office/officeart/2005/8/layout/venn2"/>
    <dgm:cxn modelId="{03BA6842-8042-42D0-9D6F-DCA6BF4A1FDD}" type="presParOf" srcId="{B0DB5C95-267D-46CA-826C-77939A35DAFF}" destId="{C321AB7B-3A88-493C-8E04-94050DEE02E4}" srcOrd="3" destOrd="0" presId="urn:microsoft.com/office/officeart/2005/8/layout/venn2"/>
    <dgm:cxn modelId="{1CDE850A-FE0A-4925-8257-844E4D97E83B}" type="presParOf" srcId="{C321AB7B-3A88-493C-8E04-94050DEE02E4}" destId="{049CB9AC-3CFE-4863-B653-5293D711C87F}" srcOrd="0" destOrd="0" presId="urn:microsoft.com/office/officeart/2005/8/layout/venn2"/>
    <dgm:cxn modelId="{503682DC-F4A5-453D-B7F5-2101EE65347C}" type="presParOf" srcId="{C321AB7B-3A88-493C-8E04-94050DEE02E4}" destId="{8112AB5C-0FC4-4AF0-8231-009E7053EA05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B91942-484E-4AAA-9241-0B47DC569E6E}">
      <dsp:nvSpPr>
        <dsp:cNvPr id="0" name=""/>
        <dsp:cNvSpPr/>
      </dsp:nvSpPr>
      <dsp:spPr>
        <a:xfrm>
          <a:off x="84954" y="0"/>
          <a:ext cx="8290183" cy="5257800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45000"/>
                <a:satMod val="155000"/>
              </a:schemeClr>
            </a:gs>
            <a:gs pos="60000">
              <a:schemeClr val="accent5">
                <a:hueOff val="0"/>
                <a:satOff val="0"/>
                <a:lumOff val="0"/>
                <a:alphaOff val="0"/>
                <a:shade val="95000"/>
                <a:satMod val="15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87000"/>
                <a:satMod val="250000"/>
              </a:schemeClr>
            </a:gs>
          </a:gsLst>
          <a:lin ang="16200000" scaled="0"/>
        </a:gra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800" kern="1200">
              <a:latin typeface="Gisha" panose="020B0502040204020203" pitchFamily="34" charset="-79"/>
              <a:cs typeface="Gisha" panose="020B0502040204020203" pitchFamily="34" charset="-79"/>
            </a:rPr>
            <a:t>תכונות זמן לינארי</a:t>
          </a:r>
        </a:p>
      </dsp:txBody>
      <dsp:txXfrm>
        <a:off x="3071078" y="262889"/>
        <a:ext cx="2317935" cy="788670"/>
      </dsp:txXfrm>
    </dsp:sp>
    <dsp:sp modelId="{308FB91F-8CB6-47A8-A22B-748A5BEB9D75}">
      <dsp:nvSpPr>
        <dsp:cNvPr id="0" name=""/>
        <dsp:cNvSpPr/>
      </dsp:nvSpPr>
      <dsp:spPr>
        <a:xfrm>
          <a:off x="457196" y="1051559"/>
          <a:ext cx="7543807" cy="4206240"/>
        </a:xfrm>
        <a:prstGeom prst="ellipse">
          <a:avLst/>
        </a:prstGeom>
        <a:gradFill rotWithShape="0">
          <a:gsLst>
            <a:gs pos="0">
              <a:schemeClr val="accent5">
                <a:hueOff val="-7107707"/>
                <a:satOff val="4040"/>
                <a:lumOff val="-3333"/>
                <a:alphaOff val="0"/>
                <a:shade val="45000"/>
                <a:satMod val="155000"/>
              </a:schemeClr>
            </a:gs>
            <a:gs pos="60000">
              <a:schemeClr val="accent5">
                <a:hueOff val="-7107707"/>
                <a:satOff val="4040"/>
                <a:lumOff val="-3333"/>
                <a:alphaOff val="0"/>
                <a:shade val="95000"/>
                <a:satMod val="150000"/>
              </a:schemeClr>
            </a:gs>
            <a:gs pos="100000">
              <a:schemeClr val="accent5">
                <a:hueOff val="-7107707"/>
                <a:satOff val="4040"/>
                <a:lumOff val="-3333"/>
                <a:alphaOff val="0"/>
                <a:tint val="87000"/>
                <a:satMod val="250000"/>
              </a:schemeClr>
            </a:gs>
          </a:gsLst>
          <a:lin ang="16200000" scaled="0"/>
        </a:gra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800" kern="1200">
              <a:latin typeface="Gisha" panose="020B0502040204020203" pitchFamily="34" charset="-79"/>
              <a:cs typeface="Gisha" panose="020B0502040204020203" pitchFamily="34" charset="-79"/>
            </a:rPr>
            <a:t>תכונות בטיחות</a:t>
          </a:r>
        </a:p>
      </dsp:txBody>
      <dsp:txXfrm>
        <a:off x="2910819" y="1303934"/>
        <a:ext cx="2636560" cy="757123"/>
      </dsp:txXfrm>
    </dsp:sp>
    <dsp:sp modelId="{50F4FDA9-400C-4720-9901-7204A887D5DE}">
      <dsp:nvSpPr>
        <dsp:cNvPr id="0" name=""/>
        <dsp:cNvSpPr/>
      </dsp:nvSpPr>
      <dsp:spPr>
        <a:xfrm>
          <a:off x="1219204" y="2103119"/>
          <a:ext cx="6019791" cy="3154680"/>
        </a:xfrm>
        <a:prstGeom prst="ellipse">
          <a:avLst/>
        </a:prstGeom>
        <a:gradFill rotWithShape="0">
          <a:gsLst>
            <a:gs pos="0">
              <a:schemeClr val="accent5">
                <a:hueOff val="-14215414"/>
                <a:satOff val="8079"/>
                <a:lumOff val="-6667"/>
                <a:alphaOff val="0"/>
                <a:shade val="45000"/>
                <a:satMod val="155000"/>
              </a:schemeClr>
            </a:gs>
            <a:gs pos="60000">
              <a:schemeClr val="accent5">
                <a:hueOff val="-14215414"/>
                <a:satOff val="8079"/>
                <a:lumOff val="-6667"/>
                <a:alphaOff val="0"/>
                <a:shade val="95000"/>
                <a:satMod val="150000"/>
              </a:schemeClr>
            </a:gs>
            <a:gs pos="100000">
              <a:schemeClr val="accent5">
                <a:hueOff val="-14215414"/>
                <a:satOff val="8079"/>
                <a:lumOff val="-6667"/>
                <a:alphaOff val="0"/>
                <a:tint val="87000"/>
                <a:satMod val="250000"/>
              </a:schemeClr>
            </a:gs>
          </a:gsLst>
          <a:lin ang="16200000" scaled="0"/>
        </a:gra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800" kern="1200">
              <a:latin typeface="Gisha" panose="020B0502040204020203" pitchFamily="34" charset="-79"/>
              <a:cs typeface="Gisha" panose="020B0502040204020203" pitchFamily="34" charset="-79"/>
            </a:rPr>
            <a:t>תכונות בטיחות רגולריות</a:t>
          </a:r>
        </a:p>
      </dsp:txBody>
      <dsp:txXfrm>
        <a:off x="2826488" y="2339720"/>
        <a:ext cx="2805223" cy="709803"/>
      </dsp:txXfrm>
    </dsp:sp>
    <dsp:sp modelId="{049CB9AC-3CFE-4863-B653-5293D711C87F}">
      <dsp:nvSpPr>
        <dsp:cNvPr id="0" name=""/>
        <dsp:cNvSpPr/>
      </dsp:nvSpPr>
      <dsp:spPr>
        <a:xfrm>
          <a:off x="2743203" y="3352804"/>
          <a:ext cx="2971792" cy="1706871"/>
        </a:xfrm>
        <a:prstGeom prst="ellipse">
          <a:avLst/>
        </a:prstGeom>
        <a:gradFill rotWithShape="0">
          <a:gsLst>
            <a:gs pos="0">
              <a:schemeClr val="accent5">
                <a:hueOff val="-21323121"/>
                <a:satOff val="12119"/>
                <a:lumOff val="-10000"/>
                <a:alphaOff val="0"/>
                <a:shade val="45000"/>
                <a:satMod val="155000"/>
              </a:schemeClr>
            </a:gs>
            <a:gs pos="60000">
              <a:schemeClr val="accent5">
                <a:hueOff val="-21323121"/>
                <a:satOff val="12119"/>
                <a:lumOff val="-10000"/>
                <a:alphaOff val="0"/>
                <a:shade val="95000"/>
                <a:satMod val="150000"/>
              </a:schemeClr>
            </a:gs>
            <a:gs pos="100000">
              <a:schemeClr val="accent5">
                <a:hueOff val="-21323121"/>
                <a:satOff val="12119"/>
                <a:lumOff val="-10000"/>
                <a:alphaOff val="0"/>
                <a:tint val="87000"/>
                <a:satMod val="250000"/>
              </a:schemeClr>
            </a:gs>
          </a:gsLst>
          <a:lin ang="16200000" scaled="0"/>
        </a:gra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800" kern="1200">
              <a:latin typeface="Gisha" panose="020B0502040204020203" pitchFamily="34" charset="-79"/>
              <a:cs typeface="Gisha" panose="020B0502040204020203" pitchFamily="34" charset="-79"/>
            </a:rPr>
            <a:t>תכונות שְׁמוּרָה</a:t>
          </a:r>
        </a:p>
      </dsp:txBody>
      <dsp:txXfrm>
        <a:off x="3178412" y="3779522"/>
        <a:ext cx="2101374" cy="8534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46B1D-4663-49B6-B326-245D7D5A3682}" type="datetimeFigureOut">
              <a:rPr lang="en-US" smtClean="0"/>
              <a:pPr/>
              <a:t>6/2/2024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1F6944-2FF9-4248-8A94-1C46CD394F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817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989392" y="-499216"/>
            <a:ext cx="2476500" cy="476250"/>
          </a:xfrm>
        </p:spPr>
        <p:txBody>
          <a:bodyPr/>
          <a:lstStyle>
            <a:lvl1pPr algn="ctr">
              <a:defRPr sz="1100"/>
            </a:lvl1pPr>
          </a:lstStyle>
          <a:p>
            <a:r>
              <a:rPr lang="he-IL"/>
              <a:t>עדכון אחרון </a:t>
            </a:r>
            <a:fld id="{7B086AAE-F14E-4B30-87F9-1FD42B9BCCB9}" type="datetime8">
              <a:rPr lang="he-IL" smtClean="0"/>
              <a:pPr/>
              <a:t>02 יוני 24</a:t>
            </a:fld>
            <a:endParaRPr lang="he-IL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43200" y="5791200"/>
            <a:ext cx="39624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76200"/>
            <a:ext cx="7772400" cy="1143000"/>
          </a:xfrm>
        </p:spPr>
        <p:txBody>
          <a:bodyPr/>
          <a:lstStyle>
            <a:lvl1pPr algn="ctr" rtl="1"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476500" cy="476250"/>
          </a:xfrm>
        </p:spPr>
        <p:txBody>
          <a:bodyPr/>
          <a:lstStyle/>
          <a:p>
            <a:fld id="{A7F926B5-663A-4127-A287-7B83208B40AD}" type="datetime8">
              <a:rPr lang="he-IL" smtClean="0"/>
              <a:pPr/>
              <a:t>02 יוני 24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57200" cy="4572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11266" name="Picture 2" descr="http://bgu.ac.il/NR/rdonlyres/4E908188-6AC7-4C07-9237-368D40E2EEFB/41072/BGUlogo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47623" y="92075"/>
            <a:ext cx="520177" cy="669925"/>
          </a:xfrm>
          <a:prstGeom prst="rect">
            <a:avLst/>
          </a:prstGeom>
          <a:noFill/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2DB6B-1EA1-4A4B-B47A-2783F935A600}" type="datetime8">
              <a:rPr lang="he-IL" smtClean="0"/>
              <a:pPr/>
              <a:t>02 יוני 24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960C7-BACF-420D-A557-A385D6297D29}" type="datetime8">
              <a:rPr lang="he-IL" smtClean="0"/>
              <a:pPr/>
              <a:t>02 יוני 24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9218" name="Picture 2" descr="http://bgu.ac.il/NR/rdonlyres/4E908188-6AC7-4C07-9237-368D40E2EEFB/41075/BGUsig1H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65950" y="-136525"/>
            <a:ext cx="2406650" cy="1203325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B3A8-D963-425B-825B-E4B738A1D92A}" type="datetime8">
              <a:rPr lang="he-IL" smtClean="0"/>
              <a:pPr/>
              <a:t>02 יוני 24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A5639-DD31-47F9-A956-C8B80FFDA535}" type="datetime8">
              <a:rPr lang="he-IL" smtClean="0"/>
              <a:pPr/>
              <a:t>02 יוני 24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FFA75-80ED-4127-A1CE-377B00428A30}" type="datetime8">
              <a:rPr lang="he-IL" smtClean="0"/>
              <a:pPr/>
              <a:t>02 יוני 24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53C9F-829D-4682-9136-E24C2FE7D8B1}" type="datetime8">
              <a:rPr lang="he-IL" smtClean="0"/>
              <a:pPr/>
              <a:t>02 יוני 24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7CAF2-89CF-4D7F-8273-32FC35BA221F}" type="datetime8">
              <a:rPr lang="he-IL" smtClean="0"/>
              <a:pPr/>
              <a:t>02 יוני 24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E686A-5BC9-4572-9309-2F412007C7F4}" type="datetime8">
              <a:rPr lang="he-IL" smtClean="0"/>
              <a:pPr/>
              <a:t>02 יוני 24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EA3F7-2EBC-40FD-8DA6-2876EEB17265}" type="datetime8">
              <a:rPr lang="he-IL" smtClean="0"/>
              <a:pPr/>
              <a:t>02 יוני 24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00393D4-FEE5-4B2C-B85E-16899D94FADB}" type="datetime8">
              <a:rPr lang="he-IL" smtClean="0"/>
              <a:pPr/>
              <a:t>02 יוני 24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he-IL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גרא וייס</a:t>
            </a:r>
          </a:p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המחלקה למדעי המחשב</a:t>
            </a:r>
          </a:p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אוניברסיטת בן-גוריון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תכונות שמורה</a:t>
            </a:r>
            <a:b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Invariant Properties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0" y="7112000"/>
            <a:ext cx="9144000" cy="923330"/>
          </a:xfrm>
          <a:prstGeom prst="rect">
            <a:avLst/>
          </a:prstGeom>
          <a:noFill/>
        </p:spPr>
        <p:txBody>
          <a:bodyPr vert="horz" rtlCol="1">
            <a:spAutoFit/>
          </a:bodyPr>
          <a:lstStyle/>
          <a:p>
            <a:r>
              <a:rPr lang="en-US" err="1">
                <a:latin typeface="Gisha" panose="020B0502040204020203" pitchFamily="34" charset="-79"/>
                <a:cs typeface="Gisha" panose="020B0502040204020203" pitchFamily="34" charset="-79"/>
              </a:rPr>
              <a:t>TexPoint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 fonts used in EMF. </a:t>
            </a:r>
          </a:p>
          <a:p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Read the TexPoint manual before you delete this box.: AAAAAAAAA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  <a:sym typeface="STMARY10"/>
              </a:rPr>
              <a:t>AAAAAAAAAA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  <a:sym typeface="SYMBOL"/>
              </a:rPr>
              <a:t>AAAA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43012" name="Picture 4" descr="http://bgu.ac.il/NR/rdonlyres/4E908188-6AC7-4C07-9237-368D40E2EEFB/41072/BGUlog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24250" y="4581525"/>
            <a:ext cx="1885950" cy="2428875"/>
          </a:xfrm>
          <a:prstGeom prst="rect">
            <a:avLst/>
          </a:prstGeom>
          <a:noFill/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0646-3111-4D68-A160-C7E5A6B7FF5E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02 יוני 24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47">
        <p159:morph option="byObject"/>
      </p:transition>
    </mc:Choice>
    <mc:Fallback>
      <p:transition spd="slow" advTm="1047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02 יוני 24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9" name="Title 1"/>
          <p:cNvSpPr>
            <a:spLocks noGrp="1"/>
          </p:cNvSpPr>
          <p:nvPr>
            <p:ph type="title"/>
          </p:nvPr>
        </p:nvSpPr>
        <p:spPr>
          <a:xfrm>
            <a:off x="457200" y="-228600"/>
            <a:ext cx="8229600" cy="1143000"/>
          </a:xfrm>
        </p:spPr>
        <p:txBody>
          <a:bodyPr>
            <a:normAutofit/>
          </a:bodyPr>
          <a:lstStyle/>
          <a:p>
            <a:r>
              <a:rPr lang="he-IL" sz="3600">
                <a:latin typeface="Gisha" panose="020B0502040204020203" pitchFamily="34" charset="-79"/>
                <a:cs typeface="Gisha" panose="020B0502040204020203" pitchFamily="34" charset="-79"/>
              </a:rPr>
              <a:t>בדיקות מודל (</a:t>
            </a:r>
            <a:r>
              <a:rPr lang="en-US" sz="3600">
                <a:latin typeface="Gisha" panose="020B0502040204020203" pitchFamily="34" charset="-79"/>
                <a:cs typeface="Gisha" panose="020B0502040204020203" pitchFamily="34" charset="-79"/>
              </a:rPr>
              <a:t>Model Checking</a:t>
            </a:r>
            <a:r>
              <a:rPr lang="he-IL" sz="3600">
                <a:latin typeface="Gisha" panose="020B0502040204020203" pitchFamily="34" charset="-79"/>
                <a:cs typeface="Gisha" panose="020B0502040204020203" pitchFamily="34" charset="-79"/>
              </a:rPr>
              <a:t>)</a:t>
            </a:r>
          </a:p>
        </p:txBody>
      </p:sp>
      <p:sp>
        <p:nvSpPr>
          <p:cNvPr id="30" name="Oval 29"/>
          <p:cNvSpPr/>
          <p:nvPr/>
        </p:nvSpPr>
        <p:spPr>
          <a:xfrm>
            <a:off x="5410200" y="1676400"/>
            <a:ext cx="1219200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מערכת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34000" y="2933700"/>
            <a:ext cx="1371600" cy="548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מידול</a:t>
            </a:r>
          </a:p>
        </p:txBody>
      </p:sp>
      <p:sp>
        <p:nvSpPr>
          <p:cNvPr id="32" name="Oval 31"/>
          <p:cNvSpPr/>
          <p:nvPr/>
        </p:nvSpPr>
        <p:spPr>
          <a:xfrm>
            <a:off x="4480560" y="5638800"/>
            <a:ext cx="1463040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 נגדית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87980" y="3962400"/>
            <a:ext cx="1905000" cy="91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>
                <a:solidFill>
                  <a:schemeClr val="dk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בדיקות מודל</a:t>
            </a:r>
          </a:p>
          <a:p>
            <a:pPr algn="ctr"/>
            <a:r>
              <a:rPr lang="he-IL">
                <a:solidFill>
                  <a:schemeClr val="dk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(</a:t>
            </a:r>
            <a:r>
              <a:rPr lang="en-US">
                <a:solidFill>
                  <a:schemeClr val="dk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Model Checking</a:t>
            </a:r>
            <a:r>
              <a:rPr lang="he-IL">
                <a:solidFill>
                  <a:schemeClr val="dk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)</a:t>
            </a:r>
          </a:p>
        </p:txBody>
      </p:sp>
      <p:sp>
        <p:nvSpPr>
          <p:cNvPr id="34" name="Oval 33"/>
          <p:cNvSpPr/>
          <p:nvPr/>
        </p:nvSpPr>
        <p:spPr>
          <a:xfrm>
            <a:off x="952500" y="1676400"/>
            <a:ext cx="1219200" cy="7620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דרישות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6300" y="2933700"/>
            <a:ext cx="1371600" cy="54864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פירמול</a:t>
            </a:r>
          </a:p>
        </p:txBody>
      </p:sp>
      <p:sp>
        <p:nvSpPr>
          <p:cNvPr id="36" name="Oval 35"/>
          <p:cNvSpPr/>
          <p:nvPr/>
        </p:nvSpPr>
        <p:spPr>
          <a:xfrm>
            <a:off x="685800" y="4038600"/>
            <a:ext cx="1752600" cy="7620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תכונות פורמליות</a:t>
            </a:r>
          </a:p>
        </p:txBody>
      </p:sp>
      <p:sp>
        <p:nvSpPr>
          <p:cNvPr id="37" name="Oval 36"/>
          <p:cNvSpPr/>
          <p:nvPr/>
        </p:nvSpPr>
        <p:spPr>
          <a:xfrm>
            <a:off x="5257800" y="4038600"/>
            <a:ext cx="1524000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מודל של המערכת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29400" y="5745480"/>
            <a:ext cx="1371600" cy="548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סימולציה</a:t>
            </a:r>
          </a:p>
        </p:txBody>
      </p:sp>
      <p:sp>
        <p:nvSpPr>
          <p:cNvPr id="39" name="Oval 38"/>
          <p:cNvSpPr/>
          <p:nvPr/>
        </p:nvSpPr>
        <p:spPr>
          <a:xfrm>
            <a:off x="1737360" y="5638800"/>
            <a:ext cx="1463040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התכונות הוכחה</a:t>
            </a:r>
          </a:p>
        </p:txBody>
      </p:sp>
      <p:cxnSp>
        <p:nvCxnSpPr>
          <p:cNvPr id="40" name="Straight Arrow Connector 39"/>
          <p:cNvCxnSpPr>
            <a:endCxn id="35" idx="0"/>
          </p:cNvCxnSpPr>
          <p:nvPr/>
        </p:nvCxnSpPr>
        <p:spPr>
          <a:xfrm rot="5400000">
            <a:off x="1314450" y="2686050"/>
            <a:ext cx="4953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35" idx="2"/>
            <a:endCxn id="36" idx="0"/>
          </p:cNvCxnSpPr>
          <p:nvPr/>
        </p:nvCxnSpPr>
        <p:spPr>
          <a:xfrm rot="5400000">
            <a:off x="1283970" y="3760470"/>
            <a:ext cx="55626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endCxn id="31" idx="0"/>
          </p:cNvCxnSpPr>
          <p:nvPr/>
        </p:nvCxnSpPr>
        <p:spPr>
          <a:xfrm rot="5400000">
            <a:off x="5772150" y="2686050"/>
            <a:ext cx="4953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31" idx="2"/>
            <a:endCxn id="37" idx="0"/>
          </p:cNvCxnSpPr>
          <p:nvPr/>
        </p:nvCxnSpPr>
        <p:spPr>
          <a:xfrm rot="5400000">
            <a:off x="5741670" y="3760470"/>
            <a:ext cx="55626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37" idx="2"/>
            <a:endCxn id="33" idx="3"/>
          </p:cNvCxnSpPr>
          <p:nvPr/>
        </p:nvCxnSpPr>
        <p:spPr>
          <a:xfrm rot="10800000">
            <a:off x="4792980" y="4419600"/>
            <a:ext cx="46482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6" idx="6"/>
            <a:endCxn id="33" idx="1"/>
          </p:cNvCxnSpPr>
          <p:nvPr/>
        </p:nvCxnSpPr>
        <p:spPr>
          <a:xfrm>
            <a:off x="2438400" y="4419600"/>
            <a:ext cx="44958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33" idx="2"/>
            <a:endCxn id="39" idx="7"/>
          </p:cNvCxnSpPr>
          <p:nvPr/>
        </p:nvCxnSpPr>
        <p:spPr>
          <a:xfrm rot="5400000">
            <a:off x="2976516" y="4886428"/>
            <a:ext cx="873592" cy="8543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33" idx="2"/>
            <a:endCxn id="32" idx="1"/>
          </p:cNvCxnSpPr>
          <p:nvPr/>
        </p:nvCxnSpPr>
        <p:spPr>
          <a:xfrm rot="16200000" flipH="1">
            <a:off x="3830852" y="4886427"/>
            <a:ext cx="873592" cy="8543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32" idx="6"/>
            <a:endCxn id="38" idx="1"/>
          </p:cNvCxnSpPr>
          <p:nvPr/>
        </p:nvCxnSpPr>
        <p:spPr>
          <a:xfrm>
            <a:off x="5943600" y="6019800"/>
            <a:ext cx="6858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9" name="Shape 48"/>
          <p:cNvCxnSpPr>
            <a:stCxn id="37" idx="6"/>
            <a:endCxn id="38" idx="0"/>
          </p:cNvCxnSpPr>
          <p:nvPr/>
        </p:nvCxnSpPr>
        <p:spPr>
          <a:xfrm>
            <a:off x="6781800" y="4419600"/>
            <a:ext cx="533400" cy="132588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0" name="Elbow Connector 49"/>
          <p:cNvCxnSpPr>
            <a:stCxn id="38" idx="3"/>
            <a:endCxn id="31" idx="3"/>
          </p:cNvCxnSpPr>
          <p:nvPr/>
        </p:nvCxnSpPr>
        <p:spPr>
          <a:xfrm flipH="1" flipV="1">
            <a:off x="6705600" y="3208020"/>
            <a:ext cx="1295400" cy="2811780"/>
          </a:xfrm>
          <a:prstGeom prst="bentConnector3">
            <a:avLst>
              <a:gd name="adj1" fmla="val -17647"/>
            </a:avLst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1" name="Elbow Connector 50"/>
          <p:cNvCxnSpPr>
            <a:stCxn id="38" idx="3"/>
            <a:endCxn id="30" idx="6"/>
          </p:cNvCxnSpPr>
          <p:nvPr/>
        </p:nvCxnSpPr>
        <p:spPr>
          <a:xfrm flipH="1" flipV="1">
            <a:off x="6629400" y="2057400"/>
            <a:ext cx="1371600" cy="3962400"/>
          </a:xfrm>
          <a:prstGeom prst="bentConnector3">
            <a:avLst>
              <a:gd name="adj1" fmla="val -46203"/>
            </a:avLst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8" name="Shape 27"/>
          <p:cNvCxnSpPr>
            <a:stCxn id="38" idx="2"/>
            <a:endCxn id="35" idx="1"/>
          </p:cNvCxnSpPr>
          <p:nvPr/>
        </p:nvCxnSpPr>
        <p:spPr>
          <a:xfrm rot="5400000" flipH="1">
            <a:off x="2552700" y="1531620"/>
            <a:ext cx="3086100" cy="6438900"/>
          </a:xfrm>
          <a:prstGeom prst="bentConnector4">
            <a:avLst>
              <a:gd name="adj1" fmla="val -10783"/>
              <a:gd name="adj2" fmla="val 106786"/>
            </a:avLst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19808" y="1480021"/>
            <a:ext cx="8763000" cy="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200"/>
            <a:ext cx="7772400" cy="9144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תזכורת: תכונות זמן ליניארי</a:t>
            </a:r>
            <a:b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en-US" sz="3600">
                <a:latin typeface="Gisha" panose="020B0502040204020203" pitchFamily="34" charset="-79"/>
                <a:cs typeface="Gisha" panose="020B0502040204020203" pitchFamily="34" charset="-79"/>
              </a:rPr>
              <a:t>Linear Time Properties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02 יוני 24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3</a:t>
            </a:fld>
            <a:endParaRPr lang="he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-76200" y="1524000"/>
                <a:ext cx="9144000" cy="5181600"/>
              </a:xfrm>
            </p:spPr>
            <p:txBody>
              <a:bodyPr>
                <a:normAutofit/>
              </a:bodyPr>
              <a:lstStyle/>
              <a:p>
                <a:pPr marL="809625" lvl="1" indent="-809625" algn="ctr">
                  <a:spcBef>
                    <a:spcPts val="1800"/>
                  </a:spcBef>
                  <a:spcAft>
                    <a:spcPts val="1200"/>
                  </a:spcAft>
                  <a:buClr>
                    <a:schemeClr val="accent1"/>
                  </a:buClr>
                  <a:buNone/>
                </a:pPr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הגדרה</a:t>
                </a:r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: תכונת זמן ליניארי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FF"/>
                        </a:solidFill>
                        <a:latin typeface="Cambria Math"/>
                      </a:rPr>
                      <m:t>𝑃</m:t>
                    </m:r>
                  </m:oMath>
                </a14:m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היא קבוצה של מילים אינסופיות מעל האלף-בית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e-IL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e-IL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𝐴𝑃</m:t>
                        </m:r>
                      </m:sup>
                    </m:sSup>
                  </m:oMath>
                </a14:m>
                <a:endParaRPr lang="he-IL" sz="2000" b="0" i="1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800"/>
                  </a:spcBef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מערכת מקיימת תכונה,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he-IL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, אם כל רצפי העקבות שהיא משאירה נמצאים ב-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𝑃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>
                  <a:spcBef>
                    <a:spcPts val="1800"/>
                  </a:spcBef>
                </a:pPr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800"/>
                  </a:spcBef>
                </a:pPr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800"/>
                  </a:spcBef>
                </a:pPr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800"/>
                  </a:spcBef>
                </a:pPr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800"/>
                  </a:spcBef>
                </a:pPr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אנחנו מכוונים ללוגיקה שבה ניתן יהיה לתאר תכונות 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של מערכות ושאפשר לבקש, למשל מ-</a:t>
                </a:r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SPIN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, לבדוק אם מערכת מעברים מקיימת תכונה נתונה</a:t>
                </a:r>
              </a:p>
              <a:p>
                <a:pPr>
                  <a:spcBef>
                    <a:spcPts val="1800"/>
                  </a:spcBef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נראה דרכים שונות לתאר תכונות (תכונות שמורה, אוטומטים, לוגיקה,...)</a:t>
                </a:r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-76200" y="1524000"/>
                <a:ext cx="9144000" cy="5181600"/>
              </a:xfrm>
              <a:blipFill>
                <a:blip r:embed="rId2"/>
                <a:stretch>
                  <a:fillRect t="-588" r="-26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/>
          <p:cNvSpPr/>
          <p:nvPr/>
        </p:nvSpPr>
        <p:spPr>
          <a:xfrm>
            <a:off x="1828800" y="2895600"/>
            <a:ext cx="2819400" cy="1524000"/>
          </a:xfrm>
          <a:prstGeom prst="ellipse">
            <a:avLst/>
          </a:prstGeom>
          <a:solidFill>
            <a:srgbClr val="FFFFCC">
              <a:alpha val="30980"/>
            </a:srgbClr>
          </a:solidFill>
          <a:ln w="19050"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920737" y="3472934"/>
                <a:ext cx="1412181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𝑇𝑟𝑎𝑐𝑒𝑠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0737" y="3472934"/>
                <a:ext cx="1412181" cy="369332"/>
              </a:xfrm>
              <a:prstGeom prst="rect">
                <a:avLst/>
              </a:prstGeom>
              <a:blipFill>
                <a:blip r:embed="rId3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2139121" y="3100726"/>
                <a:ext cx="39709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he-IL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9121" y="3100726"/>
                <a:ext cx="39709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/>
          <p:cNvSpPr/>
          <p:nvPr/>
        </p:nvSpPr>
        <p:spPr>
          <a:xfrm>
            <a:off x="4867405" y="3745508"/>
            <a:ext cx="100644" cy="114301"/>
          </a:xfrm>
          <a:prstGeom prst="ellipse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6257859" y="3500735"/>
                <a:ext cx="2114682" cy="92333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ctr"/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אם יש ריצה ב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𝑇𝑟𝑎𝑐𝑒𝑠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𝑇𝑆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∖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b="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/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אז יש "באג" במערכת</a:t>
                </a:r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7859" y="3500735"/>
                <a:ext cx="2114682" cy="923330"/>
              </a:xfrm>
              <a:prstGeom prst="rect">
                <a:avLst/>
              </a:prstGeom>
              <a:blipFill>
                <a:blip r:embed="rId5"/>
                <a:stretch>
                  <a:fillRect l="-5202" t="-3289" r="-2601" b="-921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/>
          <p:cNvSpPr/>
          <p:nvPr/>
        </p:nvSpPr>
        <p:spPr>
          <a:xfrm>
            <a:off x="2743200" y="3200401"/>
            <a:ext cx="2686616" cy="1143000"/>
          </a:xfrm>
          <a:prstGeom prst="ellipse">
            <a:avLst/>
          </a:prstGeom>
          <a:solidFill>
            <a:srgbClr val="FFFFCC">
              <a:alpha val="30980"/>
            </a:srgbClr>
          </a:solidFill>
          <a:ln w="19050"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15" name="Straight Arrow Connector 14"/>
          <p:cNvCxnSpPr/>
          <p:nvPr/>
        </p:nvCxnSpPr>
        <p:spPr>
          <a:xfrm flipH="1" flipV="1">
            <a:off x="4991518" y="3802658"/>
            <a:ext cx="1485482" cy="1597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66800" y="4495800"/>
            <a:ext cx="7124700" cy="17526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7906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מאפיינים של מערכות שאינם</a:t>
            </a:r>
            <a:b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תכונות זמן לינארי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02 יוני 24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4</a:t>
            </a:fld>
            <a:endParaRPr lang="he-IL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752600"/>
            <a:ext cx="8534400" cy="457200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יש ארבעה מצבים במערכת המעברים</a:t>
            </a:r>
          </a:p>
          <a:p>
            <a:pPr>
              <a:spcAft>
                <a:spcPts val="1200"/>
              </a:spcAft>
            </a:pP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לכל מצב יש עוקב שיש לו עוקב המתויג באופן מסוים</a:t>
            </a:r>
          </a:p>
          <a:p>
            <a:pPr>
              <a:spcAft>
                <a:spcPts val="1200"/>
              </a:spcAft>
            </a:pP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מכל מצב במערכת יש מסלול למצב עם תיוג מסוים</a:t>
            </a:r>
          </a:p>
          <a:p>
            <a:pPr>
              <a:spcAft>
                <a:spcPts val="1200"/>
              </a:spcAft>
            </a:pP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 יש למערכת ריצות מסוימות</a:t>
            </a:r>
          </a:p>
          <a:p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1257300" y="4572000"/>
                <a:ext cx="6934200" cy="24006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𝑇𝑟𝑎𝑐𝑒𝑠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𝑇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⊆</m:t>
                    </m:r>
                    <m:r>
                      <a:rPr lang="en-US" sz="24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𝑇𝑟𝑎𝑐𝑒𝑠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𝑇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he-IL" sz="2400">
                    <a:solidFill>
                      <a:schemeClr val="accent2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endParaRPr lang="en-US" sz="2400">
                  <a:solidFill>
                    <a:schemeClr val="accent2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spcAft>
                    <a:spcPts val="1200"/>
                  </a:spcAft>
                </a:pPr>
                <a:r>
                  <a:rPr lang="he-IL" sz="2400">
                    <a:solidFill>
                      <a:schemeClr val="accent2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אם ורק אם</a:t>
                </a:r>
                <a:endParaRPr lang="en-US" sz="2400">
                  <a:solidFill>
                    <a:schemeClr val="accent2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spcAft>
                    <a:spcPts val="1200"/>
                  </a:spcAft>
                </a:pPr>
                <a:r>
                  <a:rPr lang="en-US" sz="2400">
                    <a:solidFill>
                      <a:schemeClr val="accent2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>
                    <a:solidFill>
                      <a:schemeClr val="accent2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לכל תכונת זמן לינארי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𝑃</m:t>
                    </m:r>
                  </m:oMath>
                </a14:m>
                <a:r>
                  <a:rPr lang="he-IL" sz="2400">
                    <a:solidFill>
                      <a:schemeClr val="accent2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מתקיים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𝑇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𝑆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⊨</m:t>
                    </m:r>
                    <m:r>
                      <a:rPr lang="en-US" sz="24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𝑃</m:t>
                    </m:r>
                    <m:r>
                      <a:rPr lang="en-US" sz="24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⇒ </m:t>
                    </m:r>
                    <m:r>
                      <a:rPr lang="en-US" sz="24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𝑇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𝑆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⊨</m:t>
                    </m:r>
                    <m:r>
                      <a:rPr lang="en-US" sz="240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𝑃</m:t>
                    </m:r>
                  </m:oMath>
                </a14:m>
                <a:endParaRPr lang="en-US" sz="2400">
                  <a:solidFill>
                    <a:schemeClr val="accent2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Aft>
                    <a:spcPts val="1200"/>
                  </a:spcAft>
                </a:pPr>
                <a:br>
                  <a:rPr lang="en-US" sz="2400">
                    <a:solidFill>
                      <a:schemeClr val="accent2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endParaRPr lang="en-US" sz="2400">
                  <a:solidFill>
                    <a:schemeClr val="accent2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300" y="4572000"/>
                <a:ext cx="6934200" cy="2400657"/>
              </a:xfrm>
              <a:prstGeom prst="rect">
                <a:avLst/>
              </a:prstGeom>
              <a:blipFill>
                <a:blip r:embed="rId2"/>
                <a:stretch>
                  <a:fillRect l="-88" t="-2284" r="-8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08424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>
          <a:xfrm>
            <a:off x="4350150" y="1753375"/>
            <a:ext cx="4572000" cy="24384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35350" y="1753375"/>
            <a:ext cx="3505200" cy="24384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-3048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דוגמה: שתי מכונות שתייה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02 יוני 24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5</a:t>
            </a:fld>
            <a:endParaRPr lang="he-IL"/>
          </a:p>
        </p:txBody>
      </p:sp>
      <p:grpSp>
        <p:nvGrpSpPr>
          <p:cNvPr id="63" name="Group 62"/>
          <p:cNvGrpSpPr/>
          <p:nvPr/>
        </p:nvGrpSpPr>
        <p:grpSpPr>
          <a:xfrm>
            <a:off x="387750" y="2210575"/>
            <a:ext cx="3148953" cy="1703886"/>
            <a:chOff x="838200" y="3092512"/>
            <a:chExt cx="3148953" cy="1703886"/>
          </a:xfrm>
        </p:grpSpPr>
        <p:sp>
          <p:nvSpPr>
            <p:cNvPr id="7" name="Rectangle 6"/>
            <p:cNvSpPr/>
            <p:nvPr/>
          </p:nvSpPr>
          <p:spPr>
            <a:xfrm>
              <a:off x="838200" y="4441422"/>
              <a:ext cx="787238" cy="354976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latin typeface="Gisha" panose="020B0502040204020203" pitchFamily="34" charset="-79"/>
                  <a:cs typeface="Gisha" panose="020B0502040204020203" pitchFamily="34" charset="-79"/>
                </a:rPr>
                <a:t>sprite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199915" y="4441422"/>
              <a:ext cx="787238" cy="354976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latin typeface="Gisha" panose="020B0502040204020203" pitchFamily="34" charset="-79"/>
                  <a:cs typeface="Gisha" panose="020B0502040204020203" pitchFamily="34" charset="-79"/>
                </a:rPr>
                <a:t>beer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19058" y="4441422"/>
              <a:ext cx="787238" cy="354976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latin typeface="Gisha" panose="020B0502040204020203" pitchFamily="34" charset="-79"/>
                  <a:cs typeface="Gisha" panose="020B0502040204020203" pitchFamily="34" charset="-79"/>
                </a:rPr>
                <a:t>select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019058" y="3092512"/>
              <a:ext cx="787238" cy="354976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latin typeface="Gisha" panose="020B0502040204020203" pitchFamily="34" charset="-79"/>
                  <a:cs typeface="Gisha" panose="020B0502040204020203" pitchFamily="34" charset="-79"/>
                </a:rPr>
                <a:t>pay</a:t>
              </a:r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 rot="10800000">
              <a:off x="1625438" y="4618910"/>
              <a:ext cx="393619" cy="148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2806296" y="4618910"/>
              <a:ext cx="393619" cy="148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Shape 16"/>
            <p:cNvCxnSpPr/>
            <p:nvPr/>
          </p:nvCxnSpPr>
          <p:spPr>
            <a:xfrm rot="5400000" flipH="1" flipV="1">
              <a:off x="1039728" y="3462092"/>
              <a:ext cx="1171421" cy="787238"/>
            </a:xfrm>
            <a:prstGeom prst="bentConnector2">
              <a:avLst/>
            </a:prstGeom>
            <a:ln w="28575"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Shape 18"/>
            <p:cNvCxnSpPr/>
            <p:nvPr/>
          </p:nvCxnSpPr>
          <p:spPr>
            <a:xfrm rot="16200000" flipV="1">
              <a:off x="2614205" y="3462092"/>
              <a:ext cx="1171421" cy="787238"/>
            </a:xfrm>
            <a:prstGeom prst="bentConnector2">
              <a:avLst/>
            </a:prstGeom>
            <a:ln w="28575"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rot="5400000">
              <a:off x="1915710" y="3944449"/>
              <a:ext cx="993933" cy="1491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" name="Shape 21"/>
            <p:cNvCxnSpPr/>
            <p:nvPr/>
          </p:nvCxnSpPr>
          <p:spPr>
            <a:xfrm rot="5400000" flipH="1" flipV="1">
              <a:off x="2412683" y="3092506"/>
              <a:ext cx="1480" cy="1491"/>
            </a:xfrm>
            <a:prstGeom prst="bentConnector3">
              <a:avLst>
                <a:gd name="adj1" fmla="val 14395466"/>
              </a:avLst>
            </a:prstGeom>
            <a:ln w="28575"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7" name="Rectangle 26"/>
          <p:cNvSpPr/>
          <p:nvPr/>
        </p:nvSpPr>
        <p:spPr>
          <a:xfrm>
            <a:off x="5671480" y="3573695"/>
            <a:ext cx="787238" cy="354976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r>
              <a:rPr lang="en-US" sz="1600">
                <a:latin typeface="Gisha" panose="020B0502040204020203" pitchFamily="34" charset="-79"/>
                <a:cs typeface="Gisha" panose="020B0502040204020203" pitchFamily="34" charset="-79"/>
              </a:rPr>
              <a:t>sprite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40410" y="3573695"/>
            <a:ext cx="787238" cy="354976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r>
              <a:rPr lang="en-US" sz="1600">
                <a:latin typeface="Gisha" panose="020B0502040204020203" pitchFamily="34" charset="-79"/>
                <a:cs typeface="Gisha" panose="020B0502040204020203" pitchFamily="34" charset="-79"/>
              </a:rPr>
              <a:t>beer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09340" y="3573695"/>
            <a:ext cx="787238" cy="354976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r>
              <a:rPr lang="en-US" sz="1600">
                <a:latin typeface="Gisha" panose="020B0502040204020203" pitchFamily="34" charset="-79"/>
                <a:cs typeface="Gisha" panose="020B0502040204020203" pitchFamily="34" charset="-79"/>
              </a:rPr>
              <a:t>select</a:t>
            </a:r>
            <a:r>
              <a:rPr lang="en-US" sz="1600" baseline="-25000">
                <a:latin typeface="Gisha" panose="020B0502040204020203" pitchFamily="34" charset="-79"/>
                <a:cs typeface="Gisha" panose="020B0502040204020203" pitchFamily="34" charset="-79"/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02550" y="3573695"/>
            <a:ext cx="787238" cy="354976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r>
              <a:rPr lang="en-US" sz="1600">
                <a:latin typeface="Gisha" panose="020B0502040204020203" pitchFamily="34" charset="-79"/>
                <a:cs typeface="Gisha" panose="020B0502040204020203" pitchFamily="34" charset="-79"/>
              </a:rPr>
              <a:t>select</a:t>
            </a:r>
            <a:r>
              <a:rPr lang="en-US" sz="1600" baseline="-25000">
                <a:latin typeface="Gisha" panose="020B0502040204020203" pitchFamily="34" charset="-79"/>
                <a:cs typeface="Gisha" panose="020B0502040204020203" pitchFamily="34" charset="-79"/>
              </a:rP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20161" y="2153790"/>
            <a:ext cx="787238" cy="354976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r>
              <a:rPr lang="en-US" sz="1600">
                <a:latin typeface="Gisha" panose="020B0502040204020203" pitchFamily="34" charset="-79"/>
                <a:cs typeface="Gisha" panose="020B0502040204020203" pitchFamily="34" charset="-79"/>
              </a:rPr>
              <a:t>pay</a:t>
            </a:r>
          </a:p>
        </p:txBody>
      </p:sp>
      <p:cxnSp>
        <p:nvCxnSpPr>
          <p:cNvPr id="45" name="Straight Arrow Connector 44"/>
          <p:cNvCxnSpPr/>
          <p:nvPr/>
        </p:nvCxnSpPr>
        <p:spPr>
          <a:xfrm rot="5400000" flipH="1" flipV="1">
            <a:off x="5717517" y="2856349"/>
            <a:ext cx="1064929" cy="369764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rot="16200000" flipV="1">
            <a:off x="6480899" y="2820566"/>
            <a:ext cx="1064929" cy="441331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9" name="Shape 48"/>
          <p:cNvCxnSpPr/>
          <p:nvPr/>
        </p:nvCxnSpPr>
        <p:spPr>
          <a:xfrm rot="5400000" flipH="1" flipV="1">
            <a:off x="4936957" y="2290491"/>
            <a:ext cx="1242417" cy="1323992"/>
          </a:xfrm>
          <a:prstGeom prst="bentConnector2">
            <a:avLst/>
          </a:prstGeom>
          <a:ln w="28575">
            <a:headEnd type="arrow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1" name="Shape 50"/>
          <p:cNvCxnSpPr/>
          <p:nvPr/>
        </p:nvCxnSpPr>
        <p:spPr>
          <a:xfrm rot="16200000" flipV="1">
            <a:off x="7083971" y="2254707"/>
            <a:ext cx="1242417" cy="1395559"/>
          </a:xfrm>
          <a:prstGeom prst="bentConnector2">
            <a:avLst/>
          </a:prstGeom>
          <a:ln w="28575">
            <a:headEnd type="arrow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rot="10800000">
            <a:off x="7627648" y="3751183"/>
            <a:ext cx="381691" cy="1480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>
            <a:off x="5289789" y="3751183"/>
            <a:ext cx="381691" cy="1480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6" name="Elbow Connector 65"/>
          <p:cNvCxnSpPr/>
          <p:nvPr/>
        </p:nvCxnSpPr>
        <p:spPr>
          <a:xfrm rot="5400000" flipH="1" flipV="1">
            <a:off x="6613780" y="2153790"/>
            <a:ext cx="1588" cy="1588"/>
          </a:xfrm>
          <a:prstGeom prst="bentConnector3">
            <a:avLst>
              <a:gd name="adj1" fmla="val 14395466"/>
            </a:avLst>
          </a:prstGeom>
          <a:ln w="28575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/>
              <p:cNvSpPr txBox="1"/>
              <p:nvPr/>
            </p:nvSpPr>
            <p:spPr>
              <a:xfrm>
                <a:off x="3025744" y="4800600"/>
                <a:ext cx="316932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/>
                        </a:rPr>
                        <m:t>𝐴𝑃</m:t>
                      </m:r>
                      <m:r>
                        <a:rPr lang="en-US" sz="2000" i="1" dirty="0" smtClean="0">
                          <a:latin typeface="Cambria Math"/>
                        </a:rPr>
                        <m:t> = { </m:t>
                      </m:r>
                      <m:r>
                        <a:rPr lang="en-US" sz="2000" i="1" dirty="0" smtClean="0">
                          <a:latin typeface="Cambria Math"/>
                        </a:rPr>
                        <m:t>𝑝𝑎𝑦</m:t>
                      </m:r>
                      <m:r>
                        <a:rPr lang="en-US" sz="2000" i="1" dirty="0" smtClean="0">
                          <a:latin typeface="Cambria Math"/>
                        </a:rPr>
                        <m:t>, </m:t>
                      </m:r>
                      <m:r>
                        <a:rPr lang="en-US" sz="2000" i="1" dirty="0" smtClean="0">
                          <a:latin typeface="Cambria Math"/>
                        </a:rPr>
                        <m:t>𝑠𝑝𝑟𝑖𝑡𝑒</m:t>
                      </m:r>
                      <m:r>
                        <a:rPr lang="en-US" sz="2000" i="1" dirty="0" smtClean="0">
                          <a:latin typeface="Cambria Math"/>
                        </a:rPr>
                        <m:t>, </m:t>
                      </m:r>
                      <m:r>
                        <a:rPr lang="en-US" sz="2000" i="1" dirty="0" smtClean="0">
                          <a:latin typeface="Cambria Math"/>
                        </a:rPr>
                        <m:t>𝑏𝑒𝑒𝑟</m:t>
                      </m:r>
                      <m:r>
                        <a:rPr lang="en-US" sz="2000" i="1" dirty="0" smtClean="0">
                          <a:latin typeface="Cambria Math"/>
                        </a:rPr>
                        <m:t> }</m:t>
                      </m:r>
                    </m:oMath>
                  </m:oMathPara>
                </a14:m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5744" y="4800600"/>
                <a:ext cx="3169329" cy="400110"/>
              </a:xfrm>
              <a:prstGeom prst="rect">
                <a:avLst/>
              </a:prstGeom>
              <a:blipFill>
                <a:blip r:embed="rId2"/>
                <a:stretch>
                  <a:fillRect b="-1692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TextBox 68"/>
          <p:cNvSpPr txBox="1"/>
          <p:nvPr/>
        </p:nvSpPr>
        <p:spPr>
          <a:xfrm>
            <a:off x="872449" y="5319648"/>
            <a:ext cx="7646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e-IL" sz="24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אין תכונת זמן ליניארי שיכולה להבדיל בין שתי המכונות האלה</a:t>
            </a:r>
            <a:endParaRPr lang="en-US" sz="2400">
              <a:solidFill>
                <a:srgbClr val="0000FF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810000" y="2972575"/>
                <a:ext cx="421910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i="1" smtClean="0">
                          <a:latin typeface="Cambria Math"/>
                          <a:ea typeface="Cambria Math"/>
                        </a:rPr>
                        <m:t>≡</m:t>
                      </m:r>
                    </m:oMath>
                  </m:oMathPara>
                </a14:m>
                <a:endParaRPr lang="he-IL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2972575"/>
                <a:ext cx="42191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6667500" y="1752600"/>
                <a:ext cx="85709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/>
                        </a:rPr>
                        <m:t>{ </m:t>
                      </m:r>
                      <m:r>
                        <a:rPr lang="en-US" i="1" dirty="0">
                          <a:latin typeface="Cambria Math"/>
                        </a:rPr>
                        <m:t>𝑝𝑎𝑦</m:t>
                      </m:r>
                      <m:r>
                        <a:rPr lang="en-US" i="1" dirty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0" y="1752600"/>
                <a:ext cx="857094" cy="369332"/>
              </a:xfrm>
              <a:prstGeom prst="rect">
                <a:avLst/>
              </a:prstGeom>
              <a:blipFill>
                <a:blip r:embed="rId4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Rectangle 35"/>
              <p:cNvSpPr/>
              <p:nvPr/>
            </p:nvSpPr>
            <p:spPr>
              <a:xfrm>
                <a:off x="228600" y="3868452"/>
                <a:ext cx="109542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{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𝑠𝑝𝑟𝑖𝑡𝑒</m:t>
                      </m:r>
                      <m:r>
                        <a:rPr lang="en-US" i="1" dirty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3868452"/>
                <a:ext cx="1095428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Rectangle 38"/>
              <p:cNvSpPr/>
              <p:nvPr/>
            </p:nvSpPr>
            <p:spPr>
              <a:xfrm>
                <a:off x="2645063" y="3864438"/>
                <a:ext cx="93352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{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𝑏𝑒𝑒𝑟</m:t>
                      </m:r>
                      <m:r>
                        <a:rPr lang="en-US" i="1" dirty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5063" y="3864438"/>
                <a:ext cx="933525" cy="369332"/>
              </a:xfrm>
              <a:prstGeom prst="rect">
                <a:avLst/>
              </a:prstGeom>
              <a:blipFill>
                <a:blip r:embed="rId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Rectangle 39"/>
              <p:cNvSpPr/>
              <p:nvPr/>
            </p:nvSpPr>
            <p:spPr>
              <a:xfrm>
                <a:off x="1752600" y="3864438"/>
                <a:ext cx="4154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{</m:t>
                      </m:r>
                      <m:r>
                        <a:rPr lang="en-US" i="1" dirty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3864438"/>
                <a:ext cx="415498" cy="369332"/>
              </a:xfrm>
              <a:prstGeom prst="rect">
                <a:avLst/>
              </a:prstGeom>
              <a:blipFill>
                <a:blip r:embed="rId7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Rectangle 40"/>
              <p:cNvSpPr/>
              <p:nvPr/>
            </p:nvSpPr>
            <p:spPr>
              <a:xfrm>
                <a:off x="1987950" y="1812019"/>
                <a:ext cx="8057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{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𝑝𝑎𝑦</m:t>
                      </m:r>
                      <m:r>
                        <a:rPr lang="en-US" i="1" dirty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41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7950" y="1812019"/>
                <a:ext cx="805798" cy="369332"/>
              </a:xfrm>
              <a:prstGeom prst="rect">
                <a:avLst/>
              </a:prstGeom>
              <a:blipFill>
                <a:blip r:embed="rId8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Rectangle 43"/>
              <p:cNvSpPr/>
              <p:nvPr/>
            </p:nvSpPr>
            <p:spPr>
              <a:xfrm>
                <a:off x="5518935" y="3887903"/>
                <a:ext cx="109542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{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𝑠𝑝𝑟𝑖𝑡𝑒</m:t>
                      </m:r>
                      <m:r>
                        <a:rPr lang="en-US" i="1" dirty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935" y="3887903"/>
                <a:ext cx="1095428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Rectangle 45"/>
              <p:cNvSpPr/>
              <p:nvPr/>
            </p:nvSpPr>
            <p:spPr>
              <a:xfrm>
                <a:off x="6795247" y="3885196"/>
                <a:ext cx="93352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{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𝑏𝑒𝑒𝑟</m:t>
                      </m:r>
                      <m:r>
                        <a:rPr lang="en-US" i="1" dirty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5247" y="3885196"/>
                <a:ext cx="933525" cy="369332"/>
              </a:xfrm>
              <a:prstGeom prst="rect">
                <a:avLst/>
              </a:prstGeom>
              <a:blipFill>
                <a:blip r:embed="rId10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Rectangle 47"/>
              <p:cNvSpPr/>
              <p:nvPr/>
            </p:nvSpPr>
            <p:spPr>
              <a:xfrm>
                <a:off x="8180121" y="3872420"/>
                <a:ext cx="4154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{</m:t>
                      </m:r>
                      <m:r>
                        <a:rPr lang="en-US" i="1" dirty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48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0121" y="3872420"/>
                <a:ext cx="415498" cy="369332"/>
              </a:xfrm>
              <a:prstGeom prst="rect">
                <a:avLst/>
              </a:prstGeom>
              <a:blipFill>
                <a:blip r:embed="rId11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Rectangle 49"/>
              <p:cNvSpPr/>
              <p:nvPr/>
            </p:nvSpPr>
            <p:spPr>
              <a:xfrm>
                <a:off x="4648200" y="3875557"/>
                <a:ext cx="4154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{</m:t>
                      </m:r>
                      <m:r>
                        <a:rPr lang="en-US" i="1" dirty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0" y="3875557"/>
                <a:ext cx="415498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527211" y="5940615"/>
                <a:ext cx="817685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מסקנה: האפיון "</a:t>
                </a:r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יש ל-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𝑇𝑆</m:t>
                    </m:r>
                  </m:oMath>
                </a14:m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ארבעה מצבים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" אינו תכונת זמן לינארי.</a:t>
                </a:r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11" y="5940615"/>
                <a:ext cx="8176855" cy="461665"/>
              </a:xfrm>
              <a:prstGeom prst="rect">
                <a:avLst/>
              </a:prstGeom>
              <a:blipFill>
                <a:blip r:embed="rId13"/>
                <a:stretch>
                  <a:fillRect t="-12000" r="-1118" b="-2933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95361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>
          <a:xfrm>
            <a:off x="4994475" y="2168099"/>
            <a:ext cx="3346050" cy="24384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879675" y="2168099"/>
            <a:ext cx="3505200" cy="24384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875" y="188613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דוגמה: "</a:t>
            </a:r>
            <a:r>
              <a:rPr lang="he-IL" err="1">
                <a:latin typeface="Gisha" panose="020B0502040204020203" pitchFamily="34" charset="-79"/>
                <a:cs typeface="Gisha" panose="020B0502040204020203" pitchFamily="34" charset="-79"/>
              </a:rPr>
              <a:t>הכל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צפוי והרשות נתונה" </a:t>
            </a:r>
            <a:b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(אבות ג' טו')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02 יוני 24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6</a:t>
            </a:fld>
            <a:endParaRPr lang="he-IL"/>
          </a:p>
        </p:txBody>
      </p:sp>
      <p:sp>
        <p:nvSpPr>
          <p:cNvPr id="8" name="Rectangle 7"/>
          <p:cNvSpPr/>
          <p:nvPr/>
        </p:nvSpPr>
        <p:spPr>
          <a:xfrm>
            <a:off x="1482525" y="3821810"/>
            <a:ext cx="787238" cy="354976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>
              <a:latin typeface="cmr1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82525" y="2472900"/>
            <a:ext cx="787238" cy="354976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>
              <a:latin typeface="cmr1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 rot="5400000">
            <a:off x="1379177" y="3324837"/>
            <a:ext cx="993933" cy="1491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Shape 21"/>
          <p:cNvCxnSpPr>
            <a:stCxn id="10" idx="1"/>
          </p:cNvCxnSpPr>
          <p:nvPr/>
        </p:nvCxnSpPr>
        <p:spPr>
          <a:xfrm rot="10800000" flipH="1">
            <a:off x="1482524" y="2650388"/>
            <a:ext cx="25947" cy="1"/>
          </a:xfrm>
          <a:prstGeom prst="bentConnector3">
            <a:avLst>
              <a:gd name="adj1" fmla="val -881027"/>
            </a:avLst>
          </a:prstGeom>
          <a:ln w="28575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2779203" y="2472899"/>
            <a:ext cx="787238" cy="354976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>
              <a:latin typeface="cmr1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929875" y="4969586"/>
            <a:ext cx="7646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e-IL" sz="24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אין תכונת זמן ליניארי שיכולה להבדיל בין שתי המכונות האלה</a:t>
            </a:r>
            <a:endParaRPr lang="en-US" sz="2400">
              <a:solidFill>
                <a:srgbClr val="0000FF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454325" y="3387299"/>
                <a:ext cx="421910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i="1" smtClean="0">
                          <a:latin typeface="Cambria Math"/>
                          <a:ea typeface="Cambria Math"/>
                        </a:rPr>
                        <m:t>≡</m:t>
                      </m:r>
                    </m:oMath>
                  </m:oMathPara>
                </a14:m>
                <a:endParaRPr lang="he-IL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4325" y="3387299"/>
                <a:ext cx="42191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Rectangle 39"/>
              <p:cNvSpPr/>
              <p:nvPr/>
            </p:nvSpPr>
            <p:spPr>
              <a:xfrm>
                <a:off x="2159065" y="4084767"/>
                <a:ext cx="4154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{</m:t>
                      </m:r>
                      <m:r>
                        <a:rPr lang="en-US" i="1" dirty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065" y="4084767"/>
                <a:ext cx="415498" cy="369332"/>
              </a:xfrm>
              <a:prstGeom prst="rect">
                <a:avLst/>
              </a:prstGeom>
              <a:blipFill>
                <a:blip r:embed="rId3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359980" y="5619773"/>
                <a:ext cx="8610600" cy="83099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מסקנה: האפיון "</a:t>
                </a:r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מכל מצב יש מסלול למצב המקיים את התכונה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" אינו תכונת זמן לינארי.</a:t>
                </a:r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80" y="5619773"/>
                <a:ext cx="8610600" cy="830997"/>
              </a:xfrm>
              <a:prstGeom prst="rect">
                <a:avLst/>
              </a:prstGeom>
              <a:blipFill>
                <a:blip r:embed="rId4"/>
                <a:stretch>
                  <a:fillRect t="-6618" r="-1062" b="-1544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Rectangle 51"/>
              <p:cNvSpPr/>
              <p:nvPr/>
            </p:nvSpPr>
            <p:spPr>
              <a:xfrm>
                <a:off x="1295339" y="2897833"/>
                <a:ext cx="4154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{</m:t>
                      </m:r>
                      <m:r>
                        <a:rPr lang="en-US" i="1" dirty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2" name="Rectangle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339" y="2897833"/>
                <a:ext cx="415498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Rectangle 55"/>
              <p:cNvSpPr/>
              <p:nvPr/>
            </p:nvSpPr>
            <p:spPr>
              <a:xfrm>
                <a:off x="3370619" y="2853899"/>
                <a:ext cx="54656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{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 dirty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6" name="Rectangl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0619" y="2853899"/>
                <a:ext cx="546560" cy="369332"/>
              </a:xfrm>
              <a:prstGeom prst="rect">
                <a:avLst/>
              </a:prstGeom>
              <a:blipFill>
                <a:blip r:embed="rId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Elbow Connector 13"/>
          <p:cNvCxnSpPr>
            <a:stCxn id="10" idx="3"/>
            <a:endCxn id="10" idx="0"/>
          </p:cNvCxnSpPr>
          <p:nvPr/>
        </p:nvCxnSpPr>
        <p:spPr>
          <a:xfrm flipH="1" flipV="1">
            <a:off x="1876144" y="2472900"/>
            <a:ext cx="393619" cy="177488"/>
          </a:xfrm>
          <a:prstGeom prst="bentConnector4">
            <a:avLst>
              <a:gd name="adj1" fmla="val -58076"/>
              <a:gd name="adj2" fmla="val 228797"/>
            </a:avLst>
          </a:prstGeom>
          <a:ln w="28575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7" name="Elbow Connector 56"/>
          <p:cNvCxnSpPr/>
          <p:nvPr/>
        </p:nvCxnSpPr>
        <p:spPr>
          <a:xfrm flipH="1" flipV="1">
            <a:off x="3181673" y="2472899"/>
            <a:ext cx="393619" cy="177488"/>
          </a:xfrm>
          <a:prstGeom prst="bentConnector4">
            <a:avLst>
              <a:gd name="adj1" fmla="val -58076"/>
              <a:gd name="adj2" fmla="val 228797"/>
            </a:avLst>
          </a:prstGeom>
          <a:ln w="28575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8" name="Elbow Connector 57"/>
          <p:cNvCxnSpPr>
            <a:stCxn id="8" idx="2"/>
            <a:endCxn id="8" idx="1"/>
          </p:cNvCxnSpPr>
          <p:nvPr/>
        </p:nvCxnSpPr>
        <p:spPr>
          <a:xfrm rot="5400000" flipH="1">
            <a:off x="1590591" y="3891233"/>
            <a:ext cx="177488" cy="393619"/>
          </a:xfrm>
          <a:prstGeom prst="bentConnector4">
            <a:avLst>
              <a:gd name="adj1" fmla="val -128797"/>
              <a:gd name="adj2" fmla="val 158076"/>
            </a:avLst>
          </a:prstGeom>
          <a:ln w="28575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Elbow Connector 25"/>
          <p:cNvCxnSpPr/>
          <p:nvPr/>
        </p:nvCxnSpPr>
        <p:spPr>
          <a:xfrm rot="5400000" flipH="1" flipV="1">
            <a:off x="2662985" y="2179537"/>
            <a:ext cx="1" cy="1296678"/>
          </a:xfrm>
          <a:prstGeom prst="bentConnector3">
            <a:avLst>
              <a:gd name="adj1" fmla="val -22860000000"/>
            </a:avLst>
          </a:prstGeom>
          <a:ln w="28575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5632111" y="3126434"/>
            <a:ext cx="787238" cy="354976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>
              <a:latin typeface="cmr10"/>
            </a:endParaRPr>
          </a:p>
        </p:txBody>
      </p:sp>
      <p:cxnSp>
        <p:nvCxnSpPr>
          <p:cNvPr id="62" name="Shape 21"/>
          <p:cNvCxnSpPr>
            <a:stCxn id="60" idx="1"/>
          </p:cNvCxnSpPr>
          <p:nvPr/>
        </p:nvCxnSpPr>
        <p:spPr>
          <a:xfrm rot="10800000" flipH="1">
            <a:off x="5632110" y="3303922"/>
            <a:ext cx="25947" cy="1"/>
          </a:xfrm>
          <a:prstGeom prst="bentConnector3">
            <a:avLst>
              <a:gd name="adj1" fmla="val -881027"/>
            </a:avLst>
          </a:prstGeom>
          <a:ln w="28575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6928789" y="3126433"/>
            <a:ext cx="787238" cy="354976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>
              <a:latin typeface="cmr1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" name="Rectangle 66"/>
              <p:cNvSpPr/>
              <p:nvPr/>
            </p:nvSpPr>
            <p:spPr>
              <a:xfrm>
                <a:off x="5464037" y="3474232"/>
                <a:ext cx="4154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{</m:t>
                      </m:r>
                      <m:r>
                        <a:rPr lang="en-US" i="1" dirty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7" name="Rectangle 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4037" y="3474232"/>
                <a:ext cx="415498" cy="369332"/>
              </a:xfrm>
              <a:prstGeom prst="rect">
                <a:avLst/>
              </a:prstGeom>
              <a:blipFill>
                <a:blip r:embed="rId7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Rectangle 69"/>
              <p:cNvSpPr/>
              <p:nvPr/>
            </p:nvSpPr>
            <p:spPr>
              <a:xfrm>
                <a:off x="7520205" y="3507433"/>
                <a:ext cx="54656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{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 dirty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0" name="Rectangle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0205" y="3507433"/>
                <a:ext cx="546560" cy="369332"/>
              </a:xfrm>
              <a:prstGeom prst="rect">
                <a:avLst/>
              </a:prstGeom>
              <a:blipFill>
                <a:blip r:embed="rId8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Elbow Connector 70"/>
          <p:cNvCxnSpPr>
            <a:stCxn id="60" idx="3"/>
            <a:endCxn id="60" idx="0"/>
          </p:cNvCxnSpPr>
          <p:nvPr/>
        </p:nvCxnSpPr>
        <p:spPr>
          <a:xfrm flipH="1" flipV="1">
            <a:off x="6025730" y="3126434"/>
            <a:ext cx="393619" cy="177488"/>
          </a:xfrm>
          <a:prstGeom prst="bentConnector4">
            <a:avLst>
              <a:gd name="adj1" fmla="val -58076"/>
              <a:gd name="adj2" fmla="val 228797"/>
            </a:avLst>
          </a:prstGeom>
          <a:ln w="28575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2" name="Elbow Connector 71"/>
          <p:cNvCxnSpPr/>
          <p:nvPr/>
        </p:nvCxnSpPr>
        <p:spPr>
          <a:xfrm flipH="1" flipV="1">
            <a:off x="7331259" y="3126433"/>
            <a:ext cx="393619" cy="177488"/>
          </a:xfrm>
          <a:prstGeom prst="bentConnector4">
            <a:avLst>
              <a:gd name="adj1" fmla="val -58076"/>
              <a:gd name="adj2" fmla="val 228797"/>
            </a:avLst>
          </a:prstGeom>
          <a:ln w="28575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4" name="Elbow Connector 73"/>
          <p:cNvCxnSpPr/>
          <p:nvPr/>
        </p:nvCxnSpPr>
        <p:spPr>
          <a:xfrm rot="5400000" flipH="1" flipV="1">
            <a:off x="6812571" y="2833071"/>
            <a:ext cx="1" cy="1296678"/>
          </a:xfrm>
          <a:prstGeom prst="bentConnector3">
            <a:avLst>
              <a:gd name="adj1" fmla="val -22860000000"/>
            </a:avLst>
          </a:prstGeom>
          <a:ln w="28575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957882" y="6641068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>
              <a:solidFill>
                <a:srgbClr val="00206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62848" y="1461701"/>
            <a:ext cx="5098063" cy="369332"/>
          </a:xfrm>
          <a:prstGeom prst="rect">
            <a:avLst/>
          </a:prstGeom>
          <a:solidFill>
            <a:srgbClr val="FFFFCC"/>
          </a:solidFill>
        </p:spPr>
        <p:txBody>
          <a:bodyPr wrap="none">
            <a:spAutoFit/>
          </a:bodyPr>
          <a:lstStyle/>
          <a:p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http://www.leibowitz.co.il/leibarticles.asp?id=62 </a:t>
            </a:r>
          </a:p>
        </p:txBody>
      </p:sp>
    </p:spTree>
    <p:extLst>
      <p:ext uri="{BB962C8B-B14F-4D97-AF65-F5344CB8AC3E}">
        <p14:creationId xmlns:p14="http://schemas.microsoft.com/office/powerpoint/2010/main" val="16035931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>
          <a:xfrm>
            <a:off x="4994475" y="1838631"/>
            <a:ext cx="3346050" cy="24384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879675" y="1838631"/>
            <a:ext cx="3505200" cy="24384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875" y="-152400"/>
            <a:ext cx="7772400" cy="1143000"/>
          </a:xfrm>
        </p:spPr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דוגמה: תכונה הנוגעת לקיום ריצות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02 יוני 24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7</a:t>
            </a:fld>
            <a:endParaRPr lang="he-IL"/>
          </a:p>
        </p:txBody>
      </p:sp>
      <p:sp>
        <p:nvSpPr>
          <p:cNvPr id="10" name="Rectangle 9"/>
          <p:cNvSpPr/>
          <p:nvPr/>
        </p:nvSpPr>
        <p:spPr>
          <a:xfrm>
            <a:off x="1482525" y="2143432"/>
            <a:ext cx="787238" cy="354976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>
              <a:latin typeface="cmr10"/>
            </a:endParaRPr>
          </a:p>
        </p:txBody>
      </p:sp>
      <p:cxnSp>
        <p:nvCxnSpPr>
          <p:cNvPr id="22" name="Shape 21"/>
          <p:cNvCxnSpPr>
            <a:stCxn id="10" idx="1"/>
          </p:cNvCxnSpPr>
          <p:nvPr/>
        </p:nvCxnSpPr>
        <p:spPr>
          <a:xfrm rot="10800000" flipH="1">
            <a:off x="1482524" y="2320920"/>
            <a:ext cx="25947" cy="1"/>
          </a:xfrm>
          <a:prstGeom prst="bentConnector3">
            <a:avLst>
              <a:gd name="adj1" fmla="val -881027"/>
            </a:avLst>
          </a:prstGeom>
          <a:ln w="28575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2779203" y="2143431"/>
            <a:ext cx="787238" cy="354976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>
              <a:latin typeface="cmr1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/>
              <p:cNvSpPr txBox="1"/>
              <p:nvPr/>
            </p:nvSpPr>
            <p:spPr>
              <a:xfrm>
                <a:off x="2759037" y="4401388"/>
                <a:ext cx="41140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𝑇𝑟𝑎𝑐𝑒𝑠</m:t>
                      </m:r>
                      <m:d>
                        <m:dPr>
                          <m:ctrlPr>
                            <a:rPr lang="en-US" sz="2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𝑇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⊆</m:t>
                      </m:r>
                      <m:r>
                        <a:rPr lang="en-US" sz="2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𝑇𝑟𝑎𝑐𝑒𝑠</m:t>
                      </m:r>
                      <m:r>
                        <a:rPr lang="en-US" sz="2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(</m:t>
                      </m:r>
                      <m:r>
                        <a:rPr lang="en-US" sz="2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𝑇</m:t>
                      </m:r>
                      <m:sSub>
                        <m:sSubPr>
                          <m:ctrlPr>
                            <a:rPr lang="en-US" sz="2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𝑆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1</m:t>
                          </m:r>
                        </m:sub>
                      </m:sSub>
                      <m:r>
                        <a:rPr lang="en-US" sz="2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)</m:t>
                      </m:r>
                    </m:oMath>
                  </m:oMathPara>
                </a14:m>
                <a:endParaRPr lang="en-US" sz="2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9037" y="4401388"/>
                <a:ext cx="4114075" cy="461665"/>
              </a:xfrm>
              <a:prstGeom prst="rect">
                <a:avLst/>
              </a:prstGeom>
              <a:blipFill>
                <a:blip r:embed="rId2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Rectangle 51"/>
              <p:cNvSpPr/>
              <p:nvPr/>
            </p:nvSpPr>
            <p:spPr>
              <a:xfrm>
                <a:off x="1295339" y="2568365"/>
                <a:ext cx="4154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{</m:t>
                      </m:r>
                      <m:r>
                        <a:rPr lang="en-US" i="1" dirty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2" name="Rectangle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339" y="2568365"/>
                <a:ext cx="415498" cy="369332"/>
              </a:xfrm>
              <a:prstGeom prst="rect">
                <a:avLst/>
              </a:prstGeom>
              <a:blipFill>
                <a:blip r:embed="rId3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Rectangle 55"/>
              <p:cNvSpPr/>
              <p:nvPr/>
            </p:nvSpPr>
            <p:spPr>
              <a:xfrm>
                <a:off x="3370619" y="2524431"/>
                <a:ext cx="54656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{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 dirty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6" name="Rectangl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0619" y="2524431"/>
                <a:ext cx="546560" cy="369332"/>
              </a:xfrm>
              <a:prstGeom prst="rect">
                <a:avLst/>
              </a:prstGeom>
              <a:blipFill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Elbow Connector 56"/>
          <p:cNvCxnSpPr/>
          <p:nvPr/>
        </p:nvCxnSpPr>
        <p:spPr>
          <a:xfrm flipH="1" flipV="1">
            <a:off x="3181673" y="2143431"/>
            <a:ext cx="393619" cy="177488"/>
          </a:xfrm>
          <a:prstGeom prst="bentConnector4">
            <a:avLst>
              <a:gd name="adj1" fmla="val -58076"/>
              <a:gd name="adj2" fmla="val 228797"/>
            </a:avLst>
          </a:prstGeom>
          <a:ln w="28575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Elbow Connector 25"/>
          <p:cNvCxnSpPr/>
          <p:nvPr/>
        </p:nvCxnSpPr>
        <p:spPr>
          <a:xfrm flipV="1">
            <a:off x="2269763" y="2316872"/>
            <a:ext cx="509440" cy="1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5632111" y="2796966"/>
            <a:ext cx="787238" cy="354976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>
              <a:latin typeface="cmr10"/>
            </a:endParaRPr>
          </a:p>
        </p:txBody>
      </p:sp>
      <p:cxnSp>
        <p:nvCxnSpPr>
          <p:cNvPr id="62" name="Shape 21"/>
          <p:cNvCxnSpPr>
            <a:stCxn id="60" idx="1"/>
          </p:cNvCxnSpPr>
          <p:nvPr/>
        </p:nvCxnSpPr>
        <p:spPr>
          <a:xfrm rot="10800000" flipH="1">
            <a:off x="5632110" y="2974454"/>
            <a:ext cx="25947" cy="1"/>
          </a:xfrm>
          <a:prstGeom prst="bentConnector3">
            <a:avLst>
              <a:gd name="adj1" fmla="val -881027"/>
            </a:avLst>
          </a:prstGeom>
          <a:ln w="28575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6928789" y="2796965"/>
            <a:ext cx="787238" cy="354976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>
              <a:latin typeface="cmr1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" name="Rectangle 66"/>
              <p:cNvSpPr/>
              <p:nvPr/>
            </p:nvSpPr>
            <p:spPr>
              <a:xfrm>
                <a:off x="5464037" y="3144764"/>
                <a:ext cx="4154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{</m:t>
                      </m:r>
                      <m:r>
                        <a:rPr lang="en-US" i="1" dirty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7" name="Rectangle 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4037" y="3144764"/>
                <a:ext cx="415498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Rectangle 69"/>
              <p:cNvSpPr/>
              <p:nvPr/>
            </p:nvSpPr>
            <p:spPr>
              <a:xfrm>
                <a:off x="7520205" y="3177965"/>
                <a:ext cx="54656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{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 dirty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0" name="Rectangle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0205" y="3177965"/>
                <a:ext cx="546560" cy="369332"/>
              </a:xfrm>
              <a:prstGeom prst="rect">
                <a:avLst/>
              </a:prstGeom>
              <a:blipFill>
                <a:blip r:embed="rId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Elbow Connector 71"/>
          <p:cNvCxnSpPr/>
          <p:nvPr/>
        </p:nvCxnSpPr>
        <p:spPr>
          <a:xfrm flipH="1" flipV="1">
            <a:off x="7331259" y="2796965"/>
            <a:ext cx="393619" cy="177488"/>
          </a:xfrm>
          <a:prstGeom prst="bentConnector4">
            <a:avLst>
              <a:gd name="adj1" fmla="val -58076"/>
              <a:gd name="adj2" fmla="val 228797"/>
            </a:avLst>
          </a:prstGeom>
          <a:ln w="28575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4" name="Elbow Connector 73"/>
          <p:cNvCxnSpPr>
            <a:stCxn id="60" idx="3"/>
            <a:endCxn id="64" idx="1"/>
          </p:cNvCxnSpPr>
          <p:nvPr/>
        </p:nvCxnSpPr>
        <p:spPr>
          <a:xfrm flipV="1">
            <a:off x="6419349" y="2974453"/>
            <a:ext cx="509440" cy="1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957882" y="6641068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>
              <a:solidFill>
                <a:srgbClr val="00206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769003" y="3271218"/>
            <a:ext cx="787238" cy="354976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>
              <a:latin typeface="cmr1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Rectangle 36"/>
              <p:cNvSpPr/>
              <p:nvPr/>
            </p:nvSpPr>
            <p:spPr>
              <a:xfrm>
                <a:off x="3360419" y="3652218"/>
                <a:ext cx="54752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{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i="1" dirty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0419" y="3652218"/>
                <a:ext cx="547522" cy="369332"/>
              </a:xfrm>
              <a:prstGeom prst="rect">
                <a:avLst/>
              </a:prstGeom>
              <a:blipFill>
                <a:blip r:embed="rId7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Elbow Connector 37"/>
          <p:cNvCxnSpPr/>
          <p:nvPr/>
        </p:nvCxnSpPr>
        <p:spPr>
          <a:xfrm flipH="1" flipV="1">
            <a:off x="3171473" y="3271218"/>
            <a:ext cx="393619" cy="177488"/>
          </a:xfrm>
          <a:prstGeom prst="bentConnector4">
            <a:avLst>
              <a:gd name="adj1" fmla="val -58076"/>
              <a:gd name="adj2" fmla="val 228797"/>
            </a:avLst>
          </a:prstGeom>
          <a:ln w="28575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9" name="Elbow Connector 38"/>
          <p:cNvCxnSpPr>
            <a:stCxn id="10" idx="2"/>
            <a:endCxn id="36" idx="1"/>
          </p:cNvCxnSpPr>
          <p:nvPr/>
        </p:nvCxnSpPr>
        <p:spPr>
          <a:xfrm rot="16200000" flipH="1">
            <a:off x="1847424" y="2527127"/>
            <a:ext cx="950298" cy="892859"/>
          </a:xfrm>
          <a:prstGeom prst="bentConnector2">
            <a:avLst/>
          </a:prstGeom>
          <a:ln w="28575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1579844" y="1358532"/>
                <a:ext cx="5925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9844" y="1358532"/>
                <a:ext cx="59259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/>
              <p:cNvSpPr txBox="1"/>
              <p:nvPr/>
            </p:nvSpPr>
            <p:spPr>
              <a:xfrm>
                <a:off x="4871439" y="1295400"/>
                <a:ext cx="5979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1439" y="1295400"/>
                <a:ext cx="59792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152400" y="5647741"/>
                <a:ext cx="883294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המאפיין "</a:t>
                </a:r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יש ריצה המגיעה למצב המתויג ב-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" אינו תכונת זמן לינארי.</a:t>
                </a:r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5647741"/>
                <a:ext cx="8832947" cy="400110"/>
              </a:xfrm>
              <a:prstGeom prst="rect">
                <a:avLst/>
              </a:prstGeom>
              <a:blipFill>
                <a:blip r:embed="rId10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1698999" y="4925960"/>
                <a:ext cx="618470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כל תכונת זמן לינארי ש-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he-IL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he-IL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תקיים גם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he-IL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he-IL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תקיים</a:t>
                </a: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8999" y="4925960"/>
                <a:ext cx="6184706" cy="461665"/>
              </a:xfrm>
              <a:prstGeom prst="rect">
                <a:avLst/>
              </a:prstGeom>
              <a:blipFill>
                <a:blip r:embed="rId11"/>
                <a:stretch>
                  <a:fillRect l="-2465" t="-11842" r="-986" b="-2763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31923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סוגים של תכונות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02 יוני 24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8</a:t>
            </a:fld>
            <a:endParaRPr lang="he-IL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413121599"/>
              </p:ext>
            </p:extLst>
          </p:nvPr>
        </p:nvGraphicFramePr>
        <p:xfrm>
          <a:off x="304800" y="1295400"/>
          <a:ext cx="8458200" cy="525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544574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229914" y="1702776"/>
            <a:ext cx="4659607" cy="43082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02 יוני 24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9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85468" y="1104900"/>
                <a:ext cx="8806132" cy="5257800"/>
              </a:xfrm>
            </p:spPr>
            <p:txBody>
              <a:bodyPr>
                <a:noAutofit/>
              </a:bodyPr>
              <a:lstStyle/>
              <a:p>
                <a:pPr marL="0" indent="0">
                  <a:spcBef>
                    <a:spcPts val="2400"/>
                  </a:spcBef>
                  <a:spcAft>
                    <a:spcPts val="1200"/>
                  </a:spcAft>
                  <a:buNone/>
                </a:pPr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הגדרה: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תכונת זמן ליניארי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𝑖𝑛𝑣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היא </a:t>
                </a:r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שְׁמוּרָה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אם יש נוסחה </a:t>
                </a:r>
                <a14:m>
                  <m:oMath xmlns:m="http://schemas.openxmlformats.org/officeDocument/2006/math">
                    <m:r>
                      <a:rPr lang="he-IL" sz="24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𝜙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כך ש-</a:t>
                </a:r>
                <a:endParaRPr lang="he-IL" sz="2000" b="0" i="1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l" rtl="0">
                  <a:spcBef>
                    <a:spcPts val="24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𝑖𝑛𝑣</m:t>
                          </m:r>
                        </m:sub>
                      </m:sSub>
                      <m:r>
                        <a:rPr lang="en-US" sz="2000" i="1" dirty="0" smtClean="0">
                          <a:latin typeface="Cambria Math"/>
                        </a:rPr>
                        <m:t>=</m:t>
                      </m:r>
                      <m:r>
                        <a:rPr lang="en-US" sz="2400" i="1" dirty="0" smtClean="0">
                          <a:latin typeface="Cambria Math"/>
                        </a:rPr>
                        <m:t>{</m:t>
                      </m:r>
                      <m:r>
                        <a:rPr lang="en-US" sz="2000" i="1" dirty="0" smtClean="0">
                          <a:latin typeface="Cambria Math"/>
                        </a:rPr>
                        <m:t> </m:t>
                      </m:r>
                      <m:r>
                        <a:rPr lang="he-IL" sz="2000" b="0" i="1" dirty="0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he-IL" sz="2000" b="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he-IL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𝐴𝑃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  <m:r>
                        <a:rPr lang="en-US" sz="2000" i="1" dirty="0" smtClean="0">
                          <a:latin typeface="Cambria Math"/>
                        </a:rPr>
                        <m:t> :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000" b="0" i="1" dirty="0" smtClean="0">
                          <a:latin typeface="Cambria Math"/>
                        </a:rPr>
                        <m:t>∀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b="0" i="1" dirty="0" smtClean="0">
                          <a:latin typeface="Cambria Math"/>
                        </a:rPr>
                        <m:t>≥</m:t>
                      </m:r>
                      <m:r>
                        <a:rPr lang="en-US" sz="2000" i="1" dirty="0" smtClean="0">
                          <a:latin typeface="Cambria Math"/>
                        </a:rPr>
                        <m:t> </m:t>
                      </m:r>
                      <m:r>
                        <a:rPr lang="en-US" sz="2000" i="1" dirty="0" smtClean="0">
                          <a:latin typeface="Cambria Math"/>
                        </a:rPr>
                        <m:t>0</m:t>
                      </m:r>
                      <m:r>
                        <a:rPr lang="he-IL" sz="2000" b="0" i="1" dirty="0" smtClean="0">
                          <a:latin typeface="Cambria Math"/>
                        </a:rPr>
                        <m:t> </m:t>
                      </m:r>
                      <m:r>
                        <a:rPr lang="en-US" sz="2000" i="1" dirty="0" smtClean="0">
                          <a:latin typeface="Cambria Math"/>
                        </a:rPr>
                        <m:t>. </m:t>
                      </m:r>
                      <m:r>
                        <a:rPr lang="he-IL" sz="2000" b="0" i="1" dirty="0" smtClean="0">
                          <a:latin typeface="Cambria Math"/>
                        </a:rPr>
                        <m:t> 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]⊨</m:t>
                      </m:r>
                      <m:r>
                        <a:rPr lang="en-US" sz="2000" b="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𝜙</m:t>
                      </m:r>
                      <m:r>
                        <a:rPr lang="en-US" sz="2000" i="1" dirty="0" smtClean="0">
                          <a:latin typeface="Cambria Math"/>
                        </a:rPr>
                        <m:t> </m:t>
                      </m:r>
                      <m:r>
                        <a:rPr lang="en-US" sz="2400" i="1" dirty="0" smtClean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8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solidFill>
                          <a:srgbClr val="FF0000"/>
                        </a:solidFill>
                        <a:latin typeface="Cambria Math"/>
                      </a:rPr>
                      <m:t>𝜙</m:t>
                    </m:r>
                  </m:oMath>
                </a14:m>
                <a:r>
                  <a:rPr lang="he-IL" sz="2100">
                    <a:latin typeface="Gisha" panose="020B0502040204020203" pitchFamily="34" charset="-79"/>
                    <a:cs typeface="Gisha" panose="020B0502040204020203" pitchFamily="34" charset="-79"/>
                  </a:rPr>
                  <a:t> נקרא תנאי השמורה (</a:t>
                </a:r>
                <a:r>
                  <a:rPr lang="en-US" sz="21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invariant condition</a:t>
                </a:r>
                <a:r>
                  <a:rPr lang="he-IL" sz="2100">
                    <a:latin typeface="Gisha" panose="020B0502040204020203" pitchFamily="34" charset="-79"/>
                    <a:cs typeface="Gisha" panose="020B0502040204020203" pitchFamily="34" charset="-79"/>
                  </a:rPr>
                  <a:t>)</a:t>
                </a:r>
              </a:p>
              <a:p>
                <a:pPr>
                  <a:spcBef>
                    <a:spcPts val="1800"/>
                  </a:spcBef>
                </a:pPr>
                <a:r>
                  <a:rPr lang="he-IL" sz="21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קל להוכיח</a:t>
                </a:r>
                <a:r>
                  <a:rPr lang="he-IL" sz="210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14:m>
                  <m:oMath xmlns:m="http://schemas.openxmlformats.org/officeDocument/2006/math">
                    <m:r>
                      <a:rPr lang="en-US" sz="2100" i="1" dirty="0" smtClean="0">
                        <a:latin typeface="Cambria Math"/>
                      </a:rPr>
                      <m:t>𝑇𝑆</m:t>
                    </m:r>
                    <m:r>
                      <a:rPr lang="en-US" sz="2100" b="0" i="1" dirty="0" smtClean="0">
                        <a:latin typeface="Cambria Math"/>
                      </a:rPr>
                      <m:t>⊨</m:t>
                    </m:r>
                    <m:sSub>
                      <m:sSubPr>
                        <m:ctrlPr>
                          <a:rPr lang="en-US" sz="21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100" b="0" i="1" dirty="0" smtClean="0">
                            <a:latin typeface="Cambria Math" panose="02040503050406030204" pitchFamily="18" charset="0"/>
                          </a:rPr>
                          <m:t>𝑖𝑛𝑣</m:t>
                        </m:r>
                      </m:sub>
                    </m:sSub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he-IL" sz="21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he-IL" sz="2100">
                    <a:latin typeface="Gisha" panose="020B0502040204020203" pitchFamily="34" charset="-79"/>
                    <a:cs typeface="Gisha" panose="020B0502040204020203" pitchFamily="34" charset="-79"/>
                  </a:rPr>
                  <a:t> אם ורק אם</a:t>
                </a:r>
              </a:p>
              <a:p>
                <a:pPr lvl="1">
                  <a:spcBef>
                    <a:spcPts val="1800"/>
                  </a:spcBef>
                </a:pPr>
                <a14:m>
                  <m:oMath xmlns:m="http://schemas.openxmlformats.org/officeDocument/2006/math">
                    <m:r>
                      <a:rPr lang="en-US" sz="2100" i="1" dirty="0" smtClean="0">
                        <a:latin typeface="Cambria Math"/>
                      </a:rPr>
                      <m:t>𝑡𝑟𝑎𝑐𝑒</m:t>
                    </m:r>
                    <m:d>
                      <m:dPr>
                        <m:ctrlPr>
                          <a:rPr lang="en-US" sz="21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b="0" i="1" dirty="0" smtClean="0">
                            <a:latin typeface="Cambria Math"/>
                          </a:rPr>
                          <m:t>𝜋</m:t>
                        </m:r>
                      </m:e>
                    </m:d>
                    <m:r>
                      <a:rPr lang="en-US" sz="2100" b="0" i="1" dirty="0" smtClean="0">
                        <a:latin typeface="Cambria Math"/>
                      </a:rPr>
                      <m:t>∈</m:t>
                    </m:r>
                    <m:sSub>
                      <m:sSubPr>
                        <m:ctrlPr>
                          <a:rPr lang="he-IL" sz="21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100" b="0" i="1" dirty="0" smtClean="0">
                            <a:latin typeface="Cambria Math" panose="02040503050406030204" pitchFamily="18" charset="0"/>
                          </a:rPr>
                          <m:t>𝑖𝑛𝑣</m:t>
                        </m:r>
                      </m:sub>
                    </m:sSub>
                    <m:r>
                      <a:rPr lang="he-IL" sz="21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he-IL" sz="2100">
                    <a:latin typeface="Gisha" panose="020B0502040204020203" pitchFamily="34" charset="-79"/>
                    <a:cs typeface="Gisha" panose="020B0502040204020203" pitchFamily="34" charset="-79"/>
                  </a:rPr>
                  <a:t> לכל מסלול </a:t>
                </a:r>
                <a14:m>
                  <m:oMath xmlns:m="http://schemas.openxmlformats.org/officeDocument/2006/math">
                    <m:r>
                      <a:rPr lang="he-IL" sz="2100" b="0" i="1" smtClean="0">
                        <a:latin typeface="Cambria Math"/>
                      </a:rPr>
                      <m:t>𝜋</m:t>
                    </m:r>
                  </m:oMath>
                </a14:m>
                <a:r>
                  <a:rPr lang="he-IL" sz="2100">
                    <a:latin typeface="Gisha" panose="020B0502040204020203" pitchFamily="34" charset="-79"/>
                    <a:cs typeface="Gisha" panose="020B0502040204020203" pitchFamily="34" charset="-79"/>
                  </a:rPr>
                  <a:t> של </a:t>
                </a:r>
                <a14:m>
                  <m:oMath xmlns:m="http://schemas.openxmlformats.org/officeDocument/2006/math">
                    <m:r>
                      <a:rPr lang="en-US" sz="2100" i="1" dirty="0" smtClean="0">
                        <a:latin typeface="Cambria Math"/>
                      </a:rPr>
                      <m:t>𝑇𝑆</m:t>
                    </m:r>
                  </m:oMath>
                </a14:m>
                <a:endParaRPr lang="en-US" sz="21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Bef>
                    <a:spcPts val="1800"/>
                  </a:spcBef>
                </a:pPr>
                <a14:m>
                  <m:oMath xmlns:m="http://schemas.openxmlformats.org/officeDocument/2006/math">
                    <m:r>
                      <a:rPr lang="en-US" sz="2100" i="1" dirty="0" smtClean="0">
                        <a:latin typeface="Cambria Math"/>
                      </a:rPr>
                      <m:t>𝐿</m:t>
                    </m:r>
                    <m:d>
                      <m:dPr>
                        <m:ctrlPr>
                          <a:rPr lang="en-US" sz="21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 dirty="0" smtClean="0">
                            <a:latin typeface="Cambria Math"/>
                          </a:rPr>
                          <m:t>𝑠</m:t>
                        </m:r>
                      </m:e>
                    </m:d>
                    <m:r>
                      <a:rPr lang="en-US" sz="2100" b="0" i="1" dirty="0" smtClean="0">
                        <a:latin typeface="Cambria Math"/>
                      </a:rPr>
                      <m:t>⊨</m:t>
                    </m:r>
                    <m:r>
                      <a:rPr lang="en-US" sz="2100" b="0" i="1" dirty="0" smtClean="0">
                        <a:latin typeface="Cambria Math"/>
                      </a:rPr>
                      <m:t>𝜙</m:t>
                    </m:r>
                  </m:oMath>
                </a14:m>
                <a:r>
                  <a:rPr lang="he-IL" sz="2100">
                    <a:latin typeface="Gisha" panose="020B0502040204020203" pitchFamily="34" charset="-79"/>
                    <a:cs typeface="Gisha" panose="020B0502040204020203" pitchFamily="34" charset="-79"/>
                  </a:rPr>
                  <a:t> לכל מצב </a:t>
                </a:r>
                <a14:m>
                  <m:oMath xmlns:m="http://schemas.openxmlformats.org/officeDocument/2006/math">
                    <m:r>
                      <a:rPr lang="en-US" sz="2100" i="1" dirty="0" smtClean="0">
                        <a:latin typeface="Cambria Math"/>
                      </a:rPr>
                      <m:t>𝑠</m:t>
                    </m:r>
                  </m:oMath>
                </a14:m>
                <a:r>
                  <a:rPr lang="he-IL" sz="2100">
                    <a:latin typeface="Gisha" panose="020B0502040204020203" pitchFamily="34" charset="-79"/>
                    <a:cs typeface="Gisha" panose="020B0502040204020203" pitchFamily="34" charset="-79"/>
                  </a:rPr>
                  <a:t> השייך למסלול של </a:t>
                </a:r>
                <a14:m>
                  <m:oMath xmlns:m="http://schemas.openxmlformats.org/officeDocument/2006/math">
                    <m:r>
                      <a:rPr lang="en-US" sz="2100" i="1" dirty="0" smtClean="0">
                        <a:latin typeface="Cambria Math"/>
                      </a:rPr>
                      <m:t>𝑇𝑆</m:t>
                    </m:r>
                  </m:oMath>
                </a14:m>
                <a:endParaRPr lang="en-US" sz="21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Bef>
                    <a:spcPts val="1800"/>
                  </a:spcBef>
                </a:pPr>
                <a14:m>
                  <m:oMath xmlns:m="http://schemas.openxmlformats.org/officeDocument/2006/math">
                    <m:r>
                      <a:rPr lang="en-US" sz="2100" i="1" dirty="0">
                        <a:latin typeface="Cambria Math"/>
                      </a:rPr>
                      <m:t>𝐿</m:t>
                    </m:r>
                    <m:d>
                      <m:d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 dirty="0">
                            <a:latin typeface="Cambria Math"/>
                          </a:rPr>
                          <m:t>𝑠</m:t>
                        </m:r>
                      </m:e>
                    </m:d>
                    <m:r>
                      <a:rPr lang="en-US" sz="2100" i="1" dirty="0">
                        <a:latin typeface="Cambria Math"/>
                      </a:rPr>
                      <m:t>⊨</m:t>
                    </m:r>
                    <m:r>
                      <a:rPr lang="en-US" sz="2100" i="1" dirty="0">
                        <a:latin typeface="Cambria Math"/>
                      </a:rPr>
                      <m:t>𝜙</m:t>
                    </m:r>
                  </m:oMath>
                </a14:m>
                <a:r>
                  <a:rPr lang="he-IL" sz="2100">
                    <a:latin typeface="Gisha" panose="020B0502040204020203" pitchFamily="34" charset="-79"/>
                    <a:cs typeface="Gisha" panose="020B0502040204020203" pitchFamily="34" charset="-79"/>
                  </a:rPr>
                  <a:t> לכל מצב  </a:t>
                </a:r>
                <a14:m>
                  <m:oMath xmlns:m="http://schemas.openxmlformats.org/officeDocument/2006/math">
                    <m:r>
                      <a:rPr lang="en-US" sz="2100" i="1" dirty="0" smtClean="0">
                        <a:latin typeface="Cambria Math"/>
                      </a:rPr>
                      <m:t>𝑠</m:t>
                    </m:r>
                    <m:r>
                      <a:rPr lang="en-US" sz="2100" b="0" i="1" dirty="0" smtClean="0">
                        <a:latin typeface="Cambria Math"/>
                      </a:rPr>
                      <m:t>∈</m:t>
                    </m:r>
                    <m:r>
                      <a:rPr lang="en-US" sz="2100" i="1" dirty="0" smtClean="0">
                        <a:latin typeface="Cambria Math"/>
                      </a:rPr>
                      <m:t> </m:t>
                    </m:r>
                    <m:r>
                      <a:rPr lang="en-US" sz="2100" i="1" dirty="0" smtClean="0">
                        <a:latin typeface="Cambria Math"/>
                      </a:rPr>
                      <m:t>𝑅𝑒𝑎𝑐</m:t>
                    </m:r>
                    <m:r>
                      <a:rPr lang="en-US" sz="2100" i="1" dirty="0" smtClean="0">
                        <a:latin typeface="Cambria Math"/>
                      </a:rPr>
                      <m:t>h</m:t>
                    </m:r>
                    <m:r>
                      <a:rPr lang="en-US" sz="2100" i="1" dirty="0" smtClean="0">
                        <a:latin typeface="Cambria Math"/>
                      </a:rPr>
                      <m:t>(</m:t>
                    </m:r>
                    <m:r>
                      <a:rPr lang="en-US" sz="2100" i="1" dirty="0" smtClean="0">
                        <a:latin typeface="Cambria Math"/>
                      </a:rPr>
                      <m:t>𝑇𝑆</m:t>
                    </m:r>
                    <m:r>
                      <a:rPr lang="en-US" sz="2100" i="1" dirty="0" smtClean="0">
                        <a:latin typeface="Cambria Math"/>
                      </a:rPr>
                      <m:t>)</m:t>
                    </m:r>
                  </m:oMath>
                </a14:m>
                <a:endParaRPr lang="en-US" sz="21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800"/>
                  </a:spcBef>
                </a:pPr>
                <a:r>
                  <a:rPr lang="he-IL" sz="21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אינדוקציה</a:t>
                </a:r>
                <a:r>
                  <a:rPr lang="he-IL" sz="210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he-IL" sz="21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he-IL" sz="2100" b="0" i="0" dirty="0" smtClean="0">
                        <a:latin typeface="Cambria Math"/>
                      </a:rPr>
                      <m:t> </m:t>
                    </m:r>
                    <m:r>
                      <a:rPr lang="en-US" sz="2100" b="0" i="1" dirty="0" smtClean="0">
                        <a:latin typeface="Cambria Math"/>
                      </a:rPr>
                      <m:t>𝜙</m:t>
                    </m:r>
                  </m:oMath>
                </a14:m>
                <a:r>
                  <a:rPr lang="he-IL" sz="2100">
                    <a:latin typeface="Gisha" panose="020B0502040204020203" pitchFamily="34" charset="-79"/>
                    <a:cs typeface="Gisha" panose="020B0502040204020203" pitchFamily="34" charset="-79"/>
                  </a:rPr>
                  <a:t> מתקיים בכל מצב התחלתי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he-IL" sz="2100">
                    <a:latin typeface="Gisha" panose="020B0502040204020203" pitchFamily="34" charset="-79"/>
                    <a:cs typeface="Gisha" panose="020B0502040204020203" pitchFamily="34" charset="-79"/>
                  </a:rPr>
                  <a:t> אם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he-IL" sz="2100">
                    <a:latin typeface="Gisha" panose="020B0502040204020203" pitchFamily="34" charset="-79"/>
                    <a:cs typeface="Gisha" panose="020B0502040204020203" pitchFamily="34" charset="-79"/>
                  </a:rPr>
                  <a:t> נכון במצב הוא נכון בעוקבים שלו</a:t>
                </a:r>
                <a:endParaRPr lang="en-US" sz="21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2">
                  <a:spcBef>
                    <a:spcPts val="1800"/>
                  </a:spcBef>
                </a:pP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2">
                  <a:spcBef>
                    <a:spcPts val="1800"/>
                  </a:spcBef>
                </a:pP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2">
                  <a:spcBef>
                    <a:spcPts val="1800"/>
                  </a:spcBef>
                </a:pP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2">
                  <a:spcBef>
                    <a:spcPts val="1800"/>
                  </a:spcBef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85468" y="1104900"/>
                <a:ext cx="8806132" cy="5257800"/>
              </a:xfrm>
              <a:blipFill>
                <a:blip r:embed="rId2"/>
                <a:stretch>
                  <a:fillRect t="-1159" r="-1038" b="-4078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62000" y="-1524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תכונות שְׁמוּרָה (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invariants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)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62000" y="4800600"/>
            <a:ext cx="304800" cy="304800"/>
          </a:xfrm>
          <a:prstGeom prst="rect">
            <a:avLst/>
          </a:prstGeom>
          <a:solidFill>
            <a:srgbClr val="33CC33"/>
          </a:solidFill>
          <a:ln>
            <a:solidFill>
              <a:srgbClr val="33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726223" y="4572000"/>
            <a:ext cx="304800" cy="304800"/>
          </a:xfrm>
          <a:prstGeom prst="rect">
            <a:avLst/>
          </a:prstGeom>
          <a:solidFill>
            <a:srgbClr val="33CC33"/>
          </a:solidFill>
          <a:ln>
            <a:solidFill>
              <a:srgbClr val="33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00908" y="5257800"/>
            <a:ext cx="304800" cy="304800"/>
          </a:xfrm>
          <a:prstGeom prst="rect">
            <a:avLst/>
          </a:prstGeom>
          <a:solidFill>
            <a:srgbClr val="33CC33"/>
          </a:solidFill>
          <a:ln>
            <a:solidFill>
              <a:srgbClr val="33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268416" y="5240215"/>
            <a:ext cx="304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4400" y="5843954"/>
            <a:ext cx="304800" cy="304800"/>
          </a:xfrm>
          <a:prstGeom prst="rect">
            <a:avLst/>
          </a:prstGeom>
          <a:solidFill>
            <a:srgbClr val="33CC33"/>
          </a:solidFill>
          <a:ln>
            <a:solidFill>
              <a:srgbClr val="33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573823" y="3733800"/>
            <a:ext cx="304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2000" y="3962400"/>
            <a:ext cx="304800" cy="304800"/>
          </a:xfrm>
          <a:prstGeom prst="rect">
            <a:avLst/>
          </a:prstGeom>
          <a:solidFill>
            <a:srgbClr val="33CC33"/>
          </a:solidFill>
          <a:ln>
            <a:solidFill>
              <a:srgbClr val="33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H="1" flipV="1">
            <a:off x="914400" y="5105400"/>
            <a:ext cx="152400" cy="738554"/>
          </a:xfrm>
          <a:prstGeom prst="straightConnector1">
            <a:avLst/>
          </a:prstGeom>
          <a:ln w="127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914400" y="4267200"/>
            <a:ext cx="0" cy="533400"/>
          </a:xfrm>
          <a:prstGeom prst="straightConnector1">
            <a:avLst/>
          </a:prstGeom>
          <a:ln w="127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 flipV="1">
            <a:off x="1066800" y="4253674"/>
            <a:ext cx="659423" cy="470727"/>
          </a:xfrm>
          <a:prstGeom prst="straightConnector1">
            <a:avLst/>
          </a:prstGeom>
          <a:ln w="127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1553308" y="4876800"/>
            <a:ext cx="172915" cy="381001"/>
          </a:xfrm>
          <a:prstGeom prst="straightConnector1">
            <a:avLst/>
          </a:prstGeom>
          <a:ln w="127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1066800" y="4953000"/>
            <a:ext cx="313593" cy="281353"/>
          </a:xfrm>
          <a:prstGeom prst="straightConnector1">
            <a:avLst/>
          </a:prstGeom>
          <a:ln w="127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>
            <a:off x="1705708" y="5392615"/>
            <a:ext cx="562708" cy="17585"/>
          </a:xfrm>
          <a:prstGeom prst="straightConnector1">
            <a:avLst/>
          </a:prstGeom>
          <a:ln w="127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H="1" flipV="1">
            <a:off x="1066800" y="6141427"/>
            <a:ext cx="26715" cy="296008"/>
          </a:xfrm>
          <a:prstGeom prst="straightConnector1">
            <a:avLst/>
          </a:prstGeom>
          <a:ln w="127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1833986" y="3993963"/>
            <a:ext cx="586830" cy="1246252"/>
          </a:xfrm>
          <a:prstGeom prst="straightConnector1">
            <a:avLst/>
          </a:prstGeom>
          <a:ln w="127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1066800" y="3886200"/>
            <a:ext cx="507023" cy="228600"/>
          </a:xfrm>
          <a:prstGeom prst="straightConnector1">
            <a:avLst/>
          </a:prstGeom>
          <a:ln w="127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H="1">
            <a:off x="1234982" y="5545015"/>
            <a:ext cx="1033434" cy="443222"/>
          </a:xfrm>
          <a:prstGeom prst="straightConnector1">
            <a:avLst/>
          </a:prstGeom>
          <a:ln w="127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דוגמאות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02 יוני 24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10</a:t>
            </a:fld>
            <a:endParaRPr lang="he-IL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084668" y="1738142"/>
            <a:ext cx="7772400" cy="457200"/>
          </a:xfrm>
          <a:noFill/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מי מהתכונות הבאות הן שמורות? הוכיחו טענותיכם.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-4313" y="2683446"/>
                <a:ext cx="9072112" cy="4009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𝐴𝑃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:  ∀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⊨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∨¬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313" y="2683446"/>
                <a:ext cx="9072112" cy="400944"/>
              </a:xfrm>
              <a:prstGeom prst="rect">
                <a:avLst/>
              </a:prstGeom>
              <a:blipFill>
                <a:blip r:embed="rId2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-4314" y="4541758"/>
                <a:ext cx="9072113" cy="4009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𝐴𝑃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∀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314" y="4541758"/>
                <a:ext cx="9072113" cy="400944"/>
              </a:xfrm>
              <a:prstGeom prst="rect">
                <a:avLst/>
              </a:prstGeom>
              <a:blipFill>
                <a:blip r:embed="rId3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-4313" y="3612602"/>
                <a:ext cx="9072112" cy="4009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𝐴𝑃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⊨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∧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∀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.  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∨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∉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⊨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∨¬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313" y="3612602"/>
                <a:ext cx="9072112" cy="400944"/>
              </a:xfrm>
              <a:prstGeom prst="rect">
                <a:avLst/>
              </a:prstGeom>
              <a:blipFill>
                <a:blip r:embed="rId4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2101429" y="5852408"/>
            <a:ext cx="4860626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he-IL" sz="2800">
                <a:solidFill>
                  <a:schemeClr val="accent1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איך נוכיח שתכונה אינה שמורה?</a:t>
            </a:r>
            <a:endParaRPr lang="en-US" sz="2800">
              <a:solidFill>
                <a:schemeClr val="accent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10" name="Picture 9" descr="Cartoon character holding a magnifying glass and a trench coat&#10;&#10;Description automatically generated">
            <a:extLst>
              <a:ext uri="{FF2B5EF4-FFF2-40B4-BE49-F238E27FC236}">
                <a16:creationId xmlns:a16="http://schemas.microsoft.com/office/drawing/2014/main" id="{5E5BCDBC-C731-FFF5-39BA-E31394E8D4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5057" y="2613384"/>
            <a:ext cx="942011" cy="9420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5BA9EA6-6DA8-E94A-6E46-3F172EA507DB}"/>
              </a:ext>
            </a:extLst>
          </p:cNvPr>
          <p:cNvGrpSpPr/>
          <p:nvPr/>
        </p:nvGrpSpPr>
        <p:grpSpPr>
          <a:xfrm>
            <a:off x="5048928" y="2263922"/>
            <a:ext cx="1436950" cy="506029"/>
            <a:chOff x="5048928" y="2263922"/>
            <a:chExt cx="1436950" cy="506029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E1B43A96-C6EA-B102-4B2A-BCF49C62ACD3}"/>
                </a:ext>
              </a:extLst>
            </p:cNvPr>
            <p:cNvSpPr/>
            <p:nvPr/>
          </p:nvSpPr>
          <p:spPr>
            <a:xfrm rot="16200000">
              <a:off x="5682266" y="1966340"/>
              <a:ext cx="170273" cy="1436950"/>
            </a:xfrm>
            <a:prstGeom prst="rightBrace">
              <a:avLst>
                <a:gd name="adj1" fmla="val 30496"/>
                <a:gd name="adj2" fmla="val 50622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68FDF4E-BE39-A5DC-C8A1-D0CCAD41B2D9}"/>
                    </a:ext>
                  </a:extLst>
                </p:cNvPr>
                <p:cNvSpPr txBox="1"/>
                <p:nvPr/>
              </p:nvSpPr>
              <p:spPr>
                <a:xfrm>
                  <a:off x="5624746" y="2263922"/>
                  <a:ext cx="271835" cy="33575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oMath>
                    </m:oMathPara>
                  </a14:m>
                  <a:endParaRPr lang="LID4096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68FDF4E-BE39-A5DC-C8A1-D0CCAD41B2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4746" y="2263922"/>
                  <a:ext cx="271835" cy="335756"/>
                </a:xfrm>
                <a:prstGeom prst="rect">
                  <a:avLst/>
                </a:prstGeom>
                <a:blipFill>
                  <a:blip r:embed="rId6"/>
                  <a:stretch>
                    <a:fillRect l="-6818" r="-31818" b="-20000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377983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דוגמאות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02 יוני 24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11</a:t>
            </a:fld>
            <a:endParaRPr lang="he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46478" y="1905000"/>
                <a:ext cx="8018868" cy="4357858"/>
              </a:xfrm>
              <a:noFill/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lnSpc>
                    <a:spcPct val="150000"/>
                  </a:lnSpc>
                  <a:spcBef>
                    <a:spcPts val="2400"/>
                  </a:spcBef>
                  <a:buNone/>
                </a:pPr>
                <a:r>
                  <a:rPr lang="he-IL" u="sng">
                    <a:latin typeface="Gisha" panose="020B0502040204020203" pitchFamily="34" charset="-79"/>
                    <a:cs typeface="Gisha" panose="020B0502040204020203" pitchFamily="34" charset="-79"/>
                  </a:rPr>
                  <a:t>טענה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 התכונה הבאה אינה תכונת שְׁמוּרָה</a:t>
                </a:r>
              </a:p>
              <a:p>
                <a:pPr marL="0" indent="0" algn="l" rtl="0">
                  <a:lnSpc>
                    <a:spcPct val="150000"/>
                  </a:lnSpc>
                  <a:spcBef>
                    <a:spcPts val="24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𝑃</m:t>
                      </m:r>
                      <m:r>
                        <a:rPr lang="he-IL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𝐴𝑃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→∀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2400"/>
                  </a:spcBef>
                  <a:buFont typeface="Wingdings 2"/>
                  <a:buNone/>
                </a:pPr>
                <a:r>
                  <a:rPr lang="he-IL" u="sng">
                    <a:latin typeface="Gisha" panose="020B0502040204020203" pitchFamily="34" charset="-79"/>
                    <a:cs typeface="Gisha" panose="020B0502040204020203" pitchFamily="34" charset="-79"/>
                  </a:rPr>
                  <a:t>הוכחה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>
                  <a:lnSpc>
                    <a:spcPct val="150000"/>
                  </a:lnSpc>
                  <a:spcBef>
                    <a:spcPts val="24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נניח בשלילה שקיימת תכונת מצב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𝜙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כך ש-</a:t>
                </a:r>
              </a:p>
              <a:p>
                <a:pPr marL="0" indent="0" algn="l" rtl="0">
                  <a:lnSpc>
                    <a:spcPct val="150000"/>
                  </a:lnSpc>
                  <a:spcBef>
                    <a:spcPts val="24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Gisha" panose="020B0502040204020203" pitchFamily="34" charset="-79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Gisha" panose="020B0502040204020203" pitchFamily="34" charset="-79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Gisha" panose="020B0502040204020203" pitchFamily="34" charset="-79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Gisha" panose="020B0502040204020203" pitchFamily="34" charset="-79"/>
                                        </a:rPr>
                                        <m:t>𝐴𝑃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:</m:t>
                          </m:r>
                          <m:r>
                            <a:rPr lang="he-IL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𝑖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⊨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𝜙</m:t>
                          </m:r>
                          <m: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for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all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lnSpc>
                    <a:spcPct val="150000"/>
                  </a:lnSpc>
                  <a:spcBef>
                    <a:spcPts val="24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לפי הגדרת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𝑃</m:t>
                    </m:r>
                  </m:oMath>
                </a14:m>
                <a:r>
                  <a:rPr lang="he-IL" b="0">
                    <a:latin typeface="Gisha" panose="020B0502040204020203" pitchFamily="34" charset="-79"/>
                    <a:cs typeface="Gisha" panose="020B0502040204020203" pitchFamily="34" charset="-79"/>
                  </a:rPr>
                  <a:t>, המילה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d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lit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  <m:t> </m:t>
                                </m:r>
                              </m:e>
                            </m:d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  <m:t>𝑝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𝜔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𝑃</m:t>
                    </m:r>
                    <m:r>
                      <a:rPr lang="he-IL" b="0" i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</m:oMath>
                </a14:m>
                <a:r>
                  <a:rPr lang="he-IL" b="0">
                    <a:latin typeface="Gisha" panose="020B0502040204020203" pitchFamily="34" charset="-79"/>
                    <a:cs typeface="Gisha" panose="020B0502040204020203" pitchFamily="34" charset="-79"/>
                  </a:rPr>
                  <a:t>  ולכן, ע"פ הנחת השלילה,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⊨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𝜙</m:t>
                    </m:r>
                  </m:oMath>
                </a14:m>
                <a:r>
                  <a:rPr lang="he-IL" b="0">
                    <a:latin typeface="Gisha" panose="020B0502040204020203" pitchFamily="34" charset="-79"/>
                    <a:cs typeface="Gisha" panose="020B0502040204020203" pitchFamily="34" charset="-79"/>
                  </a:rPr>
                  <a:t> וגם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𝑝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⊨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𝜙</m:t>
                    </m:r>
                  </m:oMath>
                </a14:m>
                <a:endParaRPr lang="en-US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r">
                  <a:lnSpc>
                    <a:spcPct val="150000"/>
                  </a:lnSpc>
                  <a:spcBef>
                    <a:spcPts val="24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לכן, ע"פ הנחת השלילה, המילה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𝑝</m:t>
                            </m:r>
                          </m:e>
                        </m:d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dPr>
                          <m:e>
                            <m:r>
                              <m:rPr>
                                <m:lit/>
                              </m:rPr>
                              <a:rPr lang="en-US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 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𝜔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𝑃</m:t>
                    </m:r>
                  </m:oMath>
                </a14:m>
                <a:r>
                  <a:rPr lang="he-IL" b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  <a:p>
                <a:pPr algn="r">
                  <a:lnSpc>
                    <a:spcPct val="150000"/>
                  </a:lnSpc>
                  <a:spcBef>
                    <a:spcPts val="2400"/>
                  </a:spcBef>
                </a:pPr>
                <a:r>
                  <a:rPr lang="he-IL" b="0">
                    <a:latin typeface="Gisha" panose="020B0502040204020203" pitchFamily="34" charset="-79"/>
                    <a:cs typeface="Gisha" panose="020B0502040204020203" pitchFamily="34" charset="-79"/>
                  </a:rPr>
                  <a:t>קיבלנו </a:t>
                </a:r>
                <a:r>
                  <a:rPr lang="he-IL" b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סתירה</a:t>
                </a:r>
                <a:r>
                  <a:rPr lang="he-IL" b="0">
                    <a:latin typeface="Gisha" panose="020B0502040204020203" pitchFamily="34" charset="-79"/>
                    <a:cs typeface="Gisha" panose="020B0502040204020203" pitchFamily="34" charset="-79"/>
                  </a:rPr>
                  <a:t> להגדרה של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𝑃</m:t>
                    </m:r>
                  </m:oMath>
                </a14:m>
                <a:endParaRPr lang="en-US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l" rtl="0">
                  <a:lnSpc>
                    <a:spcPct val="150000"/>
                  </a:lnSpc>
                  <a:spcBef>
                    <a:spcPts val="2400"/>
                  </a:spcBef>
                  <a:buNone/>
                </a:pPr>
                <a:endParaRPr lang="en-US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l" rtl="0">
                  <a:lnSpc>
                    <a:spcPct val="150000"/>
                  </a:lnSpc>
                  <a:spcBef>
                    <a:spcPts val="2400"/>
                  </a:spcBef>
                  <a:buNone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46478" y="1905000"/>
                <a:ext cx="8018868" cy="4357858"/>
              </a:xfrm>
              <a:blipFill>
                <a:blip r:embed="rId2"/>
                <a:stretch>
                  <a:fillRect l="-380" r="-456" b="-2717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2286000" y="990600"/>
            <a:ext cx="4860626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he-IL" sz="2800">
                <a:solidFill>
                  <a:schemeClr val="accent1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איך נוכיח שתכונה אינה שְׁמוּרָה?</a:t>
            </a:r>
            <a:endParaRPr lang="en-US" sz="2800">
              <a:solidFill>
                <a:schemeClr val="accent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05607C6-F96F-9D00-5649-8B70CFB4E98D}"/>
              </a:ext>
            </a:extLst>
          </p:cNvPr>
          <p:cNvSpPr/>
          <p:nvPr/>
        </p:nvSpPr>
        <p:spPr>
          <a:xfrm>
            <a:off x="5486400" y="5477521"/>
            <a:ext cx="459063" cy="461639"/>
          </a:xfrm>
          <a:custGeom>
            <a:avLst/>
            <a:gdLst>
              <a:gd name="connsiteX0" fmla="*/ 0 w 554130"/>
              <a:gd name="connsiteY0" fmla="*/ 0 h 470898"/>
              <a:gd name="connsiteX1" fmla="*/ 17755 w 554130"/>
              <a:gd name="connsiteY1" fmla="*/ 204187 h 470898"/>
              <a:gd name="connsiteX2" fmla="*/ 71021 w 554130"/>
              <a:gd name="connsiteY2" fmla="*/ 408373 h 470898"/>
              <a:gd name="connsiteX3" fmla="*/ 506027 w 554130"/>
              <a:gd name="connsiteY3" fmla="*/ 461639 h 470898"/>
              <a:gd name="connsiteX4" fmla="*/ 523783 w 554130"/>
              <a:gd name="connsiteY4" fmla="*/ 470517 h 470898"/>
              <a:gd name="connsiteX0" fmla="*/ 0 w 506027"/>
              <a:gd name="connsiteY0" fmla="*/ 0 h 461639"/>
              <a:gd name="connsiteX1" fmla="*/ 17755 w 506027"/>
              <a:gd name="connsiteY1" fmla="*/ 204187 h 461639"/>
              <a:gd name="connsiteX2" fmla="*/ 71021 w 506027"/>
              <a:gd name="connsiteY2" fmla="*/ 408373 h 461639"/>
              <a:gd name="connsiteX3" fmla="*/ 506027 w 506027"/>
              <a:gd name="connsiteY3" fmla="*/ 461639 h 461639"/>
              <a:gd name="connsiteX0" fmla="*/ 20358 w 526385"/>
              <a:gd name="connsiteY0" fmla="*/ 0 h 461639"/>
              <a:gd name="connsiteX1" fmla="*/ 2602 w 526385"/>
              <a:gd name="connsiteY1" fmla="*/ 213065 h 461639"/>
              <a:gd name="connsiteX2" fmla="*/ 91379 w 526385"/>
              <a:gd name="connsiteY2" fmla="*/ 408373 h 461639"/>
              <a:gd name="connsiteX3" fmla="*/ 526385 w 526385"/>
              <a:gd name="connsiteY3" fmla="*/ 461639 h 46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6385" h="461639">
                <a:moveTo>
                  <a:pt x="20358" y="0"/>
                </a:moveTo>
                <a:cubicBezTo>
                  <a:pt x="23317" y="68062"/>
                  <a:pt x="-9235" y="145003"/>
                  <a:pt x="2602" y="213065"/>
                </a:cubicBezTo>
                <a:cubicBezTo>
                  <a:pt x="14439" y="281127"/>
                  <a:pt x="4082" y="366944"/>
                  <a:pt x="91379" y="408373"/>
                </a:cubicBezTo>
                <a:cubicBezTo>
                  <a:pt x="178676" y="449802"/>
                  <a:pt x="450925" y="451282"/>
                  <a:pt x="526385" y="461639"/>
                </a:cubicBezTo>
              </a:path>
            </a:pathLst>
          </a:custGeom>
          <a:noFill/>
          <a:ln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1E52E6D-9CB2-06D6-8504-C05A58AE51AE}"/>
              </a:ext>
            </a:extLst>
          </p:cNvPr>
          <p:cNvSpPr/>
          <p:nvPr/>
        </p:nvSpPr>
        <p:spPr>
          <a:xfrm>
            <a:off x="829806" y="2610034"/>
            <a:ext cx="5100477" cy="3450948"/>
          </a:xfrm>
          <a:custGeom>
            <a:avLst/>
            <a:gdLst>
              <a:gd name="connsiteX0" fmla="*/ 1820242 w 5078346"/>
              <a:gd name="connsiteY0" fmla="*/ 0 h 3638474"/>
              <a:gd name="connsiteX1" fmla="*/ 89096 w 5078346"/>
              <a:gd name="connsiteY1" fmla="*/ 1500326 h 3638474"/>
              <a:gd name="connsiteX2" fmla="*/ 763799 w 5078346"/>
              <a:gd name="connsiteY2" fmla="*/ 3453414 h 3638474"/>
              <a:gd name="connsiteX3" fmla="*/ 5078346 w 5078346"/>
              <a:gd name="connsiteY3" fmla="*/ 3444536 h 3638474"/>
              <a:gd name="connsiteX0" fmla="*/ 1820242 w 5078346"/>
              <a:gd name="connsiteY0" fmla="*/ 0 h 3541673"/>
              <a:gd name="connsiteX1" fmla="*/ 89096 w 5078346"/>
              <a:gd name="connsiteY1" fmla="*/ 1500326 h 3541673"/>
              <a:gd name="connsiteX2" fmla="*/ 763799 w 5078346"/>
              <a:gd name="connsiteY2" fmla="*/ 3453414 h 3541673"/>
              <a:gd name="connsiteX3" fmla="*/ 5078346 w 5078346"/>
              <a:gd name="connsiteY3" fmla="*/ 3444536 h 3541673"/>
              <a:gd name="connsiteX0" fmla="*/ 1807855 w 5065959"/>
              <a:gd name="connsiteY0" fmla="*/ 0 h 3496836"/>
              <a:gd name="connsiteX1" fmla="*/ 76709 w 5065959"/>
              <a:gd name="connsiteY1" fmla="*/ 1500326 h 3496836"/>
              <a:gd name="connsiteX2" fmla="*/ 795800 w 5065959"/>
              <a:gd name="connsiteY2" fmla="*/ 3258105 h 3496836"/>
              <a:gd name="connsiteX3" fmla="*/ 5065959 w 5065959"/>
              <a:gd name="connsiteY3" fmla="*/ 3444536 h 3496836"/>
              <a:gd name="connsiteX0" fmla="*/ 1778138 w 5036242"/>
              <a:gd name="connsiteY0" fmla="*/ 0 h 3496836"/>
              <a:gd name="connsiteX1" fmla="*/ 46992 w 5036242"/>
              <a:gd name="connsiteY1" fmla="*/ 1500326 h 3496836"/>
              <a:gd name="connsiteX2" fmla="*/ 766083 w 5036242"/>
              <a:gd name="connsiteY2" fmla="*/ 3258105 h 3496836"/>
              <a:gd name="connsiteX3" fmla="*/ 5036242 w 5036242"/>
              <a:gd name="connsiteY3" fmla="*/ 3444536 h 3496836"/>
              <a:gd name="connsiteX0" fmla="*/ 1810918 w 5069022"/>
              <a:gd name="connsiteY0" fmla="*/ 0 h 3496836"/>
              <a:gd name="connsiteX1" fmla="*/ 79772 w 5069022"/>
              <a:gd name="connsiteY1" fmla="*/ 1500326 h 3496836"/>
              <a:gd name="connsiteX2" fmla="*/ 798863 w 5069022"/>
              <a:gd name="connsiteY2" fmla="*/ 3258105 h 3496836"/>
              <a:gd name="connsiteX3" fmla="*/ 5069022 w 5069022"/>
              <a:gd name="connsiteY3" fmla="*/ 3444536 h 3496836"/>
              <a:gd name="connsiteX0" fmla="*/ 1865538 w 5123642"/>
              <a:gd name="connsiteY0" fmla="*/ 0 h 3496836"/>
              <a:gd name="connsiteX1" fmla="*/ 134392 w 5123642"/>
              <a:gd name="connsiteY1" fmla="*/ 1500326 h 3496836"/>
              <a:gd name="connsiteX2" fmla="*/ 853483 w 5123642"/>
              <a:gd name="connsiteY2" fmla="*/ 3258105 h 3496836"/>
              <a:gd name="connsiteX3" fmla="*/ 5123642 w 5123642"/>
              <a:gd name="connsiteY3" fmla="*/ 3444536 h 3496836"/>
              <a:gd name="connsiteX0" fmla="*/ 1768758 w 5026862"/>
              <a:gd name="connsiteY0" fmla="*/ 0 h 3491680"/>
              <a:gd name="connsiteX1" fmla="*/ 37612 w 5026862"/>
              <a:gd name="connsiteY1" fmla="*/ 1500326 h 3491680"/>
              <a:gd name="connsiteX2" fmla="*/ 960889 w 5026862"/>
              <a:gd name="connsiteY2" fmla="*/ 3213577 h 3491680"/>
              <a:gd name="connsiteX3" fmla="*/ 5026862 w 5026862"/>
              <a:gd name="connsiteY3" fmla="*/ 3444536 h 3491680"/>
              <a:gd name="connsiteX0" fmla="*/ 1768758 w 5026862"/>
              <a:gd name="connsiteY0" fmla="*/ 0 h 3491680"/>
              <a:gd name="connsiteX1" fmla="*/ 37612 w 5026862"/>
              <a:gd name="connsiteY1" fmla="*/ 1500326 h 3491680"/>
              <a:gd name="connsiteX2" fmla="*/ 960889 w 5026862"/>
              <a:gd name="connsiteY2" fmla="*/ 3213577 h 3491680"/>
              <a:gd name="connsiteX3" fmla="*/ 5026862 w 5026862"/>
              <a:gd name="connsiteY3" fmla="*/ 3444536 h 3491680"/>
              <a:gd name="connsiteX0" fmla="*/ 1768758 w 5026862"/>
              <a:gd name="connsiteY0" fmla="*/ 0 h 3452458"/>
              <a:gd name="connsiteX1" fmla="*/ 37612 w 5026862"/>
              <a:gd name="connsiteY1" fmla="*/ 1500326 h 3452458"/>
              <a:gd name="connsiteX2" fmla="*/ 960889 w 5026862"/>
              <a:gd name="connsiteY2" fmla="*/ 3213577 h 3452458"/>
              <a:gd name="connsiteX3" fmla="*/ 5026862 w 5026862"/>
              <a:gd name="connsiteY3" fmla="*/ 3444536 h 3452458"/>
              <a:gd name="connsiteX0" fmla="*/ 1842373 w 5100477"/>
              <a:gd name="connsiteY0" fmla="*/ 0 h 3461709"/>
              <a:gd name="connsiteX1" fmla="*/ 31328 w 5100477"/>
              <a:gd name="connsiteY1" fmla="*/ 2096984 h 3461709"/>
              <a:gd name="connsiteX2" fmla="*/ 1034504 w 5100477"/>
              <a:gd name="connsiteY2" fmla="*/ 3213577 h 3461709"/>
              <a:gd name="connsiteX3" fmla="*/ 5100477 w 5100477"/>
              <a:gd name="connsiteY3" fmla="*/ 3444536 h 3461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00477" h="3461709">
                <a:moveTo>
                  <a:pt x="1842373" y="0"/>
                </a:moveTo>
                <a:cubicBezTo>
                  <a:pt x="1064837" y="462378"/>
                  <a:pt x="165973" y="1561388"/>
                  <a:pt x="31328" y="2096984"/>
                </a:cubicBezTo>
                <a:cubicBezTo>
                  <a:pt x="-103317" y="2632580"/>
                  <a:pt x="189646" y="2988985"/>
                  <a:pt x="1034504" y="3213577"/>
                </a:cubicBezTo>
                <a:cubicBezTo>
                  <a:pt x="1879362" y="3438169"/>
                  <a:pt x="3350097" y="3495222"/>
                  <a:pt x="5100477" y="3444536"/>
                </a:cubicBezTo>
              </a:path>
            </a:pathLst>
          </a:custGeom>
          <a:noFill/>
          <a:ln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182420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דוגמאות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02 יוני 24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12</a:t>
            </a:fld>
            <a:endParaRPr lang="he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46478" y="1905000"/>
                <a:ext cx="8018868" cy="4357858"/>
              </a:xfrm>
              <a:noFill/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lnSpc>
                    <a:spcPct val="150000"/>
                  </a:lnSpc>
                  <a:spcBef>
                    <a:spcPts val="2400"/>
                  </a:spcBef>
                  <a:buNone/>
                </a:pPr>
                <a:r>
                  <a:rPr lang="he-IL" u="sng">
                    <a:latin typeface="Gisha" panose="020B0502040204020203" pitchFamily="34" charset="-79"/>
                    <a:cs typeface="Gisha" panose="020B0502040204020203" pitchFamily="34" charset="-79"/>
                  </a:rPr>
                  <a:t>טענה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 התכונה הבאה אינה תכונת שְׁמוּרָה</a:t>
                </a:r>
              </a:p>
              <a:p>
                <a:pPr marL="0" indent="0" algn="l" rtl="0">
                  <a:lnSpc>
                    <a:spcPct val="150000"/>
                  </a:lnSpc>
                  <a:spcBef>
                    <a:spcPts val="24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𝑃</m:t>
                      </m:r>
                      <m:r>
                        <a:rPr lang="he-IL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{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Gisha" panose="020B0502040204020203" pitchFamily="34" charset="-79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Gisha" panose="020B0502040204020203" pitchFamily="34" charset="-79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Gisha" panose="020B0502040204020203" pitchFamily="34" charset="-79"/>
                                    </a:rPr>
                                    <m:t>𝐴𝑃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𝜔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: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𝜎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𝑖</m:t>
                          </m:r>
                        </m:e>
                      </m:d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for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all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ℕ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}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2400"/>
                  </a:spcBef>
                  <a:buFont typeface="Wingdings 2"/>
                  <a:buNone/>
                </a:pPr>
                <a:r>
                  <a:rPr lang="he-IL" u="sng">
                    <a:latin typeface="Gisha" panose="020B0502040204020203" pitchFamily="34" charset="-79"/>
                    <a:cs typeface="Gisha" panose="020B0502040204020203" pitchFamily="34" charset="-79"/>
                  </a:rPr>
                  <a:t>הוכחה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>
                  <a:lnSpc>
                    <a:spcPct val="150000"/>
                  </a:lnSpc>
                  <a:spcBef>
                    <a:spcPts val="24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נניח בשלילה שקיימת תכונת מצב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𝜙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כך ש-</a:t>
                </a:r>
              </a:p>
              <a:p>
                <a:pPr marL="0" indent="0" algn="l" rtl="0">
                  <a:lnSpc>
                    <a:spcPct val="150000"/>
                  </a:lnSpc>
                  <a:spcBef>
                    <a:spcPts val="24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Gisha" panose="020B0502040204020203" pitchFamily="34" charset="-79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Gisha" panose="020B0502040204020203" pitchFamily="34" charset="-79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Gisha" panose="020B0502040204020203" pitchFamily="34" charset="-79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Gisha" panose="020B0502040204020203" pitchFamily="34" charset="-79"/>
                                        </a:rPr>
                                        <m:t>𝐴𝑃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:</m:t>
                          </m:r>
                          <m:r>
                            <a:rPr lang="he-IL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𝑖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⊨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𝜙</m:t>
                          </m:r>
                          <m:r>
                            <a:rPr lang="he-IL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for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all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lnSpc>
                    <a:spcPct val="150000"/>
                  </a:lnSpc>
                  <a:spcBef>
                    <a:spcPts val="24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לפי הגדרת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𝑃</m:t>
                    </m:r>
                  </m:oMath>
                </a14:m>
                <a:r>
                  <a:rPr lang="he-IL" b="0">
                    <a:latin typeface="Gisha" panose="020B0502040204020203" pitchFamily="34" charset="-79"/>
                    <a:cs typeface="Gisha" panose="020B0502040204020203" pitchFamily="34" charset="-79"/>
                  </a:rPr>
                  <a:t>, המילה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d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  <m:t>𝑝</m:t>
                                </m:r>
                              </m:e>
                            </m:d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lit/>
                                  </m:rPr>
                                  <a:rPr lang="en-US" i="1"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  <m:t> 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𝜔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𝑃</m:t>
                    </m:r>
                    <m:r>
                      <a:rPr lang="he-IL" b="0" i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</m:oMath>
                </a14:m>
                <a:r>
                  <a:rPr lang="he-IL" b="0">
                    <a:latin typeface="Gisha" panose="020B0502040204020203" pitchFamily="34" charset="-79"/>
                    <a:cs typeface="Gisha" panose="020B0502040204020203" pitchFamily="34" charset="-79"/>
                  </a:rPr>
                  <a:t>  ולכן, ע"פ הנחת השלילה,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⊨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𝜙</m:t>
                    </m:r>
                  </m:oMath>
                </a14:m>
                <a:endParaRPr lang="en-US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r">
                  <a:lnSpc>
                    <a:spcPct val="150000"/>
                  </a:lnSpc>
                  <a:spcBef>
                    <a:spcPts val="24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לכן, ע"פ הנחת השלילה, המילה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dPr>
                          <m:e>
                            <m:r>
                              <m:rPr>
                                <m:lit/>
                              </m:rPr>
                              <a:rPr lang="en-US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 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𝜔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𝑃</m:t>
                    </m:r>
                  </m:oMath>
                </a14:m>
                <a:r>
                  <a:rPr lang="he-IL" b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  <a:p>
                <a:pPr algn="r">
                  <a:lnSpc>
                    <a:spcPct val="150000"/>
                  </a:lnSpc>
                  <a:spcBef>
                    <a:spcPts val="2400"/>
                  </a:spcBef>
                </a:pPr>
                <a:r>
                  <a:rPr lang="he-IL" b="0">
                    <a:latin typeface="Gisha" panose="020B0502040204020203" pitchFamily="34" charset="-79"/>
                    <a:cs typeface="Gisha" panose="020B0502040204020203" pitchFamily="34" charset="-79"/>
                  </a:rPr>
                  <a:t>קיבלנו </a:t>
                </a:r>
                <a:r>
                  <a:rPr lang="he-IL" b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סתירה</a:t>
                </a:r>
                <a:r>
                  <a:rPr lang="he-IL" b="0">
                    <a:latin typeface="Gisha" panose="020B0502040204020203" pitchFamily="34" charset="-79"/>
                    <a:cs typeface="Gisha" panose="020B0502040204020203" pitchFamily="34" charset="-79"/>
                  </a:rPr>
                  <a:t> להגדרה של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𝑃</m:t>
                    </m:r>
                  </m:oMath>
                </a14:m>
                <a:endParaRPr lang="en-US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l" rtl="0">
                  <a:lnSpc>
                    <a:spcPct val="150000"/>
                  </a:lnSpc>
                  <a:spcBef>
                    <a:spcPts val="2400"/>
                  </a:spcBef>
                  <a:buNone/>
                </a:pPr>
                <a:endParaRPr lang="en-US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l" rtl="0">
                  <a:lnSpc>
                    <a:spcPct val="150000"/>
                  </a:lnSpc>
                  <a:spcBef>
                    <a:spcPts val="2400"/>
                  </a:spcBef>
                  <a:buNone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46478" y="1905000"/>
                <a:ext cx="8018868" cy="4357858"/>
              </a:xfrm>
              <a:blipFill>
                <a:blip r:embed="rId2"/>
                <a:stretch>
                  <a:fillRect l="-380" r="-456" b="-2717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2286000" y="990600"/>
            <a:ext cx="4860626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he-IL" sz="2800">
                <a:solidFill>
                  <a:schemeClr val="accent1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איך נוכיח שתכונה אינה שְׁמוּרָה?</a:t>
            </a:r>
            <a:endParaRPr lang="en-US" sz="2800">
              <a:solidFill>
                <a:schemeClr val="accent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05607C6-F96F-9D00-5649-8B70CFB4E98D}"/>
              </a:ext>
            </a:extLst>
          </p:cNvPr>
          <p:cNvSpPr/>
          <p:nvPr/>
        </p:nvSpPr>
        <p:spPr>
          <a:xfrm>
            <a:off x="5419078" y="5477521"/>
            <a:ext cx="526385" cy="461639"/>
          </a:xfrm>
          <a:custGeom>
            <a:avLst/>
            <a:gdLst>
              <a:gd name="connsiteX0" fmla="*/ 0 w 554130"/>
              <a:gd name="connsiteY0" fmla="*/ 0 h 470898"/>
              <a:gd name="connsiteX1" fmla="*/ 17755 w 554130"/>
              <a:gd name="connsiteY1" fmla="*/ 204187 h 470898"/>
              <a:gd name="connsiteX2" fmla="*/ 71021 w 554130"/>
              <a:gd name="connsiteY2" fmla="*/ 408373 h 470898"/>
              <a:gd name="connsiteX3" fmla="*/ 506027 w 554130"/>
              <a:gd name="connsiteY3" fmla="*/ 461639 h 470898"/>
              <a:gd name="connsiteX4" fmla="*/ 523783 w 554130"/>
              <a:gd name="connsiteY4" fmla="*/ 470517 h 470898"/>
              <a:gd name="connsiteX0" fmla="*/ 0 w 506027"/>
              <a:gd name="connsiteY0" fmla="*/ 0 h 461639"/>
              <a:gd name="connsiteX1" fmla="*/ 17755 w 506027"/>
              <a:gd name="connsiteY1" fmla="*/ 204187 h 461639"/>
              <a:gd name="connsiteX2" fmla="*/ 71021 w 506027"/>
              <a:gd name="connsiteY2" fmla="*/ 408373 h 461639"/>
              <a:gd name="connsiteX3" fmla="*/ 506027 w 506027"/>
              <a:gd name="connsiteY3" fmla="*/ 461639 h 461639"/>
              <a:gd name="connsiteX0" fmla="*/ 20358 w 526385"/>
              <a:gd name="connsiteY0" fmla="*/ 0 h 461639"/>
              <a:gd name="connsiteX1" fmla="*/ 2602 w 526385"/>
              <a:gd name="connsiteY1" fmla="*/ 213065 h 461639"/>
              <a:gd name="connsiteX2" fmla="*/ 91379 w 526385"/>
              <a:gd name="connsiteY2" fmla="*/ 408373 h 461639"/>
              <a:gd name="connsiteX3" fmla="*/ 526385 w 526385"/>
              <a:gd name="connsiteY3" fmla="*/ 461639 h 46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6385" h="461639">
                <a:moveTo>
                  <a:pt x="20358" y="0"/>
                </a:moveTo>
                <a:cubicBezTo>
                  <a:pt x="23317" y="68062"/>
                  <a:pt x="-9235" y="145003"/>
                  <a:pt x="2602" y="213065"/>
                </a:cubicBezTo>
                <a:cubicBezTo>
                  <a:pt x="14439" y="281127"/>
                  <a:pt x="4082" y="366944"/>
                  <a:pt x="91379" y="408373"/>
                </a:cubicBezTo>
                <a:cubicBezTo>
                  <a:pt x="178676" y="449802"/>
                  <a:pt x="450925" y="451282"/>
                  <a:pt x="526385" y="461639"/>
                </a:cubicBezTo>
              </a:path>
            </a:pathLst>
          </a:custGeom>
          <a:noFill/>
          <a:ln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A2A8EDF-8B2A-F63A-F95D-D2CEFBBE4080}"/>
              </a:ext>
            </a:extLst>
          </p:cNvPr>
          <p:cNvSpPr/>
          <p:nvPr/>
        </p:nvSpPr>
        <p:spPr>
          <a:xfrm>
            <a:off x="1967292" y="2610035"/>
            <a:ext cx="3989624" cy="3478307"/>
          </a:xfrm>
          <a:custGeom>
            <a:avLst/>
            <a:gdLst>
              <a:gd name="connsiteX0" fmla="*/ 693726 w 3836421"/>
              <a:gd name="connsiteY0" fmla="*/ 0 h 3478307"/>
              <a:gd name="connsiteX1" fmla="*/ 152188 w 3836421"/>
              <a:gd name="connsiteY1" fmla="*/ 1198485 h 3478307"/>
              <a:gd name="connsiteX2" fmla="*/ 356375 w 3836421"/>
              <a:gd name="connsiteY2" fmla="*/ 3195961 h 3478307"/>
              <a:gd name="connsiteX3" fmla="*/ 3836421 w 3836421"/>
              <a:gd name="connsiteY3" fmla="*/ 3417903 h 3478307"/>
              <a:gd name="connsiteX0" fmla="*/ 744065 w 3886760"/>
              <a:gd name="connsiteY0" fmla="*/ 0 h 3478307"/>
              <a:gd name="connsiteX1" fmla="*/ 202527 w 3886760"/>
              <a:gd name="connsiteY1" fmla="*/ 1198485 h 3478307"/>
              <a:gd name="connsiteX2" fmla="*/ 406714 w 3886760"/>
              <a:gd name="connsiteY2" fmla="*/ 3195961 h 3478307"/>
              <a:gd name="connsiteX3" fmla="*/ 3886760 w 3886760"/>
              <a:gd name="connsiteY3" fmla="*/ 3417903 h 3478307"/>
              <a:gd name="connsiteX0" fmla="*/ 767030 w 3909725"/>
              <a:gd name="connsiteY0" fmla="*/ 0 h 3478307"/>
              <a:gd name="connsiteX1" fmla="*/ 181104 w 3909725"/>
              <a:gd name="connsiteY1" fmla="*/ 1198485 h 3478307"/>
              <a:gd name="connsiteX2" fmla="*/ 429679 w 3909725"/>
              <a:gd name="connsiteY2" fmla="*/ 3195961 h 3478307"/>
              <a:gd name="connsiteX3" fmla="*/ 3909725 w 3909725"/>
              <a:gd name="connsiteY3" fmla="*/ 3417903 h 3478307"/>
              <a:gd name="connsiteX0" fmla="*/ 767030 w 3989624"/>
              <a:gd name="connsiteY0" fmla="*/ 0 h 3478307"/>
              <a:gd name="connsiteX1" fmla="*/ 181104 w 3989624"/>
              <a:gd name="connsiteY1" fmla="*/ 1198485 h 3478307"/>
              <a:gd name="connsiteX2" fmla="*/ 429679 w 3989624"/>
              <a:gd name="connsiteY2" fmla="*/ 3195961 h 3478307"/>
              <a:gd name="connsiteX3" fmla="*/ 3989624 w 3989624"/>
              <a:gd name="connsiteY3" fmla="*/ 3417903 h 3478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89624" h="3478307">
                <a:moveTo>
                  <a:pt x="767030" y="0"/>
                </a:moveTo>
                <a:cubicBezTo>
                  <a:pt x="524373" y="332912"/>
                  <a:pt x="379372" y="683581"/>
                  <a:pt x="181104" y="1198485"/>
                </a:cubicBezTo>
                <a:cubicBezTo>
                  <a:pt x="-17164" y="1713389"/>
                  <a:pt x="-184360" y="2826058"/>
                  <a:pt x="429679" y="3195961"/>
                </a:cubicBezTo>
                <a:cubicBezTo>
                  <a:pt x="1043718" y="3565864"/>
                  <a:pt x="2556620" y="3491883"/>
                  <a:pt x="3989624" y="3417903"/>
                </a:cubicBezTo>
              </a:path>
            </a:pathLst>
          </a:custGeom>
          <a:noFill/>
          <a:ln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971985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02 יוני 24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13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04800" y="1147013"/>
                <a:ext cx="8551985" cy="3932782"/>
              </a:xfrm>
            </p:spPr>
            <p:txBody>
              <a:bodyPr>
                <a:normAutofit lnSpcReduction="10000"/>
              </a:bodyPr>
              <a:lstStyle/>
              <a:p>
                <a:pPr marL="0" indent="0" algn="r">
                  <a:buNone/>
                </a:pPr>
                <a:r>
                  <a:rPr lang="he-IL" sz="2400" b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קבוצת המצבים</a:t>
                </a:r>
                <a:r>
                  <a:rPr lang="he-IL" sz="2400" b="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:endParaRPr lang="en-US" sz="2400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2400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r">
                  <a:spcAft>
                    <a:spcPts val="1200"/>
                  </a:spcAft>
                  <a:buNone/>
                </a:pPr>
                <a:r>
                  <a:rPr lang="he-IL" sz="2400" b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יחס המעברים</a:t>
                </a:r>
                <a:r>
                  <a:rPr lang="he-IL" sz="2400" b="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:endParaRPr lang="en-US" sz="2400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∪</m:t>
                      </m:r>
                    </m:oMath>
                  </m:oMathPara>
                </a14:m>
                <a:endParaRPr lang="en-US" sz="2400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∪</m:t>
                      </m:r>
                    </m:oMath>
                  </m:oMathPara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∪</m:t>
                      </m:r>
                    </m:oMath>
                  </m:oMathPara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04800" y="1147013"/>
                <a:ext cx="8551985" cy="3932782"/>
              </a:xfrm>
              <a:blipFill>
                <a:blip r:embed="rId2"/>
                <a:stretch>
                  <a:fillRect t="-2326" r="-106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964387" y="5355598"/>
            <a:ext cx="723467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1">
            <a:spAutoFit/>
          </a:bodyPr>
          <a:lstStyle/>
          <a:p>
            <a:r>
              <a:rPr lang="he-IL" sz="28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חידה</a:t>
            </a:r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: לאיזה מצב סופי נגיע אם נתחיל במצב נתון?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68589" y="6106799"/>
            <a:ext cx="6024406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1">
            <a:spAutoFit/>
          </a:bodyPr>
          <a:lstStyle/>
          <a:p>
            <a:r>
              <a:rPr lang="he-IL" sz="28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תשובה</a:t>
            </a:r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: זוגיות מספר האחדות היא שמורה</a:t>
            </a:r>
          </a:p>
        </p:txBody>
      </p:sp>
      <p:pic>
        <p:nvPicPr>
          <p:cNvPr id="1026" name="Picture 2" descr="http://alefefes.macam.ac.il/riddles/collection/files/49_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954" y="378196"/>
            <a:ext cx="1660354" cy="1537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16129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בדיקת שמורות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Arial Rounded MT Bold" panose="020F0704030504030204" pitchFamily="34" charset="0"/>
              </a:rPr>
              <a:pPr/>
              <a:t>02 יוני 24</a:t>
            </a:fld>
            <a:endParaRPr lang="he-IL">
              <a:latin typeface="Arial Rounded MT Bold" panose="020F07040305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Arial Rounded MT Bold" panose="020F0704030504030204" pitchFamily="34" charset="0"/>
              </a:rPr>
              <a:pPr/>
              <a:t>14</a:t>
            </a:fld>
            <a:endParaRPr lang="he-IL"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76200" y="1066800"/>
                <a:ext cx="8991600" cy="4572000"/>
              </a:xfrm>
            </p:spPr>
            <p:txBody>
              <a:bodyPr>
                <a:noAutofit/>
              </a:bodyPr>
              <a:lstStyle/>
              <a:p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בדיקת תכונת שמורה </a:t>
                </a:r>
              </a:p>
              <a:p>
                <a:pPr lvl="1"/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האם תנאי השמורה מתקיים בכל מצב נגיש?</a:t>
                </a:r>
              </a:p>
              <a:p>
                <a:pPr lvl="1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שימוש בגרסה של אלגוריתם סריקת גרף (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BFS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או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DFS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)</a:t>
                </a:r>
              </a:p>
              <a:p>
                <a:pPr lvl="1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בהנחה שמערכת המעברים סופית</a:t>
                </a:r>
              </a:p>
              <a:p>
                <a:pPr>
                  <a:spcBef>
                    <a:spcPts val="3600"/>
                  </a:spcBef>
                </a:pPr>
                <a:r>
                  <a:rPr lang="he-IL" sz="28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ביצוע חיפוש </a:t>
                </a:r>
                <a:r>
                  <a:rPr lang="en-US" sz="28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DFS</a:t>
                </a:r>
                <a:r>
                  <a:rPr lang="he-IL" sz="28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קדימה</a:t>
                </a:r>
              </a:p>
              <a:p>
                <a:pPr lvl="1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אם מצאנו מצב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𝑠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כך ש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𝑠</m:t>
                    </m:r>
                    <m:r>
                      <a:rPr lang="en-US" i="1" dirty="0" smtClean="0">
                        <a:latin typeface="Cambria Math"/>
                        <a:ea typeface="Cambria Math"/>
                      </a:rPr>
                      <m:t>⊭</m:t>
                    </m:r>
                    <m:r>
                      <a:rPr lang="en-US" b="0" i="1" dirty="0" smtClean="0">
                        <a:latin typeface="Cambria Math"/>
                      </a:rPr>
                      <m:t>𝜙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מסיקים ש </a:t>
                </a:r>
                <a14:m>
                  <m:oMath xmlns:m="http://schemas.openxmlformats.org/officeDocument/2006/math">
                    <m:r>
                      <a:rPr lang="he-IL" b="0" i="1" dirty="0" smtClean="0">
                        <a:latin typeface="Cambria Math"/>
                      </a:rPr>
                      <m:t>𝜙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אינו תנאי שמורה</a:t>
                </a:r>
              </a:p>
              <a:p>
                <a:pPr>
                  <a:spcBef>
                    <a:spcPts val="3600"/>
                  </a:spcBef>
                </a:pP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אפשרות אחרת: </a:t>
                </a:r>
                <a:r>
                  <a:rPr lang="he-IL" sz="28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חיפוש אחורה</a:t>
                </a:r>
              </a:p>
              <a:p>
                <a:pPr lvl="1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מתחילים מהמצבים בהם </a:t>
                </a:r>
                <a14:m>
                  <m:oMath xmlns:m="http://schemas.openxmlformats.org/officeDocument/2006/math">
                    <m:r>
                      <a:rPr lang="he-IL" b="0" i="1" dirty="0" smtClean="0">
                        <a:latin typeface="Cambria Math"/>
                      </a:rPr>
                      <m:t>𝜙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אינו מתקיים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𝑠</m:t>
                    </m:r>
                    <m:r>
                      <a:rPr lang="en-US" i="1" dirty="0">
                        <a:latin typeface="Cambria Math"/>
                        <a:ea typeface="Cambria Math"/>
                      </a:rPr>
                      <m:t>⊭</m:t>
                    </m:r>
                    <m:r>
                      <a:rPr lang="en-US" i="1" dirty="0">
                        <a:latin typeface="Cambria Math"/>
                      </a:rPr>
                      <m:t>𝜙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)</a:t>
                </a:r>
              </a:p>
              <a:p>
                <a:pPr lvl="1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מחשבים את המצבים הקודמים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𝑃𝑟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b="0" i="1" dirty="0" smtClean="0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𝑠</m:t>
                    </m:r>
                    <m:r>
                      <a:rPr lang="en-US" i="1" dirty="0" smtClean="0">
                        <a:latin typeface="Cambria Math"/>
                      </a:rPr>
                      <m:t>) 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באמצעות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DFS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או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BFS</a:t>
                </a: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אם הגענו למצב התחלתי 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𝐼</m:t>
                    </m:r>
                    <m:r>
                      <a:rPr lang="he-IL" b="0" i="1" smtClean="0">
                        <a:solidFill>
                          <a:srgbClr val="FF0000"/>
                        </a:solidFill>
                        <a:latin typeface="Cambria Math"/>
                      </a:rPr>
                      <m:t>∩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𝑃𝑟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≠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∅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) אז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𝜙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אינו תנאי שמורה</a:t>
                </a: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76200" y="1066800"/>
                <a:ext cx="8991600" cy="4572000"/>
              </a:xfrm>
              <a:blipFill>
                <a:blip r:embed="rId2"/>
                <a:stretch>
                  <a:fillRect t="-1467" r="-814" b="-1680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בדיקת שמורה באמצעות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DFS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02 יוני 24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Content Placeholder 5"/>
              <p:cNvGraphicFramePr>
                <a:graphicFrameLocks noGrp="1"/>
              </p:cNvGraphicFramePr>
              <p:nvPr>
                <p:ph sz="quarter" idx="1"/>
                <p:extLst>
                  <p:ext uri="{D42A27DB-BD31-4B8C-83A1-F6EECF244321}">
                    <p14:modId xmlns:p14="http://schemas.microsoft.com/office/powerpoint/2010/main" val="1818609044"/>
                  </p:ext>
                </p:extLst>
              </p:nvPr>
            </p:nvGraphicFramePr>
            <p:xfrm>
              <a:off x="1524000" y="2812033"/>
              <a:ext cx="7010400" cy="2937002"/>
            </p:xfrm>
            <a:graphic>
              <a:graphicData uri="http://schemas.openxmlformats.org/drawingml/2006/table">
                <a:tbl>
                  <a:tblPr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a:tblPr>
                  <a:tblGrid>
                    <a:gridCol w="29646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0457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set</a:t>
                          </a:r>
                          <a:r>
                            <a:rPr lang="en-US" sz="1800" b="0" kern="1200" baseline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 </a:t>
                          </a:r>
                          <a:r>
                            <a:rPr lang="en-US" sz="18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of states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𝑅</m:t>
                              </m:r>
                            </m:oMath>
                          </a14:m>
                          <a:r>
                            <a:rPr lang="en-US" sz="18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 :=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∅</m:t>
                              </m:r>
                            </m:oMath>
                          </a14:m>
                          <a:endParaRPr lang="en-US" sz="1050"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he-IL" sz="1600" kern="120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(* </a:t>
                          </a:r>
                          <a:r>
                            <a:rPr lang="he-IL" sz="1600" b="0" kern="120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קבוצת המצבים בהם</a:t>
                          </a:r>
                          <a:r>
                            <a:rPr lang="he-IL" sz="1600" b="0" kern="1200" baseline="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 ביקרנו </a:t>
                          </a:r>
                          <a:r>
                            <a:rPr lang="he-IL" sz="1600" kern="1200" baseline="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*)</a:t>
                          </a:r>
                          <a:endParaRPr lang="en-US" sz="16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Calibri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stack </a:t>
                          </a:r>
                          <a:r>
                            <a:rPr lang="en-US" sz="18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of states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𝑈</m:t>
                              </m:r>
                              <m:r>
                                <a:rPr lang="en-US" sz="180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≔</m:t>
                              </m:r>
                              <m:r>
                                <a:rPr lang="en-US" sz="180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𝜖</m:t>
                              </m:r>
                            </m:oMath>
                          </a14:m>
                          <a:r>
                            <a:rPr lang="en-US" sz="18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;</a:t>
                          </a:r>
                          <a:r>
                            <a:rPr lang="en-US" sz="16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 </a:t>
                          </a:r>
                          <a:endParaRPr lang="en-US" sz="1050"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he-IL" sz="1600" kern="120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(* מחסנית מצבים "לטיפול" *)</a:t>
                          </a:r>
                          <a:endParaRPr lang="en-US" sz="16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Calibri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kern="1200" err="1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boolean</a:t>
                          </a:r>
                          <a:r>
                            <a:rPr lang="en-US" sz="1800" b="1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𝑏</m:t>
                              </m:r>
                            </m:oMath>
                          </a14:m>
                          <a:r>
                            <a:rPr lang="en-US" sz="18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 := </a:t>
                          </a:r>
                          <a:r>
                            <a:rPr lang="en-US" sz="1800" b="1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true</a:t>
                          </a:r>
                          <a:r>
                            <a:rPr lang="en-US" sz="16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; </a:t>
                          </a:r>
                          <a:endParaRPr lang="en-US" sz="1050"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defTabSz="914400" rtl="1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he-IL" sz="1600" kern="120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(*</a:t>
                          </a:r>
                          <a:r>
                            <a:rPr lang="he-IL" sz="1600" kern="1200" baseline="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 כל המצבים ב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kern="1200" baseline="0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𝑅</m:t>
                              </m:r>
                            </m:oMath>
                          </a14:m>
                          <a:r>
                            <a:rPr lang="he-IL" sz="1600" kern="1200" baseline="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 מקיימים את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kern="1200" baseline="0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𝜙</m:t>
                              </m:r>
                            </m:oMath>
                          </a14:m>
                          <a:r>
                            <a:rPr lang="he-IL" sz="1600" kern="1200" baseline="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 *)</a:t>
                          </a:r>
                          <a:endParaRPr lang="en-US" sz="16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Calibri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for all</a:t>
                          </a:r>
                          <a:r>
                            <a:rPr lang="en-US" sz="18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𝑠</m:t>
                              </m:r>
                              <m:r>
                                <a:rPr lang="en-US" sz="1800" b="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∈</m:t>
                              </m:r>
                              <m:r>
                                <a:rPr lang="en-US" sz="1800" b="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𝐼</m:t>
                              </m:r>
                            </m:oMath>
                          </a14:m>
                          <a:r>
                            <a:rPr lang="en-US" sz="18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  </a:t>
                          </a:r>
                          <a:r>
                            <a:rPr lang="en-US" sz="1800" b="1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do</a:t>
                          </a:r>
                          <a:endParaRPr lang="en-US" sz="1050"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1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Gisha" panose="020B0502040204020203" pitchFamily="34" charset="-79"/>
                            <a:ea typeface="Calibri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	</a:t>
                          </a:r>
                          <a:r>
                            <a:rPr lang="en-US" sz="1800" b="1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if</a:t>
                          </a:r>
                          <a:r>
                            <a:rPr lang="en-US" sz="18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𝑠</m:t>
                              </m:r>
                              <m:r>
                                <a:rPr lang="en-US" sz="1800" b="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∉</m:t>
                              </m:r>
                              <m:r>
                                <a:rPr lang="en-US" sz="1800" b="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𝑅</m:t>
                              </m:r>
                            </m:oMath>
                          </a14:m>
                          <a:r>
                            <a:rPr lang="en-US" sz="18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 </a:t>
                          </a:r>
                          <a:r>
                            <a:rPr lang="en-US" sz="1800" b="1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then</a:t>
                          </a:r>
                          <a:endParaRPr lang="en-US" sz="1050" b="1"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6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Times New Roman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/>
                          </a:pPr>
                          <a:r>
                            <a:rPr lang="en-US" sz="18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	    visit(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𝑠</m:t>
                              </m:r>
                            </m:oMath>
                          </a14:m>
                          <a:r>
                            <a:rPr lang="en-US" sz="18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)</a:t>
                          </a:r>
                          <a:endParaRPr lang="en-US" sz="1050"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1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he-IL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(* מתחילים </a:t>
                          </a: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DFS</a:t>
                          </a:r>
                          <a:r>
                            <a:rPr kumimoji="0" lang="he-IL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 מכל מצב התחלתי *)</a:t>
                          </a:r>
                          <a:endParaRPr kumimoji="0" lang="en-US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Gisha" panose="020B0502040204020203" pitchFamily="34" charset="-79"/>
                            <a:ea typeface="Calibri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	</a:t>
                          </a:r>
                          <a:r>
                            <a:rPr lang="en-US" sz="1800" b="1" kern="1200" err="1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fi</a:t>
                          </a:r>
                          <a:r>
                            <a:rPr lang="en-US" sz="18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 </a:t>
                          </a:r>
                          <a:endParaRPr lang="en-US" sz="1050"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600">
                            <a:solidFill>
                              <a:srgbClr val="002060"/>
                            </a:solidFill>
                            <a:latin typeface="Gisha" panose="020B0502040204020203" pitchFamily="34" charset="-79"/>
                            <a:ea typeface="Times New Roman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kern="1200" err="1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od</a:t>
                          </a:r>
                          <a:r>
                            <a:rPr lang="en-US" sz="1800" b="1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 </a:t>
                          </a:r>
                          <a:endParaRPr lang="en-US" sz="1050" b="1"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600">
                            <a:solidFill>
                              <a:srgbClr val="002060"/>
                            </a:solidFill>
                            <a:latin typeface="Gisha" panose="020B0502040204020203" pitchFamily="34" charset="-79"/>
                            <a:ea typeface="Times New Roman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Content Placeholder 5"/>
              <p:cNvGraphicFramePr>
                <a:graphicFrameLocks noGrp="1"/>
              </p:cNvGraphicFramePr>
              <p:nvPr>
                <p:ph sz="quarter" idx="1"/>
                <p:extLst>
                  <p:ext uri="{D42A27DB-BD31-4B8C-83A1-F6EECF244321}">
                    <p14:modId xmlns:p14="http://schemas.microsoft.com/office/powerpoint/2010/main" val="1818609044"/>
                  </p:ext>
                </p:extLst>
              </p:nvPr>
            </p:nvGraphicFramePr>
            <p:xfrm>
              <a:off x="1524000" y="2812033"/>
              <a:ext cx="7010400" cy="2937002"/>
            </p:xfrm>
            <a:graphic>
              <a:graphicData uri="http://schemas.openxmlformats.org/drawingml/2006/table">
                <a:tbl>
                  <a:tblPr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a:tblPr>
                  <a:tblGrid>
                    <a:gridCol w="29646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0457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7030"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823" t="-6667" r="-139300" b="-74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he-IL" sz="1600" kern="120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(* </a:t>
                          </a:r>
                          <a:r>
                            <a:rPr lang="he-IL" sz="1600" b="0" kern="120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קבוצת המצבים בהם</a:t>
                          </a:r>
                          <a:r>
                            <a:rPr lang="he-IL" sz="1600" b="0" kern="1200" baseline="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 ביקרנו </a:t>
                          </a:r>
                          <a:r>
                            <a:rPr lang="he-IL" sz="1600" kern="1200" baseline="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*)</a:t>
                          </a:r>
                          <a:endParaRPr lang="en-US" sz="16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Calibri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7030"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823" t="-104918" r="-139300" b="-6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he-IL" sz="1600" kern="120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(* מחסנית מצבים "לטיפול" *)</a:t>
                          </a:r>
                          <a:endParaRPr lang="en-US" sz="16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Calibri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7030"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823" t="-208333" r="-139300" b="-54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3795" t="-208333" r="-1958" b="-54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7030"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823" t="-308333" r="-139300" b="-44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1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Gisha" panose="020B0502040204020203" pitchFamily="34" charset="-79"/>
                            <a:ea typeface="Calibri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7030"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823" t="-401639" r="-139300" b="-3344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6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Times New Roman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7030"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823" t="-510000" r="-139300" b="-24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1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he-IL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(* מתחילים </a:t>
                          </a: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DFS</a:t>
                          </a:r>
                          <a:r>
                            <a:rPr kumimoji="0" lang="he-IL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 מכל מצב התחלתי *)</a:t>
                          </a:r>
                          <a:endParaRPr kumimoji="0" lang="en-US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Gisha" panose="020B0502040204020203" pitchFamily="34" charset="-79"/>
                            <a:ea typeface="Calibri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67411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	</a:t>
                          </a:r>
                          <a:r>
                            <a:rPr lang="en-US" sz="1800" b="1" kern="1200" err="1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fi</a:t>
                          </a:r>
                          <a:r>
                            <a:rPr lang="en-US" sz="18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 </a:t>
                          </a:r>
                          <a:endParaRPr lang="en-US" sz="1050"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600">
                            <a:solidFill>
                              <a:srgbClr val="002060"/>
                            </a:solidFill>
                            <a:latin typeface="Gisha" panose="020B0502040204020203" pitchFamily="34" charset="-79"/>
                            <a:ea typeface="Times New Roman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67411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kern="1200" err="1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od</a:t>
                          </a:r>
                          <a:r>
                            <a:rPr lang="en-US" sz="1800" b="1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 </a:t>
                          </a:r>
                          <a:endParaRPr lang="en-US" sz="1050" b="1"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600">
                            <a:solidFill>
                              <a:srgbClr val="002060"/>
                            </a:solidFill>
                            <a:latin typeface="Gisha" panose="020B0502040204020203" pitchFamily="34" charset="-79"/>
                            <a:ea typeface="Times New Roman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1937006" y="1792069"/>
                <a:ext cx="593835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קלט: מערכת מעברים 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סופית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𝑇𝑆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ונוסחה </a:t>
                </a:r>
                <a14:m>
                  <m:oMath xmlns:m="http://schemas.openxmlformats.org/officeDocument/2006/math">
                    <m:r>
                      <a:rPr lang="he-IL" b="0" i="1" dirty="0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פלט: </a:t>
                </a:r>
                <a:r>
                  <a:rPr lang="en-US" b="1">
                    <a:latin typeface="Gisha" panose="020B0502040204020203" pitchFamily="34" charset="-79"/>
                    <a:cs typeface="Gisha" panose="020B0502040204020203" pitchFamily="34" charset="-79"/>
                  </a:rPr>
                  <a:t>true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אם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𝑇𝑆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מקיימת את השמורה "תמיד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", אחרת </a:t>
                </a:r>
                <a:r>
                  <a:rPr lang="en-US" b="1">
                    <a:latin typeface="Gisha" panose="020B0502040204020203" pitchFamily="34" charset="-79"/>
                    <a:cs typeface="Gisha" panose="020B0502040204020203" pitchFamily="34" charset="-79"/>
                  </a:rPr>
                  <a:t>false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7006" y="1792069"/>
                <a:ext cx="5938357" cy="646331"/>
              </a:xfrm>
              <a:prstGeom prst="rect">
                <a:avLst/>
              </a:prstGeom>
              <a:blipFill>
                <a:blip r:embed="rId3"/>
                <a:stretch>
                  <a:fillRect t="-5660" r="-821" b="-1415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בדיקת שמורה באמצעות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DFS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02 יוני 24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16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Content Placeholder 8"/>
              <p:cNvGraphicFramePr>
                <a:graphicFrameLocks noGrp="1"/>
              </p:cNvGraphicFramePr>
              <p:nvPr>
                <p:ph sz="quarter" idx="1"/>
                <p:extLst>
                  <p:ext uri="{D42A27DB-BD31-4B8C-83A1-F6EECF244321}">
                    <p14:modId xmlns:p14="http://schemas.microsoft.com/office/powerpoint/2010/main" val="1683802052"/>
                  </p:ext>
                </p:extLst>
              </p:nvPr>
            </p:nvGraphicFramePr>
            <p:xfrm>
              <a:off x="228600" y="1859280"/>
              <a:ext cx="8610600" cy="3941892"/>
            </p:xfrm>
            <a:graphic>
              <a:graphicData uri="http://schemas.openxmlformats.org/drawingml/2006/table">
                <a:tbl>
                  <a:tblPr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a:tblPr>
                  <a:tblGrid>
                    <a:gridCol w="47397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8708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18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  <a:tab pos="3088005" algn="l"/>
                            </a:tabLst>
                          </a:pPr>
                          <a:r>
                            <a:rPr lang="en-US" sz="1600" b="1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procedure </a:t>
                          </a:r>
                          <a:r>
                            <a:rPr lang="en-US" sz="16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visit(state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𝑠</m:t>
                              </m:r>
                            </m:oMath>
                          </a14:m>
                          <a:r>
                            <a:rPr lang="en-US" sz="16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) </a:t>
                          </a:r>
                          <a:endParaRPr lang="en-US" sz="1100"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15000"/>
                            </a:lnSpc>
                            <a:spcBef>
                              <a:spcPts val="18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  <a:tab pos="3088005" algn="l"/>
                            </a:tabLst>
                          </a:pPr>
                          <a:r>
                            <a:rPr lang="he-IL" sz="160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Calibri"/>
                              <a:cs typeface="Gisha" panose="020B0502040204020203" pitchFamily="34" charset="-79"/>
                            </a:rPr>
                            <a:t>(* פרוצדורה</a:t>
                          </a:r>
                          <a:r>
                            <a:rPr lang="he-IL" sz="1600" baseline="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Calibri"/>
                              <a:cs typeface="Gisha" panose="020B0502040204020203" pitchFamily="34" charset="-79"/>
                            </a:rPr>
                            <a:t> לביקור במצב *) </a:t>
                          </a:r>
                          <a:endParaRPr lang="en-US" sz="16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Calibri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  <a:tab pos="3088005" algn="l"/>
                            </a:tabLst>
                          </a:pPr>
                          <a:r>
                            <a:rPr lang="he-IL" sz="16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Aharoni"/>
                            </a:rPr>
                            <a:t>	</a:t>
                          </a:r>
                          <a:r>
                            <a:rPr lang="en-US" sz="16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push(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𝑠</m:t>
                              </m:r>
                            </m:oMath>
                          </a14:m>
                          <a:r>
                            <a:rPr lang="en-US" sz="16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𝑈</m:t>
                              </m:r>
                            </m:oMath>
                          </a14:m>
                          <a:r>
                            <a:rPr lang="en-US" sz="16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);</a:t>
                          </a:r>
                          <a:endParaRPr lang="en-US" sz="1100"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  <a:tab pos="3088005" algn="l"/>
                            </a:tabLst>
                          </a:pPr>
                          <a:r>
                            <a:rPr lang="he-IL" sz="1600" b="0" kern="120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(* דוחפים את המצב למחסנית *)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  <a:tab pos="3088005" algn="l"/>
                            </a:tabLst>
                          </a:pPr>
                          <a:r>
                            <a:rPr lang="en-US" sz="16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	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𝑅</m:t>
                              </m:r>
                            </m:oMath>
                          </a14:m>
                          <a:r>
                            <a:rPr lang="en-US" sz="16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 :=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𝑅</m:t>
                              </m:r>
                              <m:r>
                                <a:rPr lang="en-US" sz="16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∪{</m:t>
                              </m:r>
                              <m:r>
                                <a:rPr lang="en-US" sz="16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𝑠</m:t>
                              </m:r>
                              <m:r>
                                <a:rPr lang="en-US" sz="16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}</m:t>
                              </m:r>
                            </m:oMath>
                          </a14:m>
                          <a:r>
                            <a:rPr lang="en-US" sz="16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;</a:t>
                          </a:r>
                          <a:endParaRPr lang="en-US" sz="1100"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  <a:tab pos="3088005" algn="l"/>
                            </a:tabLst>
                          </a:pPr>
                          <a:r>
                            <a:rPr lang="he-IL" sz="1600" kern="120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(* ומוסיפים אותו </a:t>
                          </a:r>
                          <a:r>
                            <a:rPr lang="he-IL" sz="1600" kern="1200" err="1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להמצבים</a:t>
                          </a:r>
                          <a:r>
                            <a:rPr lang="he-IL" sz="1600" kern="120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 שכבר ביקרנו *)</a:t>
                          </a:r>
                          <a:endParaRPr lang="en-US" sz="1600" kern="12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+mn-ea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  <a:tab pos="3088005" algn="l"/>
                            </a:tabLst>
                          </a:pPr>
                          <a:r>
                            <a:rPr lang="en-US" sz="16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	</a:t>
                          </a:r>
                          <a:r>
                            <a:rPr lang="en-US" sz="1600" b="1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repeat</a:t>
                          </a:r>
                          <a:endParaRPr lang="en-US" sz="1100"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  <a:tab pos="3088005" algn="l"/>
                            </a:tabLst>
                          </a:pPr>
                          <a:endParaRPr lang="en-US" sz="1600" kern="12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+mn-ea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  <a:tab pos="3088005" algn="l"/>
                            </a:tabLst>
                          </a:pPr>
                          <a:r>
                            <a:rPr lang="en-US" sz="16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		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𝑠</m:t>
                              </m:r>
                              <m:r>
                                <a:rPr lang="en-US" sz="160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’</m:t>
                              </m:r>
                            </m:oMath>
                          </a14:m>
                          <a:r>
                            <a:rPr lang="en-US" sz="16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 := top(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𝑈</m:t>
                              </m:r>
                            </m:oMath>
                          </a14:m>
                          <a:r>
                            <a:rPr lang="en-US" sz="16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);</a:t>
                          </a:r>
                          <a:endParaRPr lang="en-US" sz="1100"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  <a:tab pos="3088005" algn="l"/>
                            </a:tabLst>
                          </a:pPr>
                          <a:endParaRPr lang="en-US" sz="1600" kern="12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+mn-ea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  <a:tab pos="3088005" algn="l"/>
                            </a:tabLst>
                          </a:pPr>
                          <a:r>
                            <a:rPr lang="en-US" sz="1600" b="1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		if  </a:t>
                          </a:r>
                          <a:r>
                            <a:rPr lang="en-US" sz="16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Post(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𝑠</m:t>
                              </m:r>
                              <m:r>
                                <a:rPr lang="en-US" sz="160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’</m:t>
                              </m:r>
                            </m:oMath>
                          </a14:m>
                          <a:r>
                            <a:rPr lang="en-US" sz="16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)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kern="1200" baseline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⊆</m:t>
                              </m:r>
                              <m:r>
                                <a:rPr lang="en-US" sz="1600" b="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𝑅</m:t>
                              </m:r>
                            </m:oMath>
                          </a14:m>
                          <a:r>
                            <a:rPr lang="en-US" sz="1600" b="1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  then</a:t>
                          </a:r>
                          <a:endParaRPr lang="en-US" sz="1100"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  <a:tab pos="3088005" algn="l"/>
                            </a:tabLst>
                          </a:pPr>
                          <a:endParaRPr lang="en-US" sz="16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Calibri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</a:tabLst>
                          </a:pPr>
                          <a:r>
                            <a:rPr lang="en-US" sz="16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			pop(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𝑈</m:t>
                              </m:r>
                            </m:oMath>
                          </a14:m>
                          <a:r>
                            <a:rPr lang="en-US" sz="16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);</a:t>
                          </a:r>
                          <a:endParaRPr lang="en-US" sz="1100"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</a:tabLst>
                          </a:pPr>
                          <a:endParaRPr lang="en-US" sz="1600" kern="12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+mn-ea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</a:tabLst>
                          </a:pPr>
                          <a:r>
                            <a:rPr lang="en-US" sz="16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			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𝑏</m:t>
                              </m:r>
                            </m:oMath>
                          </a14:m>
                          <a:r>
                            <a:rPr lang="en-US" sz="16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 :=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𝑏</m:t>
                              </m:r>
                              <m:r>
                                <a:rPr lang="en-US" sz="1600" b="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∧(</m:t>
                              </m:r>
                              <m:sSup>
                                <m:sSupPr>
                                  <m:ctrlPr>
                                    <a:rPr lang="en-US" sz="1600" b="0" i="1" kern="120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onsolas" panose="020B0609020204030204" pitchFamily="49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kern="120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onsolas" panose="020B0609020204030204" pitchFamily="49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1600" b="0" i="1" kern="120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onsolas" panose="020B0609020204030204" pitchFamily="49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1600" b="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⊨</m:t>
                              </m:r>
                              <m:r>
                                <a:rPr lang="en-US" sz="1600" b="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𝜙</m:t>
                              </m:r>
                              <m:r>
                                <a:rPr lang="en-US" sz="1600" b="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16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;</a:t>
                          </a:r>
                          <a:endParaRPr lang="en-US" sz="1100"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</a:tabLst>
                          </a:pPr>
                          <a:r>
                            <a:rPr lang="he-IL" sz="1600" kern="120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 (* בודקים</a:t>
                          </a:r>
                          <a:r>
                            <a:rPr lang="he-IL" sz="1600" kern="1200" baseline="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 אם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kern="1200" baseline="0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𝑠</m:t>
                              </m:r>
                              <m:r>
                                <a:rPr lang="en-US" sz="1600" i="1" kern="1200" baseline="0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’</m:t>
                              </m:r>
                              <m:r>
                                <a:rPr lang="en-US" sz="1600" i="1" kern="1200" baseline="0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he-IL" sz="1600" kern="1200" baseline="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 מקיימת את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kern="1200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𝜙</m:t>
                              </m:r>
                            </m:oMath>
                          </a14:m>
                          <a:r>
                            <a:rPr lang="he-IL" sz="1600" kern="120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 *)</a:t>
                          </a:r>
                          <a:endParaRPr lang="en-US" sz="1600" kern="12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+mn-ea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</a:tabLst>
                          </a:pPr>
                          <a:r>
                            <a:rPr lang="en-US" sz="16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		</a:t>
                          </a:r>
                          <a:r>
                            <a:rPr lang="en-US" sz="1600" b="1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else</a:t>
                          </a:r>
                          <a:endParaRPr lang="en-US" sz="1100"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</a:tabLst>
                          </a:pPr>
                          <a:endParaRPr lang="en-US" sz="1600" kern="12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+mn-ea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</a:tabLst>
                          </a:pPr>
                          <a:r>
                            <a:rPr lang="en-US" sz="1600" b="1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			take any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600" b="0" i="1" kern="120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onsolas" panose="020B0609020204030204" pitchFamily="49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 kern="120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onsolas" panose="020B0609020204030204" pitchFamily="49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1600" b="0" i="1" kern="120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onsolas" panose="020B0609020204030204" pitchFamily="49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1600" b="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′</m:t>
                              </m:r>
                              <m:r>
                                <a:rPr lang="en-US" sz="160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∈ </m:t>
                              </m:r>
                            </m:oMath>
                          </a14:m>
                          <a:r>
                            <a:rPr lang="en-US" sz="16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Post(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𝑠</m:t>
                              </m:r>
                              <m:r>
                                <a:rPr lang="en-US" sz="160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’</m:t>
                              </m:r>
                            </m:oMath>
                          </a14:m>
                          <a:r>
                            <a:rPr lang="en-US" sz="16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)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∖</m:t>
                              </m:r>
                              <m:r>
                                <a:rPr lang="en-US" sz="160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𝑅</m:t>
                              </m:r>
                            </m:oMath>
                          </a14:m>
                          <a:r>
                            <a:rPr lang="en-US" sz="16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;</a:t>
                          </a:r>
                          <a:endParaRPr lang="en-US" sz="1100"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</a:tabLst>
                          </a:pPr>
                          <a:endParaRPr lang="en-US" sz="16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Calibri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</a:tabLst>
                          </a:pPr>
                          <a:r>
                            <a:rPr lang="en-US" sz="1600" b="1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			</a:t>
                          </a:r>
                          <a:r>
                            <a:rPr lang="en-US" sz="16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push(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600" b="0" i="1" kern="120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onsolas" panose="020B0609020204030204" pitchFamily="49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 kern="120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onsolas" panose="020B0609020204030204" pitchFamily="49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1600" b="0" i="1" kern="120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onsolas" panose="020B0609020204030204" pitchFamily="49" charset="0"/>
                                    </a:rPr>
                                    <m:t>′′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6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, </a:t>
                          </a:r>
                          <a:r>
                            <a:rPr lang="en-US" sz="1600" i="0" kern="1200">
                              <a:solidFill>
                                <a:srgbClr val="000000"/>
                              </a:solidFill>
                              <a:latin typeface="+mj-lt"/>
                              <a:ea typeface="+mn-ea"/>
                              <a:cs typeface="Consolas" panose="020B0609020204030204" pitchFamily="49" charset="0"/>
                            </a:rPr>
                            <a:t>U</a:t>
                          </a:r>
                          <a:r>
                            <a:rPr lang="en-US" sz="16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);</a:t>
                          </a:r>
                          <a:endParaRPr lang="en-US" sz="1100"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</a:tabLst>
                          </a:pPr>
                          <a:endParaRPr lang="en-US" sz="16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Calibri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</a:tabLst>
                          </a:pPr>
                          <a:r>
                            <a:rPr lang="en-US" sz="16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			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𝑅</m:t>
                              </m:r>
                            </m:oMath>
                          </a14:m>
                          <a:r>
                            <a:rPr lang="en-US" sz="16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 :=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𝑅</m:t>
                              </m:r>
                              <m:r>
                                <a:rPr lang="en-US" sz="1600" b="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∪ 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600" b="0" i="1" kern="12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onsolas" panose="020B0609020204030204" pitchFamily="49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600" b="0" i="1" kern="1200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Consolas" panose="020B0609020204030204" pitchFamily="49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 kern="12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Consolas" panose="020B0609020204030204" pitchFamily="49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sz="1600" b="0" i="1" kern="1200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Consolas" panose="020B0609020204030204" pitchFamily="49" charset="0"/>
                                        </a:rPr>
                                        <m:t>′′</m:t>
                                      </m:r>
                                    </m:sup>
                                  </m:sSup>
                                </m:e>
                              </m:d>
                            </m:oMath>
                          </a14:m>
                          <a:r>
                            <a:rPr lang="en-US" sz="16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;</a:t>
                          </a:r>
                          <a:endParaRPr lang="en-US" sz="1100"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</a:tabLst>
                          </a:pPr>
                          <a:r>
                            <a:rPr lang="he-IL" sz="1600" kern="120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 (* גילינו מצב נגיש חדש</a:t>
                          </a:r>
                          <a:r>
                            <a:rPr lang="he-IL" sz="1600" kern="1200" baseline="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kern="1200" baseline="0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𝑠</m:t>
                              </m:r>
                              <m:r>
                                <a:rPr lang="en-US" sz="1600" i="1" kern="1200" baseline="0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’’</m:t>
                              </m:r>
                              <m:r>
                                <a:rPr lang="en-US" sz="1600" i="1" kern="1200" baseline="0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he-IL" sz="1600" kern="1200" baseline="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*)</a:t>
                          </a:r>
                          <a:endParaRPr lang="en-US" sz="1600" kern="12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+mn-ea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</a:tabLst>
                          </a:pPr>
                          <a:r>
                            <a:rPr lang="en-US" sz="16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		</a:t>
                          </a:r>
                          <a:r>
                            <a:rPr lang="en-US" sz="1600" b="1" kern="1200" err="1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fi</a:t>
                          </a:r>
                          <a:r>
                            <a:rPr lang="en-US" sz="1600" b="1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 </a:t>
                          </a:r>
                          <a:endParaRPr lang="en-US" sz="1100"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</a:tabLst>
                          </a:pPr>
                          <a:endParaRPr lang="en-US" sz="1600" kern="12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+mn-ea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</a:tabLst>
                          </a:pPr>
                          <a:r>
                            <a:rPr lang="en-US" sz="1600" b="1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	until 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(</m:t>
                              </m:r>
                              <m:r>
                                <a:rPr lang="en-US" sz="16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𝑈</m:t>
                              </m:r>
                              <m:r>
                                <a:rPr lang="en-US" sz="16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=</m:t>
                              </m:r>
                              <m:r>
                                <a:rPr lang="en-US" sz="16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𝜖</m:t>
                              </m:r>
                              <m:r>
                                <a:rPr lang="en-US" sz="16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 ∨  ¬</m:t>
                              </m:r>
                              <m:r>
                                <a:rPr lang="en-US" sz="16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𝑏</m:t>
                              </m:r>
                              <m:r>
                                <a:rPr lang="en-US" sz="16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)</m:t>
                              </m:r>
                            </m:oMath>
                          </a14:m>
                          <a:endParaRPr lang="en-US" sz="1100" b="0"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</a:tabLst>
                          </a:pPr>
                          <a:endParaRPr lang="en-US" sz="16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Calibri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</a:tabLst>
                          </a:pPr>
                          <a:r>
                            <a:rPr lang="en-US" sz="1600" b="1" kern="1200" err="1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endproc</a:t>
                          </a:r>
                          <a:r>
                            <a:rPr lang="en-US" sz="1600" b="1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 </a:t>
                          </a:r>
                          <a:endParaRPr lang="en-US" sz="1100"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</a:tabLst>
                          </a:pPr>
                          <a:endParaRPr lang="en-US" sz="16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Calibri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Content Placeholder 8"/>
              <p:cNvGraphicFramePr>
                <a:graphicFrameLocks noGrp="1"/>
              </p:cNvGraphicFramePr>
              <p:nvPr>
                <p:ph sz="quarter" idx="1"/>
                <p:extLst>
                  <p:ext uri="{D42A27DB-BD31-4B8C-83A1-F6EECF244321}">
                    <p14:modId xmlns:p14="http://schemas.microsoft.com/office/powerpoint/2010/main" val="1683802052"/>
                  </p:ext>
                </p:extLst>
              </p:nvPr>
            </p:nvGraphicFramePr>
            <p:xfrm>
              <a:off x="228600" y="1859280"/>
              <a:ext cx="8610600" cy="3941892"/>
            </p:xfrm>
            <a:graphic>
              <a:graphicData uri="http://schemas.openxmlformats.org/drawingml/2006/table">
                <a:tbl>
                  <a:tblPr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a:tblPr>
                  <a:tblGrid>
                    <a:gridCol w="47397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8708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62255"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14" t="-16279" r="-83290" b="-145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15000"/>
                            </a:lnSpc>
                            <a:spcBef>
                              <a:spcPts val="18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  <a:tab pos="3088005" algn="l"/>
                            </a:tabLst>
                          </a:pPr>
                          <a:r>
                            <a:rPr lang="he-IL" sz="160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Calibri"/>
                              <a:cs typeface="Gisha" panose="020B0502040204020203" pitchFamily="34" charset="-79"/>
                            </a:rPr>
                            <a:t>(* פרוצדורה</a:t>
                          </a:r>
                          <a:r>
                            <a:rPr lang="he-IL" sz="1600" baseline="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Calibri"/>
                              <a:cs typeface="Gisha" panose="020B0502040204020203" pitchFamily="34" charset="-79"/>
                            </a:rPr>
                            <a:t> לביקור במצב *) </a:t>
                          </a:r>
                          <a:endParaRPr lang="en-US" sz="16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Calibri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69875"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14" t="-113636" r="-83290" b="-13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  <a:tab pos="3088005" algn="l"/>
                            </a:tabLst>
                          </a:pPr>
                          <a:r>
                            <a:rPr lang="he-IL" sz="1600" b="0" kern="120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(* דוחפים את המצב למחסנית *)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62255"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14" t="-218605" r="-83290" b="-12488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  <a:tab pos="3088005" algn="l"/>
                            </a:tabLst>
                          </a:pPr>
                          <a:r>
                            <a:rPr lang="he-IL" sz="1600" kern="120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(* ומוסיפים אותו </a:t>
                          </a:r>
                          <a:r>
                            <a:rPr lang="he-IL" sz="1600" kern="1200" err="1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להמצבים</a:t>
                          </a:r>
                          <a:r>
                            <a:rPr lang="he-IL" sz="1600" kern="120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 שכבר ביקרנו *)</a:t>
                          </a:r>
                          <a:endParaRPr lang="en-US" sz="1600" kern="12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+mn-ea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62573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  <a:tab pos="3088005" algn="l"/>
                            </a:tabLst>
                          </a:pPr>
                          <a:r>
                            <a:rPr lang="en-US" sz="16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	</a:t>
                          </a:r>
                          <a:r>
                            <a:rPr lang="en-US" sz="1600" b="1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repeat</a:t>
                          </a:r>
                          <a:endParaRPr lang="en-US" sz="1100"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  <a:tab pos="3088005" algn="l"/>
                            </a:tabLst>
                          </a:pPr>
                          <a:endParaRPr lang="en-US" sz="1600" kern="12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+mn-ea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62255"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14" t="-409091" r="-83290" b="-102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  <a:tab pos="3088005" algn="l"/>
                            </a:tabLst>
                          </a:pPr>
                          <a:endParaRPr lang="en-US" sz="1600" kern="12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+mn-ea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62255"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14" t="-520930" r="-83290" b="-9465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  <a:tab pos="3088005" algn="l"/>
                            </a:tabLst>
                          </a:pPr>
                          <a:endParaRPr lang="en-US" sz="16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Calibri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62255"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14" t="-620930" r="-83290" b="-8465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</a:tabLst>
                          </a:pPr>
                          <a:endParaRPr lang="en-US" sz="1600" kern="12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+mn-ea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62255"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14" t="-720930" r="-83290" b="-7465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23150" t="-720930" r="-2047" b="-7465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62573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</a:tabLst>
                          </a:pPr>
                          <a:r>
                            <a:rPr lang="en-US" sz="16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		</a:t>
                          </a:r>
                          <a:r>
                            <a:rPr lang="en-US" sz="1600" b="1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else</a:t>
                          </a:r>
                          <a:endParaRPr lang="en-US" sz="1100"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</a:tabLst>
                          </a:pPr>
                          <a:endParaRPr lang="en-US" sz="1600" kern="12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+mn-ea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62255"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14" t="-920930" r="-83290" b="-5465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</a:tabLst>
                          </a:pPr>
                          <a:endParaRPr lang="en-US" sz="16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Calibri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61430"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14" t="-1020930" r="-83290" b="-4465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</a:tabLst>
                          </a:pPr>
                          <a:endParaRPr lang="en-US" sz="16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Calibri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262255"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14" t="-1120930" r="-83290" b="-3465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23150" t="-1120930" r="-2047" b="-3465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262573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</a:tabLst>
                          </a:pPr>
                          <a:r>
                            <a:rPr lang="en-US" sz="16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		</a:t>
                          </a:r>
                          <a:r>
                            <a:rPr lang="en-US" sz="1600" b="1" kern="1200" err="1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fi</a:t>
                          </a:r>
                          <a:r>
                            <a:rPr lang="en-US" sz="1600" b="1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 </a:t>
                          </a:r>
                          <a:endParaRPr lang="en-US" sz="1100"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</a:tabLst>
                          </a:pPr>
                          <a:endParaRPr lang="en-US" sz="1600" kern="12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+mn-ea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262255"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14" t="-1320930" r="-83290" b="-1465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</a:tabLst>
                          </a:pPr>
                          <a:endParaRPr lang="en-US" sz="16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Calibri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262573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</a:tabLst>
                          </a:pPr>
                          <a:r>
                            <a:rPr lang="en-US" sz="1600" b="1" kern="1200" err="1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endproc</a:t>
                          </a:r>
                          <a:r>
                            <a:rPr lang="en-US" sz="1600" b="1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 </a:t>
                          </a:r>
                          <a:endParaRPr lang="en-US" sz="1100"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  <a:tabLst>
                              <a:tab pos="685800" algn="l"/>
                              <a:tab pos="1085850" algn="l"/>
                            </a:tabLst>
                          </a:pPr>
                          <a:endParaRPr lang="en-US" sz="16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Calibri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175" y="0"/>
            <a:ext cx="7772400" cy="1143000"/>
          </a:xfrm>
        </p:spPr>
        <p:txBody>
          <a:bodyPr/>
          <a:lstStyle/>
          <a:p>
            <a:r>
              <a:rPr lang="he-IL" err="1">
                <a:latin typeface="Gisha" panose="020B0502040204020203" pitchFamily="34" charset="-79"/>
                <a:cs typeface="Gisha" panose="020B0502040204020203" pitchFamily="34" charset="-79"/>
              </a:rPr>
              <a:t>סיבוכיות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זמן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02 יוני 24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17</a:t>
            </a:fld>
            <a:endParaRPr lang="he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76200" y="1524000"/>
                <a:ext cx="8839200" cy="4191000"/>
              </a:xfrm>
            </p:spPr>
            <p:txBody>
              <a:bodyPr>
                <a:no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נניח שניתן לסרוק כל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𝑠</m:t>
                    </m:r>
                    <m:r>
                      <a:rPr lang="en-US" sz="2800" i="1" dirty="0" smtClean="0">
                        <a:latin typeface="Cambria Math"/>
                      </a:rPr>
                      <m:t>’</m:t>
                    </m:r>
                    <m:r>
                      <a:rPr lang="en-US" sz="2800" i="1" dirty="0" smtClean="0">
                        <a:latin typeface="Cambria Math"/>
                      </a:rPr>
                      <m:t>∈</m:t>
                    </m:r>
                    <m:r>
                      <a:rPr lang="en-US" sz="2800" i="1" dirty="0" smtClean="0">
                        <a:latin typeface="Cambria Math"/>
                      </a:rPr>
                      <m:t>𝑃𝑜𝑠𝑡</m:t>
                    </m:r>
                    <m:r>
                      <a:rPr lang="en-US" sz="2800" i="1" dirty="0" smtClean="0">
                        <a:latin typeface="Cambria Math"/>
                      </a:rPr>
                      <m:t>(</m:t>
                    </m:r>
                    <m:r>
                      <a:rPr lang="en-US" sz="2800" i="1" dirty="0" smtClean="0">
                        <a:latin typeface="Cambria Math"/>
                      </a:rPr>
                      <m:t>𝑠</m:t>
                    </m:r>
                    <m:r>
                      <a:rPr lang="en-US" sz="28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בזמן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/>
                      </a:rPr>
                      <m:t>𝜃</m:t>
                    </m:r>
                    <m:r>
                      <a:rPr lang="en-US" sz="2800" i="1" dirty="0" smtClean="0">
                        <a:latin typeface="Cambria Math"/>
                      </a:rPr>
                      <m:t>(|</m:t>
                    </m:r>
                    <m:r>
                      <a:rPr lang="en-US" sz="2800" i="1" dirty="0" smtClean="0">
                        <a:latin typeface="Cambria Math"/>
                      </a:rPr>
                      <m:t>𝑃𝑜𝑠𝑡</m:t>
                    </m:r>
                    <m:r>
                      <a:rPr lang="en-US" sz="2800" i="1" dirty="0" smtClean="0">
                        <a:latin typeface="Cambria Math"/>
                      </a:rPr>
                      <m:t>(</m:t>
                    </m:r>
                    <m:r>
                      <a:rPr lang="en-US" sz="2800" i="1" dirty="0" smtClean="0">
                        <a:latin typeface="Cambria Math"/>
                      </a:rPr>
                      <m:t>𝑠</m:t>
                    </m:r>
                    <m:r>
                      <a:rPr lang="en-US" sz="2800" i="1" dirty="0" smtClean="0">
                        <a:latin typeface="Cambria Math"/>
                      </a:rPr>
                      <m:t>)|) </m:t>
                    </m:r>
                  </m:oMath>
                </a14:m>
                <a:endParaRPr lang="en-US" sz="2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Aft>
                    <a:spcPts val="1200"/>
                  </a:spcAft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הנחה תקפה כאשר מייצגים את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𝑃𝑜𝑠𝑡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𝑠</m:t>
                    </m:r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ע"י רשימות סמיכות</a:t>
                </a:r>
              </a:p>
              <a:p>
                <a:pPr>
                  <a:spcBef>
                    <a:spcPts val="1800"/>
                  </a:spcBef>
                  <a:spcAft>
                    <a:spcPts val="1200"/>
                  </a:spcAft>
                </a:pP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סיבוכיות זמן בדיקת שמורה: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𝑂</m:t>
                    </m:r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𝑁</m:t>
                    </m:r>
                    <m:r>
                      <a:rPr lang="en-US" sz="28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⋅</m:t>
                    </m:r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|</m:t>
                    </m:r>
                    <m:r>
                      <a:rPr lang="en-US" sz="28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𝜙</m:t>
                    </m:r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|+</m:t>
                    </m:r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𝑀</m:t>
                    </m:r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) </m:t>
                    </m:r>
                  </m:oMath>
                </a14:m>
                <a:endParaRPr lang="en-US" sz="2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𝑁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מסמל את מספר המצבים הנגישים</a:t>
                </a:r>
              </a:p>
              <a:p>
                <a:pPr lvl="1"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𝑀</m:t>
                    </m:r>
                    <m:r>
                      <a:rPr lang="en-US" i="1" dirty="0" smtClean="0">
                        <a:latin typeface="Cambria Math"/>
                      </a:rPr>
                      <m:t> 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  <a:sym typeface="Symbol"/>
                          </a:rPr>
                          <m:t>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  <a:sym typeface="Symbol"/>
                          </a:rPr>
                          <m:t>𝑠</m:t>
                        </m:r>
                        <m:r>
                          <a:rPr lang="en-US" b="0" i="1" dirty="0" smtClean="0">
                            <a:latin typeface="Cambria Math"/>
                            <a:sym typeface="Symbol"/>
                          </a:rPr>
                          <m:t> ∈ </m:t>
                        </m:r>
                        <m:r>
                          <m:rPr>
                            <m:sty m:val="p"/>
                          </m:rPr>
                          <a:rPr lang="en-US" b="0" i="1" dirty="0" smtClean="0">
                            <a:latin typeface="Cambria Math"/>
                            <a:sym typeface="Symbol"/>
                          </a:rPr>
                          <m:t>S</m:t>
                        </m:r>
                      </m:sub>
                    </m:sSub>
                    <m:r>
                      <a:rPr lang="en-US" i="1" dirty="0" smtClean="0">
                        <a:latin typeface="Cambria Math"/>
                      </a:rPr>
                      <m:t> |</m:t>
                    </m:r>
                    <m:r>
                      <a:rPr lang="en-US" i="1" dirty="0" smtClean="0">
                        <a:latin typeface="Cambria Math"/>
                      </a:rPr>
                      <m:t>𝑃𝑜𝑠𝑡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𝑠</m:t>
                    </m:r>
                    <m:r>
                      <a:rPr lang="en-US" i="1" dirty="0" smtClean="0">
                        <a:latin typeface="Cambria Math"/>
                      </a:rPr>
                      <m:t>)| 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הוא מספר המעברים (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בחלק הנגיש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) של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𝑇𝑆</m:t>
                    </m:r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800"/>
                  </a:spcBef>
                  <a:spcAft>
                    <a:spcPts val="1200"/>
                  </a:spcAft>
                </a:pPr>
                <a:r>
                  <a:rPr lang="he-IL" sz="28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בדרך כלל לא מייצגים את רשימות הסמיכות באופן מפורש</a:t>
                </a:r>
              </a:p>
              <a:p>
                <a:pPr lvl="1">
                  <a:spcAft>
                    <a:spcPts val="1200"/>
                  </a:spcAft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למשל: ניתן להשתמש במעבר ישיר על גרפי התוכנית. במקרה זה,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𝑃𝑜𝑠𝑡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𝑠</m:t>
                    </m:r>
                    <m:r>
                      <a:rPr lang="en-US" i="1" dirty="0" smtClean="0">
                        <a:latin typeface="Cambria Math"/>
                      </a:rPr>
                      <m:t>) 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מתקבל מהכללים של יחס המעברים.</a:t>
                </a: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76200" y="1524000"/>
                <a:ext cx="8839200" cy="4191000"/>
              </a:xfrm>
              <a:blipFill>
                <a:blip r:embed="rId2"/>
                <a:stretch>
                  <a:fillRect t="-1599" r="-828" b="-1715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13344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אלגוריתם שנותן גם דוגמה נגדית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02 יוני 24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18</a:t>
            </a:fld>
            <a:endParaRPr lang="he-IL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Content Placeholder 5"/>
              <p:cNvGraphicFramePr>
                <a:graphicFrameLocks/>
              </p:cNvGraphicFramePr>
              <p:nvPr/>
            </p:nvGraphicFramePr>
            <p:xfrm>
              <a:off x="1295400" y="1447800"/>
              <a:ext cx="7239000" cy="4582922"/>
            </p:xfrm>
            <a:graphic>
              <a:graphicData uri="http://schemas.openxmlformats.org/drawingml/2006/table">
                <a:tbl>
                  <a:tblPr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a:tblPr>
                  <a:tblGrid>
                    <a:gridCol w="419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set</a:t>
                          </a:r>
                          <a:r>
                            <a:rPr lang="en-US" sz="1800" b="0" kern="1200" baseline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 </a:t>
                          </a:r>
                          <a:r>
                            <a:rPr lang="en-US" sz="18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of states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𝑅</m:t>
                              </m:r>
                              <m:r>
                                <a:rPr lang="en-US" sz="180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≔∅</m:t>
                              </m:r>
                            </m:oMath>
                          </a14:m>
                          <a:endParaRPr lang="en-US" sz="1050"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he-IL" sz="1600" kern="120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(* </a:t>
                          </a:r>
                          <a:r>
                            <a:rPr lang="he-IL" sz="1600" b="0" kern="120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קבוצת המצבים בהם</a:t>
                          </a:r>
                          <a:r>
                            <a:rPr lang="he-IL" sz="1600" b="0" kern="1200" baseline="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 ביקרנו </a:t>
                          </a:r>
                          <a:r>
                            <a:rPr lang="he-IL" sz="1600" kern="1200" baseline="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*)</a:t>
                          </a:r>
                          <a:endParaRPr lang="en-US" sz="16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Calibri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stack </a:t>
                          </a:r>
                          <a:r>
                            <a:rPr lang="en-US" sz="18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of states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𝑈</m:t>
                              </m:r>
                              <m:r>
                                <a:rPr lang="en-US" sz="180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 :=</m:t>
                              </m:r>
                              <m:r>
                                <a:rPr lang="en-US" sz="1800" b="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𝜖</m:t>
                              </m:r>
                            </m:oMath>
                          </a14:m>
                          <a:r>
                            <a:rPr lang="en-US" sz="18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;</a:t>
                          </a:r>
                          <a:r>
                            <a:rPr lang="en-US" sz="16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 </a:t>
                          </a:r>
                          <a:endParaRPr lang="en-US" sz="1050"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he-IL" sz="1600" kern="120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(* מחסנית מצבים "לטיפול" *)</a:t>
                          </a:r>
                          <a:endParaRPr lang="en-US" sz="16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Calibri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kern="1200" err="1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boolean</a:t>
                          </a:r>
                          <a:r>
                            <a:rPr lang="en-US" sz="1800" b="1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𝑏</m:t>
                              </m:r>
                            </m:oMath>
                          </a14:m>
                          <a:r>
                            <a:rPr lang="en-US" sz="18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 := true</a:t>
                          </a:r>
                          <a:r>
                            <a:rPr lang="en-US" sz="16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; </a:t>
                          </a:r>
                          <a:endParaRPr lang="en-US" sz="1050"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defTabSz="914400" rtl="1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he-IL" sz="1600" kern="120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(*</a:t>
                          </a:r>
                          <a:r>
                            <a:rPr lang="he-IL" sz="1600" kern="1200" baseline="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 כל המצבים ב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kern="1200" baseline="0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𝑅</m:t>
                              </m:r>
                            </m:oMath>
                          </a14:m>
                          <a:r>
                            <a:rPr lang="he-IL" sz="1600" kern="1200" baseline="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 מקיימים את </a:t>
                          </a:r>
                          <a14:m>
                            <m:oMath xmlns:m="http://schemas.openxmlformats.org/officeDocument/2006/math">
                              <m:r>
                                <a:rPr lang="he-IL" sz="1600" b="0" i="1" kern="1200" baseline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𝜙</m:t>
                              </m:r>
                            </m:oMath>
                          </a14:m>
                          <a:r>
                            <a:rPr lang="he-IL" sz="1600" kern="1200" baseline="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*)</a:t>
                          </a:r>
                          <a:endParaRPr lang="en-US" sz="16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Calibri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wile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((</m:t>
                              </m:r>
                              <m:r>
                                <a:rPr lang="en-US" sz="1800" b="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𝐼</m:t>
                              </m:r>
                              <m:r>
                                <a:rPr lang="en-US" sz="1800" b="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∖</m:t>
                              </m:r>
                              <m:r>
                                <a:rPr lang="en-US" sz="1800" b="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𝑅</m:t>
                              </m:r>
                              <m:r>
                                <a:rPr lang="en-US" sz="1800" b="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≠</m:t>
                              </m:r>
                              <m:r>
                                <a:rPr lang="en-US" sz="1800" b="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∅</m:t>
                              </m:r>
                              <m:r>
                                <a:rPr lang="en-US" sz="1800" b="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)∧</m:t>
                              </m:r>
                              <m:r>
                                <a:rPr lang="en-US" sz="1800" b="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𝑏</m:t>
                              </m:r>
                              <m:r>
                                <a:rPr lang="en-US" sz="1800" b="0" i="1" kern="12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18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 </a:t>
                          </a:r>
                          <a:r>
                            <a:rPr lang="en-US" sz="1800" b="1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do</a:t>
                          </a:r>
                          <a:endParaRPr lang="en-US" sz="1050" b="1"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1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Gisha" panose="020B0502040204020203" pitchFamily="34" charset="-79"/>
                            <a:ea typeface="Calibri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	</a:t>
                          </a:r>
                          <a:r>
                            <a:rPr lang="en-US" sz="1800" b="1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take</a:t>
                          </a:r>
                          <a:r>
                            <a:rPr lang="en-US" sz="1800" b="1" kern="1200" baseline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 any</a:t>
                          </a:r>
                          <a:r>
                            <a:rPr lang="en-US" sz="1800" kern="1200" baseline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kern="1200" dirty="0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𝑠</m:t>
                              </m:r>
                              <m:r>
                                <a:rPr lang="en-US" sz="1800" b="0" i="1" kern="1200" dirty="0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∈</m:t>
                              </m:r>
                              <m:r>
                                <a:rPr lang="en-US" sz="1800" b="0" i="1" kern="1200" dirty="0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𝐼</m:t>
                              </m:r>
                              <m:r>
                                <a:rPr lang="en-US" sz="1800" b="0" i="1" kern="1200" dirty="0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∖</m:t>
                              </m:r>
                              <m:r>
                                <a:rPr lang="en-US" sz="1800" b="0" i="1" kern="1200" dirty="0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𝑅</m:t>
                              </m:r>
                            </m:oMath>
                          </a14:m>
                          <a:endParaRPr lang="en-US" sz="1800" b="0" kern="1200">
                            <a:solidFill>
                              <a:srgbClr val="000000"/>
                            </a:solidFill>
                            <a:latin typeface="Consolas" panose="020B0609020204030204" pitchFamily="49" charset="0"/>
                            <a:ea typeface="+mn-ea"/>
                            <a:cs typeface="Consolas" panose="020B0609020204030204" pitchFamily="49" charset="0"/>
                          </a:endParaRP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	visit(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kern="1200" dirty="0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𝑠</m:t>
                              </m:r>
                            </m:oMath>
                          </a14:m>
                          <a:r>
                            <a:rPr lang="en-US" sz="1800" b="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)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od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if</a:t>
                          </a:r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𝑏</m:t>
                              </m:r>
                            </m:oMath>
                          </a14:m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 </a:t>
                          </a:r>
                          <a:r>
                            <a:rPr kumimoji="0" lang="en-US" sz="18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ten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6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Times New Roman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	return “yes”</a:t>
                          </a:r>
                          <a:endPara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Consolas" panose="020B0609020204030204" pitchFamily="49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else</a:t>
                          </a:r>
                          <a:endParaRPr kumimoji="0" lang="en-US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1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Gisha" panose="020B0502040204020203" pitchFamily="34" charset="-79"/>
                            <a:ea typeface="Calibri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	return “no”, </a:t>
                          </a:r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reverse(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18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Consolas" panose="020B0609020204030204" pitchFamily="49" charset="0"/>
                                </a:rPr>
                                <m:t>𝑈</m:t>
                              </m:r>
                            </m:oMath>
                          </a14:m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)</a:t>
                          </a:r>
                          <a:endPara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6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Times New Roman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fi</a:t>
                          </a:r>
                          <a:endParaRPr lang="en-US" sz="1050"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6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Times New Roman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Content Placeholder 5"/>
              <p:cNvGraphicFramePr>
                <a:graphicFrameLocks/>
              </p:cNvGraphicFramePr>
              <p:nvPr/>
            </p:nvGraphicFramePr>
            <p:xfrm>
              <a:off x="1295400" y="1447800"/>
              <a:ext cx="7239000" cy="4582922"/>
            </p:xfrm>
            <a:graphic>
              <a:graphicData uri="http://schemas.openxmlformats.org/drawingml/2006/table">
                <a:tbl>
                  <a:tblPr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a:tblPr>
                  <a:tblGrid>
                    <a:gridCol w="419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7030"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81" t="-6667" r="-74564" b="-119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he-IL" sz="1600" kern="120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(* </a:t>
                          </a:r>
                          <a:r>
                            <a:rPr lang="he-IL" sz="1600" b="0" kern="120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קבוצת המצבים בהם</a:t>
                          </a:r>
                          <a:r>
                            <a:rPr lang="he-IL" sz="1600" b="0" kern="1200" baseline="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 ביקרנו </a:t>
                          </a:r>
                          <a:r>
                            <a:rPr lang="he-IL" sz="1600" kern="1200" baseline="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*)</a:t>
                          </a:r>
                          <a:endParaRPr lang="en-US" sz="16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Calibri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7030"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81" t="-104918" r="-74564" b="-1075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he-IL" sz="1600" kern="120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+mn-ea"/>
                              <a:cs typeface="Gisha" panose="020B0502040204020203" pitchFamily="34" charset="-79"/>
                            </a:rPr>
                            <a:t>(* מחסנית מצבים "לטיפול" *)</a:t>
                          </a:r>
                          <a:endParaRPr lang="en-US" sz="16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Calibri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7030"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81" t="-208333" r="-74564" b="-99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38400" t="-208333" r="-2600" b="-99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7030"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81" t="-308333" r="-74564" b="-89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1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Gisha" panose="020B0502040204020203" pitchFamily="34" charset="-79"/>
                            <a:ea typeface="Calibri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601470"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81" t="-93156" r="-74564" b="-103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6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Times New Roman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778891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	return “yes”</a:t>
                          </a:r>
                          <a:endPara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Consolas" panose="020B0609020204030204" pitchFamily="49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else</a:t>
                          </a:r>
                          <a:endParaRPr kumimoji="0" lang="en-US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1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Gisha" panose="020B0502040204020203" pitchFamily="34" charset="-79"/>
                            <a:ea typeface="Calibri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67030"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81" t="-1042623" r="-74564" b="-1377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6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Times New Roman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67411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kern="120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fi</a:t>
                          </a:r>
                          <a:endParaRPr lang="en-US" sz="1050"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 rtl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60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ea typeface="Times New Roman"/>
                            <a:cs typeface="Gisha" panose="020B0502040204020203" pitchFamily="34" charset="-79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090108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02 יוני 24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19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9" name="Title 1"/>
          <p:cNvSpPr>
            <a:spLocks noGrp="1"/>
          </p:cNvSpPr>
          <p:nvPr>
            <p:ph type="title"/>
          </p:nvPr>
        </p:nvSpPr>
        <p:spPr>
          <a:xfrm>
            <a:off x="533400" y="14938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he-IL" sz="3600">
                <a:latin typeface="Gisha" panose="020B0502040204020203" pitchFamily="34" charset="-79"/>
                <a:cs typeface="Gisha" panose="020B0502040204020203" pitchFamily="34" charset="-79"/>
              </a:rPr>
              <a:t>דוגמה נגדית שימושית יותר מאשר הוכחת נכונות</a:t>
            </a:r>
            <a:br>
              <a:rPr lang="he-IL" sz="3600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 sz="36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כי דוגמה נגדית יכולה להצביע על בָּאג </a:t>
            </a:r>
            <a:r>
              <a:rPr lang="he-IL" sz="3600" err="1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אמיתי</a:t>
            </a:r>
            <a:endParaRPr lang="he-IL" sz="3600">
              <a:solidFill>
                <a:srgbClr val="0000FF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5410200" y="1676400"/>
            <a:ext cx="1219200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מערכת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34000" y="2933700"/>
            <a:ext cx="1371600" cy="548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מידול</a:t>
            </a:r>
          </a:p>
        </p:txBody>
      </p:sp>
      <p:sp>
        <p:nvSpPr>
          <p:cNvPr id="32" name="Oval 31"/>
          <p:cNvSpPr/>
          <p:nvPr/>
        </p:nvSpPr>
        <p:spPr>
          <a:xfrm>
            <a:off x="4480560" y="5638800"/>
            <a:ext cx="1463040" cy="7620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 נגדית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82094" y="3962400"/>
            <a:ext cx="2094706" cy="91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>
                <a:solidFill>
                  <a:schemeClr val="dk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בדיקות מודל</a:t>
            </a:r>
          </a:p>
          <a:p>
            <a:pPr algn="ctr"/>
            <a:r>
              <a:rPr lang="he-IL">
                <a:solidFill>
                  <a:schemeClr val="dk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(</a:t>
            </a:r>
            <a:r>
              <a:rPr lang="en-US">
                <a:solidFill>
                  <a:schemeClr val="dk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Model </a:t>
            </a:r>
            <a:r>
              <a:rPr lang="en-US" err="1">
                <a:solidFill>
                  <a:schemeClr val="dk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Cecking</a:t>
            </a:r>
            <a:r>
              <a:rPr lang="he-IL">
                <a:solidFill>
                  <a:schemeClr val="dk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)</a:t>
            </a:r>
          </a:p>
        </p:txBody>
      </p:sp>
      <p:sp>
        <p:nvSpPr>
          <p:cNvPr id="34" name="Oval 33"/>
          <p:cNvSpPr/>
          <p:nvPr/>
        </p:nvSpPr>
        <p:spPr>
          <a:xfrm>
            <a:off x="952500" y="1676400"/>
            <a:ext cx="1219200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solidFill>
                  <a:schemeClr val="lt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דרישות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6300" y="2933700"/>
            <a:ext cx="1371600" cy="548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solidFill>
                  <a:schemeClr val="lt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פירמול</a:t>
            </a:r>
          </a:p>
        </p:txBody>
      </p:sp>
      <p:sp>
        <p:nvSpPr>
          <p:cNvPr id="36" name="Oval 35"/>
          <p:cNvSpPr/>
          <p:nvPr/>
        </p:nvSpPr>
        <p:spPr>
          <a:xfrm>
            <a:off x="685800" y="4038600"/>
            <a:ext cx="1752600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solidFill>
                  <a:schemeClr val="lt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תכונות פורמליות</a:t>
            </a:r>
          </a:p>
        </p:txBody>
      </p:sp>
      <p:sp>
        <p:nvSpPr>
          <p:cNvPr id="37" name="Oval 36"/>
          <p:cNvSpPr/>
          <p:nvPr/>
        </p:nvSpPr>
        <p:spPr>
          <a:xfrm>
            <a:off x="5257800" y="4038600"/>
            <a:ext cx="1524000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מודל של המערכת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29400" y="5745480"/>
            <a:ext cx="1371600" cy="54864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סימולציה</a:t>
            </a:r>
          </a:p>
        </p:txBody>
      </p:sp>
      <p:sp>
        <p:nvSpPr>
          <p:cNvPr id="39" name="Oval 38"/>
          <p:cNvSpPr/>
          <p:nvPr/>
        </p:nvSpPr>
        <p:spPr>
          <a:xfrm>
            <a:off x="1737360" y="5638800"/>
            <a:ext cx="1463040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התכונות הוכחה</a:t>
            </a:r>
          </a:p>
        </p:txBody>
      </p:sp>
      <p:cxnSp>
        <p:nvCxnSpPr>
          <p:cNvPr id="40" name="Straight Arrow Connector 39"/>
          <p:cNvCxnSpPr>
            <a:endCxn id="35" idx="0"/>
          </p:cNvCxnSpPr>
          <p:nvPr/>
        </p:nvCxnSpPr>
        <p:spPr>
          <a:xfrm rot="5400000">
            <a:off x="1314450" y="2686050"/>
            <a:ext cx="4953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35" idx="2"/>
            <a:endCxn id="36" idx="0"/>
          </p:cNvCxnSpPr>
          <p:nvPr/>
        </p:nvCxnSpPr>
        <p:spPr>
          <a:xfrm rot="5400000">
            <a:off x="1283970" y="3760470"/>
            <a:ext cx="55626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endCxn id="31" idx="0"/>
          </p:cNvCxnSpPr>
          <p:nvPr/>
        </p:nvCxnSpPr>
        <p:spPr>
          <a:xfrm rot="5400000">
            <a:off x="5772150" y="2686050"/>
            <a:ext cx="4953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31" idx="2"/>
            <a:endCxn id="37" idx="0"/>
          </p:cNvCxnSpPr>
          <p:nvPr/>
        </p:nvCxnSpPr>
        <p:spPr>
          <a:xfrm rot="5400000">
            <a:off x="5741670" y="3760470"/>
            <a:ext cx="55626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37" idx="2"/>
            <a:endCxn id="33" idx="3"/>
          </p:cNvCxnSpPr>
          <p:nvPr/>
        </p:nvCxnSpPr>
        <p:spPr>
          <a:xfrm flipH="1">
            <a:off x="4876800" y="4419600"/>
            <a:ext cx="3810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6" idx="6"/>
            <a:endCxn id="33" idx="1"/>
          </p:cNvCxnSpPr>
          <p:nvPr/>
        </p:nvCxnSpPr>
        <p:spPr>
          <a:xfrm>
            <a:off x="2438400" y="4419600"/>
            <a:ext cx="343694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33" idx="2"/>
            <a:endCxn id="39" idx="7"/>
          </p:cNvCxnSpPr>
          <p:nvPr/>
        </p:nvCxnSpPr>
        <p:spPr>
          <a:xfrm flipH="1">
            <a:off x="2986143" y="4876800"/>
            <a:ext cx="843304" cy="87359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33" idx="2"/>
            <a:endCxn id="32" idx="1"/>
          </p:cNvCxnSpPr>
          <p:nvPr/>
        </p:nvCxnSpPr>
        <p:spPr>
          <a:xfrm>
            <a:off x="3829447" y="4876800"/>
            <a:ext cx="865370" cy="87359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32" idx="6"/>
            <a:endCxn id="38" idx="1"/>
          </p:cNvCxnSpPr>
          <p:nvPr/>
        </p:nvCxnSpPr>
        <p:spPr>
          <a:xfrm>
            <a:off x="5943600" y="6019800"/>
            <a:ext cx="685800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9" name="Shape 48"/>
          <p:cNvCxnSpPr>
            <a:stCxn id="37" idx="6"/>
            <a:endCxn id="38" idx="0"/>
          </p:cNvCxnSpPr>
          <p:nvPr/>
        </p:nvCxnSpPr>
        <p:spPr>
          <a:xfrm>
            <a:off x="6781800" y="4419600"/>
            <a:ext cx="533400" cy="1325880"/>
          </a:xfrm>
          <a:prstGeom prst="bentConnector2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0" name="Elbow Connector 49"/>
          <p:cNvCxnSpPr>
            <a:stCxn id="38" idx="3"/>
            <a:endCxn id="31" idx="3"/>
          </p:cNvCxnSpPr>
          <p:nvPr/>
        </p:nvCxnSpPr>
        <p:spPr>
          <a:xfrm flipH="1" flipV="1">
            <a:off x="6705600" y="3208020"/>
            <a:ext cx="1295400" cy="2811780"/>
          </a:xfrm>
          <a:prstGeom prst="bentConnector3">
            <a:avLst>
              <a:gd name="adj1" fmla="val -17647"/>
            </a:avLst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1" name="Elbow Connector 50"/>
          <p:cNvCxnSpPr>
            <a:stCxn id="38" idx="3"/>
            <a:endCxn id="30" idx="6"/>
          </p:cNvCxnSpPr>
          <p:nvPr/>
        </p:nvCxnSpPr>
        <p:spPr>
          <a:xfrm flipH="1" flipV="1">
            <a:off x="6629400" y="2057400"/>
            <a:ext cx="1371600" cy="3962400"/>
          </a:xfrm>
          <a:prstGeom prst="bentConnector3">
            <a:avLst>
              <a:gd name="adj1" fmla="val -46203"/>
            </a:avLst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8" name="Shape 27"/>
          <p:cNvCxnSpPr>
            <a:stCxn id="38" idx="2"/>
            <a:endCxn id="35" idx="1"/>
          </p:cNvCxnSpPr>
          <p:nvPr/>
        </p:nvCxnSpPr>
        <p:spPr>
          <a:xfrm rot="5400000" flipH="1">
            <a:off x="2552700" y="1531620"/>
            <a:ext cx="3086100" cy="6438900"/>
          </a:xfrm>
          <a:prstGeom prst="bentConnector4">
            <a:avLst>
              <a:gd name="adj1" fmla="val -10783"/>
              <a:gd name="adj2" fmla="val 106786"/>
            </a:avLst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03040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ADMINISTRATOR@3HZWZZR6INUPNVTI" val="3557"/>
  <p:tag name="FIRSTGERAW@YFUXXLKFUVWYY57I" val="3555"/>
  <p:tag name="FIRSTUSER@YFBVXUQFUVWYY57I" val="3590"/>
  <p:tag name="DEFAULTDISPLAYSOURCE" val="\documentclass{article}\pagestyle{empty}&#10;&#10;\begin{document}&#10;&#10;\end{document}&#10;"/>
  <p:tag name="EMBEDFONTS" val="1"/>
  <p:tag name="FIRSTGERAW@BMGANINFUVWYY57I" val="393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DENFONTSHAPE" val="true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0</TotalTime>
  <Words>1333</Words>
  <Application>Microsoft Office PowerPoint</Application>
  <PresentationFormat>On-screen Show (4:3)</PresentationFormat>
  <Paragraphs>263</Paragraphs>
  <Slides>19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Arial Rounded MT Bold</vt:lpstr>
      <vt:lpstr>Calibri</vt:lpstr>
      <vt:lpstr>Cambria Math</vt:lpstr>
      <vt:lpstr>cmr10</vt:lpstr>
      <vt:lpstr>Consolas</vt:lpstr>
      <vt:lpstr>Franklin Gothic Book</vt:lpstr>
      <vt:lpstr>Gisha</vt:lpstr>
      <vt:lpstr>Perpetua</vt:lpstr>
      <vt:lpstr>Wingdings 2</vt:lpstr>
      <vt:lpstr>Equity</vt:lpstr>
      <vt:lpstr>תכונות שמורה Invariant Properties</vt:lpstr>
      <vt:lpstr>בדיקות מודל (Model Checking)</vt:lpstr>
      <vt:lpstr>תזכורת: תכונות זמן ליניארי  Linear Time Properties</vt:lpstr>
      <vt:lpstr>מאפיינים של מערכות שאינם  תכונות זמן לינארי</vt:lpstr>
      <vt:lpstr>דוגמה: שתי מכונות שתייה</vt:lpstr>
      <vt:lpstr>דוגמה: "הכל צפוי והרשות נתונה"  (אבות ג' טו')</vt:lpstr>
      <vt:lpstr>דוגמה: תכונה הנוגעת לקיום ריצות</vt:lpstr>
      <vt:lpstr>סוגים של תכונות</vt:lpstr>
      <vt:lpstr>תכונות שְׁמוּרָה (invariants)</vt:lpstr>
      <vt:lpstr>דוגמאות</vt:lpstr>
      <vt:lpstr>דוגמאות</vt:lpstr>
      <vt:lpstr>דוגמאות</vt:lpstr>
      <vt:lpstr>דוגמה</vt:lpstr>
      <vt:lpstr>בדיקת שמורות</vt:lpstr>
      <vt:lpstr>בדיקת שמורה באמצעות DFS</vt:lpstr>
      <vt:lpstr>בדיקת שמורה באמצעות DFS</vt:lpstr>
      <vt:lpstr>סיבוכיות זמן</vt:lpstr>
      <vt:lpstr>אלגוריתם שנותן גם דוגמה נגדית</vt:lpstr>
      <vt:lpstr>דוגמה נגדית שימושית יותר מאשר הוכחת נכונות כי דוגמה נגדית יכולה להצביע על בָּאג אמיתי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מקביליות</dc:title>
  <dc:creator>John Doil</dc:creator>
  <cp:lastModifiedBy>Gera Weiss</cp:lastModifiedBy>
  <cp:revision>1</cp:revision>
  <dcterms:created xsi:type="dcterms:W3CDTF">2009-09-27T20:49:26Z</dcterms:created>
  <dcterms:modified xsi:type="dcterms:W3CDTF">2024-06-02T19:45:22Z</dcterms:modified>
</cp:coreProperties>
</file>