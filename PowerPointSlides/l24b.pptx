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256" r:id="rId2"/>
    <p:sldId id="458" r:id="rId3"/>
    <p:sldId id="459" r:id="rId4"/>
    <p:sldId id="460" r:id="rId5"/>
  </p:sldIdLst>
  <p:sldSz cx="9144000" cy="6858000" type="screen4x3"/>
  <p:notesSz cx="6858000" cy="9144000"/>
  <p:custDataLst>
    <p:tags r:id="rId8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FF"/>
    <a:srgbClr val="FFD9D9"/>
    <a:srgbClr val="D4ECBA"/>
    <a:srgbClr val="000066"/>
    <a:srgbClr val="FFFFCC"/>
    <a:srgbClr val="FFFF99"/>
    <a:srgbClr val="CCECFF"/>
    <a:srgbClr val="0000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17" autoAdjust="0"/>
    <p:restoredTop sz="94790" autoAdjust="0"/>
  </p:normalViewPr>
  <p:slideViewPr>
    <p:cSldViewPr>
      <p:cViewPr varScale="1">
        <p:scale>
          <a:sx n="105" d="100"/>
          <a:sy n="105" d="100"/>
        </p:scale>
        <p:origin x="1500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0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1/15/2020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93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 dirty="0"/>
              <a:t>עדכון אחרון </a:t>
            </a:r>
            <a:fld id="{7B086AAE-F14E-4B30-87F9-1FD42B9BCCB9}" type="datetime8">
              <a:rPr lang="he-IL" smtClean="0"/>
              <a:pPr/>
              <a:t>15 ינואר 20</a:t>
            </a:fld>
            <a:endParaRPr lang="he-IL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266" name="Picture 2" descr="http://bgu.ac.il/NR/rdonlyres/4E908188-6AC7-4C07-9237-368D40E2EEFB/41072/BGU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7623" y="92075"/>
            <a:ext cx="520177" cy="6699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גרא וייס</a:t>
            </a:r>
          </a:p>
          <a:p>
            <a:r>
              <a:rPr lang="he-IL" dirty="0"/>
              <a:t>המחלקה למדעי המחשב</a:t>
            </a:r>
          </a:p>
          <a:p>
            <a:r>
              <a:rPr lang="he-IL" dirty="0"/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en-US" dirty="0" smtClean="0">
                <a:latin typeface="Arial Rounded MT Bold" panose="020F0704030504030204" pitchFamily="34" charset="0"/>
              </a:rPr>
              <a:t>CTL</a:t>
            </a:r>
            <a:endParaRPr lang="he-IL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dirty="0" err="1"/>
              <a:t>TexPoint</a:t>
            </a:r>
            <a:r>
              <a:rPr lang="en-US"/>
              <a:t>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R7"/>
              </a:rPr>
              <a:t>A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MI7"/>
              </a:rPr>
              <a:t>A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SY7"/>
              </a:rPr>
              <a:t>A</a:t>
            </a:r>
            <a:r>
              <a:rPr lang="en-US">
                <a:latin typeface="CMMI8"/>
              </a:rPr>
              <a:t>A</a:t>
            </a:r>
            <a:r>
              <a:rPr lang="en-US">
                <a:latin typeface="LCMSS8"/>
              </a:rPr>
              <a:t>A</a:t>
            </a:r>
            <a:r>
              <a:rPr lang="en-US">
                <a:latin typeface="CMSY8"/>
              </a:rPr>
              <a:t>A</a:t>
            </a:r>
            <a:r>
              <a:rPr lang="en-US">
                <a:latin typeface="CMSY8"/>
                <a:sym typeface="STMARY10"/>
              </a:rPr>
              <a:t></a:t>
            </a:r>
            <a:r>
              <a:rPr lang="en-US">
                <a:latin typeface="CMMI5"/>
                <a:sym typeface="STMARY10"/>
              </a:rPr>
              <a:t>A</a:t>
            </a:r>
            <a:r>
              <a:rPr lang="en-US">
                <a:latin typeface="CMR5"/>
                <a:sym typeface="STMARY10"/>
              </a:rPr>
              <a:t>A</a:t>
            </a:r>
            <a:r>
              <a:rPr lang="en-US">
                <a:latin typeface="CMSY5"/>
                <a:sym typeface="STMARY10"/>
              </a:rPr>
              <a:t>A</a:t>
            </a:r>
            <a:r>
              <a:rPr lang="en-US">
                <a:latin typeface="CMEX10"/>
                <a:sym typeface="STMARY10"/>
              </a:rPr>
              <a:t>A</a:t>
            </a:r>
            <a:r>
              <a:rPr lang="en-US">
                <a:latin typeface="MSAM7"/>
                <a:sym typeface="STMARY10"/>
              </a:rPr>
              <a:t>A</a:t>
            </a:r>
            <a:r>
              <a:rPr lang="en-US">
                <a:latin typeface="HELVETICA"/>
                <a:cs typeface="HELVETICA"/>
                <a:sym typeface="STMARY10"/>
              </a:rPr>
              <a:t>A</a:t>
            </a:r>
            <a:r>
              <a:rPr lang="en-US">
                <a:latin typeface="AREVSANS-OBLIQUE"/>
                <a:cs typeface="HELVETICA"/>
                <a:sym typeface="STMARY10"/>
              </a:rPr>
              <a:t>A</a:t>
            </a:r>
            <a:r>
              <a:rPr lang="en-US">
                <a:latin typeface="AREVSANS-ROMAN"/>
                <a:cs typeface="HELVETICA"/>
                <a:sym typeface="STMARY10"/>
              </a:rPr>
              <a:t>A</a:t>
            </a:r>
            <a:r>
              <a:rPr lang="en-US">
                <a:latin typeface="MATHDESIGN-CH-BOLD-OT1-1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YMBOL"/>
              </a:rPr>
              <a:t></a:t>
            </a:r>
            <a:r>
              <a:rPr lang="en-US">
                <a:latin typeface="SFRM0700"/>
                <a:cs typeface="HELVETICA"/>
                <a:sym typeface="SYMBOL"/>
              </a:rPr>
              <a:t>A</a:t>
            </a:r>
            <a:r>
              <a:rPr lang="en-US">
                <a:latin typeface="SFSS1000"/>
                <a:cs typeface="HELVETICA"/>
                <a:sym typeface="SYMBOL"/>
              </a:rPr>
              <a:t>A</a:t>
            </a:r>
            <a:r>
              <a:rPr lang="en-US">
                <a:latin typeface="CMSS10"/>
                <a:cs typeface="HELVETICA"/>
                <a:sym typeface="SYMBOL"/>
              </a:rPr>
              <a:t>A</a:t>
            </a:r>
            <a:r>
              <a:rPr lang="en-US">
                <a:latin typeface="CMSS8"/>
                <a:cs typeface="HELVETICA"/>
                <a:sym typeface="SYMBOL"/>
              </a:rPr>
              <a:t>AA</a:t>
            </a:r>
            <a:r>
              <a:rPr lang="en-US">
                <a:latin typeface="MSBM10"/>
                <a:cs typeface="HELVETICA"/>
                <a:sym typeface="SYMBOL"/>
              </a:rPr>
              <a:t>A</a:t>
            </a:r>
            <a:endParaRPr lang="he-IL"/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/>
              <a:pPr/>
              <a:t>15 ינואר 20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 dirty="0" smtClean="0"/>
              <a:t>זמן לינארי ומתפצל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</a:t>
            </a:fld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143000"/>
                <a:ext cx="9144000" cy="5410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לוגיקת זמן </a:t>
                </a:r>
                <a:r>
                  <a:rPr lang="he-IL" dirty="0" smtClean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לינארי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 (</a:t>
                </a:r>
                <a:r>
                  <a:rPr lang="en-US" dirty="0" smtClean="0">
                    <a:latin typeface="Arial Rounded MT Bold" panose="020F0704030504030204" pitchFamily="34" charset="0"/>
                  </a:rPr>
                  <a:t>LTL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)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אמירות לגבי קבוצת כל המסלולים המתחילים במצב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>
                        <a:sym typeface="Symbol" panose="05050102010706020507" pitchFamily="18" charset="2"/>
                      </a:rPr>
                      <m:t></m:t>
                    </m:r>
                    <m:r>
                      <m:rPr>
                        <m:nor/>
                      </m:rPr>
                      <a:rPr lang="en-US" b="0" i="1" smtClean="0">
                        <a:sym typeface="Symbol" panose="05050102010706020507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 b="0" i="1" smtClean="0"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 dirty="0" smtClean="0">
                    <a:latin typeface="Arial Rounded MT Bold" panose="020F0704030504030204" pitchFamily="34" charset="0"/>
                  </a:rPr>
                  <a:t> אם </a:t>
                </a:r>
                <a:r>
                  <a:rPr lang="he-IL" dirty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ב</a:t>
                </a:r>
                <a:r>
                  <a:rPr lang="he-IL" dirty="0" smtClean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כל המסלולים 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המתחילים ב</a:t>
                </a:r>
                <a:r>
                  <a:rPr lang="he-IL" dirty="0">
                    <a:latin typeface="Arial Rounded MT Bold" panose="020F0704030504030204" pitchFamily="34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 smtClean="0">
                    <a:latin typeface="Arial Rounded MT Bold" panose="020F0704030504030204" pitchFamily="34" charset="0"/>
                  </a:rPr>
                  <a:t> תמיד 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he-IL" dirty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en-US" dirty="0" smtClean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לוגיקת זמן </a:t>
                </a:r>
                <a:r>
                  <a:rPr lang="he-IL" dirty="0" smtClean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מתפצל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 (</a:t>
                </a:r>
                <a:r>
                  <a:rPr lang="en-US" dirty="0" smtClean="0">
                    <a:latin typeface="Arial Rounded MT Bold" panose="020F0704030504030204" pitchFamily="34" charset="0"/>
                  </a:rPr>
                  <a:t>CTL</a:t>
                </a:r>
                <a:r>
                  <a:rPr lang="he-IL" dirty="0">
                    <a:latin typeface="Arial Rounded MT Bold" panose="020F0704030504030204" pitchFamily="34" charset="0"/>
                  </a:rPr>
                  <a:t>):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גם אמירות לגבי קיום מסלולים </a:t>
                </a:r>
                <a:r>
                  <a:rPr lang="he-IL" dirty="0">
                    <a:latin typeface="Arial Rounded MT Bold" panose="020F0704030504030204" pitchFamily="34" charset="0"/>
                  </a:rPr>
                  <a:t>המתחילים במצב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⊨∀</m:t>
                    </m:r>
                    <m:r>
                      <m:rPr>
                        <m:nor/>
                      </m:rPr>
                      <a:rPr lang="en-US">
                        <a:sym typeface="Symbol" panose="05050102010706020507" pitchFamily="18" charset="2"/>
                      </a:rPr>
                      <m:t></m:t>
                    </m:r>
                    <m:r>
                      <m:rPr>
                        <m:nor/>
                      </m:rPr>
                      <a:rPr lang="en-US" i="1">
                        <a:sym typeface="Symbol" panose="05050102010706020507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 i="1"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 dirty="0">
                    <a:latin typeface="Arial Rounded MT Bold" panose="020F0704030504030204" pitchFamily="34" charset="0"/>
                  </a:rPr>
                  <a:t> אם </a:t>
                </a:r>
                <a:r>
                  <a:rPr lang="he-IL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ב</a:t>
                </a:r>
                <a:r>
                  <a:rPr lang="he-IL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כל</a:t>
                </a:r>
                <a:r>
                  <a:rPr lang="he-IL" dirty="0">
                    <a:latin typeface="Arial Rounded MT Bold" panose="020F0704030504030204" pitchFamily="34" charset="0"/>
                  </a:rPr>
                  <a:t> המסלולים המתחילים ב</a:t>
                </a:r>
                <a:r>
                  <a:rPr lang="he-IL" dirty="0">
                    <a:latin typeface="Arial Rounded MT Bold" panose="020F0704030504030204" pitchFamily="34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latin typeface="Arial Rounded MT Bold" panose="020F0704030504030204" pitchFamily="34" charset="0"/>
                  </a:rPr>
                  <a:t> תמיד מתקיים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en-US" dirty="0" smtClean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⊨∃</m:t>
                    </m:r>
                    <m:r>
                      <m:rPr>
                        <m:nor/>
                      </m:rPr>
                      <a:rPr lang="en-US">
                        <a:sym typeface="Symbol" panose="05050102010706020507" pitchFamily="18" charset="2"/>
                      </a:rPr>
                      <m:t></m:t>
                    </m:r>
                    <m:r>
                      <m:rPr>
                        <m:nor/>
                      </m:rPr>
                      <a:rPr lang="en-US" i="1">
                        <a:sym typeface="Symbol" panose="05050102010706020507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 i="1"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 dirty="0">
                    <a:latin typeface="Arial Rounded MT Bold" panose="020F0704030504030204" pitchFamily="34" charset="0"/>
                  </a:rPr>
                  <a:t> אם </a:t>
                </a:r>
                <a:r>
                  <a:rPr lang="he-IL" dirty="0" smtClean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קיים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 מסלול המתחיל </a:t>
                </a:r>
                <a:r>
                  <a:rPr lang="he-IL" dirty="0">
                    <a:latin typeface="Arial Rounded MT Bold" panose="020F0704030504030204" pitchFamily="34" charset="0"/>
                  </a:rPr>
                  <a:t>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dirty="0">
                    <a:latin typeface="Arial Rounded MT Bold" panose="020F0704030504030204" pitchFamily="34" charset="0"/>
                  </a:rPr>
                  <a:t> 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שבו תמיד </a:t>
                </a:r>
                <a:r>
                  <a:rPr lang="he-IL" dirty="0">
                    <a:latin typeface="Arial Rounded MT Bold" panose="020F0704030504030204" pitchFamily="34" charset="0"/>
                  </a:rPr>
                  <a:t>מתקיים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he-IL" dirty="0" smtClean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he-IL" dirty="0" smtClean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אפשר לבדוק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 dirty="0" smtClean="0">
                    <a:latin typeface="Arial Rounded MT Bold" panose="020F0704030504030204" pitchFamily="34" charset="0"/>
                  </a:rPr>
                  <a:t> באמצעות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 smtClean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אבל זה לא יעבוד לנוסחאות מקוננות כמו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en-US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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sym typeface="Symbol" panose="05050102010706020507" pitchFamily="18" charset="2"/>
                      </a:rPr>
                      <m:t>∃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  <a:latin typeface="cmsy10" panose="020B0500000000000000" pitchFamily="34" charset="0"/>
                      </a:rPr>
                      <m:t>}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</a:p>
              <a:p>
                <a:pPr lvl="1">
                  <a:spcBef>
                    <a:spcPts val="600"/>
                  </a:spcBef>
                </a:pPr>
                <a:endParaRPr lang="he-IL" dirty="0">
                  <a:latin typeface="Arial Rounded MT Bold" panose="020F0704030504030204" pitchFamily="34" charset="0"/>
                </a:endParaRPr>
              </a:p>
              <a:p>
                <a:pPr marL="320040" lvl="1" indent="0">
                  <a:spcBef>
                    <a:spcPts val="600"/>
                  </a:spcBef>
                  <a:buNone/>
                </a:pPr>
                <a:endParaRPr lang="he-IL" dirty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143000"/>
                <a:ext cx="9144000" cy="5410200"/>
              </a:xfrm>
              <a:blipFill>
                <a:blip r:embed="rId2"/>
                <a:stretch>
                  <a:fillRect t="-1466" r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42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 dirty="0" smtClean="0"/>
              <a:t>לוגיקה על בסיס זמן מתפצל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</a:t>
            </a:fld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43000"/>
                <a:ext cx="8839200" cy="5410200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הסמנטיקה מוגדרת באמצעות </a:t>
                </a:r>
                <a:r>
                  <a:rPr lang="he-IL" dirty="0" smtClean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עץ החישוב</a:t>
                </a:r>
                <a:endParaRPr lang="he-IL" dirty="0" smtClean="0">
                  <a:solidFill>
                    <a:srgbClr val="3333FF"/>
                  </a:solidFill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עץ אינסופי של מצבים המתקבל מפריסת מערכת המעברים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b="0" dirty="0" smtClean="0"/>
                  <a:t>לכל מצב בריצה יכול להיות יותר ממצב עוקב יחיד</a:t>
                </a:r>
                <a:endParaRPr lang="he-IL" dirty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en-US" dirty="0" smtClean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יכולת ביטוי לא ניתנת להשוואה</a:t>
                </a:r>
                <a:endParaRPr lang="he-IL" dirty="0">
                  <a:latin typeface="Arial Rounded MT Bold" panose="020F0704030504030204" pitchFamily="34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קיימות תכונות שניתן לבטא ב-</a:t>
                </a:r>
                <a:r>
                  <a:rPr lang="en-US" dirty="0" smtClean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CTL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 ולא ניתן לבטא ב-</a:t>
                </a:r>
                <a:r>
                  <a:rPr lang="en-US" dirty="0" smtClean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LTL</a:t>
                </a:r>
                <a:endParaRPr lang="he-IL" dirty="0" smtClean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קיימות תכונות שניתן לבטא ב-</a:t>
                </a:r>
                <a:r>
                  <a:rPr lang="en-US" dirty="0" smtClean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LTL</a:t>
                </a:r>
                <a:r>
                  <a:rPr lang="he-IL" dirty="0" smtClean="0">
                    <a:latin typeface="Arial Rounded MT Bold" panose="020F0704030504030204" pitchFamily="34" charset="0"/>
                  </a:rPr>
                  <a:t> ולא ניתן לבטא ב-</a:t>
                </a:r>
                <a:r>
                  <a:rPr lang="en-US" dirty="0" smtClean="0">
                    <a:solidFill>
                      <a:srgbClr val="3333FF"/>
                    </a:solidFill>
                    <a:latin typeface="Arial Rounded MT Bold" panose="020F0704030504030204" pitchFamily="34" charset="0"/>
                  </a:rPr>
                  <a:t>CTL</a:t>
                </a:r>
                <a:endParaRPr lang="he-IL" dirty="0">
                  <a:solidFill>
                    <a:srgbClr val="3333FF"/>
                  </a:solidFill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he-IL" dirty="0" smtClean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</a:rPr>
                  <a:t>אלגוריתמי בדיקה אחרים</a:t>
                </a:r>
                <a:endParaRPr lang="en-US" dirty="0" smtClean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  <a:sym typeface="Symbol" panose="05050102010706020507" pitchFamily="18" charset="2"/>
                  </a:rPr>
                  <a:t>סיבוכיות בדיקה נמוכה יותר בדרך כלל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b="0" dirty="0" smtClean="0">
                    <a:solidFill>
                      <a:schemeClr val="tx1"/>
                    </a:solidFill>
                    <a:latin typeface="Arial Rounded MT Bold" panose="020F0704030504030204" pitchFamily="34" charset="0"/>
                    <a:sym typeface="Symbol" panose="05050102010706020507" pitchFamily="18" charset="2"/>
                  </a:rPr>
                  <a:t>טיפול שונה בהוגנות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dirty="0" smtClean="0">
                    <a:latin typeface="Arial Rounded MT Bold" panose="020F0704030504030204" pitchFamily="34" charset="0"/>
                    <a:sym typeface="Symbol" panose="05050102010706020507" pitchFamily="18" charset="2"/>
                  </a:rPr>
                  <a:t>מושג אחר של שקילות בין מערכות מעברים</a:t>
                </a:r>
                <a:endParaRPr lang="he-IL" b="0" dirty="0" smtClean="0">
                  <a:solidFill>
                    <a:schemeClr val="tx1"/>
                  </a:solidFill>
                  <a:latin typeface="Arial Rounded MT Bold" panose="020F0704030504030204" pitchFamily="34" charset="0"/>
                  <a:sym typeface="Symbol" panose="05050102010706020507" pitchFamily="18" charset="2"/>
                </a:endParaRPr>
              </a:p>
              <a:p>
                <a:pPr lvl="1">
                  <a:spcBef>
                    <a:spcPts val="600"/>
                  </a:spcBef>
                </a:pPr>
                <a14:m/>
              </a:p>
              <a:p>
                <a:pPr lvl="1">
                  <a:spcBef>
                    <a:spcPts val="600"/>
                  </a:spcBef>
                </a:pPr>
                <a:endParaRPr lang="he-IL" dirty="0">
                  <a:latin typeface="Arial Rounded MT Bold" panose="020F0704030504030204" pitchFamily="34" charset="0"/>
                </a:endParaRPr>
              </a:p>
              <a:p>
                <a:pPr marL="320040" lvl="1" indent="0">
                  <a:spcBef>
                    <a:spcPts val="600"/>
                  </a:spcBef>
                  <a:buNone/>
                </a:pPr>
                <a:endParaRPr lang="he-IL" dirty="0">
                  <a:latin typeface="Arial Rounded MT Bold" panose="020F0704030504030204" pitchFamily="34" charset="0"/>
                </a:endParaRPr>
              </a:p>
              <a:p>
                <a:pPr lvl="1">
                  <a:spcBef>
                    <a:spcPts val="600"/>
                  </a:spcBef>
                </a:pPr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43000"/>
                <a:ext cx="8839200" cy="5410200"/>
              </a:xfrm>
              <a:blipFill>
                <a:blip r:embed="rId2"/>
                <a:stretch>
                  <a:fillRect t="-1691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37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 dirty="0" smtClean="0"/>
              <a:t>מערכות מעברים ועצים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15 ינואר 20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</a:t>
            </a:fld>
            <a:endParaRPr lang="he-IL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8191812" cy="406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9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30070</TotalTime>
  <Words>217</Words>
  <Application>Microsoft Office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40" baseType="lpstr">
      <vt:lpstr>Aharoni</vt:lpstr>
      <vt:lpstr>AREVSANS-OBLIQUE</vt:lpstr>
      <vt:lpstr>AREVSANS-ROMAN</vt:lpstr>
      <vt:lpstr>Arial Rounded MT Bold</vt:lpstr>
      <vt:lpstr>Calibri</vt:lpstr>
      <vt:lpstr>Cambria Math</vt:lpstr>
      <vt:lpstr>CMEX10</vt:lpstr>
      <vt:lpstr>CMMI10</vt:lpstr>
      <vt:lpstr>CMMI5</vt:lpstr>
      <vt:lpstr>CMMI7</vt:lpstr>
      <vt:lpstr>CMMI8</vt:lpstr>
      <vt:lpstr>CMR10</vt:lpstr>
      <vt:lpstr>CMR5</vt:lpstr>
      <vt:lpstr>CMR7</vt:lpstr>
      <vt:lpstr>CMSS10</vt:lpstr>
      <vt:lpstr>CMSS8</vt:lpstr>
      <vt:lpstr>cmsy10</vt:lpstr>
      <vt:lpstr>CMSY10ORIG</vt:lpstr>
      <vt:lpstr>CMSY5</vt:lpstr>
      <vt:lpstr>CMSY7</vt:lpstr>
      <vt:lpstr>CMSY8</vt:lpstr>
      <vt:lpstr>Franklin Gothic Book</vt:lpstr>
      <vt:lpstr>HELVETICA</vt:lpstr>
      <vt:lpstr>LCMSS8</vt:lpstr>
      <vt:lpstr>MATHDESIGN-CH-BOLD-OT1-10</vt:lpstr>
      <vt:lpstr>MSAM7</vt:lpstr>
      <vt:lpstr>MSBM10</vt:lpstr>
      <vt:lpstr>Perpetua</vt:lpstr>
      <vt:lpstr>SFRM0700</vt:lpstr>
      <vt:lpstr>SFRM1000</vt:lpstr>
      <vt:lpstr>SFSS1000</vt:lpstr>
      <vt:lpstr>STMARY10</vt:lpstr>
      <vt:lpstr>Symbol</vt:lpstr>
      <vt:lpstr>Symbol</vt:lpstr>
      <vt:lpstr>Wingdings 2</vt:lpstr>
      <vt:lpstr>Equity</vt:lpstr>
      <vt:lpstr>CTL</vt:lpstr>
      <vt:lpstr>זמן לינארי ומתפצל</vt:lpstr>
      <vt:lpstr>לוגיקה על בסיס זמן מתפצל</vt:lpstr>
      <vt:lpstr>מערכות מעברים ועצים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me</cp:lastModifiedBy>
  <cp:revision>2348</cp:revision>
  <dcterms:created xsi:type="dcterms:W3CDTF">2009-09-27T20:49:26Z</dcterms:created>
  <dcterms:modified xsi:type="dcterms:W3CDTF">2020-01-20T06:31:43Z</dcterms:modified>
</cp:coreProperties>
</file>