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306" r:id="rId4"/>
    <p:sldId id="332" r:id="rId5"/>
    <p:sldId id="307" r:id="rId6"/>
    <p:sldId id="340" r:id="rId7"/>
    <p:sldId id="308" r:id="rId8"/>
    <p:sldId id="328" r:id="rId9"/>
    <p:sldId id="309" r:id="rId10"/>
    <p:sldId id="329" r:id="rId11"/>
    <p:sldId id="333" r:id="rId12"/>
    <p:sldId id="341" r:id="rId13"/>
    <p:sldId id="334" r:id="rId14"/>
    <p:sldId id="335" r:id="rId15"/>
    <p:sldId id="336" r:id="rId16"/>
    <p:sldId id="337" r:id="rId17"/>
    <p:sldId id="310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mbria Math" panose="02040503050406030204" pitchFamily="18" charset="0"/>
      <p:regular r:id="rId24"/>
    </p:embeddedFont>
    <p:embeddedFont>
      <p:font typeface="CMEX10" panose="020B0500000000000000" pitchFamily="34" charset="0"/>
      <p:regular r:id="rId25"/>
    </p:embeddedFont>
    <p:embeddedFont>
      <p:font typeface="CMMI10" panose="020B0500000000000000" pitchFamily="34" charset="0"/>
      <p:regular r:id="rId26"/>
    </p:embeddedFont>
    <p:embeddedFont>
      <p:font typeface="CMMI10" panose="020B0500000000000000" pitchFamily="34" charset="0"/>
      <p:regular r:id="rId26"/>
    </p:embeddedFont>
    <p:embeddedFont>
      <p:font typeface="CMMI5" panose="020B0500000000000000" pitchFamily="34" charset="0"/>
      <p:regular r:id="rId27"/>
    </p:embeddedFont>
    <p:embeddedFont>
      <p:font typeface="CMMI7" panose="020B0500000000000000" pitchFamily="34" charset="0"/>
      <p:regular r:id="rId28"/>
    </p:embeddedFont>
    <p:embeddedFont>
      <p:font typeface="CMMI8" panose="020B0500000000000000" pitchFamily="34" charset="0"/>
      <p:regular r:id="rId29"/>
    </p:embeddedFont>
    <p:embeddedFont>
      <p:font typeface="CMR10" panose="020B0500000000000000" pitchFamily="34" charset="0"/>
      <p:regular r:id="rId30"/>
    </p:embeddedFont>
    <p:embeddedFont>
      <p:font typeface="CMR10" panose="020B0500000000000000" pitchFamily="34" charset="0"/>
      <p:regular r:id="rId30"/>
    </p:embeddedFont>
    <p:embeddedFont>
      <p:font typeface="CMR5" panose="020B0500000000000000" pitchFamily="34" charset="0"/>
      <p:regular r:id="rId31"/>
    </p:embeddedFont>
    <p:embeddedFont>
      <p:font typeface="CMR7" panose="020B0500000000000000" pitchFamily="34" charset="0"/>
      <p:regular r:id="rId32"/>
    </p:embeddedFont>
    <p:embeddedFont>
      <p:font typeface="CMSS10" panose="020B0500000000000000" pitchFamily="34" charset="0"/>
      <p:regular r:id="rId33"/>
    </p:embeddedFont>
    <p:embeddedFont>
      <p:font typeface="CMSS8" panose="020B0500000000000000" pitchFamily="34" charset="0"/>
      <p:regular r:id="rId34"/>
    </p:embeddedFont>
    <p:embeddedFont>
      <p:font typeface="cmsy10" panose="020B0500000000000000" pitchFamily="34" charset="0"/>
      <p:regular r:id="rId35"/>
    </p:embeddedFont>
    <p:embeddedFont>
      <p:font typeface="CMSY10ORIG" panose="020B0500000000000000" pitchFamily="34" charset="0"/>
      <p:regular r:id="rId36"/>
    </p:embeddedFont>
    <p:embeddedFont>
      <p:font typeface="CMSY5" panose="020B0500000000000000" pitchFamily="34" charset="0"/>
      <p:regular r:id="rId37"/>
    </p:embeddedFont>
    <p:embeddedFont>
      <p:font typeface="CMSY7" panose="020B0500000000000000" pitchFamily="34" charset="0"/>
      <p:regular r:id="rId38"/>
    </p:embeddedFont>
    <p:embeddedFont>
      <p:font typeface="CMSY8" panose="020B0500000000000000" pitchFamily="34" charset="0"/>
      <p:regular r:id="rId39"/>
    </p:embeddedFont>
    <p:embeddedFont>
      <p:font typeface="Comic Sans MS" panose="030F0902030302020204" pitchFamily="66" charset="0"/>
      <p:regular r:id="rId40"/>
      <p:bold r:id="rId41"/>
    </p:embeddedFont>
    <p:embeddedFont>
      <p:font typeface="Franklin Gothic Book" panose="020B0503020102020204" pitchFamily="34" charset="0"/>
      <p:regular r:id="rId42"/>
      <p:italic r:id="rId43"/>
    </p:embeddedFont>
    <p:embeddedFont>
      <p:font typeface="HELVETICA" pitchFamily="2" charset="0"/>
      <p:regular r:id="rId44"/>
      <p:bold r:id="rId45"/>
      <p:italic r:id="rId46"/>
      <p:boldItalic r:id="rId47"/>
    </p:embeddedFont>
    <p:embeddedFont>
      <p:font typeface="LCMSS8" panose="020B0500000000000000" pitchFamily="34" charset="0"/>
      <p:regular r:id="rId48"/>
    </p:embeddedFont>
    <p:embeddedFont>
      <p:font typeface="MSAM7" panose="020B0500000000000000" pitchFamily="34" charset="0"/>
      <p:regular r:id="rId49"/>
    </p:embeddedFont>
    <p:embeddedFont>
      <p:font typeface="MT Extra" pitchFamily="2" charset="77"/>
      <p:regular r:id="rId50"/>
    </p:embeddedFont>
    <p:embeddedFont>
      <p:font typeface="Perpetua" panose="02020502060401020303" pitchFamily="18" charset="77"/>
      <p:regular r:id="rId51"/>
      <p:bold r:id="rId52"/>
      <p:italic r:id="rId53"/>
      <p:boldItalic r:id="rId54"/>
    </p:embeddedFont>
    <p:embeddedFont>
      <p:font typeface="Wingdings 2" pitchFamily="2" charset="2"/>
      <p:regular r:id="rId55"/>
    </p:embeddedFont>
  </p:embeddedFontLst>
  <p:custDataLst>
    <p:tags r:id="rId56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551FB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0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font" Target="fonts/font31.fntdata"/><Relationship Id="rId55" Type="http://schemas.openxmlformats.org/officeDocument/2006/relationships/font" Target="fonts/font3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3" Type="http://schemas.openxmlformats.org/officeDocument/2006/relationships/font" Target="fonts/font34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font" Target="fonts/font3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59" Type="http://schemas.openxmlformats.org/officeDocument/2006/relationships/theme" Target="theme/theme1.xml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54" Type="http://schemas.openxmlformats.org/officeDocument/2006/relationships/font" Target="fonts/font3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font" Target="fonts/font30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52" Type="http://schemas.openxmlformats.org/officeDocument/2006/relationships/font" Target="fonts/font33.fntdata"/><Relationship Id="rId6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/>
      <dgm:spPr/>
      <dgm:t>
        <a:bodyPr/>
        <a:lstStyle/>
        <a:p>
          <a:pPr algn="r" rtl="1"/>
          <a:r>
            <a:rPr lang="he-IL" dirty="0"/>
            <a:t>תכונות בטיחות רגולריות</a:t>
          </a:r>
          <a:endParaRPr lang="en-US" dirty="0"/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/>
        </a:p>
      </dgm:t>
    </dgm:pt>
    <dgm:pt modelId="{9518BAC0-AC77-442F-8F5C-504552EDAD9A}">
      <dgm:prSet/>
      <dgm:spPr/>
      <dgm:t>
        <a:bodyPr/>
        <a:lstStyle/>
        <a:p>
          <a:pPr algn="r" rtl="1"/>
          <a:r>
            <a:rPr lang="he-IL"/>
            <a:t>אימות תכונות בטיחות רגולריות</a:t>
          </a:r>
          <a:endParaRPr lang="he-IL" dirty="0"/>
        </a:p>
      </dgm:t>
    </dgm:pt>
    <dgm:pt modelId="{63AC6296-6608-4F12-B6BB-F7270B771993}" type="parTrans" cxnId="{1BF60109-4BE7-4427-BE4D-F261F19D767B}">
      <dgm:prSet/>
      <dgm:spPr/>
      <dgm:t>
        <a:bodyPr/>
        <a:lstStyle/>
        <a:p>
          <a:pPr algn="r"/>
          <a:endParaRPr lang="en-US"/>
        </a:p>
      </dgm:t>
    </dgm:pt>
    <dgm:pt modelId="{DDE15CD4-71DE-4BFE-BCE5-7ECF159B57DA}" type="sibTrans" cxnId="{1BF60109-4BE7-4427-BE4D-F261F19D767B}">
      <dgm:prSet/>
      <dgm:spPr/>
      <dgm:t>
        <a:bodyPr/>
        <a:lstStyle/>
        <a:p>
          <a:pPr algn="r"/>
          <a:endParaRPr lang="en-US"/>
        </a:p>
      </dgm:t>
    </dgm:pt>
    <dgm:pt modelId="{7D21FA03-C38D-4F43-9991-C3EBDB536BC2}">
      <dgm:prSet/>
      <dgm:spPr/>
      <dgm:t>
        <a:bodyPr/>
        <a:lstStyle/>
        <a:p>
          <a:pPr algn="r" rtl="1"/>
          <a:r>
            <a:rPr lang="he-IL"/>
            <a:t>רדוקציה לבדיקת שמורות</a:t>
          </a:r>
          <a:endParaRPr lang="he-IL" dirty="0"/>
        </a:p>
      </dgm:t>
    </dgm:pt>
    <dgm:pt modelId="{A49E7A40-2015-4B79-BE85-8546B03BF424}" type="parTrans" cxnId="{747F1A3D-6039-4024-AEFF-F6DC1ECD785F}">
      <dgm:prSet/>
      <dgm:spPr/>
      <dgm:t>
        <a:bodyPr/>
        <a:lstStyle/>
        <a:p>
          <a:pPr algn="r"/>
          <a:endParaRPr lang="en-US"/>
        </a:p>
      </dgm:t>
    </dgm:pt>
    <dgm:pt modelId="{CF430D5C-A68D-4197-8D51-55F40641825B}" type="sibTrans" cxnId="{747F1A3D-6039-4024-AEFF-F6DC1ECD785F}">
      <dgm:prSet/>
      <dgm:spPr/>
      <dgm:t>
        <a:bodyPr/>
        <a:lstStyle/>
        <a:p>
          <a:pPr algn="r"/>
          <a:endParaRPr lang="en-US"/>
        </a:p>
      </dgm:t>
    </dgm:pt>
    <dgm:pt modelId="{4C2CB161-D747-420A-97AD-26D277651EE3}">
      <dgm:prSet/>
      <dgm:spPr/>
      <dgm:t>
        <a:bodyPr/>
        <a:lstStyle/>
        <a:p>
          <a:pPr algn="r" rtl="1"/>
          <a:r>
            <a:rPr lang="he-IL" dirty="0"/>
            <a:t>הוכחת נכונות</a:t>
          </a:r>
        </a:p>
      </dgm:t>
    </dgm:pt>
    <dgm:pt modelId="{0C0C18A0-8351-4BCE-B76B-19AD951615CE}" type="parTrans" cxnId="{1790F5A8-5523-4118-ADF0-26D476468885}">
      <dgm:prSet/>
      <dgm:spPr/>
      <dgm:t>
        <a:bodyPr/>
        <a:lstStyle/>
        <a:p>
          <a:pPr algn="r"/>
          <a:endParaRPr lang="en-US"/>
        </a:p>
      </dgm:t>
    </dgm:pt>
    <dgm:pt modelId="{32D19579-9CF7-4582-AEC4-63EB5D8E172A}" type="sibTrans" cxnId="{1790F5A8-5523-4118-ADF0-26D476468885}">
      <dgm:prSet/>
      <dgm:spPr/>
      <dgm:t>
        <a:bodyPr/>
        <a:lstStyle/>
        <a:p>
          <a:pPr algn="r"/>
          <a:endParaRPr lang="en-US"/>
        </a:p>
      </dgm:t>
    </dgm:pt>
    <dgm:pt modelId="{E07B9068-62D2-4148-B476-79FA439C1BFC}">
      <dgm:prSet/>
      <dgm:spPr/>
      <dgm:t>
        <a:bodyPr/>
        <a:lstStyle/>
        <a:p>
          <a:pPr algn="r" rtl="1"/>
          <a:r>
            <a:rPr lang="he-IL" dirty="0"/>
            <a:t>האלגוריתם</a:t>
          </a:r>
        </a:p>
      </dgm:t>
    </dgm:pt>
    <dgm:pt modelId="{5C421A8F-D83B-4901-9125-92ABDF1D7596}" type="parTrans" cxnId="{EDFC80E4-2835-4B02-A97B-BE1FCACA883C}">
      <dgm:prSet/>
      <dgm:spPr/>
      <dgm:t>
        <a:bodyPr/>
        <a:lstStyle/>
        <a:p>
          <a:pPr algn="r"/>
          <a:endParaRPr lang="en-US"/>
        </a:p>
      </dgm:t>
    </dgm:pt>
    <dgm:pt modelId="{27F52BF9-9A7B-41E2-940D-62BAC459BD16}" type="sibTrans" cxnId="{EDFC80E4-2835-4B02-A97B-BE1FCACA883C}">
      <dgm:prSet/>
      <dgm:spPr/>
      <dgm:t>
        <a:bodyPr/>
        <a:lstStyle/>
        <a:p>
          <a:pPr algn="r"/>
          <a:endParaRPr lang="en-US"/>
        </a:p>
      </dgm:t>
    </dgm:pt>
    <dgm:pt modelId="{4891CBF0-58E0-4743-A889-2AB25C8F32B7}">
      <dgm:prSet phldrT="[Text]"/>
      <dgm:spPr/>
      <dgm:t>
        <a:bodyPr/>
        <a:lstStyle/>
        <a:p>
          <a:pPr algn="r" rtl="1"/>
          <a:r>
            <a:rPr lang="he-IL" dirty="0"/>
            <a:t>חזרה על מושגים ומשפטים על אוטומטים</a:t>
          </a:r>
          <a:endParaRPr lang="en-US" dirty="0"/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3"/>
      <dgm:spPr/>
    </dgm:pt>
    <dgm:pt modelId="{158E2DB7-D6B0-46E7-BE6A-C62634D34FFA}" type="pres">
      <dgm:prSet presAssocID="{810C7596-5982-444A-A894-55C290CED637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3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3"/>
      <dgm:spPr/>
    </dgm:pt>
    <dgm:pt modelId="{E03ADDCD-18FF-44AF-84C5-7DE435534974}" type="pres">
      <dgm:prSet presAssocID="{4891CBF0-58E0-4743-A889-2AB25C8F32B7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3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26C4BDFB-C95B-4610-B28A-F876E5B47DB9}" type="pres">
      <dgm:prSet presAssocID="{9518BAC0-AC77-442F-8F5C-504552EDAD9A}" presName="comp" presStyleCnt="0"/>
      <dgm:spPr/>
    </dgm:pt>
    <dgm:pt modelId="{F421C5C8-EFBC-4E95-8C0C-FA2DB6397756}" type="pres">
      <dgm:prSet presAssocID="{9518BAC0-AC77-442F-8F5C-504552EDAD9A}" presName="box" presStyleLbl="node1" presStyleIdx="2" presStyleCnt="3"/>
      <dgm:spPr/>
    </dgm:pt>
    <dgm:pt modelId="{550C8578-02F1-4F58-BBF9-D8D10390AB53}" type="pres">
      <dgm:prSet presAssocID="{9518BAC0-AC77-442F-8F5C-504552EDAD9A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77BCA8CE-6E26-4922-9B7D-C52921D26AA8}" type="pres">
      <dgm:prSet presAssocID="{9518BAC0-AC77-442F-8F5C-504552EDAD9A}" presName="text" presStyleLbl="node1" presStyleIdx="2" presStyleCnt="3">
        <dgm:presLayoutVars>
          <dgm:bulletEnabled val="1"/>
        </dgm:presLayoutVars>
      </dgm:prSet>
      <dgm:spPr/>
    </dgm:pt>
  </dgm:ptLst>
  <dgm:cxnLst>
    <dgm:cxn modelId="{1BF60109-4BE7-4427-BE4D-F261F19D767B}" srcId="{268E5045-F80D-4251-9166-477E54A6FF0C}" destId="{9518BAC0-AC77-442F-8F5C-504552EDAD9A}" srcOrd="2" destOrd="0" parTransId="{63AC6296-6608-4F12-B6BB-F7270B771993}" sibTransId="{DDE15CD4-71DE-4BFE-BCE5-7ECF159B57DA}"/>
    <dgm:cxn modelId="{64A9C72A-027A-4B0E-9962-07DC608A076E}" type="presOf" srcId="{4C2CB161-D747-420A-97AD-26D277651EE3}" destId="{F421C5C8-EFBC-4E95-8C0C-FA2DB6397756}" srcOrd="0" destOrd="2" presId="urn:microsoft.com/office/officeart/2005/8/layout/vList4#1"/>
    <dgm:cxn modelId="{1574F538-24BB-428C-B9F8-7482DBCF20F5}" type="presOf" srcId="{9518BAC0-AC77-442F-8F5C-504552EDAD9A}" destId="{F421C5C8-EFBC-4E95-8C0C-FA2DB6397756}" srcOrd="0" destOrd="0" presId="urn:microsoft.com/office/officeart/2005/8/layout/vList4#1"/>
    <dgm:cxn modelId="{34D3ED3B-F37D-42C6-AC70-8E3E30BD574B}" type="presOf" srcId="{E07B9068-62D2-4148-B476-79FA439C1BFC}" destId="{F421C5C8-EFBC-4E95-8C0C-FA2DB6397756}" srcOrd="0" destOrd="3" presId="urn:microsoft.com/office/officeart/2005/8/layout/vList4#1"/>
    <dgm:cxn modelId="{747F1A3D-6039-4024-AEFF-F6DC1ECD785F}" srcId="{9518BAC0-AC77-442F-8F5C-504552EDAD9A}" destId="{7D21FA03-C38D-4F43-9991-C3EBDB536BC2}" srcOrd="0" destOrd="0" parTransId="{A49E7A40-2015-4B79-BE85-8546B03BF424}" sibTransId="{CF430D5C-A68D-4197-8D51-55F40641825B}"/>
    <dgm:cxn modelId="{18553541-E482-4778-BC6A-F36FA711F3E8}" type="presOf" srcId="{7D21FA03-C38D-4F43-9991-C3EBDB536BC2}" destId="{77BCA8CE-6E26-4922-9B7D-C52921D26AA8}" srcOrd="1" destOrd="1" presId="urn:microsoft.com/office/officeart/2005/8/layout/vList4#1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8D3EC959-6B84-4344-8481-DA3ECB172C75}" type="presOf" srcId="{4C2CB161-D747-420A-97AD-26D277651EE3}" destId="{77BCA8CE-6E26-4922-9B7D-C52921D26AA8}" srcOrd="1" destOrd="2" presId="urn:microsoft.com/office/officeart/2005/8/layout/vList4#1"/>
    <dgm:cxn modelId="{670A7065-792F-4AA2-8E8B-DB0B231E833A}" type="presOf" srcId="{E07B9068-62D2-4148-B476-79FA439C1BFC}" destId="{77BCA8CE-6E26-4922-9B7D-C52921D26AA8}" srcOrd="1" destOrd="3" presId="urn:microsoft.com/office/officeart/2005/8/layout/vList4#1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8A793085-9A73-44C6-BF55-FF8B15293D5E}" type="presOf" srcId="{810C7596-5982-444A-A894-55C290CED637}" destId="{8E0F2305-258D-4428-9FBF-D94A5D3D3C9F}" srcOrd="0" destOrd="0" presId="urn:microsoft.com/office/officeart/2005/8/layout/vList4#1"/>
    <dgm:cxn modelId="{5DE28A8F-B30F-46FB-A53B-17F4038532C2}" type="presOf" srcId="{9518BAC0-AC77-442F-8F5C-504552EDAD9A}" destId="{77BCA8CE-6E26-4922-9B7D-C52921D26AA8}" srcOrd="1" destOrd="0" presId="urn:microsoft.com/office/officeart/2005/8/layout/vList4#1"/>
    <dgm:cxn modelId="{4E8E9896-4B17-4EB6-A98A-42F67B282A00}" type="presOf" srcId="{268E5045-F80D-4251-9166-477E54A6FF0C}" destId="{F914EBAB-9AE0-4C9C-AD59-C8AF93FB6377}" srcOrd="0" destOrd="0" presId="urn:microsoft.com/office/officeart/2005/8/layout/vList4#1"/>
    <dgm:cxn modelId="{8BE3A996-4737-48FA-B76A-52F7D170C697}" type="presOf" srcId="{4891CBF0-58E0-4743-A889-2AB25C8F32B7}" destId="{72EC1CC4-9F98-4FF6-AFF5-359F01F835C5}" srcOrd="0" destOrd="0" presId="urn:microsoft.com/office/officeart/2005/8/layout/vList4#1"/>
    <dgm:cxn modelId="{1790F5A8-5523-4118-ADF0-26D476468885}" srcId="{9518BAC0-AC77-442F-8F5C-504552EDAD9A}" destId="{4C2CB161-D747-420A-97AD-26D277651EE3}" srcOrd="1" destOrd="0" parTransId="{0C0C18A0-8351-4BCE-B76B-19AD951615CE}" sibTransId="{32D19579-9CF7-4582-AEC4-63EB5D8E172A}"/>
    <dgm:cxn modelId="{4DF6F4AE-142D-45CC-A995-8E6B1CA0132A}" type="presOf" srcId="{7D21FA03-C38D-4F43-9991-C3EBDB536BC2}" destId="{F421C5C8-EFBC-4E95-8C0C-FA2DB6397756}" srcOrd="0" destOrd="1" presId="urn:microsoft.com/office/officeart/2005/8/layout/vList4#1"/>
    <dgm:cxn modelId="{CA92F8CB-8305-46E3-8CC7-D585DFB25D0E}" type="presOf" srcId="{4891CBF0-58E0-4743-A889-2AB25C8F32B7}" destId="{70B99703-76E8-42B1-9954-BFC81FE1D8B9}" srcOrd="1" destOrd="0" presId="urn:microsoft.com/office/officeart/2005/8/layout/vList4#1"/>
    <dgm:cxn modelId="{EDFC80E4-2835-4B02-A97B-BE1FCACA883C}" srcId="{9518BAC0-AC77-442F-8F5C-504552EDAD9A}" destId="{E07B9068-62D2-4148-B476-79FA439C1BFC}" srcOrd="2" destOrd="0" parTransId="{5C421A8F-D83B-4901-9125-92ABDF1D7596}" sibTransId="{27F52BF9-9A7B-41E2-940D-62BAC459BD16}"/>
    <dgm:cxn modelId="{DA103AED-14CB-4AA0-BA80-9D7C6AE0D29D}" type="presOf" srcId="{810C7596-5982-444A-A894-55C290CED637}" destId="{A469B5D2-5C1D-4E16-81D9-7CE4020DBD97}" srcOrd="1" destOrd="0" presId="urn:microsoft.com/office/officeart/2005/8/layout/vList4#1"/>
    <dgm:cxn modelId="{8379961A-4866-4430-ADBC-E1CD2087BBC8}" type="presParOf" srcId="{F914EBAB-9AE0-4C9C-AD59-C8AF93FB6377}" destId="{ABE1C741-270E-44A0-8FAA-56C8D6192DF5}" srcOrd="0" destOrd="0" presId="urn:microsoft.com/office/officeart/2005/8/layout/vList4#1"/>
    <dgm:cxn modelId="{26D4D600-0D69-483D-80A9-53DB943A09C1}" type="presParOf" srcId="{ABE1C741-270E-44A0-8FAA-56C8D6192DF5}" destId="{8E0F2305-258D-4428-9FBF-D94A5D3D3C9F}" srcOrd="0" destOrd="0" presId="urn:microsoft.com/office/officeart/2005/8/layout/vList4#1"/>
    <dgm:cxn modelId="{E1CFF7A2-C17F-48B3-A436-16D5B894159C}" type="presParOf" srcId="{ABE1C741-270E-44A0-8FAA-56C8D6192DF5}" destId="{158E2DB7-D6B0-46E7-BE6A-C62634D34FFA}" srcOrd="1" destOrd="0" presId="urn:microsoft.com/office/officeart/2005/8/layout/vList4#1"/>
    <dgm:cxn modelId="{A224C7D2-0253-4F50-917E-672B93ED8BA6}" type="presParOf" srcId="{ABE1C741-270E-44A0-8FAA-56C8D6192DF5}" destId="{A469B5D2-5C1D-4E16-81D9-7CE4020DBD97}" srcOrd="2" destOrd="0" presId="urn:microsoft.com/office/officeart/2005/8/layout/vList4#1"/>
    <dgm:cxn modelId="{7B7DDFB0-D714-45C8-AE6B-8C69CA78DC3B}" type="presParOf" srcId="{F914EBAB-9AE0-4C9C-AD59-C8AF93FB6377}" destId="{E6D01480-D6F9-4817-ABFB-3AE46EB9A852}" srcOrd="1" destOrd="0" presId="urn:microsoft.com/office/officeart/2005/8/layout/vList4#1"/>
    <dgm:cxn modelId="{55064957-301E-49E9-9764-59E20C45B53B}" type="presParOf" srcId="{F914EBAB-9AE0-4C9C-AD59-C8AF93FB6377}" destId="{7B79AD2B-6A8A-4467-A1C1-A9C0199D90C6}" srcOrd="2" destOrd="0" presId="urn:microsoft.com/office/officeart/2005/8/layout/vList4#1"/>
    <dgm:cxn modelId="{151F17B1-5E56-4179-9229-36502195AB1F}" type="presParOf" srcId="{7B79AD2B-6A8A-4467-A1C1-A9C0199D90C6}" destId="{72EC1CC4-9F98-4FF6-AFF5-359F01F835C5}" srcOrd="0" destOrd="0" presId="urn:microsoft.com/office/officeart/2005/8/layout/vList4#1"/>
    <dgm:cxn modelId="{0C6BB69D-D999-4F93-B102-5D74EF0D27DA}" type="presParOf" srcId="{7B79AD2B-6A8A-4467-A1C1-A9C0199D90C6}" destId="{E03ADDCD-18FF-44AF-84C5-7DE435534974}" srcOrd="1" destOrd="0" presId="urn:microsoft.com/office/officeart/2005/8/layout/vList4#1"/>
    <dgm:cxn modelId="{3EE13088-D6B8-4901-A965-A9911E428DD7}" type="presParOf" srcId="{7B79AD2B-6A8A-4467-A1C1-A9C0199D90C6}" destId="{70B99703-76E8-42B1-9954-BFC81FE1D8B9}" srcOrd="2" destOrd="0" presId="urn:microsoft.com/office/officeart/2005/8/layout/vList4#1"/>
    <dgm:cxn modelId="{40D70053-FFFE-467B-BC2C-F925D197CAB2}" type="presParOf" srcId="{F914EBAB-9AE0-4C9C-AD59-C8AF93FB6377}" destId="{5147987D-A1A0-49A4-B921-5F9E09ECF2AE}" srcOrd="3" destOrd="0" presId="urn:microsoft.com/office/officeart/2005/8/layout/vList4#1"/>
    <dgm:cxn modelId="{7D9B4818-EF5B-48EB-86DA-1581991F3932}" type="presParOf" srcId="{F914EBAB-9AE0-4C9C-AD59-C8AF93FB6377}" destId="{26C4BDFB-C95B-4610-B28A-F876E5B47DB9}" srcOrd="4" destOrd="0" presId="urn:microsoft.com/office/officeart/2005/8/layout/vList4#1"/>
    <dgm:cxn modelId="{2E419D9E-9112-4ADE-9357-1A66FD46EE4E}" type="presParOf" srcId="{26C4BDFB-C95B-4610-B28A-F876E5B47DB9}" destId="{F421C5C8-EFBC-4E95-8C0C-FA2DB6397756}" srcOrd="0" destOrd="0" presId="urn:microsoft.com/office/officeart/2005/8/layout/vList4#1"/>
    <dgm:cxn modelId="{30C78606-086C-4D01-9254-024462AF7D27}" type="presParOf" srcId="{26C4BDFB-C95B-4610-B28A-F876E5B47DB9}" destId="{550C8578-02F1-4F58-BBF9-D8D10390AB53}" srcOrd="1" destOrd="0" presId="urn:microsoft.com/office/officeart/2005/8/layout/vList4#1"/>
    <dgm:cxn modelId="{FB2A9A30-F1B3-4ED8-A302-9FF76E8A9573}" type="presParOf" srcId="{26C4BDFB-C95B-4610-B28A-F876E5B47DB9}" destId="{77BCA8CE-6E26-4922-9B7D-C52921D26AA8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dirty="0"/>
            <a:t>תכונות בטיחות רגולריות</a:t>
          </a:r>
          <a:endParaRPr lang="en-US" dirty="0"/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/>
        </a:p>
      </dgm:t>
    </dgm:pt>
    <dgm:pt modelId="{9518BAC0-AC77-442F-8F5C-504552EDAD9A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dirty="0"/>
            <a:t>אימות תכונות בטיחות רגולריות</a:t>
          </a:r>
        </a:p>
      </dgm:t>
    </dgm:pt>
    <dgm:pt modelId="{63AC6296-6608-4F12-B6BB-F7270B771993}" type="parTrans" cxnId="{1BF60109-4BE7-4427-BE4D-F261F19D767B}">
      <dgm:prSet/>
      <dgm:spPr/>
      <dgm:t>
        <a:bodyPr/>
        <a:lstStyle/>
        <a:p>
          <a:pPr algn="r"/>
          <a:endParaRPr lang="en-US"/>
        </a:p>
      </dgm:t>
    </dgm:pt>
    <dgm:pt modelId="{DDE15CD4-71DE-4BFE-BCE5-7ECF159B57DA}" type="sibTrans" cxnId="{1BF60109-4BE7-4427-BE4D-F261F19D767B}">
      <dgm:prSet/>
      <dgm:spPr/>
      <dgm:t>
        <a:bodyPr/>
        <a:lstStyle/>
        <a:p>
          <a:pPr algn="r"/>
          <a:endParaRPr lang="en-US"/>
        </a:p>
      </dgm:t>
    </dgm:pt>
    <dgm:pt modelId="{7D21FA03-C38D-4F43-9991-C3EBDB536BC2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dirty="0"/>
            <a:t>רדוקציה לבדיקת שמורות</a:t>
          </a:r>
        </a:p>
      </dgm:t>
    </dgm:pt>
    <dgm:pt modelId="{A49E7A40-2015-4B79-BE85-8546B03BF424}" type="parTrans" cxnId="{747F1A3D-6039-4024-AEFF-F6DC1ECD785F}">
      <dgm:prSet/>
      <dgm:spPr/>
      <dgm:t>
        <a:bodyPr/>
        <a:lstStyle/>
        <a:p>
          <a:pPr algn="r"/>
          <a:endParaRPr lang="en-US"/>
        </a:p>
      </dgm:t>
    </dgm:pt>
    <dgm:pt modelId="{CF430D5C-A68D-4197-8D51-55F40641825B}" type="sibTrans" cxnId="{747F1A3D-6039-4024-AEFF-F6DC1ECD785F}">
      <dgm:prSet/>
      <dgm:spPr/>
      <dgm:t>
        <a:bodyPr/>
        <a:lstStyle/>
        <a:p>
          <a:pPr algn="r"/>
          <a:endParaRPr lang="en-US"/>
        </a:p>
      </dgm:t>
    </dgm:pt>
    <dgm:pt modelId="{4C2CB161-D747-420A-97AD-26D277651EE3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dirty="0"/>
            <a:t>הוכחת נכונות</a:t>
          </a:r>
        </a:p>
      </dgm:t>
    </dgm:pt>
    <dgm:pt modelId="{0C0C18A0-8351-4BCE-B76B-19AD951615CE}" type="parTrans" cxnId="{1790F5A8-5523-4118-ADF0-26D476468885}">
      <dgm:prSet/>
      <dgm:spPr/>
      <dgm:t>
        <a:bodyPr/>
        <a:lstStyle/>
        <a:p>
          <a:pPr algn="r"/>
          <a:endParaRPr lang="en-US"/>
        </a:p>
      </dgm:t>
    </dgm:pt>
    <dgm:pt modelId="{32D19579-9CF7-4582-AEC4-63EB5D8E172A}" type="sibTrans" cxnId="{1790F5A8-5523-4118-ADF0-26D476468885}">
      <dgm:prSet/>
      <dgm:spPr/>
      <dgm:t>
        <a:bodyPr/>
        <a:lstStyle/>
        <a:p>
          <a:pPr algn="r"/>
          <a:endParaRPr lang="en-US"/>
        </a:p>
      </dgm:t>
    </dgm:pt>
    <dgm:pt modelId="{E07B9068-62D2-4148-B476-79FA439C1BFC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dirty="0"/>
            <a:t>האלגוריתם</a:t>
          </a:r>
        </a:p>
      </dgm:t>
    </dgm:pt>
    <dgm:pt modelId="{5C421A8F-D83B-4901-9125-92ABDF1D7596}" type="parTrans" cxnId="{EDFC80E4-2835-4B02-A97B-BE1FCACA883C}">
      <dgm:prSet/>
      <dgm:spPr/>
      <dgm:t>
        <a:bodyPr/>
        <a:lstStyle/>
        <a:p>
          <a:pPr algn="r"/>
          <a:endParaRPr lang="en-US"/>
        </a:p>
      </dgm:t>
    </dgm:pt>
    <dgm:pt modelId="{27F52BF9-9A7B-41E2-940D-62BAC459BD16}" type="sibTrans" cxnId="{EDFC80E4-2835-4B02-A97B-BE1FCACA883C}">
      <dgm:prSet/>
      <dgm:spPr/>
      <dgm:t>
        <a:bodyPr/>
        <a:lstStyle/>
        <a:p>
          <a:pPr algn="r"/>
          <a:endParaRPr lang="en-US"/>
        </a:p>
      </dgm:t>
    </dgm:pt>
    <dgm:pt modelId="{4891CBF0-58E0-4743-A889-2AB25C8F32B7}">
      <dgm:prSet phldrT="[Text]"/>
      <dgm:spPr>
        <a:solidFill>
          <a:schemeClr val="accent2"/>
        </a:solidFill>
      </dgm:spPr>
      <dgm:t>
        <a:bodyPr/>
        <a:lstStyle/>
        <a:p>
          <a:pPr algn="r" rtl="1"/>
          <a:r>
            <a:rPr lang="he-IL" dirty="0"/>
            <a:t>חזרה על מושגים ומשפטים על אוטומטים</a:t>
          </a:r>
          <a:endParaRPr lang="en-US" dirty="0"/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3"/>
      <dgm:spPr/>
    </dgm:pt>
    <dgm:pt modelId="{158E2DB7-D6B0-46E7-BE6A-C62634D34FFA}" type="pres">
      <dgm:prSet presAssocID="{810C7596-5982-444A-A894-55C290CED637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3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3"/>
      <dgm:spPr/>
    </dgm:pt>
    <dgm:pt modelId="{E03ADDCD-18FF-44AF-84C5-7DE435534974}" type="pres">
      <dgm:prSet presAssocID="{4891CBF0-58E0-4743-A889-2AB25C8F32B7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3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26C4BDFB-C95B-4610-B28A-F876E5B47DB9}" type="pres">
      <dgm:prSet presAssocID="{9518BAC0-AC77-442F-8F5C-504552EDAD9A}" presName="comp" presStyleCnt="0"/>
      <dgm:spPr/>
    </dgm:pt>
    <dgm:pt modelId="{F421C5C8-EFBC-4E95-8C0C-FA2DB6397756}" type="pres">
      <dgm:prSet presAssocID="{9518BAC0-AC77-442F-8F5C-504552EDAD9A}" presName="box" presStyleLbl="node1" presStyleIdx="2" presStyleCnt="3"/>
      <dgm:spPr/>
    </dgm:pt>
    <dgm:pt modelId="{550C8578-02F1-4F58-BBF9-D8D10390AB53}" type="pres">
      <dgm:prSet presAssocID="{9518BAC0-AC77-442F-8F5C-504552EDAD9A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77BCA8CE-6E26-4922-9B7D-C52921D26AA8}" type="pres">
      <dgm:prSet presAssocID="{9518BAC0-AC77-442F-8F5C-504552EDAD9A}" presName="text" presStyleLbl="node1" presStyleIdx="2" presStyleCnt="3">
        <dgm:presLayoutVars>
          <dgm:bulletEnabled val="1"/>
        </dgm:presLayoutVars>
      </dgm:prSet>
      <dgm:spPr/>
    </dgm:pt>
  </dgm:ptLst>
  <dgm:cxnLst>
    <dgm:cxn modelId="{1BF60109-4BE7-4427-BE4D-F261F19D767B}" srcId="{268E5045-F80D-4251-9166-477E54A6FF0C}" destId="{9518BAC0-AC77-442F-8F5C-504552EDAD9A}" srcOrd="2" destOrd="0" parTransId="{63AC6296-6608-4F12-B6BB-F7270B771993}" sibTransId="{DDE15CD4-71DE-4BFE-BCE5-7ECF159B57DA}"/>
    <dgm:cxn modelId="{0320D91E-7B97-48BD-8BEB-6980658788B0}" type="presOf" srcId="{4C2CB161-D747-420A-97AD-26D277651EE3}" destId="{F421C5C8-EFBC-4E95-8C0C-FA2DB6397756}" srcOrd="0" destOrd="2" presId="urn:microsoft.com/office/officeart/2005/8/layout/vList4#2"/>
    <dgm:cxn modelId="{808EA02F-B87B-446F-98A8-735229D3F2A5}" type="presOf" srcId="{810C7596-5982-444A-A894-55C290CED637}" destId="{8E0F2305-258D-4428-9FBF-D94A5D3D3C9F}" srcOrd="0" destOrd="0" presId="urn:microsoft.com/office/officeart/2005/8/layout/vList4#2"/>
    <dgm:cxn modelId="{747F1A3D-6039-4024-AEFF-F6DC1ECD785F}" srcId="{9518BAC0-AC77-442F-8F5C-504552EDAD9A}" destId="{7D21FA03-C38D-4F43-9991-C3EBDB536BC2}" srcOrd="0" destOrd="0" parTransId="{A49E7A40-2015-4B79-BE85-8546B03BF424}" sibTransId="{CF430D5C-A68D-4197-8D51-55F40641825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78AF0E4F-3A50-4EDD-A28C-256EBCD55CA3}" type="presOf" srcId="{9518BAC0-AC77-442F-8F5C-504552EDAD9A}" destId="{F421C5C8-EFBC-4E95-8C0C-FA2DB6397756}" srcOrd="0" destOrd="0" presId="urn:microsoft.com/office/officeart/2005/8/layout/vList4#2"/>
    <dgm:cxn modelId="{8415C353-0C16-4182-AC99-A340E901F989}" type="presOf" srcId="{268E5045-F80D-4251-9166-477E54A6FF0C}" destId="{F914EBAB-9AE0-4C9C-AD59-C8AF93FB6377}" srcOrd="0" destOrd="0" presId="urn:microsoft.com/office/officeart/2005/8/layout/vList4#2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BFD8EA97-E1AB-490C-A183-D07E72C7996B}" type="presOf" srcId="{E07B9068-62D2-4148-B476-79FA439C1BFC}" destId="{77BCA8CE-6E26-4922-9B7D-C52921D26AA8}" srcOrd="1" destOrd="3" presId="urn:microsoft.com/office/officeart/2005/8/layout/vList4#2"/>
    <dgm:cxn modelId="{1790F5A8-5523-4118-ADF0-26D476468885}" srcId="{9518BAC0-AC77-442F-8F5C-504552EDAD9A}" destId="{4C2CB161-D747-420A-97AD-26D277651EE3}" srcOrd="1" destOrd="0" parTransId="{0C0C18A0-8351-4BCE-B76B-19AD951615CE}" sibTransId="{32D19579-9CF7-4582-AEC4-63EB5D8E172A}"/>
    <dgm:cxn modelId="{8DE471BC-120F-474B-9071-36FB700F1404}" type="presOf" srcId="{E07B9068-62D2-4148-B476-79FA439C1BFC}" destId="{F421C5C8-EFBC-4E95-8C0C-FA2DB6397756}" srcOrd="0" destOrd="3" presId="urn:microsoft.com/office/officeart/2005/8/layout/vList4#2"/>
    <dgm:cxn modelId="{3220D2C3-DB99-4472-9397-6F6B2FF1F88A}" type="presOf" srcId="{9518BAC0-AC77-442F-8F5C-504552EDAD9A}" destId="{77BCA8CE-6E26-4922-9B7D-C52921D26AA8}" srcOrd="1" destOrd="0" presId="urn:microsoft.com/office/officeart/2005/8/layout/vList4#2"/>
    <dgm:cxn modelId="{07C4EAD8-2DDE-445A-B3FA-4E9A3E257445}" type="presOf" srcId="{4891CBF0-58E0-4743-A889-2AB25C8F32B7}" destId="{70B99703-76E8-42B1-9954-BFC81FE1D8B9}" srcOrd="1" destOrd="0" presId="urn:microsoft.com/office/officeart/2005/8/layout/vList4#2"/>
    <dgm:cxn modelId="{01729CDA-3740-47D6-AAD9-56795EEF0DCE}" type="presOf" srcId="{7D21FA03-C38D-4F43-9991-C3EBDB536BC2}" destId="{77BCA8CE-6E26-4922-9B7D-C52921D26AA8}" srcOrd="1" destOrd="1" presId="urn:microsoft.com/office/officeart/2005/8/layout/vList4#2"/>
    <dgm:cxn modelId="{A4DF8DE0-09D4-4BC8-9683-AB70DCADF7D8}" type="presOf" srcId="{4C2CB161-D747-420A-97AD-26D277651EE3}" destId="{77BCA8CE-6E26-4922-9B7D-C52921D26AA8}" srcOrd="1" destOrd="2" presId="urn:microsoft.com/office/officeart/2005/8/layout/vList4#2"/>
    <dgm:cxn modelId="{EDFC80E4-2835-4B02-A97B-BE1FCACA883C}" srcId="{9518BAC0-AC77-442F-8F5C-504552EDAD9A}" destId="{E07B9068-62D2-4148-B476-79FA439C1BFC}" srcOrd="2" destOrd="0" parTransId="{5C421A8F-D83B-4901-9125-92ABDF1D7596}" sibTransId="{27F52BF9-9A7B-41E2-940D-62BAC459BD16}"/>
    <dgm:cxn modelId="{AD3315E6-417D-452E-A5EA-44A80720FDAE}" type="presOf" srcId="{4891CBF0-58E0-4743-A889-2AB25C8F32B7}" destId="{72EC1CC4-9F98-4FF6-AFF5-359F01F835C5}" srcOrd="0" destOrd="0" presId="urn:microsoft.com/office/officeart/2005/8/layout/vList4#2"/>
    <dgm:cxn modelId="{E23AF4EB-0DD2-420C-8412-5CCB59CDFC73}" type="presOf" srcId="{7D21FA03-C38D-4F43-9991-C3EBDB536BC2}" destId="{F421C5C8-EFBC-4E95-8C0C-FA2DB6397756}" srcOrd="0" destOrd="1" presId="urn:microsoft.com/office/officeart/2005/8/layout/vList4#2"/>
    <dgm:cxn modelId="{154652EE-DAC8-4A69-81DD-BE9232A832BC}" type="presOf" srcId="{810C7596-5982-444A-A894-55C290CED637}" destId="{A469B5D2-5C1D-4E16-81D9-7CE4020DBD97}" srcOrd="1" destOrd="0" presId="urn:microsoft.com/office/officeart/2005/8/layout/vList4#2"/>
    <dgm:cxn modelId="{2E75E8D5-6BD7-4E45-8FFA-2A2B07EBB1AA}" type="presParOf" srcId="{F914EBAB-9AE0-4C9C-AD59-C8AF93FB6377}" destId="{ABE1C741-270E-44A0-8FAA-56C8D6192DF5}" srcOrd="0" destOrd="0" presId="urn:microsoft.com/office/officeart/2005/8/layout/vList4#2"/>
    <dgm:cxn modelId="{4F618FC4-04B4-4261-B8B0-A259D98924AA}" type="presParOf" srcId="{ABE1C741-270E-44A0-8FAA-56C8D6192DF5}" destId="{8E0F2305-258D-4428-9FBF-D94A5D3D3C9F}" srcOrd="0" destOrd="0" presId="urn:microsoft.com/office/officeart/2005/8/layout/vList4#2"/>
    <dgm:cxn modelId="{C90BD1FB-D3E9-4465-9404-CF1F1ACBD4D3}" type="presParOf" srcId="{ABE1C741-270E-44A0-8FAA-56C8D6192DF5}" destId="{158E2DB7-D6B0-46E7-BE6A-C62634D34FFA}" srcOrd="1" destOrd="0" presId="urn:microsoft.com/office/officeart/2005/8/layout/vList4#2"/>
    <dgm:cxn modelId="{B1B627D7-E2C8-4AFA-86F5-33DCE88002B2}" type="presParOf" srcId="{ABE1C741-270E-44A0-8FAA-56C8D6192DF5}" destId="{A469B5D2-5C1D-4E16-81D9-7CE4020DBD97}" srcOrd="2" destOrd="0" presId="urn:microsoft.com/office/officeart/2005/8/layout/vList4#2"/>
    <dgm:cxn modelId="{010C58D0-E2FD-4B48-BA84-39086E8690CA}" type="presParOf" srcId="{F914EBAB-9AE0-4C9C-AD59-C8AF93FB6377}" destId="{E6D01480-D6F9-4817-ABFB-3AE46EB9A852}" srcOrd="1" destOrd="0" presId="urn:microsoft.com/office/officeart/2005/8/layout/vList4#2"/>
    <dgm:cxn modelId="{42053BF6-46FD-423C-BA84-8356BFF44942}" type="presParOf" srcId="{F914EBAB-9AE0-4C9C-AD59-C8AF93FB6377}" destId="{7B79AD2B-6A8A-4467-A1C1-A9C0199D90C6}" srcOrd="2" destOrd="0" presId="urn:microsoft.com/office/officeart/2005/8/layout/vList4#2"/>
    <dgm:cxn modelId="{0A8638A2-D29E-432C-811A-60DFA7085057}" type="presParOf" srcId="{7B79AD2B-6A8A-4467-A1C1-A9C0199D90C6}" destId="{72EC1CC4-9F98-4FF6-AFF5-359F01F835C5}" srcOrd="0" destOrd="0" presId="urn:microsoft.com/office/officeart/2005/8/layout/vList4#2"/>
    <dgm:cxn modelId="{D5B29DA0-B153-45D6-9373-B4E4E4FBAD0C}" type="presParOf" srcId="{7B79AD2B-6A8A-4467-A1C1-A9C0199D90C6}" destId="{E03ADDCD-18FF-44AF-84C5-7DE435534974}" srcOrd="1" destOrd="0" presId="urn:microsoft.com/office/officeart/2005/8/layout/vList4#2"/>
    <dgm:cxn modelId="{9E3892DC-D150-4D39-B954-AAB7924A2782}" type="presParOf" srcId="{7B79AD2B-6A8A-4467-A1C1-A9C0199D90C6}" destId="{70B99703-76E8-42B1-9954-BFC81FE1D8B9}" srcOrd="2" destOrd="0" presId="urn:microsoft.com/office/officeart/2005/8/layout/vList4#2"/>
    <dgm:cxn modelId="{C622E1B1-6D97-40AF-9C73-78B1AD6010A0}" type="presParOf" srcId="{F914EBAB-9AE0-4C9C-AD59-C8AF93FB6377}" destId="{5147987D-A1A0-49A4-B921-5F9E09ECF2AE}" srcOrd="3" destOrd="0" presId="urn:microsoft.com/office/officeart/2005/8/layout/vList4#2"/>
    <dgm:cxn modelId="{C4635CA4-676E-4623-9762-C8AB1D2C095A}" type="presParOf" srcId="{F914EBAB-9AE0-4C9C-AD59-C8AF93FB6377}" destId="{26C4BDFB-C95B-4610-B28A-F876E5B47DB9}" srcOrd="4" destOrd="0" presId="urn:microsoft.com/office/officeart/2005/8/layout/vList4#2"/>
    <dgm:cxn modelId="{FFF0737D-9C2B-4CED-A89F-83BADE32175B}" type="presParOf" srcId="{26C4BDFB-C95B-4610-B28A-F876E5B47DB9}" destId="{F421C5C8-EFBC-4E95-8C0C-FA2DB6397756}" srcOrd="0" destOrd="0" presId="urn:microsoft.com/office/officeart/2005/8/layout/vList4#2"/>
    <dgm:cxn modelId="{0B846A54-9B54-42E2-922A-9D31B7B79BDF}" type="presParOf" srcId="{26C4BDFB-C95B-4610-B28A-F876E5B47DB9}" destId="{550C8578-02F1-4F58-BBF9-D8D10390AB53}" srcOrd="1" destOrd="0" presId="urn:microsoft.com/office/officeart/2005/8/layout/vList4#2"/>
    <dgm:cxn modelId="{33084A98-7990-495B-A309-FDF23BBFAADA}" type="presParOf" srcId="{26C4BDFB-C95B-4610-B28A-F876E5B47DB9}" destId="{77BCA8CE-6E26-4922-9B7D-C52921D26AA8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010400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תכונות בטיחות רגולריות</a:t>
          </a:r>
          <a:endParaRPr lang="en-US" sz="2300" kern="1200" dirty="0"/>
        </a:p>
      </dsp:txBody>
      <dsp:txXfrm>
        <a:off x="1529080" y="0"/>
        <a:ext cx="5481319" cy="1269999"/>
      </dsp:txXfrm>
    </dsp:sp>
    <dsp:sp modelId="{158E2DB7-D6B0-46E7-BE6A-C62634D34FFA}">
      <dsp:nvSpPr>
        <dsp:cNvPr id="0" name=""/>
        <dsp:cNvSpPr/>
      </dsp:nvSpPr>
      <dsp:spPr>
        <a:xfrm>
          <a:off x="126999" y="126999"/>
          <a:ext cx="1402080" cy="10159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396999"/>
          <a:ext cx="7010400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חזרה על מושגים ומשפטים על אוטומטים</a:t>
          </a:r>
          <a:endParaRPr lang="en-US" sz="2300" kern="1200" dirty="0"/>
        </a:p>
      </dsp:txBody>
      <dsp:txXfrm>
        <a:off x="1529080" y="1396999"/>
        <a:ext cx="5481319" cy="1269999"/>
      </dsp:txXfrm>
    </dsp:sp>
    <dsp:sp modelId="{E03ADDCD-18FF-44AF-84C5-7DE435534974}">
      <dsp:nvSpPr>
        <dsp:cNvPr id="0" name=""/>
        <dsp:cNvSpPr/>
      </dsp:nvSpPr>
      <dsp:spPr>
        <a:xfrm>
          <a:off x="126999" y="1523999"/>
          <a:ext cx="1402080" cy="10159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C5C8-EFBC-4E95-8C0C-FA2DB6397756}">
      <dsp:nvSpPr>
        <dsp:cNvPr id="0" name=""/>
        <dsp:cNvSpPr/>
      </dsp:nvSpPr>
      <dsp:spPr>
        <a:xfrm>
          <a:off x="0" y="2793999"/>
          <a:ext cx="7010400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/>
            <a:t>אימות תכונות בטיחות רגולריות</a:t>
          </a:r>
          <a:endParaRPr lang="he-IL" sz="2300" kern="1200" dirty="0"/>
        </a:p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800" kern="1200"/>
            <a:t>רדוקציה לבדיקת שמורות</a:t>
          </a:r>
          <a:endParaRPr lang="he-IL" sz="1800" kern="1200" dirty="0"/>
        </a:p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800" kern="1200" dirty="0"/>
            <a:t>הוכחת נכונות</a:t>
          </a:r>
        </a:p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800" kern="1200" dirty="0"/>
            <a:t>האלגוריתם</a:t>
          </a:r>
        </a:p>
      </dsp:txBody>
      <dsp:txXfrm>
        <a:off x="1529080" y="2793999"/>
        <a:ext cx="5481319" cy="1269999"/>
      </dsp:txXfrm>
    </dsp:sp>
    <dsp:sp modelId="{550C8578-02F1-4F58-BBF9-D8D10390AB53}">
      <dsp:nvSpPr>
        <dsp:cNvPr id="0" name=""/>
        <dsp:cNvSpPr/>
      </dsp:nvSpPr>
      <dsp:spPr>
        <a:xfrm>
          <a:off x="126999" y="2920999"/>
          <a:ext cx="1402080" cy="10159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010400" cy="1269999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תכונות בטיחות רגולריות</a:t>
          </a:r>
          <a:endParaRPr lang="en-US" sz="2300" kern="1200" dirty="0"/>
        </a:p>
      </dsp:txBody>
      <dsp:txXfrm>
        <a:off x="1529080" y="0"/>
        <a:ext cx="5481319" cy="1269999"/>
      </dsp:txXfrm>
    </dsp:sp>
    <dsp:sp modelId="{158E2DB7-D6B0-46E7-BE6A-C62634D34FFA}">
      <dsp:nvSpPr>
        <dsp:cNvPr id="0" name=""/>
        <dsp:cNvSpPr/>
      </dsp:nvSpPr>
      <dsp:spPr>
        <a:xfrm>
          <a:off x="126999" y="126999"/>
          <a:ext cx="1402080" cy="10159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396999"/>
          <a:ext cx="7010400" cy="1269999"/>
        </a:xfrm>
        <a:prstGeom prst="roundRect">
          <a:avLst>
            <a:gd name="adj" fmla="val 10000"/>
          </a:avLst>
        </a:prstGeom>
        <a:solidFill>
          <a:schemeClr val="accent2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חזרה על מושגים ומשפטים על אוטומטים</a:t>
          </a:r>
          <a:endParaRPr lang="en-US" sz="2300" kern="1200" dirty="0"/>
        </a:p>
      </dsp:txBody>
      <dsp:txXfrm>
        <a:off x="1529080" y="1396999"/>
        <a:ext cx="5481319" cy="1269999"/>
      </dsp:txXfrm>
    </dsp:sp>
    <dsp:sp modelId="{E03ADDCD-18FF-44AF-84C5-7DE435534974}">
      <dsp:nvSpPr>
        <dsp:cNvPr id="0" name=""/>
        <dsp:cNvSpPr/>
      </dsp:nvSpPr>
      <dsp:spPr>
        <a:xfrm>
          <a:off x="126999" y="1523999"/>
          <a:ext cx="1402080" cy="10159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C5C8-EFBC-4E95-8C0C-FA2DB6397756}">
      <dsp:nvSpPr>
        <dsp:cNvPr id="0" name=""/>
        <dsp:cNvSpPr/>
      </dsp:nvSpPr>
      <dsp:spPr>
        <a:xfrm>
          <a:off x="0" y="2793999"/>
          <a:ext cx="7010400" cy="1269999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אימות תכונות בטיחות רגולריות</a:t>
          </a:r>
        </a:p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800" kern="1200" dirty="0"/>
            <a:t>רדוקציה לבדיקת שמורות</a:t>
          </a:r>
        </a:p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800" kern="1200" dirty="0"/>
            <a:t>הוכחת נכונות</a:t>
          </a:r>
        </a:p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800" kern="1200" dirty="0"/>
            <a:t>האלגוריתם</a:t>
          </a:r>
        </a:p>
      </dsp:txBody>
      <dsp:txXfrm>
        <a:off x="1529080" y="2793999"/>
        <a:ext cx="5481319" cy="1269999"/>
      </dsp:txXfrm>
    </dsp:sp>
    <dsp:sp modelId="{550C8578-02F1-4F58-BBF9-D8D10390AB53}">
      <dsp:nvSpPr>
        <dsp:cNvPr id="0" name=""/>
        <dsp:cNvSpPr/>
      </dsp:nvSpPr>
      <dsp:spPr>
        <a:xfrm>
          <a:off x="126999" y="2920999"/>
          <a:ext cx="1402080" cy="10159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12/31/20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 dirty="0"/>
              <a:t>עדכון אחרון </a:t>
            </a:r>
            <a:fld id="{7B086AAE-F14E-4B30-87F9-1FD42B9BCCB9}" type="datetime8">
              <a:rPr lang="he-IL" smtClean="0"/>
              <a:pPr/>
              <a:t>31 בדצמבר 20</a:t>
            </a:fld>
            <a:endParaRPr lang="he-IL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266" name="Picture 2" descr="http://bgu.ac.il/NR/rdonlyres/4E908188-6AC7-4C07-9237-368D40E2EEFB/41072/BGU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47623" y="92075"/>
            <a:ext cx="520177" cy="669925"/>
          </a:xfrm>
          <a:prstGeom prst="rect">
            <a:avLst/>
          </a:prstGeom>
          <a:noFill/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גרא וייס</a:t>
            </a:r>
          </a:p>
          <a:p>
            <a:r>
              <a:rPr lang="he-IL" dirty="0"/>
              <a:t>המחלקה למדעי המחשב</a:t>
            </a:r>
          </a:p>
          <a:p>
            <a:r>
              <a:rPr lang="he-IL" dirty="0"/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 dirty="0"/>
              <a:t>חזרה על נושאים </a:t>
            </a:r>
            <a:br>
              <a:rPr lang="he-IL" dirty="0"/>
            </a:br>
            <a:r>
              <a:rPr lang="he-IL" dirty="0"/>
              <a:t>באוטומטים ושפות פורמאליות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dirty="0" err="1"/>
              <a:t>TexPoint</a:t>
            </a:r>
            <a:r>
              <a:rPr lang="en-US"/>
              <a:t>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R7"/>
              </a:rPr>
              <a:t>A</a:t>
            </a:r>
            <a:r>
              <a:rPr lang="en-US">
                <a:latin typeface="CMR10"/>
              </a:rPr>
              <a:t>A</a:t>
            </a:r>
            <a:r>
              <a:rPr lang="en-US">
                <a:latin typeface="CMMI7"/>
              </a:rPr>
              <a:t>A</a:t>
            </a:r>
            <a:r>
              <a:rPr lang="en-US">
                <a:latin typeface="CMSY10ORIG"/>
              </a:rPr>
              <a:t>A</a:t>
            </a:r>
            <a:r>
              <a:rPr lang="en-US">
                <a:latin typeface="CMSY7"/>
              </a:rPr>
              <a:t>A</a:t>
            </a:r>
            <a:r>
              <a:rPr lang="en-US">
                <a:latin typeface="CMMI8"/>
              </a:rPr>
              <a:t>A</a:t>
            </a:r>
            <a:r>
              <a:rPr lang="en-US">
                <a:latin typeface="LCMSS8"/>
              </a:rPr>
              <a:t>A</a:t>
            </a:r>
            <a:r>
              <a:rPr lang="en-US">
                <a:latin typeface="CMSY8"/>
              </a:rPr>
              <a:t>A</a:t>
            </a:r>
            <a:r>
              <a:rPr lang="en-US">
                <a:latin typeface="CMSY8"/>
                <a:sym typeface="STMARY10"/>
              </a:rPr>
              <a:t></a:t>
            </a:r>
            <a:r>
              <a:rPr lang="en-US">
                <a:latin typeface="CMMI5"/>
                <a:sym typeface="STMARY10"/>
              </a:rPr>
              <a:t>A</a:t>
            </a:r>
            <a:r>
              <a:rPr lang="en-US">
                <a:latin typeface="CMR5"/>
                <a:sym typeface="STMARY10"/>
              </a:rPr>
              <a:t>A</a:t>
            </a:r>
            <a:r>
              <a:rPr lang="en-US">
                <a:latin typeface="CMSY5"/>
                <a:sym typeface="STMARY10"/>
              </a:rPr>
              <a:t>A</a:t>
            </a:r>
            <a:r>
              <a:rPr lang="en-US">
                <a:latin typeface="CMEX10"/>
                <a:sym typeface="STMARY10"/>
              </a:rPr>
              <a:t>A</a:t>
            </a:r>
            <a:r>
              <a:rPr lang="en-US">
                <a:latin typeface="MSAM7"/>
                <a:sym typeface="STMARY10"/>
              </a:rPr>
              <a:t>A</a:t>
            </a:r>
            <a:r>
              <a:rPr lang="en-US">
                <a:latin typeface="Helvetica"/>
                <a:cs typeface="Helvetica"/>
                <a:sym typeface="STMARY10"/>
              </a:rPr>
              <a:t>A</a:t>
            </a:r>
            <a:r>
              <a:rPr lang="en-US">
                <a:latin typeface="AREVSANS-OBLIQUE"/>
                <a:cs typeface="Helvetica"/>
                <a:sym typeface="STMARY10"/>
              </a:rPr>
              <a:t>A</a:t>
            </a:r>
            <a:r>
              <a:rPr lang="en-US">
                <a:latin typeface="AREVSANS-ROMAN"/>
                <a:cs typeface="Helvetica"/>
                <a:sym typeface="STMARY10"/>
              </a:rPr>
              <a:t>A</a:t>
            </a:r>
            <a:r>
              <a:rPr lang="en-US">
                <a:latin typeface="MATHDESIGN-CH-BOLD-OT1-10"/>
                <a:cs typeface="Helvetica"/>
                <a:sym typeface="STMARY10"/>
              </a:rPr>
              <a:t>A</a:t>
            </a:r>
            <a:r>
              <a:rPr lang="en-US">
                <a:latin typeface="SFRM1000"/>
                <a:cs typeface="Helvetica"/>
                <a:sym typeface="STMARY10"/>
              </a:rPr>
              <a:t>A</a:t>
            </a:r>
            <a:r>
              <a:rPr lang="en-US">
                <a:latin typeface="SFRM1000"/>
                <a:cs typeface="Helvetica"/>
                <a:sym typeface="SYMBOL"/>
              </a:rPr>
              <a:t></a:t>
            </a:r>
            <a:r>
              <a:rPr lang="en-US">
                <a:latin typeface="SFRM0700"/>
                <a:cs typeface="Helvetica"/>
                <a:sym typeface="SYMBOL"/>
              </a:rPr>
              <a:t>A</a:t>
            </a:r>
            <a:r>
              <a:rPr lang="en-US">
                <a:latin typeface="SFSS1000"/>
                <a:cs typeface="Helvetica"/>
                <a:sym typeface="SYMBOL"/>
              </a:rPr>
              <a:t>A</a:t>
            </a:r>
            <a:r>
              <a:rPr lang="en-US">
                <a:latin typeface="CMSS10"/>
                <a:cs typeface="Helvetica"/>
                <a:sym typeface="SYMBOL"/>
              </a:rPr>
              <a:t>A</a:t>
            </a:r>
            <a:r>
              <a:rPr lang="en-US">
                <a:latin typeface="CMSS8"/>
                <a:cs typeface="Helvetica"/>
                <a:sym typeface="SYMBOL"/>
              </a:rPr>
              <a:t>A</a:t>
            </a:r>
            <a:endParaRPr lang="he-IL"/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/>
              <a:pPr/>
              <a:t>31 בדצמבר 20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47"/>
    </mc:Choice>
    <mc:Fallback xmlns="">
      <p:transition advTm="10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</a:t>
            </a:fld>
            <a:endParaRPr lang="he-IL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1219200" y="1752600"/>
          <a:ext cx="7010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4446" y="5200072"/>
            <a:ext cx="8143118" cy="618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951180" y="3733110"/>
            <a:ext cx="5181600" cy="5248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1505528" y="2389908"/>
            <a:ext cx="6096000" cy="5248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תזכורת: תכונות </a:t>
            </a:r>
            <a:r>
              <a:rPr lang="he-IL" dirty="0"/>
              <a:t>בטיחות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2900" y="1447800"/>
                <a:ext cx="8458200" cy="5029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400"/>
                  </a:spcBef>
                  <a:spcAft>
                    <a:spcPts val="1200"/>
                  </a:spcAft>
                </a:pPr>
                <a:r>
                  <a:rPr lang="he-IL" dirty="0"/>
                  <a:t>תכונת זמן ליניארי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𝑠𝑎𝑓𝑒</m:t>
                    </m:r>
                  </m:oMath>
                </a14:m>
                <a:r>
                  <a:rPr lang="he-IL" dirty="0"/>
                  <a:t> היא </a:t>
                </a:r>
                <a:r>
                  <a:rPr lang="he-IL" dirty="0">
                    <a:solidFill>
                      <a:srgbClr val="0000FF"/>
                    </a:solidFill>
                  </a:rPr>
                  <a:t>תכונת בטיחות </a:t>
                </a:r>
                <a:r>
                  <a:rPr lang="he-IL" dirty="0"/>
                  <a:t>אם לכל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𝜎</m:t>
                    </m:r>
                    <m:r>
                      <a:rPr lang="en-US" i="1" dirty="0" smtClean="0">
                        <a:latin typeface="Cambria Math"/>
                        <a:sym typeface="Symbol"/>
                      </a:rPr>
                      <m:t>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𝑠𝑎𝑓𝑒</m:t>
                    </m:r>
                    <m:r>
                      <a:rPr lang="he-IL" i="1" baseline="-2500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dirty="0"/>
                  <a:t>קיימת רישא סופית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𝜌</m:t>
                    </m:r>
                  </m:oMath>
                </a14:m>
                <a:r>
                  <a:rPr lang="he-IL" dirty="0">
                    <a:latin typeface="cmmi10"/>
                  </a:rPr>
                  <a:t> כך ש:</a:t>
                </a:r>
                <a:endParaRPr lang="en-US" b="0" i="1" dirty="0">
                  <a:latin typeface="Cambria Math"/>
                </a:endParaRPr>
              </a:p>
              <a:p>
                <a:pPr marL="0" indent="0">
                  <a:spcBef>
                    <a:spcPts val="3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𝑠𝑎𝑓𝑒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𝑝𝑟𝑒𝑓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=∅</m:t>
                      </m:r>
                    </m:oMath>
                  </m:oMathPara>
                </a14:m>
                <a:endParaRPr lang="he-IL" dirty="0">
                  <a:latin typeface="cmmi10"/>
                </a:endParaRPr>
              </a:p>
              <a:p>
                <a:pPr lvl="0">
                  <a:spcBef>
                    <a:spcPts val="2400"/>
                  </a:spcBef>
                  <a:spcAft>
                    <a:spcPts val="1200"/>
                  </a:spcAft>
                  <a:buClr>
                    <a:srgbClr val="D34817"/>
                  </a:buClr>
                </a:pPr>
                <a:r>
                  <a:rPr lang="he-IL" dirty="0">
                    <a:solidFill>
                      <a:prstClr val="black"/>
                    </a:solidFill>
                  </a:rPr>
                  <a:t>הקבוצה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𝑏𝑝</m:t>
                    </m:r>
                    <m:r>
                      <a:rPr lang="he-IL" i="1" dirty="0" smtClean="0">
                        <a:solidFill>
                          <a:prstClr val="black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dirty="0">
                    <a:solidFill>
                      <a:prstClr val="black"/>
                    </a:solidFill>
                  </a:rPr>
                  <a:t> של "</a:t>
                </a:r>
                <a:r>
                  <a:rPr lang="he-IL" dirty="0">
                    <a:solidFill>
                      <a:srgbClr val="0000FF"/>
                    </a:solidFill>
                  </a:rPr>
                  <a:t>רישות רעות</a:t>
                </a:r>
                <a:r>
                  <a:rPr lang="he-IL" dirty="0">
                    <a:solidFill>
                      <a:prstClr val="black"/>
                    </a:solidFill>
                  </a:rPr>
                  <a:t>"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solidFill>
                          <a:prstClr val="black"/>
                        </a:solidFill>
                        <a:latin typeface="Cambria Math"/>
                      </a:rPr>
                      <m:t>𝑠𝑎𝑓𝑒</m:t>
                    </m:r>
                  </m:oMath>
                </a14:m>
                <a:r>
                  <a:rPr lang="he-IL" dirty="0">
                    <a:solidFill>
                      <a:prstClr val="black"/>
                    </a:solidFill>
                  </a:rPr>
                  <a:t>:</a:t>
                </a:r>
                <a:endParaRPr lang="en-US" b="0" i="1" dirty="0">
                  <a:solidFill>
                    <a:prstClr val="black"/>
                  </a:solidFill>
                  <a:latin typeface="Cambria Math"/>
                </a:endParaRPr>
              </a:p>
              <a:p>
                <a:pPr marL="0" lvl="0" indent="0">
                  <a:spcBef>
                    <a:spcPts val="0"/>
                  </a:spcBef>
                  <a:spcAft>
                    <a:spcPts val="1200"/>
                  </a:spcAft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𝑏𝑝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𝑠𝑎𝑓𝑒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∖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𝑝𝑟𝑒𝑓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𝑠𝑎𝑓𝑒</m:t>
                          </m:r>
                        </m:sub>
                      </m:sSub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dirty="0">
                  <a:solidFill>
                    <a:prstClr val="black"/>
                  </a:solidFill>
                </a:endParaRPr>
              </a:p>
              <a:p>
                <a:pPr lvl="0">
                  <a:spcBef>
                    <a:spcPts val="2400"/>
                  </a:spcBef>
                  <a:spcAft>
                    <a:spcPts val="1200"/>
                  </a:spcAft>
                  <a:buClr>
                    <a:srgbClr val="D34817"/>
                  </a:buClr>
                </a:pPr>
                <a:r>
                  <a:rPr lang="he-IL" dirty="0">
                    <a:solidFill>
                      <a:prstClr val="black"/>
                    </a:solidFill>
                  </a:rPr>
                  <a:t>הקבוצה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𝑚𝑏𝑝</m:t>
                    </m:r>
                  </m:oMath>
                </a14:m>
                <a:r>
                  <a:rPr lang="he-IL" dirty="0">
                    <a:solidFill>
                      <a:prstClr val="black"/>
                    </a:solidFill>
                    <a:latin typeface="Franklin Gothic Book"/>
                  </a:rPr>
                  <a:t> </a:t>
                </a:r>
                <a:r>
                  <a:rPr lang="he-IL" dirty="0">
                    <a:solidFill>
                      <a:prstClr val="black"/>
                    </a:solidFill>
                  </a:rPr>
                  <a:t>של "</a:t>
                </a:r>
                <a:r>
                  <a:rPr lang="he-IL" dirty="0">
                    <a:solidFill>
                      <a:srgbClr val="0000FF"/>
                    </a:solidFill>
                  </a:rPr>
                  <a:t>רישות רעות מינימאליות</a:t>
                </a:r>
                <a:r>
                  <a:rPr lang="he-IL" dirty="0">
                    <a:solidFill>
                      <a:prstClr val="black"/>
                    </a:solidFill>
                  </a:rPr>
                  <a:t>"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solidFill>
                          <a:prstClr val="black"/>
                        </a:solidFill>
                        <a:latin typeface="Cambria Math"/>
                      </a:rPr>
                      <m:t>𝑠𝑎𝑓𝑒</m:t>
                    </m:r>
                  </m:oMath>
                </a14:m>
                <a:r>
                  <a:rPr lang="he-IL" dirty="0">
                    <a:solidFill>
                      <a:prstClr val="black"/>
                    </a:solidFill>
                  </a:rPr>
                  <a:t>:</a:t>
                </a:r>
              </a:p>
              <a:p>
                <a:pPr marL="0" lvl="0" indent="0">
                  <a:spcBef>
                    <a:spcPts val="2400"/>
                  </a:spcBef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𝑚𝑏𝑝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𝑠𝑎𝑓𝑒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𝜌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: 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𝑝𝑟𝑒𝑓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𝜌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∩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𝑏𝑝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𝑠𝑎𝑓𝑒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dirty="0">
                  <a:solidFill>
                    <a:prstClr val="black"/>
                  </a:solidFill>
                </a:endParaRPr>
              </a:p>
              <a:p>
                <a:pPr lvl="1" algn="ctr" rtl="0">
                  <a:spcBef>
                    <a:spcPts val="2400"/>
                  </a:spcBef>
                  <a:spcAft>
                    <a:spcPts val="2400"/>
                  </a:spcAft>
                  <a:buClr>
                    <a:srgbClr val="9B2D1F"/>
                  </a:buClr>
                  <a:buNone/>
                </a:pPr>
                <a:endParaRPr lang="en-US" dirty="0">
                  <a:solidFill>
                    <a:prstClr val="black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2900" y="1447800"/>
                <a:ext cx="8458200" cy="5029200"/>
              </a:xfrm>
              <a:blipFill rotWithShape="1">
                <a:blip r:embed="rId2"/>
                <a:stretch>
                  <a:fillRect l="-72" t="-970" r="-79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04800" y="6155323"/>
            <a:ext cx="8573181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sz="1600" dirty="0">
                <a:solidFill>
                  <a:srgbClr val="FF0000"/>
                </a:solidFill>
              </a:rPr>
              <a:t>רישא רעה מינימאלית איננה בהכרח הרישא הרעה הקצרה ביותר </a:t>
            </a:r>
            <a:r>
              <a:rPr lang="he-IL" sz="1600" dirty="0"/>
              <a:t>– </a:t>
            </a:r>
            <a:r>
              <a:rPr lang="he-IL" sz="1600" dirty="0">
                <a:solidFill>
                  <a:srgbClr val="0000FF"/>
                </a:solidFill>
              </a:rPr>
              <a:t>זאת רישא רעה שאין לה רישא אחרת שהיא רישא רעה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6" grpId="0" animBg="1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דוגמה: תכונות בטיחות לרמזור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143000"/>
                <a:ext cx="8458200" cy="5334000"/>
              </a:xfrm>
            </p:spPr>
            <p:txBody>
              <a:bodyPr>
                <a:noAutofit/>
              </a:bodyPr>
              <a:lstStyle/>
              <a:p>
                <a:r>
                  <a:rPr lang="he-IL" sz="2000" dirty="0"/>
                  <a:t>נניח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  <m:r>
                      <a:rPr lang="en-US" sz="2000" i="1" dirty="0" smtClean="0">
                        <a:latin typeface="Cambria Math"/>
                      </a:rPr>
                      <m:t>={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𝑔𝑟𝑒𝑒𝑛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𝑦𝑒𝑙𝑙𝑜𝑤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 sz="2000" dirty="0"/>
                  <a:t>. מתאר איזה פנס דולק ברמזור.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 sz="2000" dirty="0"/>
                  <a:t>"</a:t>
                </a:r>
                <a:r>
                  <a:rPr lang="he-IL" sz="2000" dirty="0">
                    <a:solidFill>
                      <a:srgbClr val="FF0000"/>
                    </a:solidFill>
                  </a:rPr>
                  <a:t>תמיד אחד הפנסים דולק</a:t>
                </a:r>
                <a:r>
                  <a:rPr lang="he-IL" sz="2000" dirty="0"/>
                  <a:t>"</a:t>
                </a:r>
              </a:p>
              <a:p>
                <a:pPr lvl="1"/>
                <a:r>
                  <a:rPr lang="he-IL" sz="2000" dirty="0"/>
                  <a:t>הגדרה: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 </m:t>
                    </m:r>
                    <m:r>
                      <a:rPr lang="en-US" sz="2000" i="1" dirty="0" smtClean="0">
                        <a:latin typeface="Cambria Math"/>
                      </a:rPr>
                      <m:t>𝑞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 smtClean="0"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i="1" dirty="0" smtClean="0">
                        <a:latin typeface="Cambria Math"/>
                      </a:rPr>
                      <m:t> :  </m:t>
                    </m:r>
                    <m:r>
                      <a:rPr lang="en-US" sz="2000" i="1" dirty="0" err="1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𝑗</m:t>
                    </m:r>
                    <m:r>
                      <a:rPr lang="en-US" sz="2000" b="0" i="1" dirty="0" smtClean="0">
                        <a:latin typeface="Cambria Math"/>
                      </a:rPr>
                      <m:t>⊆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  <m:r>
                      <a:rPr lang="en-US" sz="2000" b="0" i="1" dirty="0" smtClean="0">
                        <a:latin typeface="Cambria Math"/>
                      </a:rPr>
                      <m:t>∧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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he-IL" sz="2000" dirty="0"/>
                  <a:t>רישות רעות: מילים סופיות המכילות את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∅</m:t>
                    </m:r>
                  </m:oMath>
                </a14:m>
                <a:endParaRPr lang="he-IL" sz="2000" dirty="0">
                  <a:latin typeface="cmsy10"/>
                </a:endParaRPr>
              </a:p>
              <a:p>
                <a:pPr lvl="1"/>
                <a:r>
                  <a:rPr lang="he-IL" sz="2000" dirty="0">
                    <a:latin typeface="cmsy10"/>
                  </a:rPr>
                  <a:t>רישא רעה מינימאלית: המופע הראשון של האות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∅</m:t>
                    </m:r>
                  </m:oMath>
                </a14:m>
                <a:r>
                  <a:rPr lang="he-IL" sz="2000" dirty="0">
                    <a:latin typeface="cmsy10"/>
                  </a:rPr>
                  <a:t> הוא בסוף המילה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 sz="2000" dirty="0">
                    <a:latin typeface="cmsy10"/>
                  </a:rPr>
                  <a:t>"</a:t>
                </a:r>
                <a:r>
                  <a:rPr lang="he-IL" sz="2000" dirty="0">
                    <a:solidFill>
                      <a:srgbClr val="FF0000"/>
                    </a:solidFill>
                    <a:latin typeface="cmsy10"/>
                  </a:rPr>
                  <a:t>אף פעם לא מדליקים שני פנסים ביחד</a:t>
                </a:r>
                <a:r>
                  <a:rPr lang="he-IL" sz="2000" dirty="0">
                    <a:latin typeface="cmsy10"/>
                  </a:rPr>
                  <a:t>"</a:t>
                </a:r>
              </a:p>
              <a:p>
                <a:pPr lvl="1"/>
                <a:r>
                  <a:rPr lang="he-IL" sz="2000" dirty="0">
                    <a:latin typeface="cmsy10"/>
                  </a:rPr>
                  <a:t>הגדרה: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 </m:t>
                    </m:r>
                    <m:r>
                      <a:rPr lang="en-US" sz="2000" i="1" dirty="0" smtClean="0">
                        <a:latin typeface="Cambria Math"/>
                      </a:rPr>
                      <m:t>𝑞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>
                        <a:latin typeface="Cambria Math"/>
                      </a:rPr>
                      <m:t>0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</a:rPr>
                      <m:t>𝐴</m:t>
                    </m:r>
                    <m:r>
                      <a:rPr lang="en-US" sz="2000" i="1" baseline="-25000" dirty="0">
                        <a:latin typeface="Cambria Math"/>
                      </a:rPr>
                      <m:t>1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i="1" dirty="0">
                        <a:latin typeface="Cambria Math"/>
                      </a:rPr>
                      <m:t> :  </m:t>
                    </m:r>
                    <m:r>
                      <a:rPr lang="en-US" sz="2000" i="1" dirty="0" err="1">
                        <a:latin typeface="Cambria Math"/>
                      </a:rPr>
                      <m:t>𝐴</m:t>
                    </m:r>
                    <m:r>
                      <a:rPr lang="en-US" sz="2000" i="1" baseline="-25000" dirty="0" err="1">
                        <a:latin typeface="Cambria Math"/>
                      </a:rPr>
                      <m:t>𝑗</m:t>
                    </m:r>
                    <m:r>
                      <a:rPr lang="en-US" sz="2000" b="0" i="1" dirty="0" smtClean="0">
                        <a:latin typeface="Cambria Math"/>
                      </a:rPr>
                      <m:t>⊆</m:t>
                    </m:r>
                    <m:r>
                      <a:rPr lang="en-US" sz="2000" i="1" dirty="0">
                        <a:latin typeface="Cambria Math"/>
                      </a:rPr>
                      <m:t>𝐴𝑃</m:t>
                    </m:r>
                    <m:r>
                      <a:rPr lang="en-US" sz="2000" b="0" i="1" dirty="0" smtClean="0">
                        <a:latin typeface="Cambria Math"/>
                      </a:rPr>
                      <m:t>∧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>
                            <a:latin typeface="Cambria Math"/>
                          </a:rPr>
                          <m:t>𝐴</m:t>
                        </m:r>
                        <m:r>
                          <a:rPr lang="en-US" sz="2000" i="1" baseline="-25000" dirty="0" err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≤</m:t>
                    </m:r>
                    <m:r>
                      <a:rPr lang="en-US" sz="2000" i="1" dirty="0">
                        <a:latin typeface="Cambria Math"/>
                      </a:rPr>
                      <m:t>1 }</m:t>
                    </m:r>
                  </m:oMath>
                </a14:m>
                <a:endParaRPr lang="he-IL" sz="2000" dirty="0"/>
              </a:p>
              <a:p>
                <a:pPr lvl="1">
                  <a:buClr>
                    <a:srgbClr val="D34817"/>
                  </a:buClr>
                </a:pPr>
                <a:r>
                  <a:rPr lang="he-IL" sz="2000" dirty="0">
                    <a:solidFill>
                      <a:prstClr val="black"/>
                    </a:solidFill>
                  </a:rPr>
                  <a:t>רישות רעות: מילים סופיות המכילות אותיות כמו  </a:t>
                </a:r>
                <a14:m>
                  <m:oMath xmlns:m="http://schemas.openxmlformats.org/officeDocument/2006/math">
                    <m:r>
                      <a:rPr lang="he-IL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𝑔𝑟𝑒𝑒𝑛</m:t>
                    </m:r>
                    <m:r>
                      <a:rPr lang="he-IL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}, {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𝑦𝑒𝑙𝑙𝑜𝑤</m:t>
                    </m:r>
                    <m:r>
                      <a:rPr lang="he-IL" sz="2000" i="1" dirty="0" smtClean="0">
                        <a:solidFill>
                          <a:prstClr val="black"/>
                        </a:solidFill>
                        <a:latin typeface="Cambria Math"/>
                      </a:rPr>
                      <m:t>}, …</m:t>
                    </m:r>
                  </m:oMath>
                </a14:m>
                <a:endParaRPr lang="he-IL" sz="2000" dirty="0">
                  <a:solidFill>
                    <a:prstClr val="black"/>
                  </a:solidFill>
                </a:endParaRPr>
              </a:p>
              <a:p>
                <a:pPr lvl="1">
                  <a:buClr>
                    <a:srgbClr val="D34817"/>
                  </a:buClr>
                </a:pPr>
                <a:r>
                  <a:rPr lang="he-IL" sz="2000" dirty="0">
                    <a:solidFill>
                      <a:prstClr val="black"/>
                    </a:solidFill>
                    <a:latin typeface="cmsy10"/>
                  </a:rPr>
                  <a:t>רישא רעה מינימאלית: מילה בה המופע הראשון של אחת האותיות האלו </a:t>
                </a:r>
                <a:r>
                  <a:rPr lang="he-IL" sz="2000">
                    <a:solidFill>
                      <a:prstClr val="black"/>
                    </a:solidFill>
                    <a:latin typeface="cmsy10"/>
                  </a:rPr>
                  <a:t>הוא בסוף </a:t>
                </a:r>
                <a:endParaRPr lang="he-IL" sz="2000" dirty="0">
                  <a:solidFill>
                    <a:prstClr val="black"/>
                  </a:solidFill>
                  <a:latin typeface="cmsy10"/>
                </a:endParaRPr>
              </a:p>
              <a:p>
                <a:pPr>
                  <a:spcBef>
                    <a:spcPts val="2400"/>
                  </a:spcBef>
                  <a:buClr>
                    <a:srgbClr val="9B2D1F"/>
                  </a:buClr>
                </a:pPr>
                <a:r>
                  <a:rPr lang="he-IL" sz="2000" dirty="0">
                    <a:solidFill>
                      <a:prstClr val="black"/>
                    </a:solidFill>
                    <a:latin typeface="cmsy10"/>
                  </a:rPr>
                  <a:t>"</a:t>
                </a:r>
                <a:r>
                  <a:rPr lang="he-IL" sz="2000" dirty="0">
                    <a:solidFill>
                      <a:srgbClr val="FF0000"/>
                    </a:solidFill>
                    <a:latin typeface="cmsy10"/>
                  </a:rPr>
                  <a:t>אור אדום חייב להידלק אחרי אור צהוב</a:t>
                </a:r>
                <a:r>
                  <a:rPr lang="he-IL" sz="2000" dirty="0">
                    <a:solidFill>
                      <a:prstClr val="black"/>
                    </a:solidFill>
                    <a:latin typeface="cmsy10"/>
                  </a:rPr>
                  <a:t>"</a:t>
                </a:r>
              </a:p>
              <a:p>
                <a:pPr lvl="1">
                  <a:buClr>
                    <a:srgbClr val="9B2D1F"/>
                  </a:buClr>
                </a:pPr>
                <a:r>
                  <a:rPr lang="he-IL" sz="2000" dirty="0">
                    <a:latin typeface="cmsy10"/>
                  </a:rPr>
                  <a:t>הגדרה: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 </m:t>
                    </m:r>
                    <m:r>
                      <a:rPr lang="en-US" sz="2000" i="1" dirty="0" smtClean="0">
                        <a:latin typeface="Cambria Math"/>
                      </a:rPr>
                      <m:t>𝑞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 smtClean="0"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i="1" dirty="0" smtClean="0">
                        <a:latin typeface="Cambria Math"/>
                      </a:rPr>
                      <m:t> :  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b="0" i="1" dirty="0" smtClean="0">
                        <a:latin typeface="Cambria Math"/>
                      </a:rPr>
                      <m:t>∈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𝐴𝑖</m:t>
                    </m:r>
                    <m:r>
                      <a:rPr lang="en-US" sz="2000" b="0" i="1" dirty="0" smtClean="0">
                        <a:latin typeface="Cambria Math"/>
                      </a:rPr>
                      <m:t>⇒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𝑖</m:t>
                    </m:r>
                    <m:r>
                      <a:rPr lang="en-US" sz="2000" b="0" i="1" dirty="0" smtClean="0">
                        <a:latin typeface="Cambria Math"/>
                      </a:rPr>
                      <m:t>&gt;</m:t>
                    </m:r>
                    <m:r>
                      <a:rPr lang="en-US" sz="2000" i="1" dirty="0" smtClean="0">
                        <a:latin typeface="Cambria Math"/>
                      </a:rPr>
                      <m:t>0</m:t>
                    </m:r>
                    <m:r>
                      <a:rPr lang="en-US" sz="2000" b="0" i="1" dirty="0" smtClean="0">
                        <a:latin typeface="Cambria Math"/>
                      </a:rPr>
                      <m:t>∧</m:t>
                    </m:r>
                    <m:r>
                      <a:rPr lang="en-US" sz="2000" i="1" dirty="0" smtClean="0">
                        <a:latin typeface="Cambria Math"/>
                      </a:rPr>
                      <m:t>𝑦𝑒𝑙𝑙𝑜𝑤</m:t>
                    </m:r>
                    <m:r>
                      <a:rPr lang="en-US" sz="2000" b="0" i="1" dirty="0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)}</m:t>
                    </m:r>
                  </m:oMath>
                </a14:m>
                <a:endParaRPr lang="he-IL" sz="2000" dirty="0"/>
              </a:p>
              <a:p>
                <a:pPr lvl="1">
                  <a:buClr>
                    <a:srgbClr val="9B2D1F"/>
                  </a:buClr>
                </a:pPr>
                <a:r>
                  <a:rPr lang="he-IL" sz="2000" dirty="0"/>
                  <a:t>רישא רעה שאינה מינימאלית: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latin typeface="Cambria Math"/>
                      </a:rPr>
                      <m:t>𝑦𝑒𝑙𝑙𝑜𝑤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𝑦𝑒𝑙𝑙𝑜𝑤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latin typeface="Cambria Math"/>
                      </a:rPr>
                      <m:t>};{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he-IL" sz="2000" dirty="0"/>
              </a:p>
              <a:p>
                <a:pPr lvl="1">
                  <a:buClr>
                    <a:srgbClr val="9B2D1F"/>
                  </a:buClr>
                </a:pPr>
                <a:r>
                  <a:rPr lang="he-IL" sz="2000" dirty="0"/>
                  <a:t>רישות רעות מינימאליות: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∅∅</m:t>
                    </m:r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latin typeface="Cambria Math"/>
                      </a:rPr>
                      <m:t>}   </m:t>
                    </m:r>
                  </m:oMath>
                </a14:m>
                <a:r>
                  <a:rPr lang="he-IL" sz="2000" dirty="0"/>
                  <a:t>  וגם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latin typeface="Cambria Math"/>
                      </a:rPr>
                      <m:t>𝑟𝑒𝑑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he-IL" sz="2000" dirty="0"/>
              </a:p>
              <a:p>
                <a:pPr lvl="2">
                  <a:buClr>
                    <a:srgbClr val="9B2D1F"/>
                  </a:buClr>
                </a:pPr>
                <a:endParaRPr lang="he-IL" sz="1600" dirty="0">
                  <a:solidFill>
                    <a:prstClr val="black"/>
                  </a:solidFill>
                  <a:latin typeface="cmsy10"/>
                </a:endParaRPr>
              </a:p>
              <a:p>
                <a:pPr lvl="2">
                  <a:buClr>
                    <a:srgbClr val="D34817"/>
                  </a:buClr>
                </a:pPr>
                <a:endParaRPr lang="he-IL" sz="1600" dirty="0">
                  <a:solidFill>
                    <a:prstClr val="black"/>
                  </a:solidFill>
                  <a:latin typeface="cmsy10"/>
                </a:endParaRPr>
              </a:p>
              <a:p>
                <a:pPr algn="ctr">
                  <a:buNone/>
                </a:pPr>
                <a:endParaRPr lang="he-IL" sz="2400" dirty="0"/>
              </a:p>
              <a:p>
                <a:endParaRPr lang="he-IL" sz="2000" dirty="0">
                  <a:latin typeface="cmsy10"/>
                </a:endParaRPr>
              </a:p>
              <a:p>
                <a:endParaRPr lang="he-IL" sz="2400" dirty="0">
                  <a:latin typeface="cmsy10"/>
                </a:endParaRPr>
              </a:p>
              <a:p>
                <a:endParaRPr lang="he-IL" sz="2000" dirty="0">
                  <a:latin typeface="cmsy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143000"/>
                <a:ext cx="8458200" cy="5334000"/>
              </a:xfrm>
              <a:blipFill>
                <a:blip r:embed="rId2"/>
                <a:stretch>
                  <a:fillRect t="-713" r="-300" b="-4536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5238" y="4419600"/>
            <a:ext cx="7848600" cy="5248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35238" y="2303092"/>
            <a:ext cx="7848600" cy="5248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תכונות בטיחות 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625838"/>
                <a:ext cx="8458200" cy="4572000"/>
              </a:xfrm>
            </p:spPr>
            <p:txBody>
              <a:bodyPr/>
              <a:lstStyle/>
              <a:p>
                <a:pPr>
                  <a:spcBef>
                    <a:spcPts val="2400"/>
                  </a:spcBef>
                </a:pPr>
                <a:r>
                  <a:rPr lang="he-IL" dirty="0"/>
                  <a:t>הגדרה:</a:t>
                </a:r>
              </a:p>
              <a:p>
                <a:pPr>
                  <a:spcBef>
                    <a:spcPts val="2400"/>
                  </a:spcBef>
                  <a:buNone/>
                </a:pPr>
                <a:r>
                  <a:rPr lang="he-IL" dirty="0"/>
                  <a:t>	תכונת בטיחות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𝑠𝑎𝑓𝑒</m:t>
                    </m:r>
                  </m:oMath>
                </a14:m>
                <a:r>
                  <a:rPr lang="he-IL" baseline="-25000" dirty="0">
                    <a:latin typeface="Perpetua"/>
                  </a:rPr>
                  <a:t> </a:t>
                </a:r>
                <a:r>
                  <a:rPr lang="he-IL" dirty="0">
                    <a:latin typeface="Perpetua"/>
                  </a:rPr>
                  <a:t>היא </a:t>
                </a:r>
                <a:r>
                  <a:rPr lang="he-IL" dirty="0">
                    <a:solidFill>
                      <a:srgbClr val="0000FF"/>
                    </a:solidFill>
                    <a:latin typeface="Perpetua"/>
                  </a:rPr>
                  <a:t>רגולרית</a:t>
                </a:r>
                <a:r>
                  <a:rPr lang="he-IL" dirty="0">
                    <a:latin typeface="Perpetua"/>
                  </a:rPr>
                  <a:t> 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𝑏𝑝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𝑠𝑎𝑓𝑒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dirty="0">
                    <a:latin typeface="Perpetua"/>
                  </a:rPr>
                  <a:t> היא שפה רגולרית</a:t>
                </a:r>
              </a:p>
              <a:p>
                <a:pPr>
                  <a:spcBef>
                    <a:spcPts val="2400"/>
                  </a:spcBef>
                  <a:buNone/>
                </a:pPr>
                <a:endParaRPr lang="he-IL" dirty="0">
                  <a:latin typeface="Perpetua"/>
                </a:endParaRPr>
              </a:p>
              <a:p>
                <a:pPr>
                  <a:spcBef>
                    <a:spcPts val="2400"/>
                  </a:spcBef>
                  <a:buNone/>
                </a:pPr>
                <a:r>
                  <a:rPr lang="he-IL" dirty="0">
                    <a:latin typeface="Perpetua"/>
                  </a:rPr>
                  <a:t>במילים אחרות:</a:t>
                </a:r>
              </a:p>
              <a:p>
                <a:pPr algn="ctr">
                  <a:spcBef>
                    <a:spcPts val="2400"/>
                  </a:spcBef>
                  <a:buNone/>
                </a:pPr>
                <a:r>
                  <a:rPr lang="he-IL" dirty="0">
                    <a:latin typeface="Perpetua"/>
                  </a:rPr>
                  <a:t>אם קיים </a:t>
                </a:r>
                <a:r>
                  <a:rPr lang="he-IL" dirty="0">
                    <a:solidFill>
                      <a:srgbClr val="FF0000"/>
                    </a:solidFill>
                    <a:latin typeface="Perpetua"/>
                  </a:rPr>
                  <a:t>אוטומט סופי </a:t>
                </a:r>
                <a:r>
                  <a:rPr lang="he-IL" dirty="0">
                    <a:latin typeface="Perpetua"/>
                  </a:rPr>
                  <a:t>מעל האלפבית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baseline="30000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baseline="30000" dirty="0">
                    <a:latin typeface="cmmi10"/>
                  </a:rPr>
                  <a:t>  </a:t>
                </a:r>
                <a:r>
                  <a:rPr lang="he-IL" dirty="0">
                    <a:latin typeface="cmmi10"/>
                  </a:rPr>
                  <a:t>המקבל את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𝑏𝑝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𝑠𝑎𝑓𝑒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he-IL" dirty="0">
                  <a:latin typeface="cmmi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625838"/>
                <a:ext cx="8458200" cy="4572000"/>
              </a:xfrm>
              <a:blipFill rotWithShape="1">
                <a:blip r:embed="rId2"/>
                <a:stretch>
                  <a:fillRect t="-1200" r="-12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ראשי פרקים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</a:t>
            </a:fld>
            <a:endParaRPr lang="he-IL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219200" y="2108200"/>
          <a:ext cx="7010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אוטומט סופי לא דטרמיניסטי (</a:t>
            </a:r>
            <a:r>
              <a:rPr lang="he-IL" dirty="0" err="1"/>
              <a:t>אסל"ד</a:t>
            </a:r>
            <a:r>
              <a:rPr lang="he-IL" dirty="0"/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600200"/>
                <a:ext cx="8382000" cy="4800600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he-IL" sz="2800" dirty="0">
                    <a:solidFill>
                      <a:srgbClr val="FF0000"/>
                    </a:solidFill>
                  </a:rPr>
                  <a:t>אוטומט סופי לא דטרמיניסטי </a:t>
                </a:r>
                <a:r>
                  <a:rPr lang="he-IL" sz="2800" dirty="0"/>
                  <a:t>(</a:t>
                </a:r>
                <a:r>
                  <a:rPr lang="he-IL" sz="2800" dirty="0" err="1"/>
                  <a:t>אסל"ד</a:t>
                </a:r>
                <a:r>
                  <a:rPr lang="he-IL" sz="2800" dirty="0"/>
                  <a:t> </a:t>
                </a:r>
                <a:r>
                  <a:rPr lang="en-US" sz="2800" dirty="0">
                    <a:latin typeface="Comic Sans MS" pitchFamily="66" charset="0"/>
                  </a:rPr>
                  <a:t>NFA</a:t>
                </a:r>
                <a:r>
                  <a:rPr lang="en-US" sz="2800" dirty="0"/>
                  <a:t>,</a:t>
                </a:r>
                <a:r>
                  <a:rPr lang="he-IL" sz="2800" dirty="0"/>
                  <a:t>) הוא </a:t>
                </a:r>
                <a:r>
                  <a:rPr lang="en-US" sz="2800" dirty="0"/>
                  <a:t>:</a:t>
                </a:r>
                <a:r>
                  <a:rPr lang="en-US" sz="2800" dirty="0" err="1">
                    <a:latin typeface="cmsy10"/>
                  </a:rPr>
                  <a:t>h</a:t>
                </a:r>
                <a:r>
                  <a:rPr lang="en-US" sz="2800" dirty="0" err="1">
                    <a:latin typeface="cmmi10"/>
                  </a:rPr>
                  <a:t>Q</a:t>
                </a:r>
                <a:r>
                  <a:rPr lang="en-US" sz="2800" dirty="0"/>
                  <a:t>, </a:t>
                </a:r>
                <a:r>
                  <a:rPr lang="en-US" sz="2800" dirty="0">
                    <a:latin typeface="cmr10"/>
                  </a:rPr>
                  <a:t>§</a:t>
                </a:r>
                <a:r>
                  <a:rPr lang="en-US" sz="2800" dirty="0"/>
                  <a:t>, </a:t>
                </a:r>
                <a:r>
                  <a:rPr lang="en-US" sz="2800" dirty="0">
                    <a:latin typeface="cmmi10"/>
                  </a:rPr>
                  <a:t>±</a:t>
                </a:r>
                <a:r>
                  <a:rPr lang="en-US" sz="2800" dirty="0"/>
                  <a:t>,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0</a:t>
                </a:r>
                <a:r>
                  <a:rPr lang="en-US" sz="2800" dirty="0"/>
                  <a:t>, </a:t>
                </a:r>
                <a:r>
                  <a:rPr lang="en-US" sz="2800" dirty="0">
                    <a:latin typeface="cmmi10"/>
                  </a:rPr>
                  <a:t>F</a:t>
                </a:r>
                <a:r>
                  <a:rPr lang="en-US" sz="2800" dirty="0">
                    <a:latin typeface="cmsy10"/>
                  </a:rPr>
                  <a:t>i</a:t>
                </a:r>
                <a:endParaRPr lang="he-IL" sz="2800" dirty="0">
                  <a:latin typeface="cmsy10"/>
                </a:endParaRP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 dirty="0">
                    <a:latin typeface="cmmi10"/>
                  </a:rPr>
                  <a:t> היא קבוצת </a:t>
                </a:r>
                <a:r>
                  <a:rPr lang="he-IL" sz="2800" dirty="0">
                    <a:solidFill>
                      <a:srgbClr val="0000FF"/>
                    </a:solidFill>
                    <a:latin typeface="cmmi10"/>
                  </a:rPr>
                  <a:t>מצבים</a:t>
                </a:r>
                <a:r>
                  <a:rPr lang="he-IL" sz="2800" dirty="0">
                    <a:latin typeface="cmmi10"/>
                  </a:rPr>
                  <a:t> סופית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800" b="0" i="0" dirty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 sz="2800" dirty="0">
                    <a:latin typeface="cmmi10"/>
                  </a:rPr>
                  <a:t>הוא ה</a:t>
                </a:r>
                <a:r>
                  <a:rPr lang="he-IL" sz="2800" dirty="0">
                    <a:solidFill>
                      <a:srgbClr val="0000FF"/>
                    </a:solidFill>
                    <a:latin typeface="cmmi10"/>
                  </a:rPr>
                  <a:t>אלפבית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mi10"/>
                  </a:rPr>
                  <a:t>±</a:t>
                </a:r>
                <a:r>
                  <a:rPr lang="en-US" sz="2800" dirty="0">
                    <a:latin typeface="Franklin Gothic Book"/>
                  </a:rPr>
                  <a:t>: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sy10"/>
                  </a:rPr>
                  <a:t>£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r10"/>
                  </a:rPr>
                  <a:t>§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Symbol"/>
                    <a:sym typeface="Symbol"/>
                  </a:rPr>
                  <a:t>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solidFill>
                      <a:srgbClr val="FF0000"/>
                    </a:solidFill>
                    <a:latin typeface="cmr10"/>
                  </a:rPr>
                  <a:t>2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cmmi10"/>
                  </a:rPr>
                  <a:t>Q</a:t>
                </a:r>
                <a:r>
                  <a:rPr lang="he-IL" sz="2800" dirty="0">
                    <a:latin typeface="Franklin Gothic Book"/>
                  </a:rPr>
                  <a:t> היא </a:t>
                </a:r>
                <a:r>
                  <a:rPr lang="he-IL" sz="2800" dirty="0">
                    <a:solidFill>
                      <a:srgbClr val="0000FF"/>
                    </a:solidFill>
                    <a:latin typeface="Franklin Gothic Book"/>
                  </a:rPr>
                  <a:t>פונקציית מעברים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0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sy10"/>
                  </a:rPr>
                  <a:t>µ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he-IL" sz="2800" dirty="0">
                    <a:latin typeface="Franklin Gothic Book"/>
                  </a:rPr>
                  <a:t> היא קבוצת </a:t>
                </a:r>
                <a:r>
                  <a:rPr lang="he-IL" sz="2800" dirty="0">
                    <a:solidFill>
                      <a:srgbClr val="0000FF"/>
                    </a:solidFill>
                    <a:latin typeface="Franklin Gothic Book"/>
                  </a:rPr>
                  <a:t>מצבים התחלתיים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 dirty="0">
                    <a:latin typeface="cmmi10"/>
                  </a:rPr>
                  <a:t>F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sy10"/>
                  </a:rPr>
                  <a:t>µ</a:t>
                </a:r>
                <a:r>
                  <a:rPr lang="en-US" sz="2800" dirty="0">
                    <a:latin typeface="Franklin Gothic Book"/>
                  </a:rPr>
                  <a:t>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he-IL" sz="2800" dirty="0">
                    <a:latin typeface="cmmi10"/>
                  </a:rPr>
                  <a:t> היא קבוצת </a:t>
                </a:r>
                <a:r>
                  <a:rPr lang="he-IL" sz="2800" dirty="0">
                    <a:solidFill>
                      <a:srgbClr val="0000FF"/>
                    </a:solidFill>
                    <a:latin typeface="cmmi10"/>
                  </a:rPr>
                  <a:t>מצבים מקבלים</a:t>
                </a:r>
                <a:endParaRPr lang="he-IL" sz="2800" dirty="0">
                  <a:solidFill>
                    <a:srgbClr val="0070C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600200"/>
                <a:ext cx="8382000" cy="4800600"/>
              </a:xfrm>
              <a:blipFill rotWithShape="1">
                <a:blip r:embed="rId3"/>
                <a:stretch>
                  <a:fillRect t="-1525" r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rcRect l="-5836" t="-21000" r="-5836" b="-21000"/>
          <a:stretch>
            <a:fillRect/>
          </a:stretch>
        </p:blipFill>
        <p:spPr bwMode="auto">
          <a:xfrm>
            <a:off x="228600" y="2286000"/>
            <a:ext cx="4377418" cy="154686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לאוטומט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2000" y="1619250"/>
                <a:ext cx="2372188" cy="23083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  <m:r>
                      <a:rPr lang="en-US" sz="2400" i="1" dirty="0" smtClean="0">
                        <a:latin typeface="Cambria Math"/>
                      </a:rPr>
                      <m:t> = {</m:t>
                    </m:r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0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2</m:t>
                    </m:r>
                    <m:r>
                      <a:rPr lang="en-US" sz="240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/>
                      </a:rPr>
                      <m:t>𝛿</m:t>
                    </m:r>
                    <m:r>
                      <a:rPr lang="en-US" sz="2400" i="1" dirty="0" smtClean="0">
                        <a:latin typeface="Cambria Math"/>
                      </a:rPr>
                      <m:t> = { </m:t>
                    </m:r>
                    <m:r>
                      <a:rPr lang="en-US" sz="2400" i="1" dirty="0" smtClean="0">
                        <a:latin typeface="Cambria Math"/>
                      </a:rPr>
                      <m:t>𝐴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latin typeface="Cambria Math"/>
                      </a:rPr>
                      <m:t>𝐵</m:t>
                    </m:r>
                    <m:r>
                      <a:rPr lang="en-US" sz="2400" i="1" dirty="0" smtClean="0">
                        <a:latin typeface="Cambria Math"/>
                      </a:rPr>
                      <m:t> }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  <m:r>
                      <a:rPr lang="en-US" sz="2400" i="1" baseline="-25000" dirty="0" smtClean="0">
                        <a:latin typeface="Cambria Math"/>
                      </a:rPr>
                      <m:t>0</m:t>
                    </m:r>
                    <m:r>
                      <a:rPr lang="en-US" sz="2400" i="1" dirty="0" smtClean="0">
                        <a:latin typeface="Cambria Math"/>
                      </a:rPr>
                      <m:t> = {</m:t>
                    </m:r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0</m:t>
                    </m:r>
                    <m:r>
                      <a:rPr lang="en-US" sz="240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𝐹</m:t>
                    </m:r>
                    <m:r>
                      <a:rPr lang="en-US" sz="2400" i="1" dirty="0" smtClean="0">
                        <a:latin typeface="Cambria Math"/>
                      </a:rPr>
                      <m:t> = {</m:t>
                    </m:r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2</m:t>
                    </m:r>
                    <m:r>
                      <a:rPr lang="en-US" sz="240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19250"/>
                <a:ext cx="2372188" cy="230832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rcRect l="-5836" t="-21000" r="-5836" b="-21000"/>
          <a:stretch>
            <a:fillRect/>
          </a:stretch>
        </p:blipFill>
        <p:spPr bwMode="auto">
          <a:xfrm>
            <a:off x="3657600" y="1828800"/>
            <a:ext cx="4377418" cy="154686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/>
          <p:cNvGrpSpPr/>
          <p:nvPr/>
        </p:nvGrpSpPr>
        <p:grpSpPr>
          <a:xfrm>
            <a:off x="2057400" y="4648200"/>
            <a:ext cx="5485169" cy="1686616"/>
            <a:chOff x="2057400" y="4648200"/>
            <a:chExt cx="5485169" cy="1686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057400" y="4648200"/>
                  <a:ext cx="2743200" cy="1686616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1">
                  <a:spAutoFit/>
                </a:bodyPr>
                <a:lstStyle/>
                <a:p>
                  <a:pPr algn="l" rtl="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he-IL" sz="2400" b="0" i="1" dirty="0" smtClean="0">
                          <a:latin typeface="Cambria Math"/>
                        </a:rPr>
                        <m:t>𝛿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0</m:t>
                      </m:r>
                      <m:r>
                        <a:rPr lang="en-US" sz="2400" i="1" dirty="0" smtClean="0">
                          <a:latin typeface="Cambria Math"/>
                        </a:rPr>
                        <m:t>,</m:t>
                      </m:r>
                      <m:r>
                        <a:rPr lang="en-US" sz="2400" i="1" dirty="0" smtClean="0">
                          <a:latin typeface="Cambria Math"/>
                        </a:rPr>
                        <m:t>𝐴</m:t>
                      </m:r>
                      <m:r>
                        <a:rPr lang="en-US" sz="2400" i="1" dirty="0" smtClean="0">
                          <a:latin typeface="Cambria Math"/>
                        </a:rPr>
                        <m:t>)=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Franklin Gothic Book"/>
                    </a:rPr>
                    <a:t> </a:t>
                  </a:r>
                </a:p>
                <a:p>
                  <a:pPr algn="l" rtl="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he-IL" sz="2400" i="1" dirty="0">
                          <a:latin typeface="Cambria Math"/>
                        </a:rPr>
                        <m:t>𝛿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400" i="1" dirty="0" smtClean="0">
                          <a:latin typeface="Cambria Math"/>
                        </a:rPr>
                        <m:t>,</m:t>
                      </m:r>
                      <m:r>
                        <a:rPr lang="en-US" sz="2400" i="1" dirty="0" smtClean="0">
                          <a:latin typeface="Cambria Math"/>
                        </a:rPr>
                        <m:t>𝐴</m:t>
                      </m:r>
                      <m:r>
                        <a:rPr lang="en-US" sz="2400" i="1" dirty="0" smtClean="0">
                          <a:latin typeface="Cambria Math"/>
                        </a:rPr>
                        <m:t>)=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Franklin Gothic Book"/>
                    </a:rPr>
                    <a:t> </a:t>
                  </a:r>
                </a:p>
                <a:p>
                  <a:pPr algn="l" rtl="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he-IL" sz="2400" i="1" dirty="0">
                          <a:latin typeface="Cambria Math"/>
                        </a:rPr>
                        <m:t>𝛿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sz="2400" i="1" dirty="0" smtClean="0">
                          <a:latin typeface="Cambria Math"/>
                        </a:rPr>
                        <m:t>,</m:t>
                      </m:r>
                      <m:r>
                        <a:rPr lang="en-US" sz="2400" i="1" dirty="0" smtClean="0">
                          <a:latin typeface="Cambria Math"/>
                        </a:rPr>
                        <m:t>𝐴</m:t>
                      </m:r>
                      <m:r>
                        <a:rPr lang="en-US" sz="2400" i="1" dirty="0" smtClean="0">
                          <a:latin typeface="Cambria Math"/>
                        </a:rPr>
                        <m:t>)=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Franklin Gothic Book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4648200"/>
                  <a:ext cx="2743200" cy="16866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800600" y="4648200"/>
                  <a:ext cx="2741969" cy="1686616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rtlCol="1">
                  <a:spAutoFit/>
                </a:bodyPr>
                <a:lstStyle/>
                <a:p>
                  <a:pPr algn="l" rtl="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he-IL" sz="2400" i="1" dirty="0" smtClean="0">
                          <a:latin typeface="Cambria Math"/>
                        </a:rPr>
                        <m:t>𝛿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0</m:t>
                      </m:r>
                      <m:r>
                        <a:rPr lang="en-US" sz="2400" i="1" dirty="0" smtClean="0">
                          <a:latin typeface="Cambria Math"/>
                        </a:rPr>
                        <m:t>,</m:t>
                      </m:r>
                      <m:r>
                        <a:rPr lang="en-US" sz="2400" i="1" dirty="0" smtClean="0">
                          <a:latin typeface="Cambria Math"/>
                        </a:rPr>
                        <m:t>𝐵</m:t>
                      </m:r>
                      <m:r>
                        <a:rPr lang="en-US" sz="2400" i="1" dirty="0" smtClean="0">
                          <a:latin typeface="Cambria Math"/>
                        </a:rPr>
                        <m:t>)= {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0</m:t>
                      </m:r>
                      <m:r>
                        <a:rPr lang="en-US" sz="2400" i="1" dirty="0" smtClean="0">
                          <a:latin typeface="Cambria Math"/>
                        </a:rPr>
                        <m:t>, 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400" i="1" dirty="0" smtClean="0">
                          <a:latin typeface="Cambria Math"/>
                        </a:rPr>
                        <m:t>}</m:t>
                      </m:r>
                    </m:oMath>
                  </a14:m>
                  <a:r>
                    <a:rPr lang="en-US" sz="2400" dirty="0">
                      <a:latin typeface="Franklin Gothic Book"/>
                    </a:rPr>
                    <a:t> </a:t>
                  </a:r>
                </a:p>
                <a:p>
                  <a:pPr algn="l" rtl="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he-IL" sz="2400" i="1" dirty="0">
                          <a:latin typeface="Cambria Math"/>
                        </a:rPr>
                        <m:t>𝛿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400" i="1" dirty="0" smtClean="0">
                          <a:latin typeface="Cambria Math"/>
                        </a:rPr>
                        <m:t>,</m:t>
                      </m:r>
                      <m:r>
                        <a:rPr lang="en-US" sz="2400" i="1" dirty="0" smtClean="0">
                          <a:latin typeface="Cambria Math"/>
                        </a:rPr>
                        <m:t>𝐵</m:t>
                      </m:r>
                      <m:r>
                        <a:rPr lang="en-US" sz="2400" i="1" dirty="0" smtClean="0">
                          <a:latin typeface="Cambria Math"/>
                        </a:rPr>
                        <m:t>)=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Franklin Gothic Book"/>
                    </a:rPr>
                    <a:t> </a:t>
                  </a:r>
                </a:p>
                <a:p>
                  <a:pPr algn="l" rtl="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he-IL" sz="2400" i="1" dirty="0">
                          <a:latin typeface="Cambria Math"/>
                        </a:rPr>
                        <m:t>𝛿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sz="2400" i="1" dirty="0" smtClean="0">
                          <a:latin typeface="Cambria Math"/>
                        </a:rPr>
                        <m:t>,</m:t>
                      </m:r>
                      <m:r>
                        <a:rPr lang="en-US" sz="2400" i="1" dirty="0" smtClean="0">
                          <a:latin typeface="Cambria Math"/>
                        </a:rPr>
                        <m:t>𝐵</m:t>
                      </m:r>
                      <m:r>
                        <a:rPr lang="en-US" sz="2400" i="1" dirty="0" smtClean="0">
                          <a:latin typeface="Cambria Math"/>
                        </a:rPr>
                        <m:t>)=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Franklin Gothic Book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4648200"/>
                  <a:ext cx="2741969" cy="168661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333500" y="2761672"/>
            <a:ext cx="5867400" cy="57640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33500" y="5464604"/>
            <a:ext cx="5867400" cy="50901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תזכורת מקורס "אוטומטים ושפות פורמאליות"  -שפה של אוטומט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9</a:t>
            </a:fld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7772400" cy="45720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he-IL" sz="2400" dirty="0" err="1">
                <a:solidFill>
                  <a:srgbClr val="FF0000"/>
                </a:solidFill>
              </a:rPr>
              <a:t>אסל"ד</a:t>
            </a:r>
            <a:r>
              <a:rPr lang="he-IL" sz="2400" dirty="0">
                <a:solidFill>
                  <a:srgbClr val="FF0000"/>
                </a:solidFill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cmsy10"/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=</a:t>
            </a:r>
            <a:r>
              <a:rPr lang="en-US" sz="2400" dirty="0" err="1">
                <a:solidFill>
                  <a:srgbClr val="FF0000"/>
                </a:solidFill>
                <a:latin typeface="cmsy10"/>
              </a:rPr>
              <a:t>h</a:t>
            </a:r>
            <a:r>
              <a:rPr lang="en-US" sz="2400" dirty="0" err="1">
                <a:solidFill>
                  <a:srgbClr val="FF0000"/>
                </a:solidFill>
                <a:latin typeface="cmmi10"/>
              </a:rPr>
              <a:t>Q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,§,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±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Q</a:t>
            </a:r>
            <a:r>
              <a:rPr lang="en-US" sz="2400" baseline="-25000" dirty="0">
                <a:solidFill>
                  <a:srgbClr val="FF0000"/>
                </a:solidFill>
                <a:latin typeface="cmr10"/>
              </a:rPr>
              <a:t>0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,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cmsy10"/>
              </a:rPr>
              <a:t>i</a:t>
            </a:r>
            <a:r>
              <a:rPr lang="he-IL" sz="2400" dirty="0">
                <a:solidFill>
                  <a:srgbClr val="FF0000"/>
                </a:solidFill>
                <a:latin typeface="cmsy10"/>
              </a:rPr>
              <a:t>  ומילה </a:t>
            </a:r>
            <a:r>
              <a:rPr lang="he-IL" sz="2400" dirty="0">
                <a:solidFill>
                  <a:srgbClr val="FF0000"/>
                </a:solidFill>
                <a:latin typeface="cmr1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w 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= 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A</a:t>
            </a:r>
            <a:r>
              <a:rPr lang="en-US" sz="2400" baseline="-25000" dirty="0">
                <a:solidFill>
                  <a:srgbClr val="FF0000"/>
                </a:solidFill>
                <a:latin typeface="cmr10"/>
              </a:rPr>
              <a:t>1 </a:t>
            </a:r>
            <a:r>
              <a:rPr lang="en-US" sz="2400" dirty="0">
                <a:solidFill>
                  <a:srgbClr val="FF0000"/>
                </a:solidFill>
                <a:latin typeface="MT Extra"/>
                <a:sym typeface="MT Extra"/>
              </a:rPr>
              <a:t>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A</a:t>
            </a:r>
            <a:r>
              <a:rPr lang="en-US" sz="2400" baseline="-25000" dirty="0">
                <a:solidFill>
                  <a:srgbClr val="FF0000"/>
                </a:solidFill>
                <a:latin typeface="cmmi1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msy10"/>
              </a:rPr>
              <a:t>2 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§</a:t>
            </a:r>
            <a:r>
              <a:rPr lang="en-US" sz="2400" baseline="30000" dirty="0">
                <a:solidFill>
                  <a:srgbClr val="FF0000"/>
                </a:solidFill>
                <a:latin typeface="cmr10"/>
              </a:rPr>
              <a:t>*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 </a:t>
            </a:r>
          </a:p>
          <a:p>
            <a:pPr>
              <a:spcBef>
                <a:spcPts val="2400"/>
              </a:spcBef>
            </a:pPr>
            <a:r>
              <a:rPr lang="he-IL" sz="2400" dirty="0">
                <a:solidFill>
                  <a:srgbClr val="0000FF"/>
                </a:solidFill>
                <a:latin typeface="cmmi10"/>
              </a:rPr>
              <a:t>ריצה</a:t>
            </a:r>
            <a:r>
              <a:rPr lang="he-IL" sz="2400" dirty="0">
                <a:latin typeface="cmmi10"/>
              </a:rPr>
              <a:t> של </a:t>
            </a:r>
            <a:r>
              <a:rPr lang="en-US" sz="2400" dirty="0">
                <a:latin typeface="cmmi10"/>
              </a:rPr>
              <a:t>w</a:t>
            </a:r>
            <a:r>
              <a:rPr lang="he-IL" sz="2400" dirty="0">
                <a:latin typeface="cmmi10"/>
              </a:rPr>
              <a:t> ב </a:t>
            </a:r>
            <a:r>
              <a:rPr lang="en-US" sz="2400" dirty="0">
                <a:latin typeface="cmsy10"/>
              </a:rPr>
              <a:t>A</a:t>
            </a:r>
            <a:r>
              <a:rPr lang="he-IL" sz="2400" dirty="0">
                <a:latin typeface="cmsy10"/>
              </a:rPr>
              <a:t> היא רצף מצבים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1</a:t>
            </a:r>
            <a:r>
              <a:rPr lang="en-US" sz="2400" dirty="0">
                <a:latin typeface="cmr10"/>
              </a:rPr>
              <a:t> ... </a:t>
            </a:r>
            <a:r>
              <a:rPr lang="en-US" sz="2400" dirty="0" err="1">
                <a:latin typeface="cmmi10"/>
              </a:rPr>
              <a:t>q</a:t>
            </a:r>
            <a:r>
              <a:rPr lang="en-US" sz="2400" baseline="-25000" dirty="0" err="1">
                <a:latin typeface="cmmi10"/>
              </a:rPr>
              <a:t>n</a:t>
            </a:r>
            <a:r>
              <a:rPr lang="he-IL" sz="2400" dirty="0">
                <a:latin typeface="cmmi10"/>
              </a:rPr>
              <a:t> כך ש:</a:t>
            </a:r>
          </a:p>
          <a:p>
            <a:pPr lvl="1" algn="ctr">
              <a:spcBef>
                <a:spcPts val="2400"/>
              </a:spcBef>
              <a:buNone/>
            </a:pPr>
            <a:r>
              <a:rPr lang="en-US" sz="2000" dirty="0">
                <a:latin typeface="cmmi10"/>
              </a:rPr>
              <a:t>q</a:t>
            </a:r>
            <a:r>
              <a:rPr lang="en-US" sz="2000" baseline="-25000" dirty="0">
                <a:latin typeface="cmr10"/>
              </a:rPr>
              <a:t>0</a:t>
            </a:r>
            <a:r>
              <a:rPr lang="en-US" sz="2000" dirty="0">
                <a:latin typeface="cmr10"/>
              </a:rPr>
              <a:t> </a:t>
            </a:r>
            <a:r>
              <a:rPr lang="en-US" sz="2000" dirty="0">
                <a:latin typeface="cmsy10"/>
              </a:rPr>
              <a:t>2</a:t>
            </a:r>
            <a:r>
              <a:rPr lang="en-US" sz="2000" dirty="0">
                <a:latin typeface="cmr10"/>
              </a:rPr>
              <a:t> </a:t>
            </a:r>
            <a:r>
              <a:rPr lang="en-US" sz="2000" dirty="0">
                <a:latin typeface="cmmi10"/>
              </a:rPr>
              <a:t>Q</a:t>
            </a:r>
            <a:r>
              <a:rPr lang="en-US" sz="2000" baseline="-25000" dirty="0">
                <a:latin typeface="cmr10"/>
              </a:rPr>
              <a:t>0</a:t>
            </a:r>
            <a:r>
              <a:rPr lang="he-IL" sz="2000" dirty="0">
                <a:latin typeface="cmr10"/>
              </a:rPr>
              <a:t> </a:t>
            </a:r>
            <a:r>
              <a:rPr lang="en-US" sz="2000" dirty="0">
                <a:latin typeface="cmr10"/>
              </a:rPr>
              <a:t> </a:t>
            </a:r>
            <a:r>
              <a:rPr lang="he-IL" sz="2000" dirty="0">
                <a:latin typeface="cmr10"/>
              </a:rPr>
              <a:t>ו                        </a:t>
            </a:r>
            <a:r>
              <a:rPr lang="en-US" sz="2000" dirty="0">
                <a:latin typeface="cmr10"/>
              </a:rPr>
              <a:t> </a:t>
            </a:r>
            <a:r>
              <a:rPr lang="he-IL" sz="2000" dirty="0">
                <a:latin typeface="cmr10"/>
              </a:rPr>
              <a:t>     לכל </a:t>
            </a:r>
            <a:r>
              <a:rPr lang="en-US" sz="2000" dirty="0">
                <a:latin typeface="cmr10"/>
              </a:rPr>
              <a:t>0 </a:t>
            </a:r>
            <a:r>
              <a:rPr lang="en-US" sz="2000" dirty="0">
                <a:latin typeface="cmsy10"/>
              </a:rPr>
              <a:t>·</a:t>
            </a:r>
            <a:r>
              <a:rPr lang="en-US" sz="2000" dirty="0">
                <a:latin typeface="cmmi10"/>
              </a:rPr>
              <a:t> </a:t>
            </a:r>
            <a:r>
              <a:rPr lang="en-US" sz="2000" dirty="0" err="1">
                <a:latin typeface="cmmi10"/>
              </a:rPr>
              <a:t>i</a:t>
            </a:r>
            <a:r>
              <a:rPr lang="en-US" sz="2000" dirty="0">
                <a:latin typeface="cmmi10"/>
              </a:rPr>
              <a:t> &lt; n </a:t>
            </a:r>
          </a:p>
          <a:p>
            <a:pPr>
              <a:spcBef>
                <a:spcPts val="2400"/>
              </a:spcBef>
            </a:pPr>
            <a:r>
              <a:rPr lang="he-IL" sz="2400" dirty="0">
                <a:latin typeface="cmmi10"/>
              </a:rPr>
              <a:t>ריצה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1</a:t>
            </a:r>
            <a:r>
              <a:rPr lang="en-US" sz="2400" dirty="0">
                <a:latin typeface="cmr10"/>
              </a:rPr>
              <a:t> ... </a:t>
            </a:r>
            <a:r>
              <a:rPr lang="en-US" sz="2400" dirty="0" err="1">
                <a:latin typeface="cmmi10"/>
              </a:rPr>
              <a:t>q</a:t>
            </a:r>
            <a:r>
              <a:rPr lang="en-US" sz="2400" baseline="-25000" dirty="0" err="1">
                <a:latin typeface="cmmi10"/>
              </a:rPr>
              <a:t>n</a:t>
            </a:r>
            <a:r>
              <a:rPr lang="he-IL" sz="2400" dirty="0">
                <a:latin typeface="cmmi10"/>
              </a:rPr>
              <a:t> היא </a:t>
            </a:r>
            <a:r>
              <a:rPr lang="he-IL" sz="2400" dirty="0">
                <a:solidFill>
                  <a:srgbClr val="0000FF"/>
                </a:solidFill>
                <a:latin typeface="cmmi10"/>
              </a:rPr>
              <a:t>מקבלת </a:t>
            </a:r>
            <a:r>
              <a:rPr lang="he-IL" sz="2400" dirty="0">
                <a:latin typeface="cmmi10"/>
              </a:rPr>
              <a:t>אם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mi10"/>
              </a:rPr>
              <a:t>n</a:t>
            </a:r>
            <a:r>
              <a:rPr lang="en-US" sz="2400" dirty="0">
                <a:latin typeface="cmsy10"/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F</a:t>
            </a:r>
            <a:r>
              <a:rPr lang="he-IL" sz="2400" dirty="0">
                <a:latin typeface="cmmi10"/>
              </a:rPr>
              <a:t> </a:t>
            </a:r>
          </a:p>
          <a:p>
            <a:pPr>
              <a:spcBef>
                <a:spcPts val="2400"/>
              </a:spcBef>
            </a:pPr>
            <a:r>
              <a:rPr lang="en-US" sz="2400" dirty="0">
                <a:latin typeface="cmmi10"/>
              </a:rPr>
              <a:t>w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§</a:t>
            </a:r>
            <a:r>
              <a:rPr lang="en-US" baseline="30000" dirty="0"/>
              <a:t>*</a:t>
            </a:r>
            <a:r>
              <a:rPr lang="he-IL" sz="2400" baseline="30000" dirty="0"/>
              <a:t> </a:t>
            </a:r>
            <a:r>
              <a:rPr lang="he-IL" sz="2400" dirty="0">
                <a:solidFill>
                  <a:srgbClr val="0000FF"/>
                </a:solidFill>
              </a:rPr>
              <a:t>מתקבלת</a:t>
            </a:r>
            <a:r>
              <a:rPr lang="he-IL" sz="2400" dirty="0"/>
              <a:t> ע"י </a:t>
            </a:r>
            <a:r>
              <a:rPr lang="en-US" sz="2400" dirty="0">
                <a:latin typeface="cmsy10"/>
              </a:rPr>
              <a:t>A</a:t>
            </a:r>
            <a:r>
              <a:rPr lang="he-IL" sz="2400" dirty="0">
                <a:latin typeface="cmsy10"/>
              </a:rPr>
              <a:t> אם יש ריצה מקבלת של </a:t>
            </a:r>
            <a:r>
              <a:rPr lang="en-US" sz="2400" dirty="0">
                <a:latin typeface="cmmi10"/>
              </a:rPr>
              <a:t>w</a:t>
            </a:r>
            <a:r>
              <a:rPr lang="he-IL" sz="2400" dirty="0">
                <a:latin typeface="cmmi10"/>
              </a:rPr>
              <a:t> ב </a:t>
            </a:r>
            <a:r>
              <a:rPr lang="en-US" sz="2400" dirty="0">
                <a:latin typeface="cmsy10"/>
              </a:rPr>
              <a:t>A</a:t>
            </a:r>
          </a:p>
          <a:p>
            <a:pPr>
              <a:spcBef>
                <a:spcPts val="2400"/>
              </a:spcBef>
            </a:pPr>
            <a:r>
              <a:rPr lang="he-IL" sz="2400" dirty="0">
                <a:latin typeface="cmsy10"/>
              </a:rPr>
              <a:t>השפה המתקבלת ע"י </a:t>
            </a:r>
            <a:r>
              <a:rPr lang="en-US" sz="2400" dirty="0">
                <a:latin typeface="cmsy10"/>
              </a:rPr>
              <a:t>A</a:t>
            </a:r>
            <a:r>
              <a:rPr lang="he-IL" sz="2400" dirty="0">
                <a:latin typeface="cmsy10"/>
              </a:rPr>
              <a:t>:</a:t>
            </a:r>
          </a:p>
          <a:p>
            <a:pPr algn="ctr">
              <a:spcBef>
                <a:spcPts val="2400"/>
              </a:spcBef>
              <a:buNone/>
            </a:pPr>
            <a:r>
              <a:rPr lang="he-IL" sz="2400" dirty="0"/>
              <a:t> </a:t>
            </a:r>
            <a:r>
              <a:rPr lang="en-US" sz="2400" dirty="0">
                <a:latin typeface="cmsy10"/>
              </a:rPr>
              <a:t>g</a:t>
            </a:r>
            <a:r>
              <a:rPr lang="he-IL" sz="2400" dirty="0"/>
              <a:t> יש ריצה מקבלת של</a:t>
            </a:r>
            <a:r>
              <a:rPr lang="en-US" sz="2400" dirty="0">
                <a:latin typeface="cmmi10"/>
              </a:rPr>
              <a:t>w</a:t>
            </a:r>
            <a:r>
              <a:rPr lang="en-US" sz="2400" dirty="0"/>
              <a:t> </a:t>
            </a:r>
            <a:r>
              <a:rPr lang="he-IL" sz="2400" dirty="0"/>
              <a:t> ב </a:t>
            </a:r>
            <a:r>
              <a:rPr lang="en-US" sz="2400" dirty="0">
                <a:latin typeface="cmsy10"/>
              </a:rPr>
              <a:t>A</a:t>
            </a:r>
            <a:r>
              <a:rPr lang="he-IL" sz="2400" dirty="0"/>
              <a:t> </a:t>
            </a:r>
            <a:r>
              <a:rPr lang="en-US" sz="2400" dirty="0">
                <a:latin typeface="cmsy10"/>
              </a:rPr>
              <a:t>L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sy10"/>
              </a:rPr>
              <a:t>A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=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f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w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§</a:t>
            </a:r>
            <a:r>
              <a:rPr lang="en-US" sz="2400" baseline="30000" dirty="0"/>
              <a:t>* </a:t>
            </a:r>
            <a:r>
              <a:rPr lang="en-US" sz="2400" dirty="0"/>
              <a:t>:</a:t>
            </a:r>
          </a:p>
          <a:p>
            <a:pPr lvl="0">
              <a:spcBef>
                <a:spcPts val="2400"/>
              </a:spcBef>
              <a:buClr>
                <a:srgbClr val="D34817"/>
              </a:buClr>
            </a:pPr>
            <a:r>
              <a:rPr lang="he-IL" sz="2400" dirty="0" err="1">
                <a:solidFill>
                  <a:prstClr val="black"/>
                </a:solidFill>
                <a:latin typeface="cmsy10"/>
              </a:rPr>
              <a:t>אסל"ד</a:t>
            </a:r>
            <a:r>
              <a:rPr lang="he-IL" sz="2400" dirty="0">
                <a:solidFill>
                  <a:prstClr val="black"/>
                </a:solidFill>
                <a:latin typeface="cmsy1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msy10"/>
              </a:rPr>
              <a:t>A</a:t>
            </a:r>
            <a:r>
              <a:rPr lang="he-IL" sz="2400" dirty="0">
                <a:solidFill>
                  <a:prstClr val="black"/>
                </a:solidFill>
                <a:latin typeface="cmsy10"/>
              </a:rPr>
              <a:t> ו </a:t>
            </a:r>
            <a:r>
              <a:rPr lang="en-US" sz="2400" dirty="0">
                <a:solidFill>
                  <a:prstClr val="black"/>
                </a:solidFill>
                <a:latin typeface="cmsy10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cmr10"/>
              </a:rPr>
              <a:t>’</a:t>
            </a:r>
            <a:r>
              <a:rPr lang="he-IL" sz="2400" dirty="0">
                <a:solidFill>
                  <a:prstClr val="black"/>
                </a:solidFill>
                <a:latin typeface="cmr10"/>
              </a:rPr>
              <a:t> הם </a:t>
            </a:r>
            <a:r>
              <a:rPr lang="he-IL" sz="2400" dirty="0">
                <a:solidFill>
                  <a:srgbClr val="0000FF"/>
                </a:solidFill>
                <a:latin typeface="cmr10"/>
              </a:rPr>
              <a:t>שקולים</a:t>
            </a:r>
            <a:r>
              <a:rPr lang="he-IL" sz="2400" dirty="0">
                <a:solidFill>
                  <a:prstClr val="black"/>
                </a:solidFill>
                <a:latin typeface="cmr10"/>
              </a:rPr>
              <a:t> אם </a:t>
            </a:r>
            <a:r>
              <a:rPr lang="en-US" sz="2400" dirty="0">
                <a:latin typeface="cmsy10"/>
              </a:rPr>
              <a:t>L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sy10"/>
              </a:rPr>
              <a:t>A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=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L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sy10"/>
              </a:rPr>
              <a:t>A’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/>
              <a:t> </a:t>
            </a:r>
            <a:endParaRPr lang="he-IL" sz="2400" dirty="0">
              <a:solidFill>
                <a:prstClr val="black"/>
              </a:solidFill>
              <a:latin typeface="cmr10"/>
            </a:endParaRPr>
          </a:p>
          <a:p>
            <a:pPr algn="ctr">
              <a:spcBef>
                <a:spcPts val="2400"/>
              </a:spcBef>
              <a:buNone/>
            </a:pPr>
            <a:endParaRPr lang="en-US" sz="2400" dirty="0"/>
          </a:p>
          <a:p>
            <a:pPr algn="ctr">
              <a:spcBef>
                <a:spcPts val="2400"/>
              </a:spcBef>
              <a:buNone/>
            </a:pPr>
            <a:endParaRPr lang="en-US" sz="2400" dirty="0"/>
          </a:p>
          <a:p>
            <a:pPr>
              <a:spcBef>
                <a:spcPts val="2400"/>
              </a:spcBef>
            </a:pPr>
            <a:endParaRPr lang="en-US" sz="2400" dirty="0">
              <a:latin typeface="cmsy1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00A630-DA0C-564D-AF89-36D607213B7A}"/>
                  </a:ext>
                </a:extLst>
              </p:cNvPr>
              <p:cNvSpPr txBox="1"/>
              <p:nvPr/>
            </p:nvSpPr>
            <p:spPr>
              <a:xfrm>
                <a:off x="3886200" y="2800863"/>
                <a:ext cx="1143000" cy="4980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algn="l" defTabSz="914400" rtl="0" eaLnBrk="1" latinLnBrk="0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00A630-DA0C-564D-AF89-36D607213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800863"/>
                <a:ext cx="1143000" cy="498021"/>
              </a:xfrm>
              <a:prstGeom prst="rect">
                <a:avLst/>
              </a:prstGeom>
              <a:blipFill>
                <a:blip r:embed="rId2"/>
                <a:stretch>
                  <a:fillRect l="-10000" t="-5000" r="-26667" b="-1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דוגמה: ריצות ומילים מתקבלות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4572000"/>
          </a:xfrm>
        </p:spPr>
        <p:txBody>
          <a:bodyPr/>
          <a:lstStyle/>
          <a:p>
            <a:r>
              <a:rPr lang="he-IL" dirty="0"/>
              <a:t>ריצות האוטומט:</a:t>
            </a:r>
          </a:p>
          <a:p>
            <a:pPr lvl="1"/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he-IL" baseline="-25000" dirty="0">
                <a:latin typeface="cmr10"/>
              </a:rPr>
              <a:t> </a:t>
            </a:r>
            <a:r>
              <a:rPr lang="he-IL" dirty="0"/>
              <a:t>- עבור המילה הריקה </a:t>
            </a:r>
            <a:r>
              <a:rPr lang="he-IL" dirty="0">
                <a:latin typeface="cmmi10"/>
              </a:rPr>
              <a:t>²</a:t>
            </a:r>
          </a:p>
          <a:p>
            <a:pPr lvl="1"/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1</a:t>
            </a:r>
            <a:r>
              <a:rPr lang="he-IL" baseline="-25000" dirty="0">
                <a:latin typeface="cmr10"/>
              </a:rPr>
              <a:t> </a:t>
            </a:r>
            <a:r>
              <a:rPr lang="he-IL" dirty="0"/>
              <a:t>- עבור המילה  </a:t>
            </a:r>
            <a:r>
              <a:rPr lang="en-US" dirty="0">
                <a:latin typeface="cmmi10"/>
              </a:rPr>
              <a:t>B</a:t>
            </a:r>
          </a:p>
          <a:p>
            <a:pPr lvl="1"/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he-IL" baseline="-25000" dirty="0">
                <a:latin typeface="cmr10"/>
              </a:rPr>
              <a:t> </a:t>
            </a:r>
            <a:r>
              <a:rPr lang="he-IL" dirty="0"/>
              <a:t>-</a:t>
            </a:r>
            <a:r>
              <a:rPr lang="he-IL" baseline="-25000" dirty="0">
                <a:latin typeface="cmr10"/>
              </a:rPr>
              <a:t> </a:t>
            </a:r>
            <a:r>
              <a:rPr lang="he-IL" dirty="0"/>
              <a:t>עבור המילים </a:t>
            </a:r>
            <a:r>
              <a:rPr lang="en-US" dirty="0">
                <a:latin typeface="cmmi10"/>
              </a:rPr>
              <a:t>ABA</a:t>
            </a:r>
            <a:r>
              <a:rPr lang="he-IL" dirty="0">
                <a:latin typeface="cmmi10"/>
              </a:rPr>
              <a:t> ו </a:t>
            </a:r>
            <a:r>
              <a:rPr lang="en-US" dirty="0">
                <a:latin typeface="cmmi10"/>
              </a:rPr>
              <a:t>BBA</a:t>
            </a:r>
            <a:r>
              <a:rPr lang="he-IL" dirty="0">
                <a:latin typeface="cmmi10"/>
              </a:rPr>
              <a:t>, לדוגמה</a:t>
            </a:r>
          </a:p>
          <a:p>
            <a:pPr lvl="1"/>
            <a:endParaRPr lang="he-IL" dirty="0">
              <a:latin typeface="cmmi10"/>
            </a:endParaRPr>
          </a:p>
          <a:p>
            <a:r>
              <a:rPr lang="he-IL" dirty="0">
                <a:latin typeface="cmmi10"/>
              </a:rPr>
              <a:t>ריצות מקבלות הן כאלה המסתיימות במצב מקבל:</a:t>
            </a:r>
          </a:p>
          <a:p>
            <a:pPr lvl="1"/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1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2</a:t>
            </a:r>
            <a:r>
              <a:rPr lang="he-IL" baseline="-25000" dirty="0">
                <a:latin typeface="cmr10"/>
              </a:rPr>
              <a:t> </a:t>
            </a:r>
            <a:r>
              <a:rPr lang="he-IL" dirty="0"/>
              <a:t>- עבור המילים </a:t>
            </a:r>
            <a:r>
              <a:rPr lang="en-US" dirty="0">
                <a:latin typeface="cmmi10"/>
              </a:rPr>
              <a:t>BA</a:t>
            </a:r>
            <a:r>
              <a:rPr lang="he-IL" dirty="0"/>
              <a:t> ו </a:t>
            </a:r>
            <a:r>
              <a:rPr lang="en-US" dirty="0">
                <a:latin typeface="cmmi10"/>
              </a:rPr>
              <a:t>BB</a:t>
            </a:r>
            <a:endParaRPr lang="he-IL" dirty="0">
              <a:latin typeface="cmmi10"/>
            </a:endParaRPr>
          </a:p>
          <a:p>
            <a:pPr lvl="1"/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1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2</a:t>
            </a:r>
            <a:r>
              <a:rPr lang="he-IL" baseline="-25000" dirty="0">
                <a:latin typeface="cmr10"/>
              </a:rPr>
              <a:t> </a:t>
            </a:r>
            <a:r>
              <a:rPr lang="he-IL" dirty="0"/>
              <a:t>- עבור המילים </a:t>
            </a:r>
            <a:r>
              <a:rPr lang="en-US" dirty="0">
                <a:latin typeface="cmmi10"/>
              </a:rPr>
              <a:t>ABB</a:t>
            </a:r>
            <a:r>
              <a:rPr lang="en-US" dirty="0"/>
              <a:t>, </a:t>
            </a:r>
            <a:r>
              <a:rPr lang="en-US" dirty="0">
                <a:latin typeface="cmmi10"/>
              </a:rPr>
              <a:t>ABA</a:t>
            </a:r>
            <a:r>
              <a:rPr lang="en-US" dirty="0"/>
              <a:t>,</a:t>
            </a:r>
            <a:r>
              <a:rPr lang="en-US" dirty="0">
                <a:latin typeface="cmmi10"/>
              </a:rPr>
              <a:t>BBA</a:t>
            </a:r>
            <a:r>
              <a:rPr lang="en-US" dirty="0"/>
              <a:t>,</a:t>
            </a:r>
            <a:r>
              <a:rPr lang="en-US" dirty="0">
                <a:latin typeface="cmmi10"/>
              </a:rPr>
              <a:t>BBB</a:t>
            </a:r>
            <a:endParaRPr lang="he-IL" dirty="0">
              <a:latin typeface="cmmi10"/>
            </a:endParaRPr>
          </a:p>
          <a:p>
            <a:pPr lvl="1"/>
            <a:endParaRPr lang="he-IL" dirty="0">
              <a:latin typeface="cmmi10"/>
            </a:endParaRPr>
          </a:p>
          <a:p>
            <a:r>
              <a:rPr lang="he-IL" dirty="0">
                <a:latin typeface="cmmi10"/>
              </a:rPr>
              <a:t>המילים האלה שייכות ל </a:t>
            </a:r>
            <a:r>
              <a:rPr lang="en-US" dirty="0">
                <a:latin typeface="cmsy10"/>
              </a:rPr>
              <a:t>L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sy10"/>
              </a:rPr>
              <a:t>A</a:t>
            </a:r>
            <a:r>
              <a:rPr lang="en-US" dirty="0">
                <a:latin typeface="cmr10"/>
              </a:rPr>
              <a:t>)</a:t>
            </a:r>
            <a:endParaRPr lang="he-IL" dirty="0">
              <a:latin typeface="cmr10"/>
            </a:endParaRPr>
          </a:p>
          <a:p>
            <a:pPr lvl="1"/>
            <a:endParaRPr lang="he-IL" dirty="0">
              <a:latin typeface="cmmi10"/>
            </a:endParaRPr>
          </a:p>
          <a:p>
            <a:pPr lvl="1"/>
            <a:endParaRPr lang="he-IL" baseline="-25000" dirty="0">
              <a:latin typeface="cmr10"/>
            </a:endParaRPr>
          </a:p>
          <a:p>
            <a:pPr lvl="1"/>
            <a:endParaRPr lang="he-IL" dirty="0">
              <a:latin typeface="cmmi10"/>
            </a:endParaRPr>
          </a:p>
        </p:txBody>
      </p:sp>
      <p:pic>
        <p:nvPicPr>
          <p:cNvPr id="7" name="Picture 6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rcRect l="-5836" t="-21000" r="-5836" b="-21000"/>
          <a:stretch>
            <a:fillRect/>
          </a:stretch>
        </p:blipFill>
        <p:spPr bwMode="auto">
          <a:xfrm>
            <a:off x="304800" y="1295400"/>
            <a:ext cx="4377418" cy="154686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מילים מקבלות מזווית אחרת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305800" cy="22860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buNone/>
            </a:pPr>
            <a:r>
              <a:rPr lang="he-IL" dirty="0"/>
              <a:t>מרחיבים את פונקצית המעברים   </a:t>
            </a:r>
            <a:r>
              <a:rPr lang="en-US" dirty="0">
                <a:latin typeface="cmmi10"/>
              </a:rPr>
              <a:t>±</a:t>
            </a:r>
            <a:r>
              <a:rPr lang="he-IL" dirty="0">
                <a:latin typeface="cmmi10"/>
              </a:rPr>
              <a:t>   ל-   </a:t>
            </a:r>
            <a:r>
              <a:rPr lang="en-US" dirty="0">
                <a:latin typeface="cmmi10"/>
              </a:rPr>
              <a:t>±</a:t>
            </a:r>
            <a:r>
              <a:rPr lang="en-US" baseline="30000" dirty="0">
                <a:latin typeface="Franklin Gothic Book"/>
              </a:rPr>
              <a:t>*</a:t>
            </a:r>
            <a:r>
              <a:rPr lang="en-US" dirty="0">
                <a:latin typeface="Franklin Gothic Book"/>
              </a:rPr>
              <a:t>:</a:t>
            </a:r>
            <a:r>
              <a:rPr lang="en-US" dirty="0">
                <a:latin typeface="cmmi10"/>
              </a:rPr>
              <a:t> Q</a:t>
            </a:r>
            <a:r>
              <a:rPr lang="en-US" dirty="0">
                <a:latin typeface="Franklin Gothic Book"/>
              </a:rPr>
              <a:t> </a:t>
            </a:r>
            <a:r>
              <a:rPr lang="en-US" dirty="0">
                <a:latin typeface="cmsy10"/>
              </a:rPr>
              <a:t>£</a:t>
            </a:r>
            <a:r>
              <a:rPr lang="en-US" dirty="0">
                <a:latin typeface="Franklin Gothic Book"/>
              </a:rPr>
              <a:t> </a:t>
            </a:r>
            <a:r>
              <a:rPr lang="en-US" dirty="0">
                <a:latin typeface="cmr10"/>
              </a:rPr>
              <a:t>§</a:t>
            </a:r>
            <a:r>
              <a:rPr lang="en-US" baseline="30000" dirty="0">
                <a:latin typeface="Franklin Gothic Book"/>
              </a:rPr>
              <a:t>*</a:t>
            </a:r>
            <a:r>
              <a:rPr lang="en-US" dirty="0">
                <a:latin typeface="Franklin Gothic Book"/>
              </a:rPr>
              <a:t> </a:t>
            </a:r>
            <a:r>
              <a:rPr lang="en-US" dirty="0">
                <a:latin typeface="Symbol"/>
                <a:sym typeface="Symbol"/>
              </a:rPr>
              <a:t></a:t>
            </a:r>
            <a:r>
              <a:rPr lang="en-US" dirty="0">
                <a:latin typeface="Franklin Gothic Book"/>
              </a:rPr>
              <a:t> </a:t>
            </a:r>
            <a:r>
              <a:rPr lang="en-US" dirty="0">
                <a:latin typeface="cmr10"/>
              </a:rPr>
              <a:t>2</a:t>
            </a:r>
            <a:r>
              <a:rPr lang="en-US" baseline="30000" dirty="0">
                <a:latin typeface="cmmi10"/>
              </a:rPr>
              <a:t>Q </a:t>
            </a:r>
            <a:r>
              <a:rPr lang="he-IL" baseline="30000" dirty="0">
                <a:latin typeface="cmmi10"/>
              </a:rPr>
              <a:t>  </a:t>
            </a:r>
            <a:r>
              <a:rPr lang="he-IL" dirty="0"/>
              <a:t>ע"י</a:t>
            </a:r>
          </a:p>
          <a:p>
            <a:pPr algn="ctr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dirty="0">
                <a:latin typeface="cmmi10"/>
              </a:rPr>
              <a:t>±</a:t>
            </a:r>
            <a:r>
              <a:rPr lang="en-US" baseline="55000" dirty="0">
                <a:latin typeface="cmr10"/>
              </a:rPr>
              <a:t>*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q</a:t>
            </a:r>
            <a:r>
              <a:rPr lang="en-US" dirty="0">
                <a:latin typeface="cmr10"/>
              </a:rPr>
              <a:t>, </a:t>
            </a:r>
            <a:r>
              <a:rPr lang="en-US" dirty="0">
                <a:latin typeface="cmmi10"/>
              </a:rPr>
              <a:t>²</a:t>
            </a:r>
            <a:r>
              <a:rPr lang="en-US" dirty="0">
                <a:latin typeface="cmr10"/>
              </a:rPr>
              <a:t>) = </a:t>
            </a:r>
            <a:r>
              <a:rPr lang="en-US" dirty="0" err="1">
                <a:latin typeface="cmsy10"/>
              </a:rPr>
              <a:t>f</a:t>
            </a:r>
            <a:r>
              <a:rPr lang="en-US" dirty="0" err="1">
                <a:latin typeface="cmmi10"/>
              </a:rPr>
              <a:t>q</a:t>
            </a:r>
            <a:r>
              <a:rPr lang="en-US" dirty="0" err="1">
                <a:latin typeface="cmsy10"/>
              </a:rPr>
              <a:t>g</a:t>
            </a:r>
            <a:r>
              <a:rPr lang="he-IL" dirty="0">
                <a:latin typeface="cmsy10"/>
              </a:rPr>
              <a:t>      ו    </a:t>
            </a:r>
            <a:r>
              <a:rPr lang="en-US" dirty="0">
                <a:latin typeface="cmmi10"/>
              </a:rPr>
              <a:t>±</a:t>
            </a:r>
            <a:r>
              <a:rPr lang="en-US" baseline="55000" dirty="0">
                <a:latin typeface="cmr10"/>
              </a:rPr>
              <a:t>*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q</a:t>
            </a:r>
            <a:r>
              <a:rPr lang="en-US" dirty="0">
                <a:latin typeface="cmr10"/>
              </a:rPr>
              <a:t>, </a:t>
            </a:r>
            <a:r>
              <a:rPr lang="en-US" dirty="0">
                <a:latin typeface="cmmi10"/>
              </a:rPr>
              <a:t>A</a:t>
            </a:r>
            <a:r>
              <a:rPr lang="en-US" dirty="0">
                <a:latin typeface="cmr10"/>
              </a:rPr>
              <a:t>) = </a:t>
            </a:r>
            <a:r>
              <a:rPr lang="en-US" dirty="0">
                <a:latin typeface="cmmi10"/>
              </a:rPr>
              <a:t>±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q</a:t>
            </a:r>
            <a:r>
              <a:rPr lang="en-US" dirty="0">
                <a:latin typeface="cmr10"/>
              </a:rPr>
              <a:t>, </a:t>
            </a:r>
            <a:r>
              <a:rPr lang="en-US" dirty="0">
                <a:latin typeface="cmmi10"/>
              </a:rPr>
              <a:t>A</a:t>
            </a:r>
            <a:r>
              <a:rPr lang="en-US" dirty="0">
                <a:latin typeface="cmr10"/>
              </a:rPr>
              <a:t>)</a:t>
            </a:r>
            <a:endParaRPr lang="he-IL" dirty="0">
              <a:latin typeface="cmr10"/>
            </a:endParaRPr>
          </a:p>
          <a:p>
            <a:pPr algn="ctr" rt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dirty="0">
                <a:latin typeface="cmmi10"/>
              </a:rPr>
              <a:t>±</a:t>
            </a:r>
            <a:r>
              <a:rPr lang="en-US" baseline="55000" dirty="0">
                <a:latin typeface="cmr10"/>
              </a:rPr>
              <a:t>*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q</a:t>
            </a:r>
            <a:r>
              <a:rPr lang="en-US" dirty="0">
                <a:latin typeface="cmr10"/>
              </a:rPr>
              <a:t>, 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r10"/>
              </a:rPr>
              <a:t>1</a:t>
            </a:r>
            <a:r>
              <a:rPr lang="en-US" dirty="0">
                <a:latin typeface="cmmi10"/>
              </a:rPr>
              <a:t> A</a:t>
            </a:r>
            <a:r>
              <a:rPr lang="en-US" baseline="-25000" dirty="0">
                <a:latin typeface="cmr10"/>
              </a:rPr>
              <a:t>2</a:t>
            </a:r>
            <a:r>
              <a:rPr lang="en-US" dirty="0">
                <a:latin typeface="MT Extra"/>
                <a:sym typeface="MT Extra"/>
              </a:rPr>
              <a:t>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mi10"/>
              </a:rPr>
              <a:t>n</a:t>
            </a:r>
            <a:r>
              <a:rPr lang="en-US" dirty="0">
                <a:latin typeface="cmr10"/>
              </a:rPr>
              <a:t>) = </a:t>
            </a:r>
            <a:r>
              <a:rPr lang="en-US" dirty="0">
                <a:latin typeface="MT Extra"/>
                <a:sym typeface="MT Extra"/>
              </a:rPr>
              <a:t></a:t>
            </a:r>
            <a:r>
              <a:rPr lang="en-US" baseline="-25000" dirty="0">
                <a:latin typeface="cmmi10"/>
                <a:sym typeface="MT Extra"/>
              </a:rPr>
              <a:t>p</a:t>
            </a:r>
            <a:r>
              <a:rPr lang="en-US" baseline="-25000" dirty="0">
                <a:latin typeface="cmsy10"/>
                <a:sym typeface="MT Extra"/>
              </a:rPr>
              <a:t>2</a:t>
            </a:r>
            <a:r>
              <a:rPr lang="en-US" baseline="-25000" dirty="0">
                <a:latin typeface="cmmi10"/>
                <a:sym typeface="MT Extra"/>
              </a:rPr>
              <a:t>±</a:t>
            </a:r>
            <a:r>
              <a:rPr lang="en-US" baseline="-25000" dirty="0">
                <a:latin typeface="cmr10"/>
                <a:sym typeface="MT Extra"/>
              </a:rPr>
              <a:t>(</a:t>
            </a:r>
            <a:r>
              <a:rPr lang="en-US" baseline="-25000" dirty="0">
                <a:latin typeface="cmmi10"/>
                <a:sym typeface="MT Extra"/>
              </a:rPr>
              <a:t>q</a:t>
            </a:r>
            <a:r>
              <a:rPr lang="en-US" baseline="-25000" dirty="0">
                <a:latin typeface="cmr10"/>
                <a:sym typeface="MT Extra"/>
              </a:rPr>
              <a:t>, </a:t>
            </a:r>
            <a:r>
              <a:rPr lang="en-US" baseline="-25000" dirty="0">
                <a:latin typeface="cmmi10"/>
                <a:sym typeface="MT Extra"/>
              </a:rPr>
              <a:t>A</a:t>
            </a:r>
            <a:r>
              <a:rPr lang="en-US" baseline="-40000" dirty="0">
                <a:latin typeface="cmmi10"/>
                <a:sym typeface="MT Extra"/>
              </a:rPr>
              <a:t>1</a:t>
            </a:r>
            <a:r>
              <a:rPr lang="en-US" baseline="-25000" dirty="0">
                <a:latin typeface="cmr10"/>
                <a:sym typeface="MT Extra"/>
              </a:rPr>
              <a:t>)</a:t>
            </a:r>
            <a:r>
              <a:rPr lang="en-US" dirty="0"/>
              <a:t> </a:t>
            </a:r>
            <a:r>
              <a:rPr lang="en-US" dirty="0">
                <a:latin typeface="cmmi10"/>
              </a:rPr>
              <a:t>±</a:t>
            </a:r>
            <a:r>
              <a:rPr lang="en-US" baseline="55000" dirty="0">
                <a:latin typeface="cmr10"/>
              </a:rPr>
              <a:t>*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p</a:t>
            </a:r>
            <a:r>
              <a:rPr lang="en-US" dirty="0">
                <a:latin typeface="cmr10"/>
              </a:rPr>
              <a:t>, 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r10"/>
              </a:rPr>
              <a:t>2</a:t>
            </a:r>
            <a:r>
              <a:rPr lang="en-US" dirty="0">
                <a:latin typeface="MT Extra"/>
                <a:sym typeface="MT Extra"/>
              </a:rPr>
              <a:t>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mi10"/>
              </a:rPr>
              <a:t>n</a:t>
            </a:r>
            <a:r>
              <a:rPr lang="en-US" dirty="0">
                <a:latin typeface="cmr10"/>
              </a:rPr>
              <a:t>) </a:t>
            </a:r>
            <a:endParaRPr lang="he-IL" dirty="0">
              <a:latin typeface="Franklin Gothic Book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6093" y="4034135"/>
            <a:ext cx="7359707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mmi10"/>
              </a:rPr>
              <a:t>±</a:t>
            </a:r>
            <a:r>
              <a:rPr lang="en-US" sz="2400" baseline="55000" dirty="0">
                <a:solidFill>
                  <a:srgbClr val="FF0000"/>
                </a:solidFill>
                <a:latin typeface="cmr10"/>
              </a:rPr>
              <a:t>*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q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cmmi10"/>
              </a:rPr>
              <a:t>w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) </a:t>
            </a:r>
            <a:r>
              <a:rPr lang="he-IL" sz="2400" dirty="0">
                <a:solidFill>
                  <a:srgbClr val="FF0000"/>
                </a:solidFill>
                <a:latin typeface="cmr10"/>
              </a:rPr>
              <a:t> </a:t>
            </a:r>
            <a:r>
              <a:rPr lang="he-IL" sz="2400" dirty="0">
                <a:latin typeface="cmr10"/>
              </a:rPr>
              <a:t>= המצבים שהאוטומט יכול להגיע בסוף קריאת המילה </a:t>
            </a:r>
            <a:r>
              <a:rPr lang="en-US" sz="2400" dirty="0">
                <a:latin typeface="cmmi10"/>
              </a:rPr>
              <a:t>w</a:t>
            </a:r>
            <a:endParaRPr lang="he-IL" sz="2400" dirty="0">
              <a:latin typeface="cmmi1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47259" y="5943600"/>
            <a:ext cx="6096541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he-IL" sz="2400" dirty="0">
                <a:solidFill>
                  <a:srgbClr val="0000FF"/>
                </a:solidFill>
              </a:rPr>
              <a:t>שפה היא רגולרית אם ורק אם קיים </a:t>
            </a:r>
            <a:r>
              <a:rPr lang="he-IL" sz="2400" dirty="0" err="1">
                <a:solidFill>
                  <a:srgbClr val="0000FF"/>
                </a:solidFill>
              </a:rPr>
              <a:t>אסל"ד</a:t>
            </a:r>
            <a:r>
              <a:rPr lang="he-IL" sz="2400" dirty="0">
                <a:solidFill>
                  <a:srgbClr val="0000FF"/>
                </a:solidFill>
              </a:rPr>
              <a:t> המקבל אותה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350" y="4981281"/>
            <a:ext cx="786305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rtl="0"/>
            <a:r>
              <a:rPr lang="en-US" sz="2400" dirty="0">
                <a:latin typeface="cmsy10"/>
              </a:rPr>
              <a:t>L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sy10"/>
              </a:rPr>
              <a:t>A</a:t>
            </a:r>
            <a:r>
              <a:rPr lang="en-US" sz="2400" dirty="0">
                <a:latin typeface="cmr10"/>
              </a:rPr>
              <a:t>) = </a:t>
            </a:r>
            <a:r>
              <a:rPr lang="en-US" sz="2400" dirty="0">
                <a:latin typeface="cmsy10"/>
              </a:rPr>
              <a:t>f</a:t>
            </a:r>
            <a:r>
              <a:rPr lang="en-US" sz="2400" dirty="0">
                <a:latin typeface="cmmi10"/>
              </a:rPr>
              <a:t>w</a:t>
            </a:r>
            <a:r>
              <a:rPr lang="en-US" sz="2400" dirty="0">
                <a:latin typeface="cmsy10"/>
              </a:rPr>
              <a:t>2</a:t>
            </a:r>
            <a:r>
              <a:rPr lang="en-US" sz="2400" dirty="0">
                <a:latin typeface="cmr10"/>
              </a:rPr>
              <a:t>§</a:t>
            </a:r>
            <a:r>
              <a:rPr lang="en-US" sz="2400" baseline="30000" dirty="0">
                <a:latin typeface="cmr10"/>
              </a:rPr>
              <a:t>*</a:t>
            </a:r>
            <a:r>
              <a:rPr lang="en-US" sz="2400" dirty="0">
                <a:latin typeface="cmr10"/>
              </a:rPr>
              <a:t> :   </a:t>
            </a:r>
            <a:r>
              <a:rPr lang="en-US" sz="2400" dirty="0">
                <a:latin typeface="cmmi10"/>
              </a:rPr>
              <a:t>±</a:t>
            </a:r>
            <a:r>
              <a:rPr lang="en-US" sz="2400" baseline="30000" dirty="0">
                <a:latin typeface="cmr10"/>
              </a:rPr>
              <a:t>*</a:t>
            </a:r>
            <a:r>
              <a:rPr lang="en-US" sz="2400" dirty="0">
                <a:latin typeface="Franklin Gothic Book"/>
              </a:rPr>
              <a:t>(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</a:t>
            </a:r>
            <a:r>
              <a:rPr lang="en-US" sz="2400" dirty="0">
                <a:latin typeface="cmr10"/>
              </a:rPr>
              <a:t>, </a:t>
            </a:r>
            <a:r>
              <a:rPr lang="en-US" sz="2400" dirty="0">
                <a:latin typeface="cmmi10"/>
              </a:rPr>
              <a:t>w</a:t>
            </a:r>
            <a:r>
              <a:rPr lang="en-US" sz="2400" dirty="0">
                <a:latin typeface="cmr10"/>
              </a:rPr>
              <a:t>) </a:t>
            </a:r>
            <a:r>
              <a:rPr lang="en-US" sz="2400" dirty="0">
                <a:latin typeface="cmsy10"/>
              </a:rPr>
              <a:t>Å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mi10"/>
              </a:rPr>
              <a:t>F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Symbol"/>
                <a:sym typeface="Symbol"/>
              </a:rPr>
              <a:t>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sy10"/>
              </a:rPr>
              <a:t>;</a:t>
            </a:r>
            <a:r>
              <a:rPr lang="en-US" sz="2400" dirty="0">
                <a:latin typeface="cmr10"/>
              </a:rPr>
              <a:t>  for some 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sy10"/>
              </a:rPr>
              <a:t>2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</a:t>
            </a:r>
            <a:r>
              <a:rPr lang="en-US" sz="2400" dirty="0">
                <a:latin typeface="cmsy10"/>
              </a:rPr>
              <a:t>g</a:t>
            </a:r>
            <a:r>
              <a:rPr lang="en-US" sz="2400" dirty="0">
                <a:latin typeface="cmr10"/>
              </a:rPr>
              <a:t> </a:t>
            </a:r>
            <a:endParaRPr lang="he-IL" sz="2400" dirty="0">
              <a:latin typeface="cmr1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2544843" y="4572000"/>
            <a:ext cx="4054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2800" dirty="0">
                <a:latin typeface="cmmi10"/>
              </a:rPr>
              <a:t>±</a:t>
            </a:r>
            <a:r>
              <a:rPr lang="en-US" sz="2800" baseline="30000" dirty="0">
                <a:latin typeface="Perpetua"/>
              </a:rPr>
              <a:t>*</a:t>
            </a:r>
            <a:r>
              <a:rPr lang="en-US" sz="2800" dirty="0">
                <a:latin typeface="cmr10"/>
              </a:rPr>
              <a:t>(</a:t>
            </a:r>
            <a:r>
              <a:rPr lang="en-US" sz="2800" dirty="0">
                <a:latin typeface="cmmi10"/>
              </a:rPr>
              <a:t>q</a:t>
            </a:r>
            <a:r>
              <a:rPr lang="en-US" sz="2800" baseline="-25000" dirty="0">
                <a:latin typeface="cmr10"/>
              </a:rPr>
              <a:t>0</a:t>
            </a:r>
            <a:r>
              <a:rPr lang="en-US" sz="2800" dirty="0">
                <a:latin typeface="cmr10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latin typeface="cmmi10"/>
              </a:rPr>
              <a:t>ABBA</a:t>
            </a:r>
            <a:r>
              <a:rPr lang="en-US" sz="2800" dirty="0">
                <a:latin typeface="cmr10"/>
              </a:rPr>
              <a:t>) =  </a:t>
            </a:r>
            <a:r>
              <a:rPr lang="en-US" sz="2800" dirty="0">
                <a:latin typeface="cmsy10"/>
              </a:rPr>
              <a:t>f</a:t>
            </a:r>
            <a:r>
              <a:rPr lang="en-US" sz="2800" dirty="0">
                <a:latin typeface="cmmi10"/>
              </a:rPr>
              <a:t>q</a:t>
            </a:r>
            <a:r>
              <a:rPr lang="en-US" sz="2800" baseline="-25000" dirty="0">
                <a:latin typeface="cmr10"/>
              </a:rPr>
              <a:t>0</a:t>
            </a:r>
            <a:r>
              <a:rPr lang="en-US" sz="2800" dirty="0">
                <a:latin typeface="cmr10"/>
              </a:rPr>
              <a:t>, </a:t>
            </a:r>
            <a:r>
              <a:rPr lang="en-US" sz="2800" dirty="0">
                <a:latin typeface="cmmi10"/>
              </a:rPr>
              <a:t>q</a:t>
            </a:r>
            <a:r>
              <a:rPr lang="en-US" sz="2800" baseline="-25000" dirty="0">
                <a:latin typeface="cmr10"/>
              </a:rPr>
              <a:t>2</a:t>
            </a:r>
            <a:r>
              <a:rPr lang="en-US" sz="2800" dirty="0">
                <a:latin typeface="cmsy10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3741" y="5486400"/>
            <a:ext cx="4376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2800" dirty="0">
                <a:latin typeface="cmmi10"/>
              </a:rPr>
              <a:t>±</a:t>
            </a:r>
            <a:r>
              <a:rPr lang="en-US" sz="2800" baseline="30000" dirty="0">
                <a:latin typeface="Perpetua"/>
              </a:rPr>
              <a:t>*</a:t>
            </a:r>
            <a:r>
              <a:rPr lang="en-US" sz="2800" dirty="0">
                <a:latin typeface="cmr10"/>
              </a:rPr>
              <a:t>(</a:t>
            </a:r>
            <a:r>
              <a:rPr lang="en-US" sz="2800" dirty="0">
                <a:latin typeface="cmmi10"/>
              </a:rPr>
              <a:t>q</a:t>
            </a:r>
            <a:r>
              <a:rPr lang="en-US" sz="2800" baseline="-25000" dirty="0">
                <a:latin typeface="cmr10"/>
              </a:rPr>
              <a:t>0</a:t>
            </a:r>
            <a:r>
              <a:rPr lang="en-US" sz="2800" dirty="0">
                <a:latin typeface="cmr10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latin typeface="cmmi10"/>
              </a:rPr>
              <a:t>ABB</a:t>
            </a:r>
            <a:r>
              <a:rPr lang="en-US" sz="2800" dirty="0">
                <a:latin typeface="cmr10"/>
              </a:rPr>
              <a:t>) =  </a:t>
            </a:r>
            <a:r>
              <a:rPr lang="en-US" sz="2800" dirty="0">
                <a:latin typeface="cmsy10"/>
              </a:rPr>
              <a:t>f</a:t>
            </a:r>
            <a:r>
              <a:rPr lang="en-US" sz="2800" dirty="0">
                <a:latin typeface="cmmi10"/>
              </a:rPr>
              <a:t>q</a:t>
            </a:r>
            <a:r>
              <a:rPr lang="en-US" sz="2800" baseline="-25000" dirty="0">
                <a:latin typeface="cmr10"/>
              </a:rPr>
              <a:t>0</a:t>
            </a:r>
            <a:r>
              <a:rPr lang="en-US" sz="2800" dirty="0">
                <a:latin typeface="cmr10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latin typeface="cmmi10"/>
              </a:rPr>
              <a:t>q</a:t>
            </a:r>
            <a:r>
              <a:rPr lang="en-US" sz="2800" baseline="-25000" dirty="0">
                <a:latin typeface="cmr10"/>
              </a:rPr>
              <a:t>1</a:t>
            </a:r>
            <a:r>
              <a:rPr lang="en-US" sz="2800" dirty="0">
                <a:solidFill>
                  <a:prstClr val="black"/>
                </a:solidFill>
                <a:latin typeface="cmr10"/>
              </a:rPr>
              <a:t>,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mmi10"/>
              </a:rPr>
              <a:t>q</a:t>
            </a:r>
            <a:r>
              <a:rPr lang="en-US" sz="2800" baseline="-25000" dirty="0">
                <a:solidFill>
                  <a:prstClr val="black"/>
                </a:solidFill>
                <a:latin typeface="cmr10"/>
              </a:rPr>
              <a:t>2</a:t>
            </a:r>
            <a:r>
              <a:rPr lang="en-US" dirty="0"/>
              <a:t> </a:t>
            </a:r>
            <a:r>
              <a:rPr lang="en-US" sz="2800" dirty="0">
                <a:latin typeface="cmsy10"/>
              </a:rPr>
              <a:t>g</a:t>
            </a:r>
          </a:p>
        </p:txBody>
      </p:sp>
      <p:pic>
        <p:nvPicPr>
          <p:cNvPr id="9" name="Picture 8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rcRect l="-5836" t="-21000" r="-5836" b="-21000"/>
          <a:stretch>
            <a:fillRect/>
          </a:stretch>
        </p:blipFill>
        <p:spPr bwMode="auto">
          <a:xfrm>
            <a:off x="1905000" y="1905000"/>
            <a:ext cx="5390909" cy="190500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אוטומט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447800"/>
                <a:ext cx="8686800" cy="49530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he-IL" sz="2800" dirty="0"/>
                  <a:t>עבור שני </a:t>
                </a:r>
                <a:r>
                  <a:rPr lang="he-IL" sz="2800" dirty="0" err="1"/>
                  <a:t>אס"ד</a:t>
                </a:r>
                <a:r>
                  <a:rPr lang="he-IL" sz="2800" dirty="0"/>
                  <a:t> </a:t>
                </a:r>
                <a:r>
                  <a:rPr lang="en-US" sz="2800" dirty="0"/>
                  <a:t> </a:t>
                </a:r>
                <a:r>
                  <a:rPr lang="en-US" sz="2800" dirty="0">
                    <a:latin typeface="cmsy10"/>
                  </a:rPr>
                  <a:t>A</a:t>
                </a:r>
                <a:r>
                  <a:rPr lang="en-US" sz="2800" baseline="-25000" dirty="0">
                    <a:latin typeface="cmmi10"/>
                  </a:rPr>
                  <a:t>i </a:t>
                </a:r>
                <a:r>
                  <a:rPr lang="en-US" sz="2800" dirty="0"/>
                  <a:t>= </a:t>
                </a:r>
                <a:r>
                  <a:rPr lang="en-US" sz="2800" dirty="0" err="1">
                    <a:latin typeface="cmsy10"/>
                  </a:rPr>
                  <a:t>h</a:t>
                </a:r>
                <a:r>
                  <a:rPr lang="en-US" sz="2800" dirty="0" err="1">
                    <a:latin typeface="cmmi10"/>
                  </a:rPr>
                  <a:t>Q</a:t>
                </a:r>
                <a:r>
                  <a:rPr lang="en-US" sz="2800" baseline="-25000" dirty="0" err="1">
                    <a:latin typeface="cmmi10"/>
                  </a:rPr>
                  <a:t>i</a:t>
                </a:r>
                <a:r>
                  <a:rPr lang="en-US" sz="2800" dirty="0">
                    <a:latin typeface="cmr10"/>
                  </a:rPr>
                  <a:t>,§,</a:t>
                </a:r>
                <a:r>
                  <a:rPr lang="en-US" sz="2800" dirty="0"/>
                  <a:t> </a:t>
                </a:r>
                <a:r>
                  <a:rPr lang="en-US" sz="2800" dirty="0">
                    <a:latin typeface="cmmi10"/>
                  </a:rPr>
                  <a:t>±</a:t>
                </a:r>
                <a:r>
                  <a:rPr lang="en-US" sz="2800" baseline="-25000" dirty="0" err="1">
                    <a:latin typeface="cmmi10"/>
                  </a:rPr>
                  <a:t>i</a:t>
                </a:r>
                <a:r>
                  <a:rPr lang="en-US" sz="2800" dirty="0"/>
                  <a:t>,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0,</a:t>
                </a:r>
                <a:r>
                  <a:rPr lang="en-US" sz="2800" baseline="-25000" dirty="0">
                    <a:latin typeface="cmmi10"/>
                  </a:rPr>
                  <a:t>i</a:t>
                </a:r>
                <a:r>
                  <a:rPr lang="en-US" sz="2800" dirty="0">
                    <a:latin typeface="cmr10"/>
                  </a:rPr>
                  <a:t>,</a:t>
                </a:r>
                <a:r>
                  <a:rPr lang="en-US" sz="2800" dirty="0">
                    <a:latin typeface="cmmi10"/>
                  </a:rPr>
                  <a:t>F</a:t>
                </a:r>
                <a:r>
                  <a:rPr lang="en-US" sz="2800" baseline="-25000" dirty="0">
                    <a:latin typeface="cmmi10"/>
                  </a:rPr>
                  <a:t>i</a:t>
                </a:r>
                <a:r>
                  <a:rPr lang="en-US" sz="2800" dirty="0">
                    <a:latin typeface="cmsy10"/>
                  </a:rPr>
                  <a:t>i </a:t>
                </a:r>
                <a:r>
                  <a:rPr lang="he-IL" sz="2800" dirty="0">
                    <a:latin typeface="cmsy10"/>
                  </a:rPr>
                  <a:t> (</a:t>
                </a:r>
                <a:r>
                  <a:rPr lang="en-US" sz="2800" dirty="0" err="1">
                    <a:latin typeface="cmmi10"/>
                  </a:rPr>
                  <a:t>i</a:t>
                </a:r>
                <a:r>
                  <a:rPr lang="en-US" sz="2800" dirty="0">
                    <a:latin typeface="cmr10"/>
                  </a:rPr>
                  <a:t>=1, 2</a:t>
                </a:r>
                <a:r>
                  <a:rPr lang="he-IL" sz="2800" dirty="0">
                    <a:latin typeface="cmr10"/>
                  </a:rPr>
                  <a:t>)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 sz="2800" dirty="0">
                    <a:latin typeface="cmr10"/>
                  </a:rPr>
                  <a:t>אוטומט המכפלה:</a:t>
                </a:r>
              </a:p>
              <a:p>
                <a:pPr algn="ctr" rtl="0">
                  <a:spcBef>
                    <a:spcPts val="2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  <m:r>
                      <a:rPr 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×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  <m:r>
                      <a:rPr 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>
                    <a:latin typeface="cmr10"/>
                  </a:rPr>
                  <a:t>= </a:t>
                </a:r>
                <a:r>
                  <a:rPr lang="en-US" sz="2800" dirty="0">
                    <a:latin typeface="cmsy10"/>
                  </a:rPr>
                  <a:t>h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1</a:t>
                </a:r>
                <a:r>
                  <a:rPr lang="en-US" sz="2800" dirty="0">
                    <a:latin typeface="cmsy10"/>
                  </a:rPr>
                  <a:t>£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2</a:t>
                </a:r>
                <a:r>
                  <a:rPr lang="en-US" sz="2800" dirty="0">
                    <a:latin typeface="cmr10"/>
                  </a:rPr>
                  <a:t>,  §,</a:t>
                </a:r>
                <a:r>
                  <a:rPr lang="en-US" sz="2800" dirty="0"/>
                  <a:t>   </a:t>
                </a:r>
                <a:r>
                  <a:rPr lang="en-US" sz="2800" dirty="0">
                    <a:latin typeface="cmmi10"/>
                  </a:rPr>
                  <a:t>±</a:t>
                </a:r>
                <a:r>
                  <a:rPr lang="en-US" sz="2800" dirty="0"/>
                  <a:t>,   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0,1</a:t>
                </a:r>
                <a:r>
                  <a:rPr lang="en-US" sz="2800" dirty="0">
                    <a:latin typeface="cmsy10"/>
                  </a:rPr>
                  <a:t>£</a:t>
                </a:r>
                <a:r>
                  <a:rPr lang="en-US" sz="2800" dirty="0">
                    <a:latin typeface="cmmi10"/>
                  </a:rPr>
                  <a:t>Q</a:t>
                </a:r>
                <a:r>
                  <a:rPr lang="en-US" sz="2800" baseline="-25000" dirty="0">
                    <a:latin typeface="cmr10"/>
                  </a:rPr>
                  <a:t>0,2</a:t>
                </a:r>
                <a:r>
                  <a:rPr lang="en-US" sz="2800" dirty="0">
                    <a:latin typeface="cmr10"/>
                  </a:rPr>
                  <a:t>,  </a:t>
                </a:r>
                <a:r>
                  <a:rPr lang="en-US" sz="2800" dirty="0">
                    <a:latin typeface="cmmi10"/>
                  </a:rPr>
                  <a:t>F</a:t>
                </a:r>
                <a:r>
                  <a:rPr lang="en-US" sz="2800" baseline="-25000" dirty="0">
                    <a:latin typeface="cmr10"/>
                  </a:rPr>
                  <a:t>1</a:t>
                </a:r>
                <a:r>
                  <a:rPr lang="en-US" sz="2800" dirty="0">
                    <a:latin typeface="cmsy10"/>
                  </a:rPr>
                  <a:t>£</a:t>
                </a:r>
                <a:r>
                  <a:rPr lang="en-US" sz="2800" dirty="0">
                    <a:latin typeface="cmmi10"/>
                  </a:rPr>
                  <a:t>F</a:t>
                </a:r>
                <a:r>
                  <a:rPr lang="en-US" sz="2800" baseline="-25000" dirty="0">
                    <a:latin typeface="cmr10"/>
                  </a:rPr>
                  <a:t>2 </a:t>
                </a:r>
                <a:r>
                  <a:rPr lang="en-US" sz="2800" dirty="0" err="1">
                    <a:latin typeface="cmsy10"/>
                  </a:rPr>
                  <a:t>i</a:t>
                </a:r>
                <a:r>
                  <a:rPr lang="en-US" sz="2800" dirty="0">
                    <a:latin typeface="cmr10"/>
                  </a:rPr>
                  <a:t> </a:t>
                </a:r>
              </a:p>
              <a:p>
                <a:pPr>
                  <a:spcBef>
                    <a:spcPts val="2400"/>
                  </a:spcBef>
                  <a:buNone/>
                </a:pPr>
                <a:r>
                  <a:rPr lang="he-IL" sz="2800" dirty="0">
                    <a:latin typeface="cmr10"/>
                  </a:rPr>
                  <a:t>	כאשר  </a:t>
                </a:r>
                <a:r>
                  <a:rPr lang="en-US" sz="2800" dirty="0">
                    <a:latin typeface="cmmi10"/>
                  </a:rPr>
                  <a:t>±</a:t>
                </a:r>
                <a:r>
                  <a:rPr lang="he-IL" sz="2800" dirty="0">
                    <a:latin typeface="cmr10"/>
                  </a:rPr>
                  <a:t> מוגדרת ע"י:</a:t>
                </a:r>
              </a:p>
              <a:p>
                <a:pPr>
                  <a:spcBef>
                    <a:spcPts val="2400"/>
                  </a:spcBef>
                  <a:buNone/>
                </a:pPr>
                <a:endParaRPr lang="he-IL" sz="2800" dirty="0">
                  <a:latin typeface="cmr10"/>
                </a:endParaRPr>
              </a:p>
              <a:p>
                <a:pPr>
                  <a:spcBef>
                    <a:spcPts val="2400"/>
                  </a:spcBef>
                  <a:buNone/>
                </a:pPr>
                <a:endParaRPr lang="en-US" sz="2800" dirty="0">
                  <a:latin typeface="cmr10"/>
                </a:endParaRPr>
              </a:p>
              <a:p>
                <a:pPr>
                  <a:spcBef>
                    <a:spcPts val="2400"/>
                  </a:spcBef>
                  <a:buNone/>
                </a:pPr>
                <a:endParaRPr lang="he-IL" sz="2800" dirty="0">
                  <a:latin typeface="cmr10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800" dirty="0">
                    <a:latin typeface="cmr10"/>
                  </a:rPr>
                  <a:t>תוצאה ידועה: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∩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e-IL" dirty="0"/>
              </a:p>
              <a:p>
                <a:pPr>
                  <a:spcBef>
                    <a:spcPts val="2400"/>
                  </a:spcBef>
                  <a:buNone/>
                </a:pPr>
                <a:endParaRPr lang="he-IL" sz="2800" dirty="0">
                  <a:latin typeface="cmr10"/>
                </a:endParaRPr>
              </a:p>
              <a:p>
                <a:pPr>
                  <a:spcBef>
                    <a:spcPts val="2400"/>
                  </a:spcBef>
                </a:pPr>
                <a:endParaRPr lang="he-IL" dirty="0">
                  <a:latin typeface="cmr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447800"/>
                <a:ext cx="8686800" cy="4953000"/>
              </a:xfrm>
              <a:blipFill rotWithShape="1">
                <a:blip r:embed="rId3"/>
                <a:stretch>
                  <a:fillRect t="-2586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upload.wikimedia.org/wikipedia/commons/thumb/0/01/Hebron001.JPG/250px-Hebron001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105400"/>
            <a:ext cx="2344206" cy="175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65734F-6BBD-274C-9CA9-AB1EC6AC9D1B}"/>
                  </a:ext>
                </a:extLst>
              </p:cNvPr>
              <p:cNvSpPr txBox="1"/>
              <p:nvPr/>
            </p:nvSpPr>
            <p:spPr>
              <a:xfrm>
                <a:off x="3276600" y="3908534"/>
                <a:ext cx="2780441" cy="1087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L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IL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IL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en-IL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65734F-6BBD-274C-9CA9-AB1EC6AC9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908534"/>
                <a:ext cx="2780441" cy="10871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66800" y="2273300"/>
            <a:ext cx="7315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66800" y="4127500"/>
            <a:ext cx="7315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אוטומט דטרמיניסטי ואוטומט מָלֵא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14</a:t>
            </a:fld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762000" y="1447800"/>
            <a:ext cx="7924800" cy="3962400"/>
          </a:xfrm>
        </p:spPr>
        <p:txBody>
          <a:bodyPr/>
          <a:lstStyle/>
          <a:p>
            <a:pPr>
              <a:buNone/>
            </a:pPr>
            <a:r>
              <a:rPr lang="he-IL" dirty="0"/>
              <a:t>אוטומט </a:t>
            </a:r>
            <a:r>
              <a:rPr lang="en-US" dirty="0">
                <a:latin typeface="cmsy10"/>
              </a:rPr>
              <a:t>A</a:t>
            </a:r>
            <a:r>
              <a:rPr lang="he-IL" dirty="0">
                <a:latin typeface="cmsy10"/>
              </a:rPr>
              <a:t> נקרא </a:t>
            </a:r>
            <a:r>
              <a:rPr lang="he-IL" dirty="0">
                <a:solidFill>
                  <a:srgbClr val="0000FF"/>
                </a:solidFill>
                <a:latin typeface="cmsy10"/>
              </a:rPr>
              <a:t>דטרמיניסטי (</a:t>
            </a:r>
            <a:r>
              <a:rPr lang="he-IL" dirty="0" err="1">
                <a:solidFill>
                  <a:srgbClr val="0000FF"/>
                </a:solidFill>
                <a:latin typeface="cmsy10"/>
              </a:rPr>
              <a:t>אס"ד</a:t>
            </a:r>
            <a:r>
              <a:rPr lang="he-IL" dirty="0">
                <a:solidFill>
                  <a:srgbClr val="0000FF"/>
                </a:solidFill>
                <a:latin typeface="cmsy1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mic Sans MS" pitchFamily="66" charset="0"/>
              </a:rPr>
              <a:t>DFA</a:t>
            </a:r>
            <a:r>
              <a:rPr lang="he-IL" dirty="0">
                <a:solidFill>
                  <a:srgbClr val="0000FF"/>
                </a:solidFill>
                <a:latin typeface="cmsy10"/>
              </a:rPr>
              <a:t>) </a:t>
            </a:r>
            <a:r>
              <a:rPr lang="he-IL" dirty="0">
                <a:latin typeface="cmsy10"/>
              </a:rPr>
              <a:t>אם</a:t>
            </a:r>
          </a:p>
          <a:p>
            <a:endParaRPr lang="he-IL" dirty="0">
              <a:latin typeface="cmsy10"/>
            </a:endParaRPr>
          </a:p>
          <a:p>
            <a:pPr algn="ctr">
              <a:buNone/>
            </a:pPr>
            <a:r>
              <a:rPr lang="en-US" dirty="0"/>
              <a:t> </a:t>
            </a:r>
            <a:r>
              <a:rPr lang="en-US" dirty="0">
                <a:latin typeface="cmsy10"/>
              </a:rPr>
              <a:t>j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sy10"/>
              </a:rPr>
              <a:t>j</a:t>
            </a:r>
            <a:r>
              <a:rPr lang="en-US" dirty="0"/>
              <a:t> </a:t>
            </a:r>
            <a:r>
              <a:rPr lang="en-US" dirty="0">
                <a:latin typeface="cmr10"/>
              </a:rPr>
              <a:t>=</a:t>
            </a:r>
            <a:r>
              <a:rPr lang="en-US" dirty="0"/>
              <a:t> </a:t>
            </a:r>
            <a:r>
              <a:rPr lang="en-US" dirty="0">
                <a:latin typeface="cmr10"/>
              </a:rPr>
              <a:t>1</a:t>
            </a:r>
            <a:r>
              <a:rPr lang="he-IL" dirty="0">
                <a:latin typeface="cmr10"/>
              </a:rPr>
              <a:t>  וגם   </a:t>
            </a:r>
            <a:r>
              <a:rPr lang="en-US" dirty="0">
                <a:latin typeface="cmsy10"/>
              </a:rPr>
              <a:t>j</a:t>
            </a:r>
            <a:r>
              <a:rPr lang="en-US" dirty="0">
                <a:latin typeface="cmmi10"/>
              </a:rPr>
              <a:t>±</a:t>
            </a:r>
            <a:r>
              <a:rPr lang="en-US" dirty="0">
                <a:latin typeface="cmr10"/>
              </a:rPr>
              <a:t>(</a:t>
            </a:r>
            <a:r>
              <a:rPr lang="en-US" dirty="0" err="1">
                <a:latin typeface="cmmi10"/>
              </a:rPr>
              <a:t>q</a:t>
            </a:r>
            <a:r>
              <a:rPr lang="en-US" dirty="0" err="1">
                <a:latin typeface="cmr10"/>
              </a:rPr>
              <a:t>,</a:t>
            </a:r>
            <a:r>
              <a:rPr lang="en-US" dirty="0" err="1">
                <a:latin typeface="cmmi10"/>
              </a:rPr>
              <a:t>A</a:t>
            </a:r>
            <a:r>
              <a:rPr lang="en-US" dirty="0">
                <a:latin typeface="cmr10"/>
              </a:rPr>
              <a:t>)</a:t>
            </a:r>
            <a:r>
              <a:rPr lang="en-US" dirty="0">
                <a:latin typeface="cmsy10"/>
              </a:rPr>
              <a:t>j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solidFill>
                  <a:srgbClr val="FF0000"/>
                </a:solidFill>
                <a:latin typeface="cmsy10"/>
              </a:rPr>
              <a:t>·</a:t>
            </a:r>
            <a:r>
              <a:rPr lang="en-US" dirty="0">
                <a:latin typeface="cmr10"/>
              </a:rPr>
              <a:t> 1</a:t>
            </a:r>
            <a:r>
              <a:rPr lang="he-IL" dirty="0">
                <a:latin typeface="cmr10"/>
              </a:rPr>
              <a:t> לכל  </a:t>
            </a:r>
            <a:r>
              <a:rPr lang="en-US" dirty="0">
                <a:latin typeface="cmmi10"/>
              </a:rPr>
              <a:t>q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sy10"/>
              </a:rPr>
              <a:t>2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Q</a:t>
            </a:r>
            <a:r>
              <a:rPr lang="he-IL" dirty="0">
                <a:latin typeface="cmr10"/>
              </a:rPr>
              <a:t> ולכל </a:t>
            </a:r>
            <a:r>
              <a:rPr lang="en-US" dirty="0">
                <a:latin typeface="cmmi10"/>
              </a:rPr>
              <a:t>A </a:t>
            </a:r>
            <a:r>
              <a:rPr lang="en-US" dirty="0">
                <a:latin typeface="cmsy10"/>
              </a:rPr>
              <a:t>2 </a:t>
            </a:r>
            <a:r>
              <a:rPr lang="en-US" dirty="0">
                <a:latin typeface="cmr10"/>
              </a:rPr>
              <a:t>§ </a:t>
            </a:r>
            <a:endParaRPr lang="he-IL" dirty="0">
              <a:latin typeface="cmr10"/>
            </a:endParaRPr>
          </a:p>
          <a:p>
            <a:pPr algn="ctr">
              <a:buNone/>
            </a:pPr>
            <a:endParaRPr lang="he-IL" dirty="0">
              <a:latin typeface="cmr10"/>
            </a:endParaRPr>
          </a:p>
          <a:p>
            <a:pPr>
              <a:buNone/>
            </a:pPr>
            <a:r>
              <a:rPr lang="he-IL" dirty="0" err="1"/>
              <a:t>אס"ד</a:t>
            </a:r>
            <a:r>
              <a:rPr lang="he-IL" dirty="0"/>
              <a:t>  </a:t>
            </a:r>
            <a:r>
              <a:rPr lang="en-US" dirty="0">
                <a:latin typeface="cmsy10"/>
              </a:rPr>
              <a:t>A</a:t>
            </a:r>
            <a:r>
              <a:rPr lang="he-IL" dirty="0">
                <a:latin typeface="cmsy10"/>
              </a:rPr>
              <a:t> נקרא </a:t>
            </a:r>
            <a:r>
              <a:rPr lang="he-IL" dirty="0">
                <a:solidFill>
                  <a:srgbClr val="0000FF"/>
                </a:solidFill>
                <a:latin typeface="cmsy10"/>
              </a:rPr>
              <a:t>שלם</a:t>
            </a:r>
            <a:r>
              <a:rPr lang="he-IL" dirty="0">
                <a:solidFill>
                  <a:srgbClr val="0551FB"/>
                </a:solidFill>
                <a:latin typeface="cmsy10"/>
              </a:rPr>
              <a:t> </a:t>
            </a:r>
            <a:r>
              <a:rPr lang="he-IL" dirty="0">
                <a:latin typeface="cmsy10"/>
              </a:rPr>
              <a:t>(</a:t>
            </a:r>
            <a:r>
              <a:rPr lang="en-US" dirty="0">
                <a:latin typeface="Comic Sans MS" pitchFamily="66" charset="0"/>
              </a:rPr>
              <a:t>total</a:t>
            </a:r>
            <a:r>
              <a:rPr lang="he-IL" dirty="0">
                <a:latin typeface="cmsy10"/>
              </a:rPr>
              <a:t>)  אם</a:t>
            </a:r>
          </a:p>
          <a:p>
            <a:pPr>
              <a:buNone/>
            </a:pPr>
            <a:endParaRPr lang="he-IL" dirty="0">
              <a:latin typeface="cmsy10"/>
            </a:endParaRPr>
          </a:p>
          <a:p>
            <a:pPr algn="ctr">
              <a:buNone/>
            </a:pPr>
            <a:r>
              <a:rPr lang="en-US" dirty="0"/>
              <a:t> </a:t>
            </a:r>
            <a:r>
              <a:rPr lang="en-US" dirty="0">
                <a:latin typeface="cmsy10"/>
              </a:rPr>
              <a:t>j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sy10"/>
              </a:rPr>
              <a:t>j</a:t>
            </a:r>
            <a:r>
              <a:rPr lang="en-US" dirty="0"/>
              <a:t> </a:t>
            </a:r>
            <a:r>
              <a:rPr lang="en-US" dirty="0">
                <a:latin typeface="cmr10"/>
              </a:rPr>
              <a:t>=</a:t>
            </a:r>
            <a:r>
              <a:rPr lang="en-US" dirty="0"/>
              <a:t> </a:t>
            </a:r>
            <a:r>
              <a:rPr lang="en-US" dirty="0">
                <a:latin typeface="cmr10"/>
              </a:rPr>
              <a:t>1</a:t>
            </a:r>
            <a:r>
              <a:rPr lang="he-IL" dirty="0">
                <a:latin typeface="cmr10"/>
              </a:rPr>
              <a:t>  וגם   </a:t>
            </a:r>
            <a:r>
              <a:rPr lang="en-US" dirty="0">
                <a:latin typeface="cmsy10"/>
              </a:rPr>
              <a:t>j</a:t>
            </a:r>
            <a:r>
              <a:rPr lang="en-US" dirty="0">
                <a:latin typeface="cmmi10"/>
              </a:rPr>
              <a:t>±</a:t>
            </a:r>
            <a:r>
              <a:rPr lang="en-US" dirty="0">
                <a:latin typeface="cmr10"/>
              </a:rPr>
              <a:t>(</a:t>
            </a:r>
            <a:r>
              <a:rPr lang="en-US" dirty="0" err="1">
                <a:latin typeface="cmmi10"/>
              </a:rPr>
              <a:t>q</a:t>
            </a:r>
            <a:r>
              <a:rPr lang="en-US" dirty="0" err="1">
                <a:latin typeface="cmr10"/>
              </a:rPr>
              <a:t>,</a:t>
            </a:r>
            <a:r>
              <a:rPr lang="en-US" dirty="0" err="1">
                <a:latin typeface="cmmi10"/>
              </a:rPr>
              <a:t>A</a:t>
            </a:r>
            <a:r>
              <a:rPr lang="en-US" dirty="0">
                <a:latin typeface="cmr10"/>
              </a:rPr>
              <a:t>)</a:t>
            </a:r>
            <a:r>
              <a:rPr lang="en-US" dirty="0">
                <a:latin typeface="cmsy10"/>
              </a:rPr>
              <a:t>j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solidFill>
                  <a:srgbClr val="FF0000"/>
                </a:solidFill>
                <a:latin typeface="cmr10"/>
              </a:rPr>
              <a:t>=</a:t>
            </a:r>
            <a:r>
              <a:rPr lang="en-US" dirty="0">
                <a:latin typeface="cmr10"/>
              </a:rPr>
              <a:t> 1</a:t>
            </a:r>
            <a:r>
              <a:rPr lang="he-IL" dirty="0">
                <a:latin typeface="cmr10"/>
              </a:rPr>
              <a:t> לכל  </a:t>
            </a:r>
            <a:r>
              <a:rPr lang="en-US" dirty="0">
                <a:latin typeface="cmmi10"/>
              </a:rPr>
              <a:t>q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sy10"/>
              </a:rPr>
              <a:t>2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Q</a:t>
            </a:r>
            <a:r>
              <a:rPr lang="he-IL" dirty="0">
                <a:latin typeface="cmr10"/>
              </a:rPr>
              <a:t> ולכל </a:t>
            </a:r>
            <a:r>
              <a:rPr lang="en-US" dirty="0">
                <a:latin typeface="cmmi10"/>
              </a:rPr>
              <a:t>A </a:t>
            </a:r>
            <a:r>
              <a:rPr lang="en-US" dirty="0">
                <a:latin typeface="cmsy10"/>
              </a:rPr>
              <a:t>2 </a:t>
            </a:r>
            <a:r>
              <a:rPr lang="en-US" dirty="0">
                <a:latin typeface="cmr10"/>
              </a:rPr>
              <a:t>§ </a:t>
            </a:r>
            <a:endParaRPr lang="he-IL" dirty="0">
              <a:latin typeface="cmr10"/>
            </a:endParaRPr>
          </a:p>
          <a:p>
            <a:pPr>
              <a:buNone/>
            </a:pPr>
            <a:endParaRPr lang="he-IL" dirty="0">
              <a:latin typeface="cmsy10"/>
            </a:endParaRPr>
          </a:p>
          <a:p>
            <a:pPr>
              <a:buNone/>
            </a:pPr>
            <a:endParaRPr lang="en-US" dirty="0">
              <a:latin typeface="cmr1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4027" y="5486400"/>
            <a:ext cx="7991291" cy="95410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pPr algn="ctr"/>
            <a:r>
              <a:rPr lang="he-IL" sz="2800" dirty="0"/>
              <a:t>אפשר להפוך כל </a:t>
            </a:r>
            <a:r>
              <a:rPr lang="he-IL" sz="2800" dirty="0" err="1"/>
              <a:t>אס"ד</a:t>
            </a:r>
            <a:r>
              <a:rPr lang="he-IL" sz="2800" dirty="0"/>
              <a:t> לאוטומט שלם שקול (איך?)</a:t>
            </a:r>
          </a:p>
          <a:p>
            <a:pPr algn="ctr"/>
            <a:r>
              <a:rPr lang="he-IL" sz="2800" dirty="0"/>
              <a:t>באוטומט דטרמיניסטי עוקב יחיד ולכן ריצה יחידה לכל מילת קלט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114090" y="2286000"/>
            <a:ext cx="4648200" cy="5544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2286000" y="3980872"/>
            <a:ext cx="4191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הפיכת </a:t>
            </a:r>
            <a:r>
              <a:rPr lang="he-IL" dirty="0" err="1"/>
              <a:t>אסל"ד</a:t>
            </a:r>
            <a:r>
              <a:rPr lang="he-IL" dirty="0"/>
              <a:t> </a:t>
            </a:r>
            <a:r>
              <a:rPr lang="he-IL" dirty="0" err="1"/>
              <a:t>לאס"ד</a:t>
            </a:r>
            <a:r>
              <a:rPr lang="he-IL" dirty="0"/>
              <a:t> באמצעות דטרמינציה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48500" y="6774023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15</a:t>
            </a:fld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524000"/>
            <a:ext cx="8534400" cy="320040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buNone/>
            </a:pPr>
            <a:r>
              <a:rPr lang="he-IL" sz="2400" dirty="0" err="1"/>
              <a:t>לאסל"ד</a:t>
            </a:r>
            <a:r>
              <a:rPr lang="he-IL" sz="2400" dirty="0"/>
              <a:t>  </a:t>
            </a:r>
            <a:r>
              <a:rPr lang="en-US" sz="2400" dirty="0">
                <a:latin typeface="cmsy10"/>
              </a:rPr>
              <a:t>A</a:t>
            </a:r>
            <a:r>
              <a:rPr lang="en-US" sz="2400" dirty="0"/>
              <a:t>=</a:t>
            </a:r>
            <a:r>
              <a:rPr lang="en-US" sz="2400" dirty="0" err="1">
                <a:latin typeface="cmsy10"/>
              </a:rPr>
              <a:t>h</a:t>
            </a:r>
            <a:r>
              <a:rPr lang="en-US" sz="2400" dirty="0" err="1">
                <a:solidFill>
                  <a:srgbClr val="0000FF"/>
                </a:solidFill>
                <a:latin typeface="cmmi10"/>
              </a:rPr>
              <a:t>Q</a:t>
            </a:r>
            <a:r>
              <a:rPr lang="en-US" sz="2400" dirty="0">
                <a:latin typeface="cmr10"/>
              </a:rPr>
              <a:t>,§,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±</a:t>
            </a:r>
            <a:r>
              <a:rPr lang="en-US" sz="2400" dirty="0"/>
              <a:t>, 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</a:t>
            </a:r>
            <a:r>
              <a:rPr lang="en-US" sz="2400" dirty="0">
                <a:latin typeface="cmr10"/>
              </a:rPr>
              <a:t>,</a:t>
            </a:r>
            <a:r>
              <a:rPr lang="en-US" sz="2400" dirty="0">
                <a:latin typeface="cmmi10"/>
              </a:rPr>
              <a:t>F</a:t>
            </a:r>
            <a:r>
              <a:rPr lang="en-US" sz="2400" dirty="0">
                <a:latin typeface="cmsy10"/>
              </a:rPr>
              <a:t>i</a:t>
            </a:r>
            <a:r>
              <a:rPr lang="he-IL" sz="2400" dirty="0">
                <a:latin typeface="cmsy10"/>
              </a:rPr>
              <a:t> נגדיר </a:t>
            </a:r>
            <a:r>
              <a:rPr lang="he-IL" sz="2400" dirty="0" err="1">
                <a:latin typeface="cmsy10"/>
              </a:rPr>
              <a:t>אס"ד</a:t>
            </a:r>
            <a:r>
              <a:rPr lang="he-IL" sz="2400" dirty="0">
                <a:latin typeface="cmsy10"/>
              </a:rPr>
              <a:t>  </a:t>
            </a:r>
            <a:r>
              <a:rPr lang="en-US" sz="2400" dirty="0" err="1">
                <a:latin typeface="cmsy10"/>
              </a:rPr>
              <a:t>A</a:t>
            </a:r>
            <a:r>
              <a:rPr lang="en-US" sz="2400" baseline="-25000" dirty="0" err="1">
                <a:latin typeface="cmr10"/>
              </a:rPr>
              <a:t>det</a:t>
            </a:r>
            <a:r>
              <a:rPr lang="en-US" sz="2400" dirty="0"/>
              <a:t>=</a:t>
            </a:r>
            <a:r>
              <a:rPr lang="en-US" sz="2400" dirty="0">
                <a:latin typeface="cmsy10"/>
              </a:rPr>
              <a:t>h 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2</a:t>
            </a:r>
            <a:r>
              <a:rPr lang="en-US" sz="2400" baseline="30000" dirty="0">
                <a:solidFill>
                  <a:srgbClr val="FF0000"/>
                </a:solidFill>
                <a:latin typeface="cmmi10"/>
              </a:rPr>
              <a:t>Q</a:t>
            </a:r>
            <a:r>
              <a:rPr lang="en-US" sz="2400" dirty="0">
                <a:latin typeface="cmr10"/>
              </a:rPr>
              <a:t>, §,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±</a:t>
            </a:r>
            <a:r>
              <a:rPr lang="en-US" sz="2400" baseline="-25000" dirty="0" err="1">
                <a:latin typeface="cmr10"/>
              </a:rPr>
              <a:t>det</a:t>
            </a:r>
            <a:r>
              <a:rPr lang="en-US" sz="2400" dirty="0"/>
              <a:t>, {</a:t>
            </a:r>
            <a:r>
              <a:rPr lang="en-US" sz="2400" dirty="0">
                <a:latin typeface="cmmi10"/>
              </a:rPr>
              <a:t>Q</a:t>
            </a:r>
            <a:r>
              <a:rPr lang="en-US" sz="2400" baseline="-25000" dirty="0">
                <a:latin typeface="cmr10"/>
              </a:rPr>
              <a:t>0</a:t>
            </a:r>
            <a:r>
              <a:rPr lang="en-US" sz="2400" dirty="0"/>
              <a:t>}</a:t>
            </a:r>
            <a:r>
              <a:rPr lang="en-US" sz="2400" dirty="0">
                <a:latin typeface="cmr10"/>
              </a:rPr>
              <a:t>, </a:t>
            </a:r>
            <a:r>
              <a:rPr lang="en-US" sz="2400" dirty="0" err="1">
                <a:latin typeface="cmmi10"/>
              </a:rPr>
              <a:t>F</a:t>
            </a:r>
            <a:r>
              <a:rPr lang="en-US" sz="2400" baseline="-25000" dirty="0" err="1">
                <a:latin typeface="cmr10"/>
              </a:rPr>
              <a:t>det</a:t>
            </a:r>
            <a:r>
              <a:rPr lang="en-US" sz="2400" dirty="0" err="1">
                <a:latin typeface="cmsy10"/>
              </a:rPr>
              <a:t>i</a:t>
            </a:r>
            <a:r>
              <a:rPr lang="he-IL" sz="2400" dirty="0">
                <a:latin typeface="cmsy10"/>
              </a:rPr>
              <a:t>  </a:t>
            </a:r>
            <a:r>
              <a:rPr lang="he-IL" sz="2400" dirty="0"/>
              <a:t>ע"י</a:t>
            </a:r>
            <a:r>
              <a:rPr lang="he-IL" sz="2400" dirty="0">
                <a:latin typeface="cmsy10"/>
              </a:rPr>
              <a:t> </a:t>
            </a:r>
          </a:p>
          <a:p>
            <a:pPr algn="ctr" rt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 err="1">
                <a:latin typeface="cmmi10"/>
              </a:rPr>
              <a:t>F</a:t>
            </a:r>
            <a:r>
              <a:rPr lang="en-US" sz="2400" baseline="-25000" dirty="0" err="1">
                <a:latin typeface="cmr10"/>
              </a:rPr>
              <a:t>det</a:t>
            </a:r>
            <a:r>
              <a:rPr lang="en-US" sz="2400" baseline="-25000" dirty="0">
                <a:latin typeface="cmr10"/>
              </a:rPr>
              <a:t>  </a:t>
            </a:r>
            <a:r>
              <a:rPr lang="en-US" sz="2400" dirty="0">
                <a:latin typeface="cmr10"/>
              </a:rPr>
              <a:t>= </a:t>
            </a:r>
            <a:r>
              <a:rPr lang="en-US" sz="2400" dirty="0">
                <a:latin typeface="cmsy10"/>
              </a:rPr>
              <a:t>f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mi10"/>
              </a:rPr>
              <a:t>Q</a:t>
            </a:r>
            <a:r>
              <a:rPr lang="en-US" sz="2400" dirty="0">
                <a:latin typeface="cmr10"/>
              </a:rPr>
              <a:t>’ </a:t>
            </a:r>
            <a:r>
              <a:rPr lang="en-US" sz="2400" dirty="0">
                <a:latin typeface="cmsy10"/>
              </a:rPr>
              <a:t>µ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mi10"/>
              </a:rPr>
              <a:t>Q</a:t>
            </a:r>
            <a:r>
              <a:rPr lang="en-US" sz="2400" dirty="0">
                <a:latin typeface="cmr10"/>
              </a:rPr>
              <a:t> :   </a:t>
            </a:r>
            <a:r>
              <a:rPr lang="en-US" sz="2400" dirty="0">
                <a:latin typeface="cmmi10"/>
              </a:rPr>
              <a:t>Q</a:t>
            </a:r>
            <a:r>
              <a:rPr lang="en-US" sz="2400" dirty="0">
                <a:latin typeface="cmr10"/>
              </a:rPr>
              <a:t>’ </a:t>
            </a:r>
            <a:r>
              <a:rPr lang="en-US" sz="2400" dirty="0">
                <a:latin typeface="cmsy10"/>
              </a:rPr>
              <a:t>Å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mi10"/>
              </a:rPr>
              <a:t>F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Symbol"/>
                <a:sym typeface="Symbol"/>
              </a:rPr>
              <a:t>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sy10"/>
              </a:rPr>
              <a:t>;</a:t>
            </a:r>
            <a:r>
              <a:rPr lang="en-US" sz="2400" dirty="0">
                <a:latin typeface="cmr10"/>
              </a:rPr>
              <a:t> </a:t>
            </a:r>
            <a:r>
              <a:rPr lang="en-US" sz="2400" dirty="0">
                <a:latin typeface="cmsy10"/>
              </a:rPr>
              <a:t>g</a:t>
            </a:r>
          </a:p>
          <a:p>
            <a:pPr>
              <a:spcBef>
                <a:spcPts val="2400"/>
              </a:spcBef>
              <a:spcAft>
                <a:spcPts val="2400"/>
              </a:spcAft>
              <a:buNone/>
            </a:pPr>
            <a:r>
              <a:rPr lang="he-IL" sz="2400" dirty="0">
                <a:latin typeface="cmsy10"/>
              </a:rPr>
              <a:t>ופונקצית מעברים שלמה  </a:t>
            </a:r>
            <a:r>
              <a:rPr lang="en-US" sz="2400" dirty="0">
                <a:latin typeface="cmmi10"/>
              </a:rPr>
              <a:t>±</a:t>
            </a:r>
            <a:r>
              <a:rPr lang="en-US" sz="2400" baseline="-25000" dirty="0" err="1">
                <a:latin typeface="cmr10"/>
              </a:rPr>
              <a:t>det</a:t>
            </a:r>
            <a:r>
              <a:rPr lang="en-US" sz="2400" dirty="0"/>
              <a:t>: </a:t>
            </a:r>
            <a:r>
              <a:rPr lang="en-US" sz="2400" dirty="0">
                <a:latin typeface="cmr10"/>
              </a:rPr>
              <a:t>2</a:t>
            </a:r>
            <a:r>
              <a:rPr lang="en-US" sz="2400" baseline="30000" dirty="0">
                <a:latin typeface="cmmi10"/>
              </a:rPr>
              <a:t>Q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£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§</a:t>
            </a:r>
            <a:r>
              <a:rPr lang="en-US" sz="2400" dirty="0"/>
              <a:t> </a:t>
            </a:r>
            <a:r>
              <a:rPr lang="en-US" sz="2400" dirty="0">
                <a:latin typeface="Symbol"/>
                <a:sym typeface="Symbol"/>
              </a:rPr>
              <a:t>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2</a:t>
            </a:r>
            <a:r>
              <a:rPr lang="en-US" sz="2400" baseline="30000" dirty="0">
                <a:latin typeface="cmmi10"/>
              </a:rPr>
              <a:t>Q</a:t>
            </a:r>
            <a:r>
              <a:rPr lang="he-IL" sz="2400" dirty="0"/>
              <a:t> מוגדרת ע"י:</a:t>
            </a:r>
          </a:p>
          <a:p>
            <a:pPr algn="ctr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latin typeface="cmmi10"/>
              </a:rPr>
              <a:t>±</a:t>
            </a:r>
            <a:r>
              <a:rPr lang="en-US" sz="2400" baseline="-25000" dirty="0" err="1">
                <a:latin typeface="cmr10"/>
              </a:rPr>
              <a:t>det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mi10"/>
              </a:rPr>
              <a:t>Q</a:t>
            </a:r>
            <a:r>
              <a:rPr lang="en-US" sz="2400" dirty="0">
                <a:latin typeface="cmr10"/>
              </a:rPr>
              <a:t>’, </a:t>
            </a:r>
            <a:r>
              <a:rPr lang="en-US" sz="2400" dirty="0">
                <a:latin typeface="cmmi10"/>
              </a:rPr>
              <a:t>A</a:t>
            </a:r>
            <a:r>
              <a:rPr lang="en-US" sz="2400" dirty="0">
                <a:latin typeface="cmr10"/>
              </a:rPr>
              <a:t>) = </a:t>
            </a:r>
            <a:r>
              <a:rPr lang="en-US" sz="2400" dirty="0">
                <a:latin typeface="MT Extra"/>
                <a:sym typeface="MT Extra"/>
              </a:rPr>
              <a:t></a:t>
            </a:r>
            <a:r>
              <a:rPr lang="en-US" sz="2400" baseline="-25000" dirty="0">
                <a:latin typeface="cmmi10"/>
                <a:sym typeface="MT Extra"/>
              </a:rPr>
              <a:t>q</a:t>
            </a:r>
            <a:r>
              <a:rPr lang="en-US" sz="2400" baseline="-25000" dirty="0">
                <a:latin typeface="Perpetua"/>
                <a:sym typeface="MT Extra"/>
              </a:rPr>
              <a:t> </a:t>
            </a:r>
            <a:r>
              <a:rPr lang="en-US" sz="2400" baseline="-25000" dirty="0">
                <a:latin typeface="cmsy10"/>
                <a:sym typeface="MT Extra"/>
              </a:rPr>
              <a:t>2</a:t>
            </a:r>
            <a:r>
              <a:rPr lang="en-US" sz="2400" baseline="-25000" dirty="0">
                <a:latin typeface="Perpetua"/>
                <a:sym typeface="MT Extra"/>
              </a:rPr>
              <a:t> </a:t>
            </a:r>
            <a:r>
              <a:rPr lang="en-US" sz="2400" baseline="-25000" dirty="0">
                <a:latin typeface="cmmi10"/>
                <a:sym typeface="MT Extra"/>
              </a:rPr>
              <a:t>Q</a:t>
            </a:r>
            <a:r>
              <a:rPr lang="en-US" sz="2400" baseline="-25000" dirty="0">
                <a:latin typeface="Perpetua"/>
                <a:sym typeface="MT Extra"/>
              </a:rPr>
              <a:t>’</a:t>
            </a:r>
            <a:r>
              <a:rPr lang="en-US" sz="2400" dirty="0">
                <a:latin typeface="cmmi10"/>
              </a:rPr>
              <a:t> ±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mi10"/>
              </a:rPr>
              <a:t>q</a:t>
            </a:r>
            <a:r>
              <a:rPr lang="en-US" sz="2400" dirty="0">
                <a:latin typeface="cmr10"/>
              </a:rPr>
              <a:t>, </a:t>
            </a:r>
            <a:r>
              <a:rPr lang="en-US" sz="2400" dirty="0">
                <a:latin typeface="cmmi10"/>
              </a:rPr>
              <a:t>A</a:t>
            </a:r>
            <a:r>
              <a:rPr lang="en-US" sz="2400" dirty="0">
                <a:latin typeface="cmr10"/>
              </a:rPr>
              <a:t>)</a:t>
            </a:r>
            <a:r>
              <a:rPr lang="en-US" sz="2400" baseline="-25000" dirty="0">
                <a:latin typeface="Perpetua"/>
                <a:sym typeface="MT Extra"/>
              </a:rPr>
              <a:t> </a:t>
            </a:r>
            <a:endParaRPr lang="he-IL" sz="2400" baseline="-25000" dirty="0">
              <a:latin typeface="Perpetua"/>
            </a:endParaRPr>
          </a:p>
          <a:p>
            <a:pPr algn="ctr">
              <a:spcBef>
                <a:spcPts val="2400"/>
              </a:spcBef>
              <a:spcAft>
                <a:spcPts val="2400"/>
              </a:spcAft>
              <a:buNone/>
            </a:pPr>
            <a:endParaRPr lang="he-IL" sz="2400" baseline="30000" dirty="0">
              <a:latin typeface="cmmi10"/>
            </a:endParaRPr>
          </a:p>
          <a:p>
            <a:pPr>
              <a:spcBef>
                <a:spcPts val="2400"/>
              </a:spcBef>
              <a:spcAft>
                <a:spcPts val="2400"/>
              </a:spcAft>
              <a:buNone/>
            </a:pPr>
            <a:endParaRPr lang="he-IL" sz="2400" dirty="0"/>
          </a:p>
        </p:txBody>
      </p:sp>
      <p:sp>
        <p:nvSpPr>
          <p:cNvPr id="7" name="Rectangle 6"/>
          <p:cNvSpPr/>
          <p:nvPr/>
        </p:nvSpPr>
        <p:spPr>
          <a:xfrm>
            <a:off x="1371600" y="5038145"/>
            <a:ext cx="6284092" cy="1438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solidFill>
                  <a:srgbClr val="0000FF"/>
                </a:solidFill>
                <a:latin typeface="cmsy10"/>
              </a:rPr>
              <a:t>A</a:t>
            </a:r>
            <a:r>
              <a:rPr lang="en-US" sz="2000" baseline="-25000" dirty="0" err="1">
                <a:solidFill>
                  <a:srgbClr val="0000FF"/>
                </a:solidFill>
                <a:latin typeface="cmr10"/>
              </a:rPr>
              <a:t>det</a:t>
            </a:r>
            <a:r>
              <a:rPr lang="he-IL" sz="2000" baseline="-25000" dirty="0">
                <a:solidFill>
                  <a:srgbClr val="0000FF"/>
                </a:solidFill>
                <a:latin typeface="cmr10"/>
              </a:rPr>
              <a:t> </a:t>
            </a:r>
            <a:r>
              <a:rPr lang="he-IL" sz="2000" dirty="0">
                <a:solidFill>
                  <a:srgbClr val="0000FF"/>
                </a:solidFill>
              </a:rPr>
              <a:t>הוא </a:t>
            </a:r>
            <a:r>
              <a:rPr lang="he-IL" sz="2000" dirty="0" err="1">
                <a:solidFill>
                  <a:srgbClr val="0000FF"/>
                </a:solidFill>
              </a:rPr>
              <a:t>אס"ד</a:t>
            </a:r>
            <a:r>
              <a:rPr lang="he-IL" sz="2000" dirty="0">
                <a:solidFill>
                  <a:srgbClr val="0000FF"/>
                </a:solidFill>
              </a:rPr>
              <a:t> שלם (למה?)</a:t>
            </a:r>
          </a:p>
          <a:p>
            <a:pPr algn="ctr">
              <a:lnSpc>
                <a:spcPct val="150000"/>
              </a:lnSpc>
            </a:pPr>
            <a:r>
              <a:rPr lang="he-IL" sz="2000" dirty="0">
                <a:solidFill>
                  <a:srgbClr val="0000FF"/>
                </a:solidFill>
              </a:rPr>
              <a:t>ולכל  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w</a:t>
            </a:r>
            <a:r>
              <a:rPr lang="en-US" sz="2000" dirty="0">
                <a:solidFill>
                  <a:srgbClr val="0000FF"/>
                </a:solidFill>
                <a:latin typeface="cmsy10"/>
              </a:rPr>
              <a:t>2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§</a:t>
            </a:r>
            <a:r>
              <a:rPr lang="en-US" sz="2000" baseline="30000" dirty="0">
                <a:solidFill>
                  <a:srgbClr val="0000FF"/>
                </a:solidFill>
                <a:latin typeface="Perpetua"/>
              </a:rPr>
              <a:t>*</a:t>
            </a:r>
            <a:r>
              <a:rPr lang="he-IL" sz="2000" baseline="30000" dirty="0">
                <a:solidFill>
                  <a:srgbClr val="0000FF"/>
                </a:solidFill>
                <a:latin typeface="Perpetua"/>
              </a:rPr>
              <a:t> </a:t>
            </a:r>
            <a:r>
              <a:rPr lang="he-IL" sz="2000" dirty="0">
                <a:solidFill>
                  <a:srgbClr val="0000FF"/>
                </a:solidFill>
              </a:rPr>
              <a:t>מתקיים  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±</a:t>
            </a:r>
            <a:r>
              <a:rPr lang="en-US" sz="2000" baseline="-25000" dirty="0" err="1">
                <a:solidFill>
                  <a:srgbClr val="0000FF"/>
                </a:solidFill>
                <a:latin typeface="cmr10"/>
              </a:rPr>
              <a:t>det</a:t>
            </a:r>
            <a:r>
              <a:rPr lang="en-US" sz="2000" baseline="30000" dirty="0">
                <a:solidFill>
                  <a:srgbClr val="0000FF"/>
                </a:solidFill>
                <a:latin typeface="cmr10"/>
              </a:rPr>
              <a:t>*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Q</a:t>
            </a:r>
            <a:r>
              <a:rPr lang="en-US" sz="2000" baseline="-25000" dirty="0">
                <a:solidFill>
                  <a:srgbClr val="0000FF"/>
                </a:solidFill>
                <a:latin typeface="cmr10"/>
              </a:rPr>
              <a:t>0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w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) = </a:t>
            </a:r>
            <a:r>
              <a:rPr lang="en-US" sz="2000" dirty="0">
                <a:solidFill>
                  <a:srgbClr val="0000FF"/>
                </a:solidFill>
                <a:latin typeface="MT Extra"/>
                <a:sym typeface="MT Extra"/>
              </a:rPr>
              <a:t></a:t>
            </a:r>
            <a:r>
              <a:rPr lang="en-US" sz="2000" baseline="-25000" dirty="0">
                <a:solidFill>
                  <a:srgbClr val="0000FF"/>
                </a:solidFill>
                <a:latin typeface="cmmi10"/>
                <a:sym typeface="MT Extra"/>
              </a:rPr>
              <a:t>q0</a:t>
            </a:r>
            <a:r>
              <a:rPr lang="en-US" sz="2000" baseline="-25000" dirty="0">
                <a:solidFill>
                  <a:srgbClr val="0000FF"/>
                </a:solidFill>
                <a:sym typeface="MT Extra"/>
              </a:rPr>
              <a:t> </a:t>
            </a:r>
            <a:r>
              <a:rPr lang="en-US" sz="2000" baseline="-25000" dirty="0">
                <a:solidFill>
                  <a:srgbClr val="0000FF"/>
                </a:solidFill>
                <a:latin typeface="cmsy10"/>
                <a:sym typeface="MT Extra"/>
              </a:rPr>
              <a:t>2</a:t>
            </a:r>
            <a:r>
              <a:rPr lang="en-US" sz="2000" baseline="-25000" dirty="0">
                <a:solidFill>
                  <a:srgbClr val="0000FF"/>
                </a:solidFill>
                <a:sym typeface="MT Extra"/>
              </a:rPr>
              <a:t> </a:t>
            </a:r>
            <a:r>
              <a:rPr lang="en-US" sz="2000" baseline="-25000" dirty="0">
                <a:solidFill>
                  <a:srgbClr val="0000FF"/>
                </a:solidFill>
                <a:latin typeface="cmmi10"/>
                <a:sym typeface="MT Extra"/>
              </a:rPr>
              <a:t>Q0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 ±</a:t>
            </a:r>
            <a:r>
              <a:rPr lang="en-US" sz="2000" baseline="30000" dirty="0">
                <a:solidFill>
                  <a:srgbClr val="0000FF"/>
                </a:solidFill>
                <a:latin typeface="Franklin Gothic Book"/>
              </a:rPr>
              <a:t>*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q</a:t>
            </a:r>
            <a:r>
              <a:rPr lang="en-US" sz="2000" baseline="-25000" dirty="0">
                <a:solidFill>
                  <a:srgbClr val="0000FF"/>
                </a:solidFill>
                <a:latin typeface="cmr10"/>
              </a:rPr>
              <a:t>0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mmi10"/>
              </a:rPr>
              <a:t>w</a:t>
            </a:r>
            <a:r>
              <a:rPr lang="en-US" sz="2000" dirty="0">
                <a:solidFill>
                  <a:srgbClr val="0000FF"/>
                </a:solidFill>
                <a:latin typeface="cmr10"/>
              </a:rPr>
              <a:t>)</a:t>
            </a:r>
            <a:r>
              <a:rPr lang="he-IL" sz="2000" dirty="0">
                <a:solidFill>
                  <a:srgbClr val="0000FF"/>
                </a:solidFill>
                <a:latin typeface="cmr10"/>
              </a:rPr>
              <a:t> (למה?)</a:t>
            </a:r>
          </a:p>
          <a:p>
            <a:pPr algn="ctr">
              <a:lnSpc>
                <a:spcPct val="150000"/>
              </a:lnSpc>
            </a:pPr>
            <a:r>
              <a:rPr lang="he-IL" sz="2000" dirty="0"/>
              <a:t>לכן: </a:t>
            </a:r>
            <a:r>
              <a:rPr lang="en-US" sz="2000" dirty="0">
                <a:solidFill>
                  <a:srgbClr val="FF0000"/>
                </a:solidFill>
                <a:latin typeface="cmsy10"/>
              </a:rPr>
              <a:t>L</a:t>
            </a:r>
            <a:r>
              <a:rPr lang="en-US" sz="2000" dirty="0">
                <a:solidFill>
                  <a:srgbClr val="FF0000"/>
                </a:solidFill>
                <a:latin typeface="cmr1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msy10"/>
              </a:rPr>
              <a:t>A</a:t>
            </a:r>
            <a:r>
              <a:rPr lang="en-US" sz="2000" baseline="-25000" dirty="0" err="1">
                <a:solidFill>
                  <a:srgbClr val="FF0000"/>
                </a:solidFill>
                <a:latin typeface="cmr10"/>
              </a:rPr>
              <a:t>det</a:t>
            </a:r>
            <a:r>
              <a:rPr lang="en-US" sz="2000" dirty="0">
                <a:solidFill>
                  <a:srgbClr val="FF0000"/>
                </a:solidFill>
                <a:latin typeface="cmr10"/>
              </a:rPr>
              <a:t>)</a:t>
            </a:r>
            <a:r>
              <a:rPr lang="en-US" sz="2000" dirty="0">
                <a:solidFill>
                  <a:srgbClr val="FF0000"/>
                </a:solidFill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msy10"/>
              </a:rPr>
              <a:t>L</a:t>
            </a:r>
            <a:r>
              <a:rPr lang="en-US" sz="2000" dirty="0">
                <a:solidFill>
                  <a:srgbClr val="FF0000"/>
                </a:solidFill>
                <a:latin typeface="cmr1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msy10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mr10"/>
              </a:rPr>
              <a:t>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n-US" sz="2000" dirty="0">
              <a:solidFill>
                <a:srgbClr val="FF0000"/>
              </a:solidFill>
              <a:latin typeface="cmr1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דוגמה: דטרמינציה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16</a:t>
            </a:fld>
            <a:endParaRPr lang="he-IL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925" y="3547404"/>
            <a:ext cx="5368271" cy="312648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" name="Picture 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rcRect l="-5836" t="-21000" r="-5836" b="-21000"/>
          <a:stretch>
            <a:fillRect/>
          </a:stretch>
        </p:blipFill>
        <p:spPr bwMode="auto">
          <a:xfrm>
            <a:off x="304800" y="1398554"/>
            <a:ext cx="4883367" cy="1725646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99" dir="2700045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 עובדות לגבי אוטומטים סופיים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31 בדצמבר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17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95400"/>
                <a:ext cx="8382000" cy="5257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he-IL" sz="2400" dirty="0"/>
                  <a:t>יכולים לבטא את </a:t>
                </a:r>
                <a:r>
                  <a:rPr lang="he-IL" sz="2400" dirty="0">
                    <a:solidFill>
                      <a:srgbClr val="0000FF"/>
                    </a:solidFill>
                  </a:rPr>
                  <a:t>כל השפות הרגולריות</a:t>
                </a:r>
                <a:r>
                  <a:rPr lang="he-IL" sz="2400" dirty="0">
                    <a:solidFill>
                      <a:srgbClr val="FF0000"/>
                    </a:solidFill>
                  </a:rPr>
                  <a:t> </a:t>
                </a:r>
                <a:r>
                  <a:rPr lang="he-IL" dirty="0"/>
                  <a:t>ורק אותן</a:t>
                </a:r>
                <a:endParaRPr lang="he-IL" sz="2400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3000"/>
                  </a:spcBef>
                </a:pPr>
                <a:r>
                  <a:rPr lang="he-IL" sz="2400" dirty="0">
                    <a:solidFill>
                      <a:srgbClr val="0000FF"/>
                    </a:solidFill>
                  </a:rPr>
                  <a:t>סגורים תחת חיתוך והשלמה </a:t>
                </a:r>
                <a:r>
                  <a:rPr lang="he-IL" sz="2400" dirty="0"/>
                  <a:t>(</a:t>
                </a:r>
                <a:r>
                  <a:rPr lang="en-US" sz="2400" dirty="0">
                    <a:latin typeface="Comic Sans MS" pitchFamily="66" charset="0"/>
                  </a:rPr>
                  <a:t>complementation</a:t>
                </a:r>
                <a:r>
                  <a:rPr lang="he-IL" sz="2400" dirty="0"/>
                  <a:t>)</a:t>
                </a:r>
              </a:p>
              <a:p>
                <a:pPr lvl="1"/>
                <a:r>
                  <a:rPr lang="he-IL" sz="2000" dirty="0"/>
                  <a:t>אוטומט המכפלה  </a:t>
                </a:r>
                <a:r>
                  <a:rPr lang="en-US" sz="2000" dirty="0">
                    <a:latin typeface="cmsy10"/>
                  </a:rPr>
                  <a:t>A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msy10"/>
                  </a:rPr>
                  <a:t>£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msy10"/>
                  </a:rPr>
                  <a:t>B</a:t>
                </a:r>
                <a:r>
                  <a:rPr lang="he-IL" sz="2000" dirty="0">
                    <a:latin typeface="cmsy10"/>
                  </a:rPr>
                  <a:t> מקבל את השפה </a:t>
                </a:r>
                <a:r>
                  <a:rPr lang="en-US" sz="2000" dirty="0">
                    <a:latin typeface="cmsy10"/>
                  </a:rPr>
                  <a:t>L</a:t>
                </a:r>
                <a:r>
                  <a:rPr lang="en-US" sz="2000" dirty="0">
                    <a:latin typeface="cmr10"/>
                  </a:rPr>
                  <a:t>(</a:t>
                </a:r>
                <a:r>
                  <a:rPr lang="en-US" sz="2000" dirty="0">
                    <a:latin typeface="cmsy10"/>
                  </a:rPr>
                  <a:t>A</a:t>
                </a:r>
                <a:r>
                  <a:rPr lang="en-US" sz="2000" dirty="0">
                    <a:latin typeface="cmr10"/>
                  </a:rPr>
                  <a:t>)</a:t>
                </a:r>
                <a:r>
                  <a:rPr lang="en-US" sz="2000" dirty="0">
                    <a:latin typeface="cmsy10"/>
                  </a:rPr>
                  <a:t> \ L</a:t>
                </a:r>
                <a:r>
                  <a:rPr lang="en-US" sz="2000" dirty="0">
                    <a:latin typeface="cmr10"/>
                  </a:rPr>
                  <a:t>(</a:t>
                </a:r>
                <a:r>
                  <a:rPr lang="en-US" sz="2000" dirty="0">
                    <a:latin typeface="cmsy10"/>
                  </a:rPr>
                  <a:t>B</a:t>
                </a:r>
                <a:r>
                  <a:rPr lang="en-US" sz="2000" dirty="0">
                    <a:latin typeface="cmr10"/>
                  </a:rPr>
                  <a:t>) </a:t>
                </a:r>
              </a:p>
              <a:p>
                <a:pPr lvl="1"/>
                <a:r>
                  <a:rPr lang="he-IL" sz="2000" dirty="0">
                    <a:latin typeface="cmr10"/>
                  </a:rPr>
                  <a:t>באוטומט דטרמיניסטי שלם מקבלים </a:t>
                </a:r>
                <a:r>
                  <a:rPr lang="en-US" sz="2000" dirty="0">
                    <a:latin typeface="cmr10"/>
                  </a:rPr>
                  <a:t>§</a:t>
                </a:r>
                <a:r>
                  <a:rPr lang="en-US" sz="2000" baseline="30000" dirty="0">
                    <a:latin typeface="cmr10"/>
                  </a:rPr>
                  <a:t>*</a:t>
                </a:r>
                <a:r>
                  <a:rPr lang="en-US" sz="2000" dirty="0">
                    <a:latin typeface="cmr10"/>
                  </a:rPr>
                  <a:t> </a:t>
                </a:r>
                <a:r>
                  <a:rPr lang="en-US" sz="2000" dirty="0">
                    <a:latin typeface="cmsy10"/>
                  </a:rPr>
                  <a:t>n</a:t>
                </a:r>
                <a:r>
                  <a:rPr lang="en-US" sz="2000" dirty="0">
                    <a:latin typeface="cmr10"/>
                  </a:rPr>
                  <a:t> </a:t>
                </a:r>
                <a:r>
                  <a:rPr lang="en-US" sz="2000" dirty="0">
                    <a:latin typeface="cmsy10"/>
                  </a:rPr>
                  <a:t>L</a:t>
                </a:r>
                <a:r>
                  <a:rPr lang="en-US" sz="2000" dirty="0">
                    <a:latin typeface="cmr10"/>
                  </a:rPr>
                  <a:t>(</a:t>
                </a:r>
                <a:r>
                  <a:rPr lang="en-US" sz="2000" dirty="0">
                    <a:latin typeface="cmsy10"/>
                  </a:rPr>
                  <a:t>A</a:t>
                </a:r>
                <a:r>
                  <a:rPr lang="en-US" sz="2000" dirty="0">
                    <a:latin typeface="cmr10"/>
                  </a:rPr>
                  <a:t>) </a:t>
                </a:r>
                <a:r>
                  <a:rPr lang="he-IL" sz="2000" dirty="0">
                    <a:latin typeface="cmr10"/>
                  </a:rPr>
                  <a:t> ע"י החלפת המצבים המקבלים עם אלה שאינם מקבלים</a:t>
                </a:r>
              </a:p>
              <a:p>
                <a:pPr>
                  <a:spcBef>
                    <a:spcPts val="3000"/>
                  </a:spcBef>
                </a:pPr>
                <a:r>
                  <a:rPr lang="he-IL" sz="2400" dirty="0">
                    <a:solidFill>
                      <a:srgbClr val="0000FF"/>
                    </a:solidFill>
                    <a:latin typeface="cmr10"/>
                  </a:rPr>
                  <a:t>סגורים תחת דטרמינציה </a:t>
                </a:r>
                <a:r>
                  <a:rPr lang="he-IL" sz="2400" dirty="0"/>
                  <a:t>(הורדת הבחירה)</a:t>
                </a:r>
              </a:p>
              <a:p>
                <a:pPr lvl="1"/>
                <a:r>
                  <a:rPr lang="he-IL" sz="2000" dirty="0">
                    <a:solidFill>
                      <a:srgbClr val="FF0000"/>
                    </a:solidFill>
                  </a:rPr>
                  <a:t>במחיר</a:t>
                </a:r>
                <a:r>
                  <a:rPr lang="he-IL" sz="2000" dirty="0">
                    <a:solidFill>
                      <a:srgbClr val="FF0000"/>
                    </a:solidFill>
                    <a:latin typeface="cmr10"/>
                  </a:rPr>
                  <a:t> </a:t>
                </a:r>
                <a:r>
                  <a:rPr lang="he-IL" sz="2000" dirty="0">
                    <a:solidFill>
                      <a:srgbClr val="FF0000"/>
                    </a:solidFill>
                  </a:rPr>
                  <a:t>הגדלה </a:t>
                </a:r>
                <a:r>
                  <a:rPr lang="he-IL" sz="2000" dirty="0" err="1">
                    <a:solidFill>
                      <a:srgbClr val="FF0000"/>
                    </a:solidFill>
                  </a:rPr>
                  <a:t>אֶקְסְפּוֹנֶנְצְיָאלִית</a:t>
                </a:r>
                <a:r>
                  <a:rPr lang="he-IL" sz="2000" dirty="0">
                    <a:solidFill>
                      <a:srgbClr val="FF0000"/>
                    </a:solidFill>
                  </a:rPr>
                  <a:t> של מספר המצבים באוטומט</a:t>
                </a:r>
              </a:p>
              <a:p>
                <a:pPr>
                  <a:spcBef>
                    <a:spcPts val="3000"/>
                  </a:spcBef>
                </a:pPr>
                <a:r>
                  <a:rPr lang="he-IL" sz="2400" dirty="0"/>
                  <a:t>בדיקת רֵיקוּת השפה 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∅</m:t>
                    </m:r>
                    <m:r>
                      <a:rPr lang="he-IL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 dirty="0">
                    <a:latin typeface="cmsy10"/>
                  </a:rPr>
                  <a:t>?</a:t>
                </a:r>
              </a:p>
              <a:p>
                <a:pPr lvl="1"/>
                <a:r>
                  <a:rPr lang="he-IL" sz="2000" dirty="0">
                    <a:latin typeface="cmsy10"/>
                  </a:rPr>
                  <a:t>בדיקה אם יש מצב מקבל נגיש באמצעות חיפוש </a:t>
                </a:r>
                <a:r>
                  <a:rPr lang="en-US" sz="2000" dirty="0">
                    <a:latin typeface="Comic Sans MS" pitchFamily="66" charset="0"/>
                  </a:rPr>
                  <a:t>DFS</a:t>
                </a:r>
                <a:r>
                  <a:rPr lang="he-IL" sz="2000" dirty="0">
                    <a:latin typeface="Franklin Gothic Book"/>
                  </a:rPr>
                  <a:t> פשוט</a:t>
                </a:r>
              </a:p>
              <a:p>
                <a:pPr>
                  <a:spcBef>
                    <a:spcPts val="3000"/>
                  </a:spcBef>
                </a:pPr>
                <a:r>
                  <a:rPr lang="he-IL" sz="2400" dirty="0">
                    <a:latin typeface="cmsy10"/>
                  </a:rPr>
                  <a:t>לשפה רגולרית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ℒ</m:t>
                    </m:r>
                  </m:oMath>
                </a14:m>
                <a:r>
                  <a:rPr lang="he-IL" sz="2400" dirty="0">
                    <a:latin typeface="cmsy10"/>
                  </a:rPr>
                  <a:t> יש </a:t>
                </a:r>
                <a:r>
                  <a:rPr lang="he-IL" sz="2400" dirty="0">
                    <a:solidFill>
                      <a:srgbClr val="0000FF"/>
                    </a:solidFill>
                    <a:latin typeface="cmsy10"/>
                  </a:rPr>
                  <a:t>אוטומט דטרמיניסטי מינימאלי יחיד</a:t>
                </a:r>
                <a:r>
                  <a:rPr lang="he-IL" sz="2400" dirty="0">
                    <a:latin typeface="cmsy10"/>
                  </a:rPr>
                  <a:t> המקבל את </a:t>
                </a:r>
                <a:r>
                  <a:rPr lang="en-US" sz="2400" dirty="0">
                    <a:latin typeface="cmsy1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ℒ</m:t>
                    </m:r>
                  </m:oMath>
                </a14:m>
                <a:endParaRPr lang="en-US" sz="2400" dirty="0">
                  <a:latin typeface="cmsy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95400"/>
                <a:ext cx="8382000" cy="5257800"/>
              </a:xfrm>
              <a:blipFill rotWithShape="1">
                <a:blip r:embed="rId2"/>
                <a:stretch>
                  <a:fillRect t="-1044" r="-582" b="-174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(s0)                             {$q_0$};&#10; \node[state]           (s1)  [right=3 of s0]         {$q_1$};&#10; \node[state,accepting]    (s2)  [right=3 of s1]    {$q_2$};&#10;&#10;\path [transition]&#10;   (s0)  edge    node [above]  {$B$}               (s1)&#10;   (s0) edge [loop above] node [above] {$A$} (s0)&#10;   (s0) edge [loop below] node {$B$} (s0)&#10;&#10;   (s1) edge  [bend right=40]   node [below] {$B$} (s2)&#10;   (s1) edge  [bend left=40]   node [above] {$A$} (s2)&#10;   (s2) edge [loop above] node {$A$} (s2)&#10;   (s2) edge [loop below] node {$B$} (s2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247"/>
  <p:tag name="PICTUREFILESIZE" val="125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(s0)                             {$q_0$};&#10; \node[state]           (s1)  [right=3 of s0]         {$q_1$};&#10; \node[state,accepting]    (s2)  [right=3 of s1]    {$q_2$};&#10;&#10;\path [transition]&#10;   (s0)  edge    node [above]  {$B$}               (s1)&#10;   (s0) edge [loop above] node [above] {$A$} (s0)&#10;   (s0) edge [loop below] node {$B$} (s0)&#10;&#10;   (s1) edge  [bend right=40]   node [below] {$B$} (s2)&#10;   (s1) edge  [bend left=40]   node [above] {$A$} (s2)&#10;   (s2) edge [loop above] node {$A$} (s2)&#10;   (s2) edge [loop below] node {$B$} (s2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247"/>
  <p:tag name="PICTUREFILESIZE" val="125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(s0)                             {$q_0$};&#10; \node[state]           (s1)  [right=3 of s0]         {$q_1$};&#10; \node[state,accepting]    (s2)  [right=3 of s1]    {$q_2$};&#10;&#10;\path [transition]&#10;   (s0)  edge    node [above]  {$B$}               (s1)&#10;   (s0) edge [loop above] node [above] {$A$} (s0)&#10;   (s0) edge [loop below] node {$B$} (s0)&#10;&#10;   (s1) edge  [bend right=40]   node [below] {$B$} (s2)&#10;   (s1) edge  [bend left=40]   node [above] {$A$} (s2)&#10;   (s2) edge [loop above] node {$A$} (s2)&#10;   (s2) edge [loop below] node {$B$} (s2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247"/>
  <p:tag name="PICTUREFILESIZE" val="1252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(s0)                             {$q_0$};&#10; \node[state]           (s1)  [right=3 of s0]         {$q_1$};&#10; \node[state,accepting]    (s2)  [right=3 of s1]    {$q_2$};&#10;&#10;\path [transition]&#10;   (s0)  edge    node [above]  {$B$}               (s1)&#10;   (s0) edge [loop above] node [above] {$A$} (s0)&#10;   (s0) edge [loop below] node {$B$} (s0)&#10;&#10;   (s1) edge  [bend right=40]   node [below] {$B$} (s2)&#10;   (s1) edge  [bend left=40]   node [above] {$A$} (s2)&#10;   (s2) edge [loop above] node {$A$} (s2)&#10;   (s2) edge [loop below] node {$B$} (s2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247"/>
  <p:tag name="PICTUREFILESIZE" val="125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(s0)                             {$q_0$};&#10; \node[state]           (s1)  [right=3 of s0]         {$q_1$};&#10; \node[state,accepting]    (s2)  [right=3 of s1]    {$q_2$};&#10;&#10;\path [transition]&#10;   (s0)  edge    node [above]  {$B$}               (s1)&#10;   (s0) edge [loop above] node [above] {$A$} (s0)&#10;   (s0) edge [loop below] node {$B$} (s0)&#10;&#10;   (s1) edge  [bend right=40]   node [below] {$B$} (s2)&#10;   (s1) edge  [bend left=40]   node [above] {$A$} (s2)&#10;%   (s2) edge [loop above] node {$A$} (s2)&#10;%  (s2) edge [loop below] node {$B$} (s2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247"/>
  <p:tag name="PICTUREFILESIZE" val="1100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8730</TotalTime>
  <Words>1244</Words>
  <Application>Microsoft Macintosh PowerPoint</Application>
  <PresentationFormat>On-screen Show (4:3)</PresentationFormat>
  <Paragraphs>175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52" baseType="lpstr">
      <vt:lpstr>CMR7</vt:lpstr>
      <vt:lpstr>Franklin Gothic Book</vt:lpstr>
      <vt:lpstr>CMSS8</vt:lpstr>
      <vt:lpstr>CMMI5</vt:lpstr>
      <vt:lpstr>CMEX10</vt:lpstr>
      <vt:lpstr>CMR10</vt:lpstr>
      <vt:lpstr>CMR10</vt:lpstr>
      <vt:lpstr>LCMSS8</vt:lpstr>
      <vt:lpstr>CMSY8</vt:lpstr>
      <vt:lpstr>SFSS1000</vt:lpstr>
      <vt:lpstr>Wingdings 2</vt:lpstr>
      <vt:lpstr>CMSS10</vt:lpstr>
      <vt:lpstr>AREVSANS-ROMAN</vt:lpstr>
      <vt:lpstr>cmsy10</vt:lpstr>
      <vt:lpstr>MATHDESIGN-CH-BOLD-OT1-10</vt:lpstr>
      <vt:lpstr>CMMI7</vt:lpstr>
      <vt:lpstr>AREVSANS-OBLIQUE</vt:lpstr>
      <vt:lpstr>MSAM7</vt:lpstr>
      <vt:lpstr>Cambria Math</vt:lpstr>
      <vt:lpstr>CMSY5</vt:lpstr>
      <vt:lpstr>Symbol</vt:lpstr>
      <vt:lpstr>Calibri</vt:lpstr>
      <vt:lpstr>CMR5</vt:lpstr>
      <vt:lpstr>MT Extra</vt:lpstr>
      <vt:lpstr>CMSY10ORIG</vt:lpstr>
      <vt:lpstr>SFRM0700</vt:lpstr>
      <vt:lpstr>Perpetua</vt:lpstr>
      <vt:lpstr>SFRM1000</vt:lpstr>
      <vt:lpstr>CMMI10</vt:lpstr>
      <vt:lpstr>CMMI8</vt:lpstr>
      <vt:lpstr>CMMI10</vt:lpstr>
      <vt:lpstr>CMSY7</vt:lpstr>
      <vt:lpstr>Comic Sans MS</vt:lpstr>
      <vt:lpstr>HELVETICA</vt:lpstr>
      <vt:lpstr>Equity</vt:lpstr>
      <vt:lpstr>חזרה על נושאים  באוטומטים ושפות פורמאליות</vt:lpstr>
      <vt:lpstr>ראשי פרקים</vt:lpstr>
      <vt:lpstr>תזכורת: תכונות בטיחות</vt:lpstr>
      <vt:lpstr>דוגמה: תכונות בטיחות לרמזור</vt:lpstr>
      <vt:lpstr>תכונות בטיחות רגולריות</vt:lpstr>
      <vt:lpstr>ראשי פרקים</vt:lpstr>
      <vt:lpstr>אוטומט סופי לא דטרמיניסטי (אסל"ד)</vt:lpstr>
      <vt:lpstr>דוגמה לאוטומט</vt:lpstr>
      <vt:lpstr>תזכורת מקורס "אוטומטים ושפות פורמאליות"  -שפה של אוטומט</vt:lpstr>
      <vt:lpstr>דוגמה: ריצות ומילים מתקבלות</vt:lpstr>
      <vt:lpstr>מילים מקבלות מזווית אחרת</vt:lpstr>
      <vt:lpstr>דוגמה</vt:lpstr>
      <vt:lpstr>אוטומט מַכְפֵּלָה</vt:lpstr>
      <vt:lpstr>אוטומט דטרמיניסטי ואוטומט מָלֵא</vt:lpstr>
      <vt:lpstr>הפיכת אסל"ד לאס"ד באמצעות דטרמינציה</vt:lpstr>
      <vt:lpstr>דוגמה: דטרמינציה</vt:lpstr>
      <vt:lpstr>סיכום עובדות לגבי אוטומטים סופיים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Bar-sinai, Michael</cp:lastModifiedBy>
  <cp:revision>992</cp:revision>
  <dcterms:created xsi:type="dcterms:W3CDTF">2009-09-27T20:49:26Z</dcterms:created>
  <dcterms:modified xsi:type="dcterms:W3CDTF">2020-12-31T10:54:28Z</dcterms:modified>
</cp:coreProperties>
</file>