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notesMasterIdLst>
    <p:notesMasterId r:id="rId45"/>
  </p:notesMasterIdLst>
  <p:sldIdLst>
    <p:sldId id="256" r:id="rId2"/>
    <p:sldId id="287" r:id="rId3"/>
    <p:sldId id="291" r:id="rId4"/>
    <p:sldId id="293" r:id="rId5"/>
    <p:sldId id="292" r:id="rId6"/>
    <p:sldId id="303" r:id="rId7"/>
    <p:sldId id="304" r:id="rId8"/>
    <p:sldId id="264" r:id="rId9"/>
    <p:sldId id="296" r:id="rId10"/>
    <p:sldId id="301" r:id="rId11"/>
    <p:sldId id="290" r:id="rId12"/>
    <p:sldId id="257" r:id="rId13"/>
    <p:sldId id="299" r:id="rId14"/>
    <p:sldId id="297" r:id="rId15"/>
    <p:sldId id="294" r:id="rId16"/>
    <p:sldId id="258" r:id="rId17"/>
    <p:sldId id="259" r:id="rId18"/>
    <p:sldId id="260" r:id="rId19"/>
    <p:sldId id="261" r:id="rId20"/>
    <p:sldId id="302" r:id="rId21"/>
    <p:sldId id="262" r:id="rId22"/>
    <p:sldId id="263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86" r:id="rId31"/>
    <p:sldId id="272" r:id="rId32"/>
    <p:sldId id="274" r:id="rId33"/>
    <p:sldId id="275" r:id="rId34"/>
    <p:sldId id="300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</p:sldIdLst>
  <p:sldSz cx="9144000" cy="6858000" type="screen4x3"/>
  <p:notesSz cx="6797675" cy="9874250"/>
  <p:custDataLst>
    <p:tags r:id="rId46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7D1"/>
    <a:srgbClr val="FFFFCC"/>
    <a:srgbClr val="C0E5EA"/>
    <a:srgbClr val="92D050"/>
    <a:srgbClr val="2A2A80"/>
    <a:srgbClr val="006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E9B26C-05F4-4378-BEF4-1AA51B23FC5C}" v="16" dt="2025-03-19T09:48:48.209"/>
    <p1510:client id="{D5060FB7-0585-4C90-B163-E985F30FDC5C}" v="53" dt="2025-03-19T07:43:58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6FE9B26C-05F4-4378-BEF4-1AA51B23FC5C}"/>
    <pc:docChg chg="undo custSel modSld sldOrd">
      <pc:chgData name="Gera Weiss" userId="f0aa0173-552d-4808-9782-d425e6aaf8d9" providerId="ADAL" clId="{6FE9B26C-05F4-4378-BEF4-1AA51B23FC5C}" dt="2025-03-19T09:48:48.209" v="16" actId="1076"/>
      <pc:docMkLst>
        <pc:docMk/>
      </pc:docMkLst>
      <pc:sldChg chg="modSp mod ord modShow">
        <pc:chgData name="Gera Weiss" userId="f0aa0173-552d-4808-9782-d425e6aaf8d9" providerId="ADAL" clId="{6FE9B26C-05F4-4378-BEF4-1AA51B23FC5C}" dt="2025-03-19T09:48:48.209" v="16" actId="1076"/>
        <pc:sldMkLst>
          <pc:docMk/>
          <pc:sldMk cId="0" sldId="264"/>
        </pc:sldMkLst>
        <pc:spChg chg="mod">
          <ac:chgData name="Gera Weiss" userId="f0aa0173-552d-4808-9782-d425e6aaf8d9" providerId="ADAL" clId="{6FE9B26C-05F4-4378-BEF4-1AA51B23FC5C}" dt="2025-03-19T09:48:48.209" v="16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Gera Weiss" userId="f0aa0173-552d-4808-9782-d425e6aaf8d9" providerId="ADAL" clId="{6FE9B26C-05F4-4378-BEF4-1AA51B23FC5C}" dt="2025-03-19T09:41:48.241" v="7" actId="20577"/>
        <pc:sldMkLst>
          <pc:docMk/>
          <pc:sldMk cId="0" sldId="291"/>
        </pc:sldMkLst>
        <pc:spChg chg="mod">
          <ac:chgData name="Gera Weiss" userId="f0aa0173-552d-4808-9782-d425e6aaf8d9" providerId="ADAL" clId="{6FE9B26C-05F4-4378-BEF4-1AA51B23FC5C}" dt="2025-03-19T09:41:48.241" v="7" actId="20577"/>
          <ac:spMkLst>
            <pc:docMk/>
            <pc:sldMk cId="0" sldId="291"/>
            <ac:spMk id="6" creationId="{AA66F1A3-AC57-4B43-9E85-1A99D845C5B7}"/>
          </ac:spMkLst>
        </pc:spChg>
      </pc:sldChg>
    </pc:docChg>
  </pc:docChgLst>
  <pc:docChgLst>
    <pc:chgData name="Gera Weiss" userId="f0aa0173-552d-4808-9782-d425e6aaf8d9" providerId="ADAL" clId="{D5060FB7-0585-4C90-B163-E985F30FDC5C}"/>
    <pc:docChg chg="undo custSel modSld sldOrd">
      <pc:chgData name="Gera Weiss" userId="f0aa0173-552d-4808-9782-d425e6aaf8d9" providerId="ADAL" clId="{D5060FB7-0585-4C90-B163-E985F30FDC5C}" dt="2025-03-19T07:44:09.073" v="273" actId="1035"/>
      <pc:docMkLst>
        <pc:docMk/>
      </pc:docMkLst>
      <pc:sldChg chg="modSp mod">
        <pc:chgData name="Gera Weiss" userId="f0aa0173-552d-4808-9782-d425e6aaf8d9" providerId="ADAL" clId="{D5060FB7-0585-4C90-B163-E985F30FDC5C}" dt="2025-03-19T07:05:03.884" v="6" actId="1076"/>
        <pc:sldMkLst>
          <pc:docMk/>
          <pc:sldMk cId="0" sldId="256"/>
        </pc:sldMkLst>
        <pc:spChg chg="mod">
          <ac:chgData name="Gera Weiss" userId="f0aa0173-552d-4808-9782-d425e6aaf8d9" providerId="ADAL" clId="{D5060FB7-0585-4C90-B163-E985F30FDC5C}" dt="2025-03-19T07:05:01.756" v="5" actId="1076"/>
          <ac:spMkLst>
            <pc:docMk/>
            <pc:sldMk cId="0" sldId="256"/>
            <ac:spMk id="3" creationId="{51CD4637-CC5E-BDD6-769E-9A6D75F90D73}"/>
          </ac:spMkLst>
        </pc:spChg>
        <pc:picChg chg="mod">
          <ac:chgData name="Gera Weiss" userId="f0aa0173-552d-4808-9782-d425e6aaf8d9" providerId="ADAL" clId="{D5060FB7-0585-4C90-B163-E985F30FDC5C}" dt="2025-03-19T07:05:03.884" v="6" actId="1076"/>
          <ac:picMkLst>
            <pc:docMk/>
            <pc:sldMk cId="0" sldId="256"/>
            <ac:picMk id="5" creationId="{9BD16FA6-E6FB-E9CC-6294-23016530C2CD}"/>
          </ac:picMkLst>
        </pc:picChg>
      </pc:sldChg>
      <pc:sldChg chg="modSp mod">
        <pc:chgData name="Gera Weiss" userId="f0aa0173-552d-4808-9782-d425e6aaf8d9" providerId="ADAL" clId="{D5060FB7-0585-4C90-B163-E985F30FDC5C}" dt="2025-03-19T07:07:58.275" v="14"/>
        <pc:sldMkLst>
          <pc:docMk/>
          <pc:sldMk cId="0" sldId="287"/>
        </pc:sldMkLst>
        <pc:spChg chg="mod">
          <ac:chgData name="Gera Weiss" userId="f0aa0173-552d-4808-9782-d425e6aaf8d9" providerId="ADAL" clId="{D5060FB7-0585-4C90-B163-E985F30FDC5C}" dt="2025-03-19T07:06:09.823" v="13" actId="6549"/>
          <ac:spMkLst>
            <pc:docMk/>
            <pc:sldMk cId="0" sldId="287"/>
            <ac:spMk id="4" creationId="{00000000-0000-0000-0000-000000000000}"/>
          </ac:spMkLst>
        </pc:spChg>
        <pc:spChg chg="mod">
          <ac:chgData name="Gera Weiss" userId="f0aa0173-552d-4808-9782-d425e6aaf8d9" providerId="ADAL" clId="{D5060FB7-0585-4C90-B163-E985F30FDC5C}" dt="2025-03-19T07:07:58.275" v="14"/>
          <ac:spMkLst>
            <pc:docMk/>
            <pc:sldMk cId="0" sldId="287"/>
            <ac:spMk id="5" creationId="{00000000-0000-0000-0000-000000000000}"/>
          </ac:spMkLst>
        </pc:spChg>
      </pc:sldChg>
      <pc:sldChg chg="delSp modSp mod">
        <pc:chgData name="Gera Weiss" userId="f0aa0173-552d-4808-9782-d425e6aaf8d9" providerId="ADAL" clId="{D5060FB7-0585-4C90-B163-E985F30FDC5C}" dt="2025-03-19T07:44:09.073" v="273" actId="1035"/>
        <pc:sldMkLst>
          <pc:docMk/>
          <pc:sldMk cId="0" sldId="290"/>
        </pc:sldMkLst>
        <pc:spChg chg="mod">
          <ac:chgData name="Gera Weiss" userId="f0aa0173-552d-4808-9782-d425e6aaf8d9" providerId="ADAL" clId="{D5060FB7-0585-4C90-B163-E985F30FDC5C}" dt="2025-03-19T07:44:09.073" v="273" actId="1035"/>
          <ac:spMkLst>
            <pc:docMk/>
            <pc:sldMk cId="0" sldId="290"/>
            <ac:spMk id="12" creationId="{00000000-0000-0000-0000-000000000000}"/>
          </ac:spMkLst>
        </pc:spChg>
        <pc:spChg chg="mod">
          <ac:chgData name="Gera Weiss" userId="f0aa0173-552d-4808-9782-d425e6aaf8d9" providerId="ADAL" clId="{D5060FB7-0585-4C90-B163-E985F30FDC5C}" dt="2025-03-19T07:43:58.059" v="259" actId="6549"/>
          <ac:spMkLst>
            <pc:docMk/>
            <pc:sldMk cId="0" sldId="290"/>
            <ac:spMk id="49163" creationId="{00000000-0000-0000-0000-000000000000}"/>
          </ac:spMkLst>
        </pc:spChg>
        <pc:picChg chg="del">
          <ac:chgData name="Gera Weiss" userId="f0aa0173-552d-4808-9782-d425e6aaf8d9" providerId="ADAL" clId="{D5060FB7-0585-4C90-B163-E985F30FDC5C}" dt="2025-03-19T07:43:54.946" v="258" actId="478"/>
          <ac:picMkLst>
            <pc:docMk/>
            <pc:sldMk cId="0" sldId="290"/>
            <ac:picMk id="49165" creationId="{00000000-0000-0000-0000-000000000000}"/>
          </ac:picMkLst>
        </pc:picChg>
      </pc:sldChg>
      <pc:sldChg chg="addSp delSp modSp mod ord">
        <pc:chgData name="Gera Weiss" userId="f0aa0173-552d-4808-9782-d425e6aaf8d9" providerId="ADAL" clId="{D5060FB7-0585-4C90-B163-E985F30FDC5C}" dt="2025-03-19T07:33:26.580" v="246" actId="1076"/>
        <pc:sldMkLst>
          <pc:docMk/>
          <pc:sldMk cId="0" sldId="291"/>
        </pc:sldMkLst>
        <pc:spChg chg="mod">
          <ac:chgData name="Gera Weiss" userId="f0aa0173-552d-4808-9782-d425e6aaf8d9" providerId="ADAL" clId="{D5060FB7-0585-4C90-B163-E985F30FDC5C}" dt="2025-03-19T07:27:57.419" v="176" actId="20577"/>
          <ac:spMkLst>
            <pc:docMk/>
            <pc:sldMk cId="0" sldId="291"/>
            <ac:spMk id="4" creationId="{00000000-0000-0000-0000-000000000000}"/>
          </ac:spMkLst>
        </pc:spChg>
        <pc:spChg chg="add del mod">
          <ac:chgData name="Gera Weiss" userId="f0aa0173-552d-4808-9782-d425e6aaf8d9" providerId="ADAL" clId="{D5060FB7-0585-4C90-B163-E985F30FDC5C}" dt="2025-03-19T07:32:36.992" v="238"/>
          <ac:spMkLst>
            <pc:docMk/>
            <pc:sldMk cId="0" sldId="291"/>
            <ac:spMk id="5" creationId="{59FE5D7B-D5C4-C812-CBE8-2F126BE7453F}"/>
          </ac:spMkLst>
        </pc:spChg>
        <pc:spChg chg="add mod">
          <ac:chgData name="Gera Weiss" userId="f0aa0173-552d-4808-9782-d425e6aaf8d9" providerId="ADAL" clId="{D5060FB7-0585-4C90-B163-E985F30FDC5C}" dt="2025-03-19T07:33:26.580" v="246" actId="1076"/>
          <ac:spMkLst>
            <pc:docMk/>
            <pc:sldMk cId="0" sldId="291"/>
            <ac:spMk id="6" creationId="{AA66F1A3-AC57-4B43-9E85-1A99D845C5B7}"/>
          </ac:spMkLst>
        </pc:spChg>
        <pc:spChg chg="add mod">
          <ac:chgData name="Gera Weiss" userId="f0aa0173-552d-4808-9782-d425e6aaf8d9" providerId="ADAL" clId="{D5060FB7-0585-4C90-B163-E985F30FDC5C}" dt="2025-03-19T07:32:54.606" v="241" actId="1035"/>
          <ac:spMkLst>
            <pc:docMk/>
            <pc:sldMk cId="0" sldId="291"/>
            <ac:spMk id="7" creationId="{2B3B53E7-29DA-94F7-C19D-E1EB9999A822}"/>
          </ac:spMkLst>
        </pc:spChg>
        <pc:picChg chg="add mod">
          <ac:chgData name="Gera Weiss" userId="f0aa0173-552d-4808-9782-d425e6aaf8d9" providerId="ADAL" clId="{D5060FB7-0585-4C90-B163-E985F30FDC5C}" dt="2025-03-19T07:30:43.838" v="178" actId="14100"/>
          <ac:picMkLst>
            <pc:docMk/>
            <pc:sldMk cId="0" sldId="291"/>
            <ac:picMk id="1026" creationId="{D1CB1623-C15A-ECAD-D723-2BE2CF0B9FAA}"/>
          </ac:picMkLst>
        </pc:picChg>
        <pc:picChg chg="del mod">
          <ac:chgData name="Gera Weiss" userId="f0aa0173-552d-4808-9782-d425e6aaf8d9" providerId="ADAL" clId="{D5060FB7-0585-4C90-B163-E985F30FDC5C}" dt="2025-03-19T07:17:05.589" v="109" actId="478"/>
          <ac:picMkLst>
            <pc:docMk/>
            <pc:sldMk cId="0" sldId="291"/>
            <ac:picMk id="3074" creationId="{00000000-0000-0000-0000-000000000000}"/>
          </ac:picMkLst>
        </pc:picChg>
      </pc:sldChg>
      <pc:sldChg chg="modSp mod modShow">
        <pc:chgData name="Gera Weiss" userId="f0aa0173-552d-4808-9782-d425e6aaf8d9" providerId="ADAL" clId="{D5060FB7-0585-4C90-B163-E985F30FDC5C}" dt="2025-03-19T07:34:55.788" v="252" actId="14100"/>
        <pc:sldMkLst>
          <pc:docMk/>
          <pc:sldMk cId="992732878" sldId="293"/>
        </pc:sldMkLst>
        <pc:picChg chg="mod">
          <ac:chgData name="Gera Weiss" userId="f0aa0173-552d-4808-9782-d425e6aaf8d9" providerId="ADAL" clId="{D5060FB7-0585-4C90-B163-E985F30FDC5C}" dt="2025-03-19T07:34:55.788" v="252" actId="14100"/>
          <ac:picMkLst>
            <pc:docMk/>
            <pc:sldMk cId="992732878" sldId="293"/>
            <ac:picMk id="6" creationId="{00000000-0000-0000-0000-000000000000}"/>
          </ac:picMkLst>
        </pc:picChg>
      </pc:sldChg>
      <pc:sldChg chg="modSp mod">
        <pc:chgData name="Gera Weiss" userId="f0aa0173-552d-4808-9782-d425e6aaf8d9" providerId="ADAL" clId="{D5060FB7-0585-4C90-B163-E985F30FDC5C}" dt="2025-03-19T07:36:47.222" v="257" actId="6549"/>
        <pc:sldMkLst>
          <pc:docMk/>
          <pc:sldMk cId="1812565045" sldId="303"/>
        </pc:sldMkLst>
        <pc:spChg chg="mod">
          <ac:chgData name="Gera Weiss" userId="f0aa0173-552d-4808-9782-d425e6aaf8d9" providerId="ADAL" clId="{D5060FB7-0585-4C90-B163-E985F30FDC5C}" dt="2025-03-19T07:36:47.222" v="257" actId="6549"/>
          <ac:spMkLst>
            <pc:docMk/>
            <pc:sldMk cId="1812565045" sldId="303"/>
            <ac:spMk id="16" creationId="{00000000-0000-0000-0000-000000000000}"/>
          </ac:spMkLst>
        </pc:spChg>
      </pc:sldChg>
    </pc:docChg>
  </pc:docChgLst>
  <pc:docChgLst>
    <pc:chgData name="גרא וייס" userId="f0aa0173-552d-4808-9782-d425e6aaf8d9" providerId="ADAL" clId="{CC249E2B-1CFC-431A-9665-E5BC3DF40F4D}"/>
    <pc:docChg chg="undo custSel delSld modSld">
      <pc:chgData name="גרא וייס" userId="f0aa0173-552d-4808-9782-d425e6aaf8d9" providerId="ADAL" clId="{CC249E2B-1CFC-431A-9665-E5BC3DF40F4D}" dt="2022-10-23T16:10:19.590" v="59"/>
      <pc:docMkLst>
        <pc:docMk/>
      </pc:docMkLst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57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58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59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0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1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2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3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4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5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6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7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8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69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0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1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2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4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5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7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8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79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0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1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2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3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4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5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0" sldId="286"/>
        </pc:sldMkLst>
      </pc:sldChg>
      <pc:sldChg chg="modSp">
        <pc:chgData name="גרא וייס" userId="f0aa0173-552d-4808-9782-d425e6aaf8d9" providerId="ADAL" clId="{CC249E2B-1CFC-431A-9665-E5BC3DF40F4D}" dt="2022-10-23T15:17:23.753" v="2" actId="20577"/>
        <pc:sldMkLst>
          <pc:docMk/>
          <pc:sldMk cId="0" sldId="287"/>
        </pc:sldMkLst>
      </pc:sldChg>
      <pc:sldChg chg="modSp">
        <pc:chgData name="גרא וייס" userId="f0aa0173-552d-4808-9782-d425e6aaf8d9" providerId="ADAL" clId="{CC249E2B-1CFC-431A-9665-E5BC3DF40F4D}" dt="2022-10-23T15:18:03.594" v="6" actId="14100"/>
        <pc:sldMkLst>
          <pc:docMk/>
          <pc:sldMk cId="0" sldId="291"/>
        </pc:sldMkLst>
      </pc:sldChg>
      <pc:sldChg chg="modSp">
        <pc:chgData name="גרא וייס" userId="f0aa0173-552d-4808-9782-d425e6aaf8d9" providerId="ADAL" clId="{CC249E2B-1CFC-431A-9665-E5BC3DF40F4D}" dt="2022-10-23T15:20:39.301" v="48" actId="1076"/>
        <pc:sldMkLst>
          <pc:docMk/>
          <pc:sldMk cId="1429649779" sldId="292"/>
        </pc:sldMkLst>
      </pc:sldChg>
      <pc:sldChg chg="modSp">
        <pc:chgData name="גרא וייס" userId="f0aa0173-552d-4808-9782-d425e6aaf8d9" providerId="ADAL" clId="{CC249E2B-1CFC-431A-9665-E5BC3DF40F4D}" dt="2022-10-23T15:19:18.856" v="34" actId="20577"/>
        <pc:sldMkLst>
          <pc:docMk/>
          <pc:sldMk cId="992732878" sldId="293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503665276" sldId="294"/>
        </pc:sldMkLst>
      </pc:sldChg>
      <pc:sldChg chg="modSp">
        <pc:chgData name="גרא וייס" userId="f0aa0173-552d-4808-9782-d425e6aaf8d9" providerId="ADAL" clId="{CC249E2B-1CFC-431A-9665-E5BC3DF40F4D}" dt="2022-10-23T16:08:51.823" v="58" actId="2085"/>
        <pc:sldMkLst>
          <pc:docMk/>
          <pc:sldMk cId="1517555814" sldId="296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1638696941" sldId="297"/>
        </pc:sldMkLst>
      </pc:sldChg>
      <pc:sldChg chg="del">
        <pc:chgData name="גרא וייס" userId="f0aa0173-552d-4808-9782-d425e6aaf8d9" providerId="ADAL" clId="{CC249E2B-1CFC-431A-9665-E5BC3DF40F4D}" dt="2022-10-23T16:07:27.906" v="49" actId="2696"/>
        <pc:sldMkLst>
          <pc:docMk/>
          <pc:sldMk cId="1838730009" sldId="298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95963536" sldId="299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362016818" sldId="300"/>
        </pc:sldMkLst>
      </pc:sldChg>
      <pc:sldChg chg="modTransition">
        <pc:chgData name="גרא וייס" userId="f0aa0173-552d-4808-9782-d425e6aaf8d9" providerId="ADAL" clId="{CC249E2B-1CFC-431A-9665-E5BC3DF40F4D}" dt="2022-10-23T16:10:19.590" v="59"/>
        <pc:sldMkLst>
          <pc:docMk/>
          <pc:sldMk cId="1329654324" sldId="302"/>
        </pc:sldMkLst>
      </pc:sldChg>
      <pc:sldChg chg="del">
        <pc:chgData name="גרא וייס" userId="f0aa0173-552d-4808-9782-d425e6aaf8d9" providerId="ADAL" clId="{CC249E2B-1CFC-431A-9665-E5BC3DF40F4D}" dt="2022-10-23T16:07:47.622" v="50" actId="2696"/>
        <pc:sldMkLst>
          <pc:docMk/>
          <pc:sldMk cId="4182145594" sldId="305"/>
        </pc:sldMkLst>
      </pc:sldChg>
    </pc:docChg>
  </pc:docChgLst>
  <pc:docChgLst>
    <pc:chgData name="Gera Weiss" userId="f0aa0173-552d-4808-9782-d425e6aaf8d9" providerId="ADAL" clId="{E095F5B2-AC39-4042-8E48-F5FC3CE4DBC2}"/>
    <pc:docChg chg="undo custSel modSld sldOrd modMainMaster">
      <pc:chgData name="Gera Weiss" userId="f0aa0173-552d-4808-9782-d425e6aaf8d9" providerId="ADAL" clId="{E095F5B2-AC39-4042-8E48-F5FC3CE4DBC2}" dt="2024-05-02T06:39:30.130" v="191" actId="1076"/>
      <pc:docMkLst>
        <pc:docMk/>
      </pc:docMkLst>
      <pc:sldChg chg="addSp modSp">
        <pc:chgData name="Gera Weiss" userId="f0aa0173-552d-4808-9782-d425e6aaf8d9" providerId="ADAL" clId="{E095F5B2-AC39-4042-8E48-F5FC3CE4DBC2}" dt="2024-05-02T06:39:30.130" v="191" actId="1076"/>
        <pc:sldMkLst>
          <pc:docMk/>
          <pc:sldMk cId="0" sldId="256"/>
        </pc:sldMkLst>
      </pc:sldChg>
      <pc:sldChg chg="addSp delSp modSp mod">
        <pc:chgData name="Gera Weiss" userId="f0aa0173-552d-4808-9782-d425e6aaf8d9" providerId="ADAL" clId="{E095F5B2-AC39-4042-8E48-F5FC3CE4DBC2}" dt="2024-05-01T19:22:23.425" v="185" actId="108"/>
        <pc:sldMkLst>
          <pc:docMk/>
          <pc:sldMk cId="0" sldId="291"/>
        </pc:sldMkLst>
      </pc:sldChg>
      <pc:sldChg chg="mod modShow">
        <pc:chgData name="Gera Weiss" userId="f0aa0173-552d-4808-9782-d425e6aaf8d9" providerId="ADAL" clId="{E095F5B2-AC39-4042-8E48-F5FC3CE4DBC2}" dt="2024-04-28T06:00:14.538" v="7" actId="729"/>
        <pc:sldMkLst>
          <pc:docMk/>
          <pc:sldMk cId="992732878" sldId="293"/>
        </pc:sldMkLst>
      </pc:sldChg>
      <pc:sldChg chg="ord">
        <pc:chgData name="Gera Weiss" userId="f0aa0173-552d-4808-9782-d425e6aaf8d9" providerId="ADAL" clId="{E095F5B2-AC39-4042-8E48-F5FC3CE4DBC2}" dt="2024-04-28T05:59:39.093" v="6"/>
        <pc:sldMkLst>
          <pc:docMk/>
          <pc:sldMk cId="1517555814" sldId="296"/>
        </pc:sldMkLst>
      </pc:sldChg>
      <pc:sldChg chg="modSp mod">
        <pc:chgData name="Gera Weiss" userId="f0aa0173-552d-4808-9782-d425e6aaf8d9" providerId="ADAL" clId="{E095F5B2-AC39-4042-8E48-F5FC3CE4DBC2}" dt="2024-05-01T19:23:11.435" v="186" actId="2711"/>
        <pc:sldMkLst>
          <pc:docMk/>
          <pc:sldMk cId="1812565045" sldId="303"/>
        </pc:sldMkLst>
      </pc:sldChg>
      <pc:sldChg chg="modSp mod">
        <pc:chgData name="Gera Weiss" userId="f0aa0173-552d-4808-9782-d425e6aaf8d9" providerId="ADAL" clId="{E095F5B2-AC39-4042-8E48-F5FC3CE4DBC2}" dt="2024-05-01T19:24:24.903" v="188" actId="13822"/>
        <pc:sldMkLst>
          <pc:docMk/>
          <pc:sldMk cId="3701646031" sldId="304"/>
        </pc:sldMkLst>
      </pc:sldChg>
      <pc:sldMasterChg chg="modSldLayout">
        <pc:chgData name="Gera Weiss" userId="f0aa0173-552d-4808-9782-d425e6aaf8d9" providerId="ADAL" clId="{E095F5B2-AC39-4042-8E48-F5FC3CE4DBC2}" dt="2024-05-01T10:03:31.816" v="182" actId="1076"/>
        <pc:sldMasterMkLst>
          <pc:docMk/>
          <pc:sldMasterMk cId="0" sldId="2147483684"/>
        </pc:sldMasterMkLst>
        <pc:sldLayoutChg chg="addSp delSp modSp mod">
          <pc:chgData name="Gera Weiss" userId="f0aa0173-552d-4808-9782-d425e6aaf8d9" providerId="ADAL" clId="{E095F5B2-AC39-4042-8E48-F5FC3CE4DBC2}" dt="2024-05-01T10:03:31.816" v="182" actId="1076"/>
          <pc:sldLayoutMkLst>
            <pc:docMk/>
            <pc:sldMasterMk cId="0" sldId="2147483684"/>
            <pc:sldLayoutMk cId="0" sldId="214748368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5F8B4A-BB42-4897-899C-830AE2A9A654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BA2EE8-01CB-4AD5-A3FB-A338528A3F32}">
      <dgm:prSet phldrT="[Text]" custT="1"/>
      <dgm:spPr/>
      <dgm:t>
        <a:bodyPr/>
        <a:lstStyle/>
        <a:p>
          <a:pPr algn="l"/>
          <a:r>
            <a:rPr lang="en-US" sz="2000">
              <a:latin typeface="Gisha" panose="020B0502040204020203" pitchFamily="34" charset="-79"/>
              <a:cs typeface="Gisha" panose="020B0502040204020203" pitchFamily="34" charset="-79"/>
            </a:rPr>
            <a:t>verification</a:t>
          </a:r>
        </a:p>
      </dgm:t>
    </dgm:pt>
    <dgm:pt modelId="{1EBCE15E-C3F2-4DF8-B655-11497D9FF6B1}" type="parTrans" cxnId="{FD343DBF-A701-4562-948C-2A475B9B4877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0F44F0E6-D874-4739-BF5D-7CDBEAEDCE54}" type="sibTrans" cxnId="{FD343DBF-A701-4562-948C-2A475B9B4877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9F558815-2651-4D92-AF33-E06CC01B3216}">
      <dgm:prSet phldrT="[Text]" custT="1"/>
      <dgm:spPr/>
      <dgm:t>
        <a:bodyPr/>
        <a:lstStyle/>
        <a:p>
          <a:pPr algn="l"/>
          <a:r>
            <a:rPr lang="en-US" sz="1600">
              <a:latin typeface="Gisha" panose="020B0502040204020203" pitchFamily="34" charset="-79"/>
              <a:cs typeface="Gisha" panose="020B0502040204020203" pitchFamily="34" charset="-79"/>
            </a:rPr>
            <a:t>Did we build the software right?</a:t>
          </a:r>
        </a:p>
      </dgm:t>
    </dgm:pt>
    <dgm:pt modelId="{95933905-6A57-427E-B269-1CCECD92DD80}" type="parTrans" cxnId="{F3692EF8-7B1D-4E6C-85ED-D68B161135D8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19775F9E-CFF6-4143-A234-D3E593B75A09}" type="sibTrans" cxnId="{F3692EF8-7B1D-4E6C-85ED-D68B161135D8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48D3AE23-856D-4B80-B557-326E91352177}">
      <dgm:prSet phldrT="[Text]" custT="1"/>
      <dgm:spPr/>
      <dgm:t>
        <a:bodyPr/>
        <a:lstStyle/>
        <a:p>
          <a:pPr algn="l" rtl="0"/>
          <a:r>
            <a:rPr lang="en-US" sz="2000">
              <a:latin typeface="Gisha" panose="020B0502040204020203" pitchFamily="34" charset="-79"/>
              <a:cs typeface="Gisha" panose="020B0502040204020203" pitchFamily="34" charset="-79"/>
            </a:rPr>
            <a:t>validation</a:t>
          </a:r>
        </a:p>
      </dgm:t>
    </dgm:pt>
    <dgm:pt modelId="{F6C5BD73-9F14-4DAA-89AD-B446A32CE599}" type="parTrans" cxnId="{0842EED7-3666-497D-B306-E287BB750429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DE103C9D-EEAF-4AC8-A329-4E79558A2BB7}" type="sibTrans" cxnId="{0842EED7-3666-497D-B306-E287BB750429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A0007A21-DBE0-4FB2-8E95-A0E02D61E7C8}">
      <dgm:prSet phldrT="[Text]" custT="1"/>
      <dgm:spPr/>
      <dgm:t>
        <a:bodyPr/>
        <a:lstStyle/>
        <a:p>
          <a:pPr algn="l"/>
          <a:r>
            <a:rPr lang="en-US" sz="1600">
              <a:latin typeface="Gisha" panose="020B0502040204020203" pitchFamily="34" charset="-79"/>
              <a:cs typeface="Gisha" panose="020B0502040204020203" pitchFamily="34" charset="-79"/>
            </a:rPr>
            <a:t>Did we build the right softwar</a:t>
          </a:r>
          <a:r>
            <a:rPr lang="en-US" sz="1600">
              <a:latin typeface="Arial Rounded MT Bold" panose="020F0704030504030204" pitchFamily="34" charset="0"/>
            </a:rPr>
            <a:t>e?</a:t>
          </a:r>
        </a:p>
      </dgm:t>
    </dgm:pt>
    <dgm:pt modelId="{9FE3220D-E5A4-4B4E-B887-086B33D2F5F1}" type="parTrans" cxnId="{4400C8B3-DD5F-4644-AA0F-E0F9320CA143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334EBA2F-0D1B-4137-A95C-2784BA00A31D}" type="sibTrans" cxnId="{4400C8B3-DD5F-4644-AA0F-E0F9320CA143}">
      <dgm:prSet/>
      <dgm:spPr/>
      <dgm:t>
        <a:bodyPr/>
        <a:lstStyle/>
        <a:p>
          <a:endParaRPr lang="en-US" sz="1000">
            <a:latin typeface="Arial Rounded MT Bold" panose="020F0704030504030204" pitchFamily="34" charset="0"/>
          </a:endParaRPr>
        </a:p>
      </dgm:t>
    </dgm:pt>
    <dgm:pt modelId="{EAEA31CB-6A0A-475A-AEFB-4B89BE654FDE}" type="pres">
      <dgm:prSet presAssocID="{035F8B4A-BB42-4897-899C-830AE2A9A654}" presName="Name0" presStyleCnt="0">
        <dgm:presLayoutVars>
          <dgm:dir/>
          <dgm:resizeHandles val="exact"/>
        </dgm:presLayoutVars>
      </dgm:prSet>
      <dgm:spPr/>
    </dgm:pt>
    <dgm:pt modelId="{830C0970-6BF4-486A-902C-AB93D421C310}" type="pres">
      <dgm:prSet presAssocID="{035F8B4A-BB42-4897-899C-830AE2A9A654}" presName="fgShape" presStyleLbl="fgShp" presStyleIdx="0" presStyleCnt="1" custLinFactNeighborX="1449" custLinFactNeighborY="8333"/>
      <dgm:spPr/>
    </dgm:pt>
    <dgm:pt modelId="{E0B33488-0D2B-4FB9-85CC-F026A24A9008}" type="pres">
      <dgm:prSet presAssocID="{035F8B4A-BB42-4897-899C-830AE2A9A654}" presName="linComp" presStyleCnt="0"/>
      <dgm:spPr/>
    </dgm:pt>
    <dgm:pt modelId="{A432A0D6-A06B-4FF8-A92B-ABD0471B993D}" type="pres">
      <dgm:prSet presAssocID="{1DBA2EE8-01CB-4AD5-A3FB-A338528A3F32}" presName="compNode" presStyleCnt="0"/>
      <dgm:spPr/>
    </dgm:pt>
    <dgm:pt modelId="{C07660BB-6DF9-4091-B687-AB40EB3F937A}" type="pres">
      <dgm:prSet presAssocID="{1DBA2EE8-01CB-4AD5-A3FB-A338528A3F32}" presName="bkgdShape" presStyleLbl="node1" presStyleIdx="0" presStyleCnt="2" custLinFactNeighborX="-87" custLinFactNeighborY="431"/>
      <dgm:spPr/>
    </dgm:pt>
    <dgm:pt modelId="{D1A11952-1CC5-415B-93A3-D5F4646DF2AE}" type="pres">
      <dgm:prSet presAssocID="{1DBA2EE8-01CB-4AD5-A3FB-A338528A3F32}" presName="nodeTx" presStyleLbl="node1" presStyleIdx="0" presStyleCnt="2">
        <dgm:presLayoutVars>
          <dgm:bulletEnabled val="1"/>
        </dgm:presLayoutVars>
      </dgm:prSet>
      <dgm:spPr/>
    </dgm:pt>
    <dgm:pt modelId="{4A2181F9-641C-4B9D-8331-4927D41C8A56}" type="pres">
      <dgm:prSet presAssocID="{1DBA2EE8-01CB-4AD5-A3FB-A338528A3F32}" presName="invisiNode" presStyleLbl="node1" presStyleIdx="0" presStyleCnt="2"/>
      <dgm:spPr/>
    </dgm:pt>
    <dgm:pt modelId="{3E1E089C-2FFE-49DA-940C-9ACE68C89CBA}" type="pres">
      <dgm:prSet presAssocID="{1DBA2EE8-01CB-4AD5-A3FB-A338528A3F32}" presName="imagNode" presStyleLbl="fgImgPlace1" presStyleIdx="0" presStyleCnt="2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2292" t="-9753" r="-41708" b="9753"/>
          </a:stretch>
        </a:blipFill>
      </dgm:spPr>
    </dgm:pt>
    <dgm:pt modelId="{D1488394-F68C-46ED-8199-8E42CB29B0CE}" type="pres">
      <dgm:prSet presAssocID="{0F44F0E6-D874-4739-BF5D-7CDBEAEDCE54}" presName="sibTrans" presStyleLbl="sibTrans2D1" presStyleIdx="0" presStyleCnt="0"/>
      <dgm:spPr/>
    </dgm:pt>
    <dgm:pt modelId="{AEC22101-4585-4660-BC7E-E2D232E09F1B}" type="pres">
      <dgm:prSet presAssocID="{48D3AE23-856D-4B80-B557-326E91352177}" presName="compNode" presStyleCnt="0"/>
      <dgm:spPr/>
    </dgm:pt>
    <dgm:pt modelId="{28AB0950-BFA0-4CEB-A864-967CDB3145CD}" type="pres">
      <dgm:prSet presAssocID="{48D3AE23-856D-4B80-B557-326E91352177}" presName="bkgdShape" presStyleLbl="node1" presStyleIdx="1" presStyleCnt="2" custLinFactNeighborX="-514"/>
      <dgm:spPr/>
    </dgm:pt>
    <dgm:pt modelId="{47C86767-051A-428C-9899-07199F86B696}" type="pres">
      <dgm:prSet presAssocID="{48D3AE23-856D-4B80-B557-326E91352177}" presName="nodeTx" presStyleLbl="node1" presStyleIdx="1" presStyleCnt="2">
        <dgm:presLayoutVars>
          <dgm:bulletEnabled val="1"/>
        </dgm:presLayoutVars>
      </dgm:prSet>
      <dgm:spPr/>
    </dgm:pt>
    <dgm:pt modelId="{BAC72381-BD24-4ED7-ADB7-C658B281A031}" type="pres">
      <dgm:prSet presAssocID="{48D3AE23-856D-4B80-B557-326E91352177}" presName="invisiNode" presStyleLbl="node1" presStyleIdx="1" presStyleCnt="2"/>
      <dgm:spPr/>
    </dgm:pt>
    <dgm:pt modelId="{9902636A-73FA-4FA1-A9DD-AFB06DC15DDA}" type="pres">
      <dgm:prSet presAssocID="{48D3AE23-856D-4B80-B557-326E91352177}" presName="imagNode" presStyleLbl="fgImgPlace1" presStyleIdx="1" presStyleCnt="2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</dgm:ptLst>
  <dgm:cxnLst>
    <dgm:cxn modelId="{FC57FB0D-F5ED-4467-8033-0176D32536A9}" type="presOf" srcId="{48D3AE23-856D-4B80-B557-326E91352177}" destId="{47C86767-051A-428C-9899-07199F86B696}" srcOrd="1" destOrd="0" presId="urn:microsoft.com/office/officeart/2005/8/layout/hList7"/>
    <dgm:cxn modelId="{1CDA3215-3E9A-4DB2-9774-0B5FFFDFC50C}" type="presOf" srcId="{9F558815-2651-4D92-AF33-E06CC01B3216}" destId="{D1A11952-1CC5-415B-93A3-D5F4646DF2AE}" srcOrd="1" destOrd="1" presId="urn:microsoft.com/office/officeart/2005/8/layout/hList7"/>
    <dgm:cxn modelId="{39E9EE49-A26C-4A8E-8E0D-2AFDE52F74A4}" type="presOf" srcId="{A0007A21-DBE0-4FB2-8E95-A0E02D61E7C8}" destId="{47C86767-051A-428C-9899-07199F86B696}" srcOrd="1" destOrd="1" presId="urn:microsoft.com/office/officeart/2005/8/layout/hList7"/>
    <dgm:cxn modelId="{597DAA4A-B37D-43A0-8CD6-CF62A8BD68BA}" type="presOf" srcId="{035F8B4A-BB42-4897-899C-830AE2A9A654}" destId="{EAEA31CB-6A0A-475A-AEFB-4B89BE654FDE}" srcOrd="0" destOrd="0" presId="urn:microsoft.com/office/officeart/2005/8/layout/hList7"/>
    <dgm:cxn modelId="{FC966B9A-316C-47D4-9D9A-0C8D452A2C5F}" type="presOf" srcId="{0F44F0E6-D874-4739-BF5D-7CDBEAEDCE54}" destId="{D1488394-F68C-46ED-8199-8E42CB29B0CE}" srcOrd="0" destOrd="0" presId="urn:microsoft.com/office/officeart/2005/8/layout/hList7"/>
    <dgm:cxn modelId="{875938A8-8C19-4BDD-8B2A-B132AE1B2632}" type="presOf" srcId="{1DBA2EE8-01CB-4AD5-A3FB-A338528A3F32}" destId="{C07660BB-6DF9-4091-B687-AB40EB3F937A}" srcOrd="0" destOrd="0" presId="urn:microsoft.com/office/officeart/2005/8/layout/hList7"/>
    <dgm:cxn modelId="{4400C8B3-DD5F-4644-AA0F-E0F9320CA143}" srcId="{48D3AE23-856D-4B80-B557-326E91352177}" destId="{A0007A21-DBE0-4FB2-8E95-A0E02D61E7C8}" srcOrd="0" destOrd="0" parTransId="{9FE3220D-E5A4-4B4E-B887-086B33D2F5F1}" sibTransId="{334EBA2F-0D1B-4137-A95C-2784BA00A31D}"/>
    <dgm:cxn modelId="{FD343DBF-A701-4562-948C-2A475B9B4877}" srcId="{035F8B4A-BB42-4897-899C-830AE2A9A654}" destId="{1DBA2EE8-01CB-4AD5-A3FB-A338528A3F32}" srcOrd="0" destOrd="0" parTransId="{1EBCE15E-C3F2-4DF8-B655-11497D9FF6B1}" sibTransId="{0F44F0E6-D874-4739-BF5D-7CDBEAEDCE54}"/>
    <dgm:cxn modelId="{022DA0CB-5B70-4297-A52A-FB1EED41DAF4}" type="presOf" srcId="{48D3AE23-856D-4B80-B557-326E91352177}" destId="{28AB0950-BFA0-4CEB-A864-967CDB3145CD}" srcOrd="0" destOrd="0" presId="urn:microsoft.com/office/officeart/2005/8/layout/hList7"/>
    <dgm:cxn modelId="{0842EED7-3666-497D-B306-E287BB750429}" srcId="{035F8B4A-BB42-4897-899C-830AE2A9A654}" destId="{48D3AE23-856D-4B80-B557-326E91352177}" srcOrd="1" destOrd="0" parTransId="{F6C5BD73-9F14-4DAA-89AD-B446A32CE599}" sibTransId="{DE103C9D-EEAF-4AC8-A329-4E79558A2BB7}"/>
    <dgm:cxn modelId="{6F0CEEEC-D1EC-4BBB-9195-5A0BE41C651C}" type="presOf" srcId="{A0007A21-DBE0-4FB2-8E95-A0E02D61E7C8}" destId="{28AB0950-BFA0-4CEB-A864-967CDB3145CD}" srcOrd="0" destOrd="1" presId="urn:microsoft.com/office/officeart/2005/8/layout/hList7"/>
    <dgm:cxn modelId="{AC4983ED-9B86-4728-820C-8BA751E1676C}" type="presOf" srcId="{9F558815-2651-4D92-AF33-E06CC01B3216}" destId="{C07660BB-6DF9-4091-B687-AB40EB3F937A}" srcOrd="0" destOrd="1" presId="urn:microsoft.com/office/officeart/2005/8/layout/hList7"/>
    <dgm:cxn modelId="{797DE4EE-D488-41E2-8D94-05B3742095AD}" type="presOf" srcId="{1DBA2EE8-01CB-4AD5-A3FB-A338528A3F32}" destId="{D1A11952-1CC5-415B-93A3-D5F4646DF2AE}" srcOrd="1" destOrd="0" presId="urn:microsoft.com/office/officeart/2005/8/layout/hList7"/>
    <dgm:cxn modelId="{F3692EF8-7B1D-4E6C-85ED-D68B161135D8}" srcId="{1DBA2EE8-01CB-4AD5-A3FB-A338528A3F32}" destId="{9F558815-2651-4D92-AF33-E06CC01B3216}" srcOrd="0" destOrd="0" parTransId="{95933905-6A57-427E-B269-1CCECD92DD80}" sibTransId="{19775F9E-CFF6-4143-A234-D3E593B75A09}"/>
    <dgm:cxn modelId="{C6A7B2C8-C1A8-4411-9B13-121D16DFA9A3}" type="presParOf" srcId="{EAEA31CB-6A0A-475A-AEFB-4B89BE654FDE}" destId="{830C0970-6BF4-486A-902C-AB93D421C310}" srcOrd="0" destOrd="0" presId="urn:microsoft.com/office/officeart/2005/8/layout/hList7"/>
    <dgm:cxn modelId="{1FDCEB94-FA24-493F-BCBD-0EAF8275E8DC}" type="presParOf" srcId="{EAEA31CB-6A0A-475A-AEFB-4B89BE654FDE}" destId="{E0B33488-0D2B-4FB9-85CC-F026A24A9008}" srcOrd="1" destOrd="0" presId="urn:microsoft.com/office/officeart/2005/8/layout/hList7"/>
    <dgm:cxn modelId="{35D98DA7-25B4-4435-99F6-1282F54809C6}" type="presParOf" srcId="{E0B33488-0D2B-4FB9-85CC-F026A24A9008}" destId="{A432A0D6-A06B-4FF8-A92B-ABD0471B993D}" srcOrd="0" destOrd="0" presId="urn:microsoft.com/office/officeart/2005/8/layout/hList7"/>
    <dgm:cxn modelId="{3B209B33-BF60-4C53-9C20-427577E8D7C1}" type="presParOf" srcId="{A432A0D6-A06B-4FF8-A92B-ABD0471B993D}" destId="{C07660BB-6DF9-4091-B687-AB40EB3F937A}" srcOrd="0" destOrd="0" presId="urn:microsoft.com/office/officeart/2005/8/layout/hList7"/>
    <dgm:cxn modelId="{161B0481-A505-4FE1-93BB-1C7013639F99}" type="presParOf" srcId="{A432A0D6-A06B-4FF8-A92B-ABD0471B993D}" destId="{D1A11952-1CC5-415B-93A3-D5F4646DF2AE}" srcOrd="1" destOrd="0" presId="urn:microsoft.com/office/officeart/2005/8/layout/hList7"/>
    <dgm:cxn modelId="{A5C456C5-E79F-40F5-9F35-96458B2FA81A}" type="presParOf" srcId="{A432A0D6-A06B-4FF8-A92B-ABD0471B993D}" destId="{4A2181F9-641C-4B9D-8331-4927D41C8A56}" srcOrd="2" destOrd="0" presId="urn:microsoft.com/office/officeart/2005/8/layout/hList7"/>
    <dgm:cxn modelId="{C00B695E-71A7-484A-A560-E070E9E8A290}" type="presParOf" srcId="{A432A0D6-A06B-4FF8-A92B-ABD0471B993D}" destId="{3E1E089C-2FFE-49DA-940C-9ACE68C89CBA}" srcOrd="3" destOrd="0" presId="urn:microsoft.com/office/officeart/2005/8/layout/hList7"/>
    <dgm:cxn modelId="{50F196D0-AC77-4466-884D-D783112D4913}" type="presParOf" srcId="{E0B33488-0D2B-4FB9-85CC-F026A24A9008}" destId="{D1488394-F68C-46ED-8199-8E42CB29B0CE}" srcOrd="1" destOrd="0" presId="urn:microsoft.com/office/officeart/2005/8/layout/hList7"/>
    <dgm:cxn modelId="{5F1CEBF2-9142-4FF0-A588-6AE7688152A2}" type="presParOf" srcId="{E0B33488-0D2B-4FB9-85CC-F026A24A9008}" destId="{AEC22101-4585-4660-BC7E-E2D232E09F1B}" srcOrd="2" destOrd="0" presId="urn:microsoft.com/office/officeart/2005/8/layout/hList7"/>
    <dgm:cxn modelId="{BE9EC1B5-5742-4ECE-9707-EE45015302B1}" type="presParOf" srcId="{AEC22101-4585-4660-BC7E-E2D232E09F1B}" destId="{28AB0950-BFA0-4CEB-A864-967CDB3145CD}" srcOrd="0" destOrd="0" presId="urn:microsoft.com/office/officeart/2005/8/layout/hList7"/>
    <dgm:cxn modelId="{9B296911-95DF-4579-897B-B0B2FDA4F25F}" type="presParOf" srcId="{AEC22101-4585-4660-BC7E-E2D232E09F1B}" destId="{47C86767-051A-428C-9899-07199F86B696}" srcOrd="1" destOrd="0" presId="urn:microsoft.com/office/officeart/2005/8/layout/hList7"/>
    <dgm:cxn modelId="{020A0039-1318-4CA6-8DFA-76AF9C1CE93A}" type="presParOf" srcId="{AEC22101-4585-4660-BC7E-E2D232E09F1B}" destId="{BAC72381-BD24-4ED7-ADB7-C658B281A031}" srcOrd="2" destOrd="0" presId="urn:microsoft.com/office/officeart/2005/8/layout/hList7"/>
    <dgm:cxn modelId="{CE6BB1A3-3BE1-458C-B400-7E09AF2EAF91}" type="presParOf" srcId="{AEC22101-4585-4660-BC7E-E2D232E09F1B}" destId="{9902636A-73FA-4FA1-A9DD-AFB06DC15DDA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660BB-6DF9-4091-B687-AB40EB3F937A}">
      <dsp:nvSpPr>
        <dsp:cNvPr id="0" name=""/>
        <dsp:cNvSpPr/>
      </dsp:nvSpPr>
      <dsp:spPr>
        <a:xfrm>
          <a:off x="11" y="0"/>
          <a:ext cx="3862982" cy="2209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Gisha" panose="020B0502040204020203" pitchFamily="34" charset="-79"/>
              <a:cs typeface="Gisha" panose="020B0502040204020203" pitchFamily="34" charset="-79"/>
            </a:rPr>
            <a:t>verification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Gisha" panose="020B0502040204020203" pitchFamily="34" charset="-79"/>
              <a:cs typeface="Gisha" panose="020B0502040204020203" pitchFamily="34" charset="-79"/>
            </a:rPr>
            <a:t>Did we build the software right?</a:t>
          </a:r>
        </a:p>
      </dsp:txBody>
      <dsp:txXfrm>
        <a:off x="11" y="883920"/>
        <a:ext cx="3862982" cy="883920"/>
      </dsp:txXfrm>
    </dsp:sp>
    <dsp:sp modelId="{3E1E089C-2FFE-49DA-940C-9ACE68C89CBA}">
      <dsp:nvSpPr>
        <dsp:cNvPr id="0" name=""/>
        <dsp:cNvSpPr/>
      </dsp:nvSpPr>
      <dsp:spPr>
        <a:xfrm>
          <a:off x="1566932" y="132588"/>
          <a:ext cx="735863" cy="735863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2292" t="-9753" r="-41708" b="9753"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B0950-BFA0-4CEB-A864-967CDB3145CD}">
      <dsp:nvSpPr>
        <dsp:cNvPr id="0" name=""/>
        <dsp:cNvSpPr/>
      </dsp:nvSpPr>
      <dsp:spPr>
        <a:xfrm>
          <a:off x="3962389" y="0"/>
          <a:ext cx="3862982" cy="2209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Gisha" panose="020B0502040204020203" pitchFamily="34" charset="-79"/>
              <a:cs typeface="Gisha" panose="020B0502040204020203" pitchFamily="34" charset="-79"/>
            </a:rPr>
            <a:t>validation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Gisha" panose="020B0502040204020203" pitchFamily="34" charset="-79"/>
              <a:cs typeface="Gisha" panose="020B0502040204020203" pitchFamily="34" charset="-79"/>
            </a:rPr>
            <a:t>Did we build the right softwar</a:t>
          </a:r>
          <a:r>
            <a:rPr lang="en-US" sz="1600" kern="1200">
              <a:latin typeface="Arial Rounded MT Bold" panose="020F0704030504030204" pitchFamily="34" charset="0"/>
            </a:rPr>
            <a:t>e?</a:t>
          </a:r>
        </a:p>
      </dsp:txBody>
      <dsp:txXfrm>
        <a:off x="3962389" y="883920"/>
        <a:ext cx="3862982" cy="883920"/>
      </dsp:txXfrm>
    </dsp:sp>
    <dsp:sp modelId="{9902636A-73FA-4FA1-A9DD-AFB06DC15DDA}">
      <dsp:nvSpPr>
        <dsp:cNvPr id="0" name=""/>
        <dsp:cNvSpPr/>
      </dsp:nvSpPr>
      <dsp:spPr>
        <a:xfrm>
          <a:off x="5545804" y="132588"/>
          <a:ext cx="735863" cy="735863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C0970-6BF4-486A-902C-AB93D421C310}">
      <dsp:nvSpPr>
        <dsp:cNvPr id="0" name=""/>
        <dsp:cNvSpPr/>
      </dsp:nvSpPr>
      <dsp:spPr>
        <a:xfrm>
          <a:off x="418572" y="1795461"/>
          <a:ext cx="7220712" cy="33147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AC52B-2041-477D-9A2B-85C5A4789B1E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C8CCE-8334-4A5D-9B4B-52342007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6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fld id="{00FB802C-9101-45C6-B0EA-11B4FA7014E8}" type="datetime8">
              <a:rPr lang="he-IL" smtClean="0"/>
              <a:t>19 מרץ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34F084A1-1010-49D1-84A3-8EFCE7065C4A}" type="datetime8">
              <a:rPr lang="he-IL" smtClean="0"/>
              <a:pPr/>
              <a:t>19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026" name="Picture 2" descr="סרט מודעות צהוב – ויקיפדיה">
            <a:extLst>
              <a:ext uri="{FF2B5EF4-FFF2-40B4-BE49-F238E27FC236}">
                <a16:creationId xmlns:a16="http://schemas.microsoft.com/office/drawing/2014/main" id="{873E95BC-8822-26AD-E70D-9D58D417F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917" y="15240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259F0-AF02-4D4E-AF49-EE2D2F4B6A8E}" type="datetime8">
              <a:rPr lang="he-IL" smtClean="0"/>
              <a:t>19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0D726-9A28-4470-877A-63D915B4580D}" type="datetime8">
              <a:rPr lang="he-IL" smtClean="0"/>
              <a:t>19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8295-92D2-43C6-A48E-8D1E5262223B}" type="datetime8">
              <a:rPr lang="he-IL" smtClean="0"/>
              <a:t>19 מרץ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15AA-6E6D-4C20-8AEE-BDE5987E3569}" type="datetime8">
              <a:rPr lang="he-IL" smtClean="0"/>
              <a:t>19 מרץ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D182-9DA6-4742-A7AB-53EE200355CD}" type="datetime8">
              <a:rPr lang="he-IL" smtClean="0"/>
              <a:t>19 מרץ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4433F-72D2-4DB5-9CB7-65B7A489CE69}" type="datetime8">
              <a:rPr lang="he-IL" smtClean="0"/>
              <a:t>19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71AD-139C-404D-B633-1CECE228F903}" type="datetime8">
              <a:rPr lang="he-IL" smtClean="0"/>
              <a:t>19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522A-F145-49E2-BAE1-DF5B3FC4B0CF}" type="datetime8">
              <a:rPr lang="he-IL" smtClean="0"/>
              <a:t>19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A7F8-E46B-465F-8404-F0835F6A5A9E}" type="datetime8">
              <a:rPr lang="he-IL" smtClean="0"/>
              <a:t>19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029C509-12AF-40F5-B7B8-77695F82B25E}" type="datetime8">
              <a:rPr lang="he-IL" smtClean="0"/>
              <a:t>19 מרץ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hyperlink" Target="https://bit.ly/3d060V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vapathfinder/jpf-core/wiki/Testing-vs.-Model-Checkin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8.jpeg"/><Relationship Id="rId2" Type="http://schemas.openxmlformats.org/officeDocument/2006/relationships/hyperlink" Target="http://mitpress.mit.edu/images/products/books/9780262026499-f30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hyperlink" Target="http://mitpress.mit.edu/images/products/books/9780262032704-f30.jp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K_yguLapgA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hyperlink" Target="http://he.wikipedia.org/wiki/%D7%A7%D7%95%D7%91%D7%A5:Amir_Pnueli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eg"/><Relationship Id="rId4" Type="http://schemas.openxmlformats.org/officeDocument/2006/relationships/hyperlink" Target="http://upload.wikimedia.org/wikipedia/he/c/c2/ACM_turing_award.jp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eg"/><Relationship Id="rId5" Type="http://schemas.openxmlformats.org/officeDocument/2006/relationships/hyperlink" Target="http://upload.wikimedia.org/wikipedia/he/c/c2/ACM_turing_award.jpg" TargetMode="External"/><Relationship Id="rId4" Type="http://schemas.openxmlformats.org/officeDocument/2006/relationships/image" Target="../media/image7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eg"/><Relationship Id="rId5" Type="http://schemas.openxmlformats.org/officeDocument/2006/relationships/hyperlink" Target="http://he.wikipedia.org/wiki/%D7%A7%D7%95%D7%91%D7%A5:Amir_Pnueli.jpg" TargetMode="External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מבוא לאימות תוכנה בשיטות פורמאליות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D4637-CC5E-BDD6-769E-9A6D75F90D73}"/>
              </a:ext>
            </a:extLst>
          </p:cNvPr>
          <p:cNvSpPr/>
          <p:nvPr/>
        </p:nvSpPr>
        <p:spPr>
          <a:xfrm>
            <a:off x="7924800" y="137956"/>
            <a:ext cx="1136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529</a:t>
            </a:r>
          </a:p>
        </p:txBody>
      </p:sp>
      <p:pic>
        <p:nvPicPr>
          <p:cNvPr id="5" name="Picture 2" descr="סרט מודעות צהוב – ויקיפדיה">
            <a:extLst>
              <a:ext uri="{FF2B5EF4-FFF2-40B4-BE49-F238E27FC236}">
                <a16:creationId xmlns:a16="http://schemas.microsoft.com/office/drawing/2014/main" id="{9BD16FA6-E6FB-E9CC-6294-23016530C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317" y="193558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מידע כללי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77200" cy="4572000"/>
          </a:xfrm>
        </p:spPr>
        <p:txBody>
          <a:bodyPr>
            <a:normAutofit/>
          </a:bodyPr>
          <a:lstStyle/>
          <a:p>
            <a:pPr marL="0" indent="0">
              <a:spcAft>
                <a:spcPts val="2400"/>
              </a:spcAft>
              <a:buNone/>
            </a:pPr>
            <a:r>
              <a:rPr lang="he-IL" sz="2800"/>
              <a:t>מרצה: </a:t>
            </a:r>
            <a:r>
              <a:rPr lang="he-IL" sz="2800">
                <a:solidFill>
                  <a:srgbClr val="002060"/>
                </a:solidFill>
              </a:rPr>
              <a:t>גרא וייס</a:t>
            </a:r>
          </a:p>
          <a:p>
            <a:pPr lvl="1">
              <a:spcAft>
                <a:spcPts val="2400"/>
              </a:spcAft>
            </a:pPr>
            <a:r>
              <a:rPr lang="he-IL" sz="2800"/>
              <a:t>משרד: חדר 123 בבניין 37</a:t>
            </a:r>
          </a:p>
          <a:p>
            <a:pPr lvl="1">
              <a:spcAft>
                <a:spcPts val="2400"/>
              </a:spcAft>
            </a:pPr>
            <a:r>
              <a:rPr lang="he-IL" sz="2800"/>
              <a:t>שעות קבלה: ימי רביעי בין 14:00 ל-16:00</a:t>
            </a:r>
            <a:br>
              <a:rPr lang="en-US" sz="2800"/>
            </a:br>
            <a:r>
              <a:rPr lang="he-IL" sz="2800"/>
              <a:t>                   שיבוץ עצמי: </a:t>
            </a:r>
            <a:r>
              <a:rPr lang="en-US">
                <a:hlinkClick r:id="rId2"/>
              </a:rPr>
              <a:t>https://bit.ly/3d060VX</a:t>
            </a:r>
            <a:r>
              <a:rPr lang="en-US"/>
              <a:t> </a:t>
            </a:r>
            <a:endParaRPr lang="he-IL" sz="2800"/>
          </a:p>
          <a:p>
            <a:pPr lvl="1">
              <a:spcAft>
                <a:spcPts val="2400"/>
              </a:spcAft>
            </a:pPr>
            <a:r>
              <a:rPr lang="he-IL" sz="2800"/>
              <a:t>דואר אלקטרוני:</a:t>
            </a:r>
            <a:r>
              <a:rPr lang="he-IL" sz="2800">
                <a:latin typeface="Franklin Gothic Book"/>
              </a:rPr>
              <a:t> </a:t>
            </a:r>
            <a:r>
              <a:rPr lang="en-US">
                <a:solidFill>
                  <a:srgbClr val="002060"/>
                </a:solidFill>
                <a:latin typeface="Arial Rounded MT Bold" pitchFamily="34" charset="0"/>
              </a:rPr>
              <a:t>geraw@bgu.ac.il</a:t>
            </a:r>
            <a:endParaRPr lang="en-US" sz="2800">
              <a:solidFill>
                <a:srgbClr val="002060"/>
              </a:solidFill>
              <a:latin typeface="Arial Rounded MT Bold" pitchFamily="34" charset="0"/>
            </a:endParaRPr>
          </a:p>
          <a:p>
            <a:pPr marL="0" indent="0">
              <a:spcBef>
                <a:spcPts val="1800"/>
              </a:spcBef>
              <a:spcAft>
                <a:spcPts val="2400"/>
              </a:spcAft>
              <a:buNone/>
            </a:pPr>
            <a:r>
              <a:rPr lang="he-IL" sz="2800">
                <a:latin typeface="Franklin Gothic Book"/>
              </a:rPr>
              <a:t>אתר הקורס: </a:t>
            </a:r>
            <a:endParaRPr lang="he-IL" sz="320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5926" y="5655149"/>
            <a:ext cx="7484549" cy="400110"/>
          </a:xfrm>
          <a:prstGeom prst="rect">
            <a:avLst/>
          </a:prstGeom>
          <a:solidFill>
            <a:schemeClr val="bg1"/>
          </a:solidFill>
          <a:scene3d>
            <a:camera prst="orthographicFront"/>
            <a:lightRig rig="contrasting" dir="t">
              <a:rot lat="0" lon="0" rev="12000000"/>
            </a:lightRig>
          </a:scene3d>
          <a:sp3d prstMaterial="powder">
            <a:bevelT h="508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rgbClr val="002060"/>
                </a:solidFill>
                <a:latin typeface="Arial Rounded MT Bold" pitchFamily="34" charset="0"/>
              </a:rPr>
              <a:t>https://moodle.bgu.ac.il/moodle/course/view.php?id=58529</a:t>
            </a:r>
          </a:p>
        </p:txBody>
      </p:sp>
      <p:pic>
        <p:nvPicPr>
          <p:cNvPr id="1026" name="Picture 2" descr="Image result for please come in clipar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3"/>
          <a:stretch/>
        </p:blipFill>
        <p:spPr bwMode="auto">
          <a:xfrm>
            <a:off x="586966" y="650341"/>
            <a:ext cx="1772236" cy="210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מרכיבי הציון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64736" y="1295400"/>
            <a:ext cx="8638095" cy="5105400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he-IL" sz="3200"/>
              <a:t>אופן חישוב הציון הסופי:</a:t>
            </a:r>
            <a:r>
              <a:rPr lang="he-IL" sz="3000"/>
              <a:t> </a:t>
            </a:r>
          </a:p>
          <a:p>
            <a:pPr marL="320040" lvl="1" indent="0">
              <a:spcAft>
                <a:spcPts val="375"/>
              </a:spcAft>
              <a:buNone/>
            </a:pPr>
            <a:r>
              <a:rPr lang="en-IL"/>
              <a:t>🔹10% </a:t>
            </a:r>
            <a:r>
              <a:rPr lang="he-IL"/>
              <a:t> עבודות תכנותיות</a:t>
            </a:r>
            <a:r>
              <a:rPr lang="en-US"/>
              <a:t>  </a:t>
            </a:r>
            <a:endParaRPr lang="he-IL"/>
          </a:p>
          <a:p>
            <a:pPr marL="320040" lvl="1" indent="0">
              <a:spcAft>
                <a:spcPts val="375"/>
              </a:spcAft>
              <a:buNone/>
            </a:pPr>
            <a:r>
              <a:rPr lang="en-IL"/>
              <a:t>🔹10% </a:t>
            </a:r>
            <a:r>
              <a:rPr lang="he-IL"/>
              <a:t> עבודות עיוניות</a:t>
            </a:r>
          </a:p>
          <a:p>
            <a:pPr marL="320040" lvl="1" indent="0">
              <a:spcAft>
                <a:spcPts val="375"/>
              </a:spcAft>
              <a:buNone/>
            </a:pPr>
            <a:r>
              <a:rPr lang="en-IL"/>
              <a:t>📌20% </a:t>
            </a:r>
            <a:r>
              <a:rPr lang="he-IL"/>
              <a:t> בוחן אמצע (</a:t>
            </a:r>
            <a:r>
              <a:rPr lang="en-US"/>
              <a:t>(18/5/25</a:t>
            </a:r>
            <a:endParaRPr lang="he-IL"/>
          </a:p>
          <a:p>
            <a:pPr marL="320040" lvl="1" indent="0">
              <a:spcAft>
                <a:spcPts val="375"/>
              </a:spcAft>
              <a:buNone/>
            </a:pPr>
            <a:r>
              <a:rPr lang="en-IL"/>
              <a:t>📖60% </a:t>
            </a:r>
            <a:r>
              <a:rPr lang="he-IL"/>
              <a:t> מבחן בסוף הקורס</a:t>
            </a:r>
          </a:p>
          <a:p>
            <a:pPr marL="320040" lvl="1" indent="0">
              <a:spcBef>
                <a:spcPts val="750"/>
              </a:spcBef>
              <a:buNone/>
            </a:pPr>
            <a:r>
              <a:rPr lang="en-IL"/>
              <a:t>✨ </a:t>
            </a:r>
            <a:r>
              <a:rPr lang="he-IL"/>
              <a:t> עבודות בונוס: 2% לכל עבודה</a:t>
            </a:r>
          </a:p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he-IL" sz="3000"/>
              <a:t>כדי לעבור את הקורס:</a:t>
            </a:r>
          </a:p>
          <a:p>
            <a:pPr marL="320040" lvl="1" indent="0">
              <a:spcAft>
                <a:spcPts val="1200"/>
              </a:spcAft>
              <a:buNone/>
            </a:pPr>
            <a:r>
              <a:rPr lang="he-IL" sz="2800"/>
              <a:t>יש לעבור את הבוחן והמבחן ולהגיש </a:t>
            </a:r>
            <a:r>
              <a:rPr lang="en-US" sz="2800"/>
              <a:t>80%</a:t>
            </a:r>
            <a:r>
              <a:rPr lang="he-IL" sz="2800"/>
              <a:t> מתרגילי הבית</a:t>
            </a:r>
          </a:p>
        </p:txBody>
      </p:sp>
      <p:pic>
        <p:nvPicPr>
          <p:cNvPr id="1026" name="Picture 2" descr="Thumbnail Image a caricature of a professor calculating the final grades based on the exam, homework, and mid-term with students in the background">
            <a:extLst>
              <a:ext uri="{FF2B5EF4-FFF2-40B4-BE49-F238E27FC236}">
                <a16:creationId xmlns:a16="http://schemas.microsoft.com/office/drawing/2014/main" id="{D1CB1623-C15A-ECAD-D723-2BE2CF0B9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87" b="90430" l="9961" r="93652">
                        <a14:foregroundMark x1="21387" y1="60254" x2="25391" y2="67383"/>
                        <a14:foregroundMark x1="76855" y1="68848" x2="80371" y2="56543"/>
                        <a14:foregroundMark x1="78516" y1="68652" x2="82422" y2="62305"/>
                        <a14:foregroundMark x1="80957" y1="71875" x2="85449" y2="62305"/>
                        <a14:foregroundMark x1="74805" y1="67773" x2="75098" y2="67188"/>
                        <a14:foregroundMark x1="53418" y1="56348" x2="54004" y2="62109"/>
                        <a14:foregroundMark x1="44238" y1="86816" x2="45605" y2="77637"/>
                        <a14:foregroundMark x1="40723" y1="72070" x2="57227" y2="74219"/>
                        <a14:foregroundMark x1="57227" y1="74219" x2="42773" y2="86230"/>
                        <a14:foregroundMark x1="42773" y1="86230" x2="33594" y2="75586"/>
                        <a14:foregroundMark x1="34863" y1="78223" x2="53613" y2="86133"/>
                        <a14:foregroundMark x1="53613" y1="86133" x2="61816" y2="86426"/>
                        <a14:foregroundMark x1="65625" y1="80469" x2="78125" y2="85742"/>
                        <a14:foregroundMark x1="80566" y1="85742" x2="64063" y2="79492"/>
                        <a14:foregroundMark x1="64063" y1="79492" x2="70996" y2="80859"/>
                        <a14:foregroundMark x1="65820" y1="80664" x2="71191" y2="87598"/>
                        <a14:foregroundMark x1="62207" y1="81641" x2="78418" y2="88379"/>
                        <a14:foregroundMark x1="78418" y1="88379" x2="80176" y2="75391"/>
                        <a14:foregroundMark x1="75488" y1="87598" x2="90137" y2="84180"/>
                        <a14:foregroundMark x1="81543" y1="77148" x2="90527" y2="85742"/>
                        <a14:foregroundMark x1="83398" y1="87988" x2="87891" y2="86816"/>
                        <a14:foregroundMark x1="44629" y1="8984" x2="44629" y2="8984"/>
                        <a14:foregroundMark x1="41992" y1="9180" x2="46094" y2="9375"/>
                        <a14:foregroundMark x1="68652" y1="88965" x2="71289" y2="89551"/>
                        <a14:foregroundMark x1="74121" y1="90527" x2="88086" y2="88281"/>
                        <a14:foregroundMark x1="88086" y1="88281" x2="89551" y2="88281"/>
                        <a14:foregroundMark x1="66309" y1="87305" x2="68359" y2="88672"/>
                        <a14:foregroundMark x1="92871" y1="86426" x2="93652" y2="86230"/>
                        <a14:backgroundMark x1="72266" y1="13184" x2="80566" y2="176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6" y="1219200"/>
            <a:ext cx="3202546" cy="36576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66F1A3-AC57-4B43-9E85-1A99D845C5B7}"/>
              </a:ext>
            </a:extLst>
          </p:cNvPr>
          <p:cNvSpPr txBox="1"/>
          <p:nvPr/>
        </p:nvSpPr>
        <p:spPr>
          <a:xfrm>
            <a:off x="3359918" y="2194308"/>
            <a:ext cx="1659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solidFill>
                  <a:schemeClr val="accent6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5-10 שעות עבודה</a:t>
            </a:r>
          </a:p>
          <a:p>
            <a:r>
              <a:rPr lang="he-IL" sz="1600">
                <a:solidFill>
                  <a:schemeClr val="accent6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עצמית בשבוע</a:t>
            </a:r>
            <a:endParaRPr lang="LID4096" sz="1600">
              <a:solidFill>
                <a:schemeClr val="accent6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B3B53E7-29DA-94F7-C19D-E1EB9999A822}"/>
              </a:ext>
            </a:extLst>
          </p:cNvPr>
          <p:cNvSpPr/>
          <p:nvPr/>
        </p:nvSpPr>
        <p:spPr>
          <a:xfrm>
            <a:off x="5127349" y="2084231"/>
            <a:ext cx="155448" cy="804930"/>
          </a:xfrm>
          <a:prstGeom prst="leftBrace">
            <a:avLst>
              <a:gd name="adj1" fmla="val 132608"/>
              <a:gd name="adj2" fmla="val 47183"/>
            </a:avLst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087" y="231068"/>
            <a:ext cx="8463090" cy="1143000"/>
          </a:xfrm>
        </p:spPr>
        <p:txBody>
          <a:bodyPr>
            <a:normAutofit fontScale="90000"/>
          </a:bodyPr>
          <a:lstStyle/>
          <a:p>
            <a:r>
              <a:rPr lang="he-IL"/>
              <a:t>הסקת מסקנות אוטומטית -</a:t>
            </a:r>
            <a:br>
              <a:rPr lang="he-IL"/>
            </a:br>
            <a:r>
              <a:rPr lang="he-IL"/>
              <a:t>לוגיקה בפעולה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552576"/>
            <a:ext cx="8382000" cy="5105400"/>
          </a:xfrm>
        </p:spPr>
        <p:txBody>
          <a:bodyPr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he-IL">
                <a:solidFill>
                  <a:srgbClr val="0137D1"/>
                </a:solidFill>
              </a:rPr>
              <a:t>הלוגיקה נולדה כחלק ממדע הפילוסופיה</a:t>
            </a:r>
            <a:r>
              <a:rPr lang="he-IL"/>
              <a:t>:</a:t>
            </a:r>
          </a:p>
          <a:p>
            <a:pPr lvl="1"/>
            <a:r>
              <a:rPr lang="he-IL"/>
              <a:t>כדי להבין את תהליכי הסקת המסקנות האנושיים</a:t>
            </a:r>
            <a:endParaRPr lang="en-US"/>
          </a:p>
          <a:p>
            <a:pPr lvl="1"/>
            <a:r>
              <a:rPr lang="he-IL"/>
              <a:t>וכדי לתאר במדויק תהליך הסקת מסקנות נכון</a:t>
            </a:r>
            <a:endParaRPr lang="en-US"/>
          </a:p>
          <a:p>
            <a:pPr marL="0" indent="0">
              <a:spcBef>
                <a:spcPts val="3000"/>
              </a:spcBef>
              <a:buNone/>
            </a:pPr>
            <a:r>
              <a:rPr lang="he-IL">
                <a:solidFill>
                  <a:srgbClr val="0137D1"/>
                </a:solidFill>
              </a:rPr>
              <a:t>עם ההתפתחות של מדעי המחשב דברים השתנו</a:t>
            </a:r>
            <a:r>
              <a:rPr lang="he-IL"/>
              <a:t>:</a:t>
            </a:r>
          </a:p>
          <a:p>
            <a:pPr lvl="1"/>
            <a:r>
              <a:rPr lang="he-IL"/>
              <a:t>לוגיקה היא היסוד לפעולת המחשב (מעגלים לוגיים)</a:t>
            </a:r>
          </a:p>
          <a:p>
            <a:pPr lvl="1"/>
            <a:r>
              <a:rPr lang="he-IL"/>
              <a:t>בנוסף, המחקר במדעי המחשב מניע מחקר בלוגיקה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he-IL">
                <a:solidFill>
                  <a:srgbClr val="0137D1"/>
                </a:solidFill>
              </a:rPr>
              <a:t>בקורס הזה נשתמש במחשבים למימוש חישוב לוגי</a:t>
            </a:r>
            <a:r>
              <a:rPr lang="he-IL"/>
              <a:t>:</a:t>
            </a:r>
            <a:endParaRPr lang="he-IL">
              <a:solidFill>
                <a:srgbClr val="0070C0"/>
              </a:solidFill>
            </a:endParaRPr>
          </a:p>
          <a:p>
            <a:pPr lvl="1"/>
            <a:r>
              <a:rPr lang="he-IL"/>
              <a:t>נפתח מנגנונים לניתוח הלוגיקה של התוכנה</a:t>
            </a:r>
          </a:p>
          <a:p>
            <a:pPr lvl="1"/>
            <a:r>
              <a:rPr lang="he-IL"/>
              <a:t>שיטה כללית שניתן להפעיל על מערכות שונות</a:t>
            </a:r>
          </a:p>
          <a:p>
            <a:pPr lvl="1"/>
            <a:r>
              <a:rPr lang="he-IL">
                <a:solidFill>
                  <a:srgbClr val="FF0000"/>
                </a:solidFill>
              </a:rPr>
              <a:t>במטרה לעלות על שגיאות לוגיות בתכנון ובמימוש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rgbClr val="956251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21" b="98851" l="10000" r="97586">
                        <a14:foregroundMark x1="49310" y1="16667" x2="64138" y2="11494"/>
                        <a14:foregroundMark x1="88276" y1="51724" x2="82069" y2="70115"/>
                        <a14:foregroundMark x1="84828" y1="71839" x2="93793" y2="63218"/>
                        <a14:foregroundMark x1="90000" y1="81609" x2="97931" y2="74138"/>
                        <a14:foregroundMark x1="55862" y1="8621" x2="58966" y2="8621"/>
                        <a14:foregroundMark x1="30000" y1="95977" x2="73793" y2="988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04800" y="477074"/>
            <a:ext cx="2633876" cy="1580326"/>
          </a:xfrm>
          <a:prstGeom prst="rect">
            <a:avLst/>
          </a:prstGeom>
        </p:spPr>
      </p:pic>
      <p:pic>
        <p:nvPicPr>
          <p:cNvPr id="2052" name="Picture 4" descr="Image result for ‫שערים לוגיים‬‎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45890"/>
            <a:ext cx="1219200" cy="202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228601" y="4918831"/>
            <a:ext cx="1752600" cy="1481969"/>
            <a:chOff x="228600" y="4918831"/>
            <a:chExt cx="2233599" cy="1739145"/>
          </a:xfrm>
        </p:grpSpPr>
        <p:pic>
          <p:nvPicPr>
            <p:cNvPr id="2056" name="Picture 8" descr="Image result for Computer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rgbClr val="00642D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5410200"/>
              <a:ext cx="457200" cy="555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Elbow Connector 7"/>
            <p:cNvCxnSpPr>
              <a:stCxn id="2060" idx="2"/>
            </p:cNvCxnSpPr>
            <p:nvPr/>
          </p:nvCxnSpPr>
          <p:spPr>
            <a:xfrm rot="5400000">
              <a:off x="1620438" y="5155769"/>
              <a:ext cx="123824" cy="926300"/>
            </a:xfrm>
            <a:prstGeom prst="bentConnector2">
              <a:avLst/>
            </a:prstGeom>
            <a:ln w="38100">
              <a:solidFill>
                <a:srgbClr val="00642D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60" name="Picture 12" descr="File:Didoku Wave puzzle and Solution Happiness for everyone (Japanese) www.didoku.com MiguelPalomo.p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980"/>
            <a:stretch/>
          </p:blipFill>
          <p:spPr bwMode="auto">
            <a:xfrm>
              <a:off x="1828800" y="4918831"/>
              <a:ext cx="633399" cy="638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File:Didoku Wave puzzle and Solution Happiness for everyone (Japanese) www.didoku.com MiguelPalomo.pn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23"/>
            <a:stretch/>
          </p:blipFill>
          <p:spPr bwMode="auto">
            <a:xfrm>
              <a:off x="228600" y="6019800"/>
              <a:ext cx="631475" cy="638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Elbow Connector 18"/>
            <p:cNvCxnSpPr>
              <a:stCxn id="2056" idx="1"/>
              <a:endCxn id="15" idx="0"/>
            </p:cNvCxnSpPr>
            <p:nvPr/>
          </p:nvCxnSpPr>
          <p:spPr>
            <a:xfrm rot="10800000" flipV="1">
              <a:off x="544338" y="5687758"/>
              <a:ext cx="370062" cy="332041"/>
            </a:xfrm>
            <a:prstGeom prst="bentConnector2">
              <a:avLst/>
            </a:prstGeom>
            <a:ln w="38100">
              <a:solidFill>
                <a:srgbClr val="00642D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27328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שיטות פורמליות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5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371600"/>
            <a:ext cx="9067800" cy="5181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he-IL" sz="2000">
                <a:solidFill>
                  <a:srgbClr val="FF0000"/>
                </a:solidFill>
              </a:rPr>
              <a:t>טכניקות מתמטיות ואלגוריתמיות </a:t>
            </a:r>
            <a:r>
              <a:rPr lang="he-IL" sz="2000"/>
              <a:t>לאפיון, פיתוח ואימות תוכנה וחומרה אמינה</a:t>
            </a:r>
          </a:p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he-IL" sz="2000"/>
              <a:t>המוטיבציה לשיטות פורמליות היא הציפיה, </a:t>
            </a:r>
            <a:r>
              <a:rPr lang="he-IL" sz="2000">
                <a:solidFill>
                  <a:srgbClr val="0137D1"/>
                </a:solidFill>
              </a:rPr>
              <a:t>כמו בתחומים הנדסיים אחרים</a:t>
            </a:r>
            <a:r>
              <a:rPr lang="he-IL" sz="2000"/>
              <a:t>, שאנליזה מתמטית מסודרת יכולה לתרום לאמינות וליציבות התכנון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endParaRPr lang="he-IL" sz="2000"/>
          </a:p>
          <a:p>
            <a:pPr>
              <a:lnSpc>
                <a:spcPct val="120000"/>
              </a:lnSpc>
              <a:spcAft>
                <a:spcPts val="1800"/>
              </a:spcAft>
            </a:pPr>
            <a:endParaRPr lang="he-IL" sz="2000"/>
          </a:p>
          <a:p>
            <a:pPr>
              <a:lnSpc>
                <a:spcPct val="120000"/>
              </a:lnSpc>
              <a:spcAft>
                <a:spcPts val="1800"/>
              </a:spcAft>
            </a:pPr>
            <a:endParaRPr lang="he-IL" sz="2000"/>
          </a:p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endParaRPr lang="he-IL" sz="2000"/>
          </a:p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he-IL" sz="2000"/>
              <a:t>כיום, בגלל העלות הגבוהה הכרוכה בשימוש בשיטות פורמליות</a:t>
            </a:r>
            <a:r>
              <a:rPr lang="he-IL" sz="2000">
                <a:solidFill>
                  <a:srgbClr val="FF0000"/>
                </a:solidFill>
              </a:rPr>
              <a:t> ובגלל חוסר ידע</a:t>
            </a:r>
            <a:r>
              <a:rPr lang="he-IL" sz="2000"/>
              <a:t>, הן משמשות בעיקר במערכות קריטיות בהן לבטיחות ולאמינות חשיבות גבוהה</a:t>
            </a:r>
          </a:p>
        </p:txBody>
      </p:sp>
      <p:pic>
        <p:nvPicPr>
          <p:cNvPr id="5" name="Picture 2" descr="http://forsyte.at/wp-content/uploads/wordle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048000"/>
            <a:ext cx="5105400" cy="232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6497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9" y="-148882"/>
            <a:ext cx="7772400" cy="1143000"/>
          </a:xfrm>
        </p:spPr>
        <p:txBody>
          <a:bodyPr/>
          <a:lstStyle/>
          <a:p>
            <a:r>
              <a:rPr lang="he-IL"/>
              <a:t>בדיקות לעומת אימות פורמאלי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6</a:t>
            </a:fld>
            <a:endParaRPr lang="he-IL"/>
          </a:p>
        </p:txBody>
      </p:sp>
      <p:pic>
        <p:nvPicPr>
          <p:cNvPr id="1028" name="Picture 4" descr="https://babelfish.arc.nasa.gov/trac/jpf/raw-attachment/wiki/intro/testing_vs_model_checking/states-mc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6"/>
          <a:stretch/>
        </p:blipFill>
        <p:spPr bwMode="auto">
          <a:xfrm>
            <a:off x="4950076" y="3010043"/>
            <a:ext cx="3810000" cy="236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ight Arrow 8"/>
          <p:cNvSpPr/>
          <p:nvPr/>
        </p:nvSpPr>
        <p:spPr>
          <a:xfrm rot="19521936" flipH="1">
            <a:off x="2747653" y="1566452"/>
            <a:ext cx="1981200" cy="990600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מצב קיים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Right Arrow 11"/>
          <p:cNvSpPr/>
          <p:nvPr/>
        </p:nvSpPr>
        <p:spPr>
          <a:xfrm rot="19897534">
            <a:off x="3690719" y="4552903"/>
            <a:ext cx="1905000" cy="990600"/>
          </a:xfrm>
          <a:prstGeom prst="rightArrow">
            <a:avLst/>
          </a:prstGeom>
          <a:solidFill>
            <a:srgbClr val="00642D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מצב רצוי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176" y="6186845"/>
            <a:ext cx="8107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האיורים לקוחים מתוך האתר</a:t>
            </a:r>
            <a:endParaRPr lang="en-US" sz="1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en-US" sz="1400">
                <a:latin typeface="Consolas" panose="020B0609020204030204" pitchFamily="49" charset="0"/>
                <a:hlinkClick r:id="rId3"/>
              </a:rPr>
              <a:t>https://github.com/javapathfinder/jpf-core/wiki/Testing-vs.-Model-Checking</a:t>
            </a:r>
            <a:endParaRPr lang="en-US" sz="1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82706" y="3871135"/>
                <a:ext cx="2971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בדיקה רגילה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בהינתן קלט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נבדק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מסלול פעולה יחיד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06" y="3871135"/>
                <a:ext cx="2971800" cy="646331"/>
              </a:xfrm>
              <a:prstGeom prst="rect">
                <a:avLst/>
              </a:prstGeom>
              <a:blipFill>
                <a:blip r:embed="rId4"/>
                <a:stretch>
                  <a:fillRect l="-205" t="-4717" r="-163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216776" y="5378557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u="sng">
                <a:latin typeface="Gisha" panose="020B0502040204020203" pitchFamily="34" charset="-79"/>
                <a:cs typeface="Gisha" panose="020B0502040204020203" pitchFamily="34" charset="-79"/>
              </a:rPr>
              <a:t>אימות פורמאלי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 סורקים את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מצבי המערכת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עד גילוי שגיאה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46176" y="1463105"/>
                <a:ext cx="6295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solidFill>
                          <a:srgbClr val="0137D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76" y="1463105"/>
                <a:ext cx="629595" cy="369332"/>
              </a:xfrm>
              <a:prstGeom prst="rect">
                <a:avLst/>
              </a:prstGeom>
              <a:blipFill>
                <a:blip r:embed="rId5"/>
                <a:stretch>
                  <a:fillRect l="-7767" t="-8197" r="-77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D34817"/>
              </a:clrFrom>
              <a:clrTo>
                <a:srgbClr val="D34817">
                  <a:alpha val="0"/>
                </a:srgbClr>
              </a:clrTo>
            </a:clrChange>
          </a:blip>
          <a:srcRect r="35793"/>
          <a:stretch/>
        </p:blipFill>
        <p:spPr>
          <a:xfrm>
            <a:off x="603504" y="886352"/>
            <a:ext cx="2286000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650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650" y="-374811"/>
            <a:ext cx="7772400" cy="1143000"/>
          </a:xfrm>
        </p:spPr>
        <p:txBody>
          <a:bodyPr/>
          <a:lstStyle/>
          <a:p>
            <a:r>
              <a:rPr lang="he-IL"/>
              <a:t>דוגמה: שזירת תהליכים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7</a:t>
            </a:fld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868101" y="6349650"/>
            <a:ext cx="7407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במערכות מורכבות: מספר המקרים שצריך לבדוק עלול להיות גדול מאוד!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9719" y="1454548"/>
            <a:ext cx="290906" cy="8160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89719" y="2377030"/>
            <a:ext cx="290906" cy="5226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89719" y="3448132"/>
            <a:ext cx="290906" cy="7946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12618" y="3003582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618" y="3003582"/>
                <a:ext cx="445108" cy="412024"/>
              </a:xfrm>
              <a:prstGeom prst="rect">
                <a:avLst/>
              </a:prstGeom>
              <a:blipFill>
                <a:blip r:embed="rId2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595449" y="1454548"/>
            <a:ext cx="290906" cy="52273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95449" y="2092111"/>
            <a:ext cx="290906" cy="107090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595449" y="3745450"/>
            <a:ext cx="290906" cy="49736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518348" y="3248222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348" y="3248222"/>
                <a:ext cx="445108" cy="412024"/>
              </a:xfrm>
              <a:prstGeom prst="rect">
                <a:avLst/>
              </a:prstGeom>
              <a:blipFill>
                <a:blip r:embed="rId2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3762404" y="1433229"/>
            <a:ext cx="290906" cy="386720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762404" y="1882718"/>
            <a:ext cx="290906" cy="842635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762404" y="3282033"/>
            <a:ext cx="290906" cy="1007469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685303" y="2797680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303" y="2797680"/>
                <a:ext cx="445108" cy="412024"/>
              </a:xfrm>
              <a:prstGeom prst="rect">
                <a:avLst/>
              </a:prstGeom>
              <a:blipFill>
                <a:blip r:embed="rId2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07257" y="1011270"/>
                <a:ext cx="455830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257" y="1011270"/>
                <a:ext cx="455830" cy="32961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510326" y="1011270"/>
                <a:ext cx="461152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326" y="1011270"/>
                <a:ext cx="461152" cy="32961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660898" y="1011270"/>
                <a:ext cx="493918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98" y="1011270"/>
                <a:ext cx="493918" cy="32961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047412" y="1558336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412" y="1558336"/>
                <a:ext cx="551183" cy="329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47412" y="3829323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412" y="3829323"/>
                <a:ext cx="551183" cy="329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047412" y="2734823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412" y="2734823"/>
                <a:ext cx="551183" cy="329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835469" y="3719365"/>
                <a:ext cx="599406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469" y="3719365"/>
                <a:ext cx="599406" cy="329619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437812" y="3793147"/>
                <a:ext cx="606180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812" y="3793147"/>
                <a:ext cx="606180" cy="329619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591305" y="3696685"/>
                <a:ext cx="647875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305" y="3696685"/>
                <a:ext cx="647875" cy="32961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676124" y="1462564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124" y="1462564"/>
                <a:ext cx="463467" cy="32961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903439" y="1697777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439" y="1697777"/>
                <a:ext cx="463467" cy="32961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1903439" y="2473521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439" y="2473521"/>
                <a:ext cx="463467" cy="329619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509169" y="1570261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69" y="1570261"/>
                <a:ext cx="463467" cy="32961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509169" y="2447998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69" y="2447998"/>
                <a:ext cx="463467" cy="329619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676124" y="2131723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124" y="2131723"/>
                <a:ext cx="463467" cy="329619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410644" y="4533655"/>
            <a:ext cx="1105624" cy="3296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rial Rounded MT Bold" panose="020F0704030504030204" pitchFamily="34" charset="0"/>
              </a:rPr>
              <a:t>Threads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6678" y="1250528"/>
            <a:ext cx="290906" cy="8160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6089577" y="2799562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577" y="2799562"/>
                <a:ext cx="445108" cy="412024"/>
              </a:xfrm>
              <a:prstGeom prst="rect">
                <a:avLst/>
              </a:prstGeom>
              <a:blipFill>
                <a:blip r:embed="rId1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6089577" y="3554994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577" y="3554994"/>
                <a:ext cx="445108" cy="412024"/>
              </a:xfrm>
              <a:prstGeom prst="rect">
                <a:avLst/>
              </a:prstGeom>
              <a:blipFill>
                <a:blip r:embed="rId1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6084216" y="807250"/>
                <a:ext cx="455830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216" y="807250"/>
                <a:ext cx="455830" cy="329619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5718662" y="1428339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662" y="1428339"/>
                <a:ext cx="463467" cy="329619"/>
              </a:xfrm>
              <a:prstGeom prst="rect">
                <a:avLst/>
              </a:prstGeom>
              <a:blipFill>
                <a:blip r:embed="rId1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5718662" y="2377030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662" y="2377030"/>
                <a:ext cx="463467" cy="329619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/>
          <p:cNvSpPr/>
          <p:nvPr/>
        </p:nvSpPr>
        <p:spPr>
          <a:xfrm>
            <a:off x="6166678" y="3922407"/>
            <a:ext cx="290906" cy="1007469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166678" y="3234304"/>
            <a:ext cx="290906" cy="386720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5718662" y="3119055"/>
                <a:ext cx="463467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662" y="3119055"/>
                <a:ext cx="463467" cy="329619"/>
              </a:xfrm>
              <a:prstGeom prst="rect">
                <a:avLst/>
              </a:prstGeom>
              <a:blipFill>
                <a:blip r:embed="rId1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7564032" y="832755"/>
                <a:ext cx="455830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032" y="832755"/>
                <a:ext cx="455830" cy="329619"/>
              </a:xfrm>
              <a:prstGeom prst="rect">
                <a:avLst/>
              </a:prstGeom>
              <a:blipFill>
                <a:blip r:embed="rId1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/>
          <p:cNvSpPr/>
          <p:nvPr/>
        </p:nvSpPr>
        <p:spPr>
          <a:xfrm>
            <a:off x="7634623" y="1247883"/>
            <a:ext cx="290906" cy="386720"/>
          </a:xfrm>
          <a:prstGeom prst="rect">
            <a:avLst/>
          </a:prstGeom>
          <a:solidFill>
            <a:srgbClr val="C0E5E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7638592" y="1679880"/>
            <a:ext cx="290906" cy="5226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7646494" y="4387586"/>
            <a:ext cx="290906" cy="49736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/>
              <p:cNvSpPr txBox="1"/>
              <p:nvPr/>
            </p:nvSpPr>
            <p:spPr>
              <a:xfrm>
                <a:off x="5493069" y="3982495"/>
                <a:ext cx="689060" cy="803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069" y="3982495"/>
                <a:ext cx="689060" cy="803561"/>
              </a:xfrm>
              <a:prstGeom prst="rect">
                <a:avLst/>
              </a:prstGeom>
              <a:blipFill>
                <a:blip r:embed="rId18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/>
              <p:cNvSpPr txBox="1"/>
              <p:nvPr/>
            </p:nvSpPr>
            <p:spPr>
              <a:xfrm>
                <a:off x="7575846" y="3885656"/>
                <a:ext cx="445108" cy="41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846" y="3885656"/>
                <a:ext cx="445108" cy="412024"/>
              </a:xfrm>
              <a:prstGeom prst="rect">
                <a:avLst/>
              </a:prstGeom>
              <a:blipFill>
                <a:blip r:embed="rId1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 86"/>
          <p:cNvSpPr/>
          <p:nvPr/>
        </p:nvSpPr>
        <p:spPr>
          <a:xfrm>
            <a:off x="6166678" y="2124456"/>
            <a:ext cx="290906" cy="52273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634623" y="2826689"/>
            <a:ext cx="290906" cy="976317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/>
              <p:cNvSpPr txBox="1"/>
              <p:nvPr/>
            </p:nvSpPr>
            <p:spPr>
              <a:xfrm>
                <a:off x="6802032" y="1574486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32" y="1574486"/>
                <a:ext cx="551183" cy="329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/>
              <p:cNvSpPr txBox="1"/>
              <p:nvPr/>
            </p:nvSpPr>
            <p:spPr>
              <a:xfrm>
                <a:off x="6802032" y="3845473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32" y="3845473"/>
                <a:ext cx="551183" cy="329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/>
              <p:cNvSpPr txBox="1"/>
              <p:nvPr/>
            </p:nvSpPr>
            <p:spPr>
              <a:xfrm>
                <a:off x="6802032" y="2750973"/>
                <a:ext cx="551183" cy="32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32" y="2750973"/>
                <a:ext cx="551183" cy="329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Right Arrow 91"/>
          <p:cNvSpPr/>
          <p:nvPr/>
        </p:nvSpPr>
        <p:spPr>
          <a:xfrm>
            <a:off x="4590831" y="2797680"/>
            <a:ext cx="867157" cy="414927"/>
          </a:xfrm>
          <a:prstGeom prst="rightArrow">
            <a:avLst>
              <a:gd name="adj1" fmla="val 24106"/>
              <a:gd name="adj2" fmla="val 85215"/>
            </a:avLst>
          </a:prstGeom>
          <a:noFill/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6182129" y="4973431"/>
            <a:ext cx="1895071" cy="3296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ריצות של המערכת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>
                <a:off x="3812982" y="5302150"/>
                <a:ext cx="1908728" cy="808683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he-IL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ctrlPr>
                                <a:rPr lang="he-IL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!)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982" y="5302150"/>
                <a:ext cx="1908728" cy="80868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/>
          <p:cNvCxnSpPr/>
          <p:nvPr/>
        </p:nvCxnSpPr>
        <p:spPr>
          <a:xfrm flipV="1">
            <a:off x="1649036" y="4289502"/>
            <a:ext cx="263582" cy="4260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40069" y="4715599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 מלבן מייצג פעולה אטומית של </a:t>
            </a:r>
            <a:r>
              <a:rPr lang="en-US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thread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85581" y="320959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שזירה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637350" y="2246038"/>
            <a:ext cx="290906" cy="52273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460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"צייד באגים"  - טוב מוקדם ממאוחר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8</a:t>
            </a:fld>
            <a:endParaRPr lang="he-IL"/>
          </a:p>
        </p:txBody>
      </p:sp>
      <p:grpSp>
        <p:nvGrpSpPr>
          <p:cNvPr id="38" name="Group 37"/>
          <p:cNvGrpSpPr/>
          <p:nvPr/>
        </p:nvGrpSpPr>
        <p:grpSpPr>
          <a:xfrm>
            <a:off x="247836" y="1905000"/>
            <a:ext cx="8569848" cy="4495800"/>
            <a:chOff x="150120" y="1905000"/>
            <a:chExt cx="8569848" cy="4495800"/>
          </a:xfrm>
        </p:grpSpPr>
        <p:sp>
          <p:nvSpPr>
            <p:cNvPr id="12" name="Rectangle 11"/>
            <p:cNvSpPr/>
            <p:nvPr/>
          </p:nvSpPr>
          <p:spPr>
            <a:xfrm>
              <a:off x="816684" y="2667000"/>
              <a:ext cx="6934200" cy="2971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816684" y="2882900"/>
              <a:ext cx="6839211" cy="2766338"/>
            </a:xfrm>
            <a:custGeom>
              <a:avLst/>
              <a:gdLst>
                <a:gd name="connsiteX0" fmla="*/ 0 w 6839211"/>
                <a:gd name="connsiteY0" fmla="*/ 2841320 h 2841320"/>
                <a:gd name="connsiteX1" fmla="*/ 2505205 w 6839211"/>
                <a:gd name="connsiteY1" fmla="*/ 35490 h 2841320"/>
                <a:gd name="connsiteX2" fmla="*/ 3983276 w 6839211"/>
                <a:gd name="connsiteY2" fmla="*/ 2628378 h 2841320"/>
                <a:gd name="connsiteX3" fmla="*/ 3983276 w 6839211"/>
                <a:gd name="connsiteY3" fmla="*/ 2628378 h 2841320"/>
                <a:gd name="connsiteX4" fmla="*/ 4359057 w 6839211"/>
                <a:gd name="connsiteY4" fmla="*/ 2778690 h 2841320"/>
                <a:gd name="connsiteX5" fmla="*/ 4860098 w 6839211"/>
                <a:gd name="connsiteY5" fmla="*/ 2703534 h 2841320"/>
                <a:gd name="connsiteX6" fmla="*/ 6839211 w 6839211"/>
                <a:gd name="connsiteY6" fmla="*/ 2841320 h 2841320"/>
                <a:gd name="connsiteX7" fmla="*/ 6839211 w 6839211"/>
                <a:gd name="connsiteY7" fmla="*/ 2841320 h 2841320"/>
                <a:gd name="connsiteX0" fmla="*/ 0 w 6839211"/>
                <a:gd name="connsiteY0" fmla="*/ 2844104 h 2869156"/>
                <a:gd name="connsiteX1" fmla="*/ 422753 w 6839211"/>
                <a:gd name="connsiteY1" fmla="*/ 2401518 h 2869156"/>
                <a:gd name="connsiteX2" fmla="*/ 2505205 w 6839211"/>
                <a:gd name="connsiteY2" fmla="*/ 38274 h 2869156"/>
                <a:gd name="connsiteX3" fmla="*/ 3983276 w 6839211"/>
                <a:gd name="connsiteY3" fmla="*/ 2631162 h 2869156"/>
                <a:gd name="connsiteX4" fmla="*/ 3983276 w 6839211"/>
                <a:gd name="connsiteY4" fmla="*/ 2631162 h 2869156"/>
                <a:gd name="connsiteX5" fmla="*/ 4359057 w 6839211"/>
                <a:gd name="connsiteY5" fmla="*/ 2781474 h 2869156"/>
                <a:gd name="connsiteX6" fmla="*/ 4860098 w 6839211"/>
                <a:gd name="connsiteY6" fmla="*/ 2706318 h 2869156"/>
                <a:gd name="connsiteX7" fmla="*/ 6839211 w 6839211"/>
                <a:gd name="connsiteY7" fmla="*/ 2844104 h 2869156"/>
                <a:gd name="connsiteX8" fmla="*/ 6839211 w 6839211"/>
                <a:gd name="connsiteY8" fmla="*/ 2844104 h 2869156"/>
                <a:gd name="connsiteX0" fmla="*/ 0 w 6839211"/>
                <a:gd name="connsiteY0" fmla="*/ 3085404 h 3110456"/>
                <a:gd name="connsiteX1" fmla="*/ 422753 w 6839211"/>
                <a:gd name="connsiteY1" fmla="*/ 2642818 h 3110456"/>
                <a:gd name="connsiteX2" fmla="*/ 1413353 w 6839211"/>
                <a:gd name="connsiteY2" fmla="*/ 1195018 h 3110456"/>
                <a:gd name="connsiteX3" fmla="*/ 2505205 w 6839211"/>
                <a:gd name="connsiteY3" fmla="*/ 279574 h 3110456"/>
                <a:gd name="connsiteX4" fmla="*/ 3983276 w 6839211"/>
                <a:gd name="connsiteY4" fmla="*/ 2872462 h 3110456"/>
                <a:gd name="connsiteX5" fmla="*/ 3983276 w 6839211"/>
                <a:gd name="connsiteY5" fmla="*/ 2872462 h 3110456"/>
                <a:gd name="connsiteX6" fmla="*/ 4359057 w 6839211"/>
                <a:gd name="connsiteY6" fmla="*/ 3022774 h 3110456"/>
                <a:gd name="connsiteX7" fmla="*/ 4860098 w 6839211"/>
                <a:gd name="connsiteY7" fmla="*/ 2947618 h 3110456"/>
                <a:gd name="connsiteX8" fmla="*/ 6839211 w 6839211"/>
                <a:gd name="connsiteY8" fmla="*/ 3085404 h 3110456"/>
                <a:gd name="connsiteX9" fmla="*/ 6839211 w 6839211"/>
                <a:gd name="connsiteY9" fmla="*/ 3085404 h 3110456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3983276 w 6839211"/>
                <a:gd name="connsiteY5" fmla="*/ 2795218 h 3033212"/>
                <a:gd name="connsiteX6" fmla="*/ 4359057 w 6839211"/>
                <a:gd name="connsiteY6" fmla="*/ 2945530 h 3033212"/>
                <a:gd name="connsiteX7" fmla="*/ 4860098 w 6839211"/>
                <a:gd name="connsiteY7" fmla="*/ 2870374 h 3033212"/>
                <a:gd name="connsiteX8" fmla="*/ 6839211 w 6839211"/>
                <a:gd name="connsiteY8" fmla="*/ 3008160 h 3033212"/>
                <a:gd name="connsiteX9" fmla="*/ 6839211 w 6839211"/>
                <a:gd name="connsiteY9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3983276 w 6839211"/>
                <a:gd name="connsiteY5" fmla="*/ 2795218 h 3033212"/>
                <a:gd name="connsiteX6" fmla="*/ 4359057 w 6839211"/>
                <a:gd name="connsiteY6" fmla="*/ 2945530 h 3033212"/>
                <a:gd name="connsiteX7" fmla="*/ 4860098 w 6839211"/>
                <a:gd name="connsiteY7" fmla="*/ 2870374 h 3033212"/>
                <a:gd name="connsiteX8" fmla="*/ 6839211 w 6839211"/>
                <a:gd name="connsiteY8" fmla="*/ 3008160 h 3033212"/>
                <a:gd name="connsiteX9" fmla="*/ 6839211 w 6839211"/>
                <a:gd name="connsiteY9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3983276 w 6839211"/>
                <a:gd name="connsiteY5" fmla="*/ 2795218 h 3033212"/>
                <a:gd name="connsiteX6" fmla="*/ 4359057 w 6839211"/>
                <a:gd name="connsiteY6" fmla="*/ 2945530 h 3033212"/>
                <a:gd name="connsiteX7" fmla="*/ 4860098 w 6839211"/>
                <a:gd name="connsiteY7" fmla="*/ 2870374 h 3033212"/>
                <a:gd name="connsiteX8" fmla="*/ 6839211 w 6839211"/>
                <a:gd name="connsiteY8" fmla="*/ 3008160 h 3033212"/>
                <a:gd name="connsiteX9" fmla="*/ 6839211 w 6839211"/>
                <a:gd name="connsiteY9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4359057 w 6839211"/>
                <a:gd name="connsiteY5" fmla="*/ 2945530 h 3033212"/>
                <a:gd name="connsiteX6" fmla="*/ 4860098 w 6839211"/>
                <a:gd name="connsiteY6" fmla="*/ 2870374 h 3033212"/>
                <a:gd name="connsiteX7" fmla="*/ 6839211 w 6839211"/>
                <a:gd name="connsiteY7" fmla="*/ 3008160 h 3033212"/>
                <a:gd name="connsiteX8" fmla="*/ 6839211 w 6839211"/>
                <a:gd name="connsiteY8" fmla="*/ 3008160 h 3033212"/>
                <a:gd name="connsiteX0" fmla="*/ 0 w 6839211"/>
                <a:gd name="connsiteY0" fmla="*/ 3008160 h 3045738"/>
                <a:gd name="connsiteX1" fmla="*/ 422753 w 6839211"/>
                <a:gd name="connsiteY1" fmla="*/ 2565574 h 3045738"/>
                <a:gd name="connsiteX2" fmla="*/ 1413353 w 6839211"/>
                <a:gd name="connsiteY2" fmla="*/ 1117774 h 3045738"/>
                <a:gd name="connsiteX3" fmla="*/ 2708753 w 6839211"/>
                <a:gd name="connsiteY3" fmla="*/ 279574 h 3045738"/>
                <a:gd name="connsiteX4" fmla="*/ 3983276 w 6839211"/>
                <a:gd name="connsiteY4" fmla="*/ 2795218 h 3045738"/>
                <a:gd name="connsiteX5" fmla="*/ 4359057 w 6839211"/>
                <a:gd name="connsiteY5" fmla="*/ 2945530 h 3045738"/>
                <a:gd name="connsiteX6" fmla="*/ 4860098 w 6839211"/>
                <a:gd name="connsiteY6" fmla="*/ 2870374 h 3045738"/>
                <a:gd name="connsiteX7" fmla="*/ 6839211 w 6839211"/>
                <a:gd name="connsiteY7" fmla="*/ 3008160 h 3045738"/>
                <a:gd name="connsiteX8" fmla="*/ 6839211 w 6839211"/>
                <a:gd name="connsiteY8" fmla="*/ 3008160 h 3045738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4359057 w 6839211"/>
                <a:gd name="connsiteY5" fmla="*/ 2945530 h 3033212"/>
                <a:gd name="connsiteX6" fmla="*/ 4860098 w 6839211"/>
                <a:gd name="connsiteY6" fmla="*/ 2870374 h 3033212"/>
                <a:gd name="connsiteX7" fmla="*/ 6839211 w 6839211"/>
                <a:gd name="connsiteY7" fmla="*/ 3008160 h 3033212"/>
                <a:gd name="connsiteX8" fmla="*/ 6839211 w 6839211"/>
                <a:gd name="connsiteY8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4359057 w 6839211"/>
                <a:gd name="connsiteY5" fmla="*/ 2945530 h 3033212"/>
                <a:gd name="connsiteX6" fmla="*/ 4860098 w 6839211"/>
                <a:gd name="connsiteY6" fmla="*/ 2870374 h 3033212"/>
                <a:gd name="connsiteX7" fmla="*/ 6839211 w 6839211"/>
                <a:gd name="connsiteY7" fmla="*/ 3008160 h 3033212"/>
                <a:gd name="connsiteX8" fmla="*/ 6839211 w 6839211"/>
                <a:gd name="connsiteY8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4359057 w 6839211"/>
                <a:gd name="connsiteY5" fmla="*/ 2945530 h 3033212"/>
                <a:gd name="connsiteX6" fmla="*/ 6839211 w 6839211"/>
                <a:gd name="connsiteY6" fmla="*/ 3008160 h 3033212"/>
                <a:gd name="connsiteX7" fmla="*/ 6839211 w 6839211"/>
                <a:gd name="connsiteY7" fmla="*/ 3008160 h 3033212"/>
                <a:gd name="connsiteX0" fmla="*/ 0 w 6839211"/>
                <a:gd name="connsiteY0" fmla="*/ 3008160 h 3033212"/>
                <a:gd name="connsiteX1" fmla="*/ 422753 w 6839211"/>
                <a:gd name="connsiteY1" fmla="*/ 2565574 h 3033212"/>
                <a:gd name="connsiteX2" fmla="*/ 1413353 w 6839211"/>
                <a:gd name="connsiteY2" fmla="*/ 1117774 h 3033212"/>
                <a:gd name="connsiteX3" fmla="*/ 2708753 w 6839211"/>
                <a:gd name="connsiteY3" fmla="*/ 279574 h 3033212"/>
                <a:gd name="connsiteX4" fmla="*/ 3983276 w 6839211"/>
                <a:gd name="connsiteY4" fmla="*/ 2795218 h 3033212"/>
                <a:gd name="connsiteX5" fmla="*/ 4994753 w 6839211"/>
                <a:gd name="connsiteY5" fmla="*/ 2717974 h 3033212"/>
                <a:gd name="connsiteX6" fmla="*/ 6839211 w 6839211"/>
                <a:gd name="connsiteY6" fmla="*/ 3008160 h 3033212"/>
                <a:gd name="connsiteX7" fmla="*/ 6839211 w 6839211"/>
                <a:gd name="connsiteY7" fmla="*/ 3008160 h 3033212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004153 w 6839211"/>
                <a:gd name="connsiteY4" fmla="*/ 2882900 h 3045738"/>
                <a:gd name="connsiteX5" fmla="*/ 4994753 w 6839211"/>
                <a:gd name="connsiteY5" fmla="*/ 27305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004153 w 6839211"/>
                <a:gd name="connsiteY4" fmla="*/ 2882900 h 3045738"/>
                <a:gd name="connsiteX5" fmla="*/ 4994753 w 6839211"/>
                <a:gd name="connsiteY5" fmla="*/ 28829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461353 w 6839211"/>
                <a:gd name="connsiteY4" fmla="*/ 2882900 h 3045738"/>
                <a:gd name="connsiteX5" fmla="*/ 4994753 w 6839211"/>
                <a:gd name="connsiteY5" fmla="*/ 28829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4613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3851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3851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3851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3851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045738"/>
                <a:gd name="connsiteX1" fmla="*/ 422753 w 6839211"/>
                <a:gd name="connsiteY1" fmla="*/ 2578100 h 3045738"/>
                <a:gd name="connsiteX2" fmla="*/ 1413353 w 6839211"/>
                <a:gd name="connsiteY2" fmla="*/ 1130300 h 3045738"/>
                <a:gd name="connsiteX3" fmla="*/ 2708753 w 6839211"/>
                <a:gd name="connsiteY3" fmla="*/ 292100 h 3045738"/>
                <a:gd name="connsiteX4" fmla="*/ 4385153 w 6839211"/>
                <a:gd name="connsiteY4" fmla="*/ 2882900 h 3045738"/>
                <a:gd name="connsiteX5" fmla="*/ 5070953 w 6839211"/>
                <a:gd name="connsiteY5" fmla="*/ 2578100 h 3045738"/>
                <a:gd name="connsiteX6" fmla="*/ 6839211 w 6839211"/>
                <a:gd name="connsiteY6" fmla="*/ 3020686 h 3045738"/>
                <a:gd name="connsiteX7" fmla="*/ 6839211 w 6839211"/>
                <a:gd name="connsiteY7" fmla="*/ 3020686 h 3045738"/>
                <a:gd name="connsiteX0" fmla="*/ 0 w 6839211"/>
                <a:gd name="connsiteY0" fmla="*/ 3020686 h 3276600"/>
                <a:gd name="connsiteX1" fmla="*/ 422753 w 6839211"/>
                <a:gd name="connsiteY1" fmla="*/ 2578100 h 3276600"/>
                <a:gd name="connsiteX2" fmla="*/ 1413353 w 6839211"/>
                <a:gd name="connsiteY2" fmla="*/ 1130300 h 3276600"/>
                <a:gd name="connsiteX3" fmla="*/ 2708753 w 6839211"/>
                <a:gd name="connsiteY3" fmla="*/ 292100 h 3276600"/>
                <a:gd name="connsiteX4" fmla="*/ 4385153 w 6839211"/>
                <a:gd name="connsiteY4" fmla="*/ 2882900 h 3276600"/>
                <a:gd name="connsiteX5" fmla="*/ 5223353 w 6839211"/>
                <a:gd name="connsiteY5" fmla="*/ 2654300 h 3276600"/>
                <a:gd name="connsiteX6" fmla="*/ 6839211 w 6839211"/>
                <a:gd name="connsiteY6" fmla="*/ 3020686 h 3276600"/>
                <a:gd name="connsiteX7" fmla="*/ 6839211 w 6839211"/>
                <a:gd name="connsiteY7" fmla="*/ 3020686 h 3276600"/>
                <a:gd name="connsiteX0" fmla="*/ 0 w 6839211"/>
                <a:gd name="connsiteY0" fmla="*/ 3020686 h 3276600"/>
                <a:gd name="connsiteX1" fmla="*/ 422753 w 6839211"/>
                <a:gd name="connsiteY1" fmla="*/ 2578100 h 3276600"/>
                <a:gd name="connsiteX2" fmla="*/ 1413353 w 6839211"/>
                <a:gd name="connsiteY2" fmla="*/ 1130300 h 3276600"/>
                <a:gd name="connsiteX3" fmla="*/ 2708753 w 6839211"/>
                <a:gd name="connsiteY3" fmla="*/ 292100 h 3276600"/>
                <a:gd name="connsiteX4" fmla="*/ 4385153 w 6839211"/>
                <a:gd name="connsiteY4" fmla="*/ 2882900 h 3276600"/>
                <a:gd name="connsiteX5" fmla="*/ 5223353 w 6839211"/>
                <a:gd name="connsiteY5" fmla="*/ 2654300 h 3276600"/>
                <a:gd name="connsiteX6" fmla="*/ 6839211 w 6839211"/>
                <a:gd name="connsiteY6" fmla="*/ 3020686 h 3276600"/>
                <a:gd name="connsiteX7" fmla="*/ 6839211 w 6839211"/>
                <a:gd name="connsiteY7" fmla="*/ 3020686 h 3276600"/>
                <a:gd name="connsiteX0" fmla="*/ 0 w 6839211"/>
                <a:gd name="connsiteY0" fmla="*/ 2995286 h 3098800"/>
                <a:gd name="connsiteX1" fmla="*/ 422753 w 6839211"/>
                <a:gd name="connsiteY1" fmla="*/ 2552700 h 3098800"/>
                <a:gd name="connsiteX2" fmla="*/ 1413353 w 6839211"/>
                <a:gd name="connsiteY2" fmla="*/ 1104900 h 3098800"/>
                <a:gd name="connsiteX3" fmla="*/ 2708753 w 6839211"/>
                <a:gd name="connsiteY3" fmla="*/ 266700 h 3098800"/>
                <a:gd name="connsiteX4" fmla="*/ 4385153 w 6839211"/>
                <a:gd name="connsiteY4" fmla="*/ 2705100 h 3098800"/>
                <a:gd name="connsiteX5" fmla="*/ 5223353 w 6839211"/>
                <a:gd name="connsiteY5" fmla="*/ 2628900 h 3098800"/>
                <a:gd name="connsiteX6" fmla="*/ 6839211 w 6839211"/>
                <a:gd name="connsiteY6" fmla="*/ 2995286 h 3098800"/>
                <a:gd name="connsiteX7" fmla="*/ 6839211 w 6839211"/>
                <a:gd name="connsiteY7" fmla="*/ 2995286 h 3098800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5223353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5223353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4897037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4897037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4897037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982586 h 3007638"/>
                <a:gd name="connsiteX1" fmla="*/ 422753 w 6839211"/>
                <a:gd name="connsiteY1" fmla="*/ 2540000 h 3007638"/>
                <a:gd name="connsiteX2" fmla="*/ 1413353 w 6839211"/>
                <a:gd name="connsiteY2" fmla="*/ 1092200 h 3007638"/>
                <a:gd name="connsiteX3" fmla="*/ 2708753 w 6839211"/>
                <a:gd name="connsiteY3" fmla="*/ 254000 h 3007638"/>
                <a:gd name="connsiteX4" fmla="*/ 4897037 w 6839211"/>
                <a:gd name="connsiteY4" fmla="*/ 2616200 h 3007638"/>
                <a:gd name="connsiteX5" fmla="*/ 6839211 w 6839211"/>
                <a:gd name="connsiteY5" fmla="*/ 2982586 h 3007638"/>
                <a:gd name="connsiteX6" fmla="*/ 6839211 w 6839211"/>
                <a:gd name="connsiteY6" fmla="*/ 2982586 h 3007638"/>
                <a:gd name="connsiteX0" fmla="*/ 0 w 6839211"/>
                <a:gd name="connsiteY0" fmla="*/ 2741286 h 2766338"/>
                <a:gd name="connsiteX1" fmla="*/ 422753 w 6839211"/>
                <a:gd name="connsiteY1" fmla="*/ 2298700 h 2766338"/>
                <a:gd name="connsiteX2" fmla="*/ 2708753 w 6839211"/>
                <a:gd name="connsiteY2" fmla="*/ 12700 h 2766338"/>
                <a:gd name="connsiteX3" fmla="*/ 4897037 w 6839211"/>
                <a:gd name="connsiteY3" fmla="*/ 2374900 h 2766338"/>
                <a:gd name="connsiteX4" fmla="*/ 6839211 w 6839211"/>
                <a:gd name="connsiteY4" fmla="*/ 2741286 h 2766338"/>
                <a:gd name="connsiteX5" fmla="*/ 6839211 w 6839211"/>
                <a:gd name="connsiteY5" fmla="*/ 2741286 h 2766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39211" h="2766338">
                  <a:moveTo>
                    <a:pt x="0" y="2741286"/>
                  </a:moveTo>
                  <a:cubicBezTo>
                    <a:pt x="75156" y="2624377"/>
                    <a:pt x="5219" y="2766338"/>
                    <a:pt x="422753" y="2298700"/>
                  </a:cubicBezTo>
                  <a:cubicBezTo>
                    <a:pt x="874212" y="1843936"/>
                    <a:pt x="1963039" y="0"/>
                    <a:pt x="2708753" y="12700"/>
                  </a:cubicBezTo>
                  <a:cubicBezTo>
                    <a:pt x="3454467" y="25400"/>
                    <a:pt x="4232553" y="2090757"/>
                    <a:pt x="4897037" y="2374900"/>
                  </a:cubicBezTo>
                  <a:cubicBezTo>
                    <a:pt x="5561521" y="2659043"/>
                    <a:pt x="6425852" y="2730848"/>
                    <a:pt x="6839211" y="2741286"/>
                  </a:cubicBezTo>
                  <a:lnTo>
                    <a:pt x="6839211" y="274128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816685" y="2739025"/>
              <a:ext cx="6955022" cy="3027125"/>
            </a:xfrm>
            <a:custGeom>
              <a:avLst/>
              <a:gdLst>
                <a:gd name="connsiteX0" fmla="*/ 0 w 6864263"/>
                <a:gd name="connsiteY0" fmla="*/ 2835057 h 2968669"/>
                <a:gd name="connsiteX1" fmla="*/ 2605413 w 6864263"/>
                <a:gd name="connsiteY1" fmla="*/ 2496855 h 2968669"/>
                <a:gd name="connsiteX2" fmla="*/ 4997885 w 6864263"/>
                <a:gd name="connsiteY2" fmla="*/ 4175 h 2968669"/>
                <a:gd name="connsiteX3" fmla="*/ 6488482 w 6864263"/>
                <a:gd name="connsiteY3" fmla="*/ 2471803 h 2968669"/>
                <a:gd name="connsiteX4" fmla="*/ 6864263 w 6864263"/>
                <a:gd name="connsiteY4" fmla="*/ 2534433 h 2968669"/>
                <a:gd name="connsiteX0" fmla="*/ 0 w 6864263"/>
                <a:gd name="connsiteY0" fmla="*/ 2885161 h 3027123"/>
                <a:gd name="connsiteX1" fmla="*/ 2605413 w 6864263"/>
                <a:gd name="connsiteY1" fmla="*/ 2546959 h 3027123"/>
                <a:gd name="connsiteX2" fmla="*/ 5224397 w 6864263"/>
                <a:gd name="connsiteY2" fmla="*/ 4175 h 3027123"/>
                <a:gd name="connsiteX3" fmla="*/ 6488482 w 6864263"/>
                <a:gd name="connsiteY3" fmla="*/ 2521907 h 3027123"/>
                <a:gd name="connsiteX4" fmla="*/ 6864263 w 6864263"/>
                <a:gd name="connsiteY4" fmla="*/ 2584537 h 3027123"/>
                <a:gd name="connsiteX0" fmla="*/ 0 w 6864263"/>
                <a:gd name="connsiteY0" fmla="*/ 2880986 h 3022948"/>
                <a:gd name="connsiteX1" fmla="*/ 2605413 w 6864263"/>
                <a:gd name="connsiteY1" fmla="*/ 2542784 h 3022948"/>
                <a:gd name="connsiteX2" fmla="*/ 5224397 w 6864263"/>
                <a:gd name="connsiteY2" fmla="*/ 0 h 3022948"/>
                <a:gd name="connsiteX3" fmla="*/ 6488482 w 6864263"/>
                <a:gd name="connsiteY3" fmla="*/ 2517732 h 3022948"/>
                <a:gd name="connsiteX4" fmla="*/ 6864263 w 6864263"/>
                <a:gd name="connsiteY4" fmla="*/ 2580362 h 3022948"/>
                <a:gd name="connsiteX0" fmla="*/ 0 w 6864263"/>
                <a:gd name="connsiteY0" fmla="*/ 2804787 h 2934049"/>
                <a:gd name="connsiteX1" fmla="*/ 2605413 w 6864263"/>
                <a:gd name="connsiteY1" fmla="*/ 2466585 h 2934049"/>
                <a:gd name="connsiteX2" fmla="*/ 5148197 w 6864263"/>
                <a:gd name="connsiteY2" fmla="*/ 0 h 2934049"/>
                <a:gd name="connsiteX3" fmla="*/ 6488482 w 6864263"/>
                <a:gd name="connsiteY3" fmla="*/ 2441533 h 2934049"/>
                <a:gd name="connsiteX4" fmla="*/ 6864263 w 6864263"/>
                <a:gd name="connsiteY4" fmla="*/ 2504163 h 2934049"/>
                <a:gd name="connsiteX0" fmla="*/ 0 w 6864263"/>
                <a:gd name="connsiteY0" fmla="*/ 2804787 h 2934049"/>
                <a:gd name="connsiteX1" fmla="*/ 2605413 w 6864263"/>
                <a:gd name="connsiteY1" fmla="*/ 2466585 h 2934049"/>
                <a:gd name="connsiteX2" fmla="*/ 5148197 w 6864263"/>
                <a:gd name="connsiteY2" fmla="*/ 0 h 2934049"/>
                <a:gd name="connsiteX3" fmla="*/ 6488482 w 6864263"/>
                <a:gd name="connsiteY3" fmla="*/ 2441533 h 2934049"/>
                <a:gd name="connsiteX4" fmla="*/ 6864263 w 6864263"/>
                <a:gd name="connsiteY4" fmla="*/ 2504163 h 2934049"/>
                <a:gd name="connsiteX0" fmla="*/ 0 w 6864263"/>
                <a:gd name="connsiteY0" fmla="*/ 2880987 h 3022950"/>
                <a:gd name="connsiteX1" fmla="*/ 2605413 w 6864263"/>
                <a:gd name="connsiteY1" fmla="*/ 2542785 h 3022950"/>
                <a:gd name="connsiteX2" fmla="*/ 5148197 w 6864263"/>
                <a:gd name="connsiteY2" fmla="*/ 0 h 3022950"/>
                <a:gd name="connsiteX3" fmla="*/ 6488482 w 6864263"/>
                <a:gd name="connsiteY3" fmla="*/ 2517733 h 3022950"/>
                <a:gd name="connsiteX4" fmla="*/ 6864263 w 6864263"/>
                <a:gd name="connsiteY4" fmla="*/ 2580363 h 3022950"/>
                <a:gd name="connsiteX0" fmla="*/ 0 w 6864263"/>
                <a:gd name="connsiteY0" fmla="*/ 2880987 h 2947794"/>
                <a:gd name="connsiteX1" fmla="*/ 2605413 w 6864263"/>
                <a:gd name="connsiteY1" fmla="*/ 2542785 h 2947794"/>
                <a:gd name="connsiteX2" fmla="*/ 5148197 w 6864263"/>
                <a:gd name="connsiteY2" fmla="*/ 0 h 2947794"/>
                <a:gd name="connsiteX3" fmla="*/ 6488482 w 6864263"/>
                <a:gd name="connsiteY3" fmla="*/ 2517733 h 2947794"/>
                <a:gd name="connsiteX4" fmla="*/ 6864263 w 6864263"/>
                <a:gd name="connsiteY4" fmla="*/ 2580363 h 2947794"/>
                <a:gd name="connsiteX0" fmla="*/ 0 w 6864263"/>
                <a:gd name="connsiteY0" fmla="*/ 2880987 h 2947794"/>
                <a:gd name="connsiteX1" fmla="*/ 2605413 w 6864263"/>
                <a:gd name="connsiteY1" fmla="*/ 2542785 h 2947794"/>
                <a:gd name="connsiteX2" fmla="*/ 5148197 w 6864263"/>
                <a:gd name="connsiteY2" fmla="*/ 0 h 2947794"/>
                <a:gd name="connsiteX3" fmla="*/ 6488482 w 6864263"/>
                <a:gd name="connsiteY3" fmla="*/ 2517733 h 2947794"/>
                <a:gd name="connsiteX4" fmla="*/ 6864263 w 6864263"/>
                <a:gd name="connsiteY4" fmla="*/ 2580363 h 2947794"/>
                <a:gd name="connsiteX0" fmla="*/ 0 w 6864263"/>
                <a:gd name="connsiteY0" fmla="*/ 2880987 h 2947794"/>
                <a:gd name="connsiteX1" fmla="*/ 2605413 w 6864263"/>
                <a:gd name="connsiteY1" fmla="*/ 2542785 h 2947794"/>
                <a:gd name="connsiteX2" fmla="*/ 5148197 w 6864263"/>
                <a:gd name="connsiteY2" fmla="*/ 0 h 2947794"/>
                <a:gd name="connsiteX3" fmla="*/ 6488482 w 6864263"/>
                <a:gd name="connsiteY3" fmla="*/ 2517733 h 2947794"/>
                <a:gd name="connsiteX4" fmla="*/ 6864263 w 6864263"/>
                <a:gd name="connsiteY4" fmla="*/ 2580363 h 2947794"/>
                <a:gd name="connsiteX0" fmla="*/ 0 w 6864263"/>
                <a:gd name="connsiteY0" fmla="*/ 3102280 h 3169087"/>
                <a:gd name="connsiteX1" fmla="*/ 2605413 w 6864263"/>
                <a:gd name="connsiteY1" fmla="*/ 2764078 h 3169087"/>
                <a:gd name="connsiteX2" fmla="*/ 4081397 w 6864263"/>
                <a:gd name="connsiteY2" fmla="*/ 1440492 h 3169087"/>
                <a:gd name="connsiteX3" fmla="*/ 5148197 w 6864263"/>
                <a:gd name="connsiteY3" fmla="*/ 221293 h 3169087"/>
                <a:gd name="connsiteX4" fmla="*/ 6488482 w 6864263"/>
                <a:gd name="connsiteY4" fmla="*/ 2739026 h 3169087"/>
                <a:gd name="connsiteX5" fmla="*/ 6864263 w 6864263"/>
                <a:gd name="connsiteY5" fmla="*/ 2801656 h 3169087"/>
                <a:gd name="connsiteX0" fmla="*/ 0 w 6864263"/>
                <a:gd name="connsiteY0" fmla="*/ 3102280 h 3169087"/>
                <a:gd name="connsiteX1" fmla="*/ 2605413 w 6864263"/>
                <a:gd name="connsiteY1" fmla="*/ 2764078 h 3169087"/>
                <a:gd name="connsiteX2" fmla="*/ 4081397 w 6864263"/>
                <a:gd name="connsiteY2" fmla="*/ 1440492 h 3169087"/>
                <a:gd name="connsiteX3" fmla="*/ 5148197 w 6864263"/>
                <a:gd name="connsiteY3" fmla="*/ 221293 h 3169087"/>
                <a:gd name="connsiteX4" fmla="*/ 6488482 w 6864263"/>
                <a:gd name="connsiteY4" fmla="*/ 2739026 h 3169087"/>
                <a:gd name="connsiteX5" fmla="*/ 6864263 w 6864263"/>
                <a:gd name="connsiteY5" fmla="*/ 2801656 h 3169087"/>
                <a:gd name="connsiteX0" fmla="*/ 0 w 6864263"/>
                <a:gd name="connsiteY0" fmla="*/ 2961362 h 3028169"/>
                <a:gd name="connsiteX1" fmla="*/ 2605413 w 6864263"/>
                <a:gd name="connsiteY1" fmla="*/ 2623160 h 3028169"/>
                <a:gd name="connsiteX2" fmla="*/ 4081397 w 6864263"/>
                <a:gd name="connsiteY2" fmla="*/ 1299574 h 3028169"/>
                <a:gd name="connsiteX3" fmla="*/ 5148197 w 6864263"/>
                <a:gd name="connsiteY3" fmla="*/ 80375 h 3028169"/>
                <a:gd name="connsiteX4" fmla="*/ 6488482 w 6864263"/>
                <a:gd name="connsiteY4" fmla="*/ 2598108 h 3028169"/>
                <a:gd name="connsiteX5" fmla="*/ 6864263 w 6864263"/>
                <a:gd name="connsiteY5" fmla="*/ 2660738 h 3028169"/>
                <a:gd name="connsiteX0" fmla="*/ 0 w 6864263"/>
                <a:gd name="connsiteY0" fmla="*/ 2961362 h 3028169"/>
                <a:gd name="connsiteX1" fmla="*/ 2605413 w 6864263"/>
                <a:gd name="connsiteY1" fmla="*/ 2623160 h 3028169"/>
                <a:gd name="connsiteX2" fmla="*/ 4081397 w 6864263"/>
                <a:gd name="connsiteY2" fmla="*/ 1299574 h 3028169"/>
                <a:gd name="connsiteX3" fmla="*/ 5148197 w 6864263"/>
                <a:gd name="connsiteY3" fmla="*/ 80375 h 3028169"/>
                <a:gd name="connsiteX4" fmla="*/ 6488482 w 6864263"/>
                <a:gd name="connsiteY4" fmla="*/ 2598108 h 3028169"/>
                <a:gd name="connsiteX5" fmla="*/ 6864263 w 6864263"/>
                <a:gd name="connsiteY5" fmla="*/ 2660738 h 3028169"/>
                <a:gd name="connsiteX0" fmla="*/ 0 w 6864263"/>
                <a:gd name="connsiteY0" fmla="*/ 2961362 h 2961362"/>
                <a:gd name="connsiteX1" fmla="*/ 2605413 w 6864263"/>
                <a:gd name="connsiteY1" fmla="*/ 2623160 h 2961362"/>
                <a:gd name="connsiteX2" fmla="*/ 4081397 w 6864263"/>
                <a:gd name="connsiteY2" fmla="*/ 1299574 h 2961362"/>
                <a:gd name="connsiteX3" fmla="*/ 5148197 w 6864263"/>
                <a:gd name="connsiteY3" fmla="*/ 80375 h 2961362"/>
                <a:gd name="connsiteX4" fmla="*/ 6488482 w 6864263"/>
                <a:gd name="connsiteY4" fmla="*/ 2598108 h 2961362"/>
                <a:gd name="connsiteX5" fmla="*/ 6864263 w 6864263"/>
                <a:gd name="connsiteY5" fmla="*/ 2660738 h 2961362"/>
                <a:gd name="connsiteX0" fmla="*/ 0 w 6930025"/>
                <a:gd name="connsiteY0" fmla="*/ 2961362 h 2961362"/>
                <a:gd name="connsiteX1" fmla="*/ 2605413 w 6930025"/>
                <a:gd name="connsiteY1" fmla="*/ 2623160 h 2961362"/>
                <a:gd name="connsiteX2" fmla="*/ 4081397 w 6930025"/>
                <a:gd name="connsiteY2" fmla="*/ 1299574 h 2961362"/>
                <a:gd name="connsiteX3" fmla="*/ 5148197 w 6930025"/>
                <a:gd name="connsiteY3" fmla="*/ 80375 h 2961362"/>
                <a:gd name="connsiteX4" fmla="*/ 6488482 w 6930025"/>
                <a:gd name="connsiteY4" fmla="*/ 2598108 h 2961362"/>
                <a:gd name="connsiteX5" fmla="*/ 6864263 w 6930025"/>
                <a:gd name="connsiteY5" fmla="*/ 2660738 h 2961362"/>
                <a:gd name="connsiteX0" fmla="*/ 0 w 6930025"/>
                <a:gd name="connsiteY0" fmla="*/ 2961362 h 2961362"/>
                <a:gd name="connsiteX1" fmla="*/ 2605413 w 6930025"/>
                <a:gd name="connsiteY1" fmla="*/ 2623160 h 2961362"/>
                <a:gd name="connsiteX2" fmla="*/ 4081397 w 6930025"/>
                <a:gd name="connsiteY2" fmla="*/ 1299574 h 2961362"/>
                <a:gd name="connsiteX3" fmla="*/ 5148197 w 6930025"/>
                <a:gd name="connsiteY3" fmla="*/ 80375 h 2961362"/>
                <a:gd name="connsiteX4" fmla="*/ 6488482 w 6930025"/>
                <a:gd name="connsiteY4" fmla="*/ 2598108 h 2961362"/>
                <a:gd name="connsiteX5" fmla="*/ 6864263 w 6930025"/>
                <a:gd name="connsiteY5" fmla="*/ 2660738 h 2961362"/>
                <a:gd name="connsiteX0" fmla="*/ 0 w 6930025"/>
                <a:gd name="connsiteY0" fmla="*/ 2961362 h 2961362"/>
                <a:gd name="connsiteX1" fmla="*/ 2605413 w 6930025"/>
                <a:gd name="connsiteY1" fmla="*/ 2623160 h 2961362"/>
                <a:gd name="connsiteX2" fmla="*/ 4081397 w 6930025"/>
                <a:gd name="connsiteY2" fmla="*/ 1299574 h 2961362"/>
                <a:gd name="connsiteX3" fmla="*/ 5148197 w 6930025"/>
                <a:gd name="connsiteY3" fmla="*/ 80375 h 2961362"/>
                <a:gd name="connsiteX4" fmla="*/ 6488482 w 6930025"/>
                <a:gd name="connsiteY4" fmla="*/ 2598108 h 2961362"/>
                <a:gd name="connsiteX5" fmla="*/ 6864263 w 6930025"/>
                <a:gd name="connsiteY5" fmla="*/ 2660738 h 2961362"/>
                <a:gd name="connsiteX0" fmla="*/ 0 w 6930025"/>
                <a:gd name="connsiteY0" fmla="*/ 2961362 h 2961362"/>
                <a:gd name="connsiteX1" fmla="*/ 2605413 w 6930025"/>
                <a:gd name="connsiteY1" fmla="*/ 2623160 h 2961362"/>
                <a:gd name="connsiteX2" fmla="*/ 4081397 w 6930025"/>
                <a:gd name="connsiteY2" fmla="*/ 1299574 h 2961362"/>
                <a:gd name="connsiteX3" fmla="*/ 5148197 w 6930025"/>
                <a:gd name="connsiteY3" fmla="*/ 80375 h 2961362"/>
                <a:gd name="connsiteX4" fmla="*/ 6488482 w 6930025"/>
                <a:gd name="connsiteY4" fmla="*/ 2598108 h 2961362"/>
                <a:gd name="connsiteX5" fmla="*/ 6864263 w 6930025"/>
                <a:gd name="connsiteY5" fmla="*/ 2660738 h 2961362"/>
                <a:gd name="connsiteX0" fmla="*/ 0 w 6930025"/>
                <a:gd name="connsiteY0" fmla="*/ 2961362 h 2961362"/>
                <a:gd name="connsiteX1" fmla="*/ 2605413 w 6930025"/>
                <a:gd name="connsiteY1" fmla="*/ 2623160 h 2961362"/>
                <a:gd name="connsiteX2" fmla="*/ 4081397 w 6930025"/>
                <a:gd name="connsiteY2" fmla="*/ 1299574 h 2961362"/>
                <a:gd name="connsiteX3" fmla="*/ 5148197 w 6930025"/>
                <a:gd name="connsiteY3" fmla="*/ 80375 h 2961362"/>
                <a:gd name="connsiteX4" fmla="*/ 6488482 w 6930025"/>
                <a:gd name="connsiteY4" fmla="*/ 2598108 h 2961362"/>
                <a:gd name="connsiteX5" fmla="*/ 6864263 w 6930025"/>
                <a:gd name="connsiteY5" fmla="*/ 2660738 h 2961362"/>
                <a:gd name="connsiteX0" fmla="*/ 0 w 6930025"/>
                <a:gd name="connsiteY0" fmla="*/ 2885162 h 3027125"/>
                <a:gd name="connsiteX1" fmla="*/ 2605413 w 6930025"/>
                <a:gd name="connsiteY1" fmla="*/ 2546960 h 3027125"/>
                <a:gd name="connsiteX2" fmla="*/ 5148197 w 6930025"/>
                <a:gd name="connsiteY2" fmla="*/ 4175 h 3027125"/>
                <a:gd name="connsiteX3" fmla="*/ 6488482 w 6930025"/>
                <a:gd name="connsiteY3" fmla="*/ 2521908 h 3027125"/>
                <a:gd name="connsiteX4" fmla="*/ 6864263 w 6930025"/>
                <a:gd name="connsiteY4" fmla="*/ 2584538 h 3027125"/>
                <a:gd name="connsiteX0" fmla="*/ 0 w 6885085"/>
                <a:gd name="connsiteY0" fmla="*/ 2885162 h 3027124"/>
                <a:gd name="connsiteX1" fmla="*/ 2605413 w 6885085"/>
                <a:gd name="connsiteY1" fmla="*/ 2546960 h 3027124"/>
                <a:gd name="connsiteX2" fmla="*/ 5257800 w 6885085"/>
                <a:gd name="connsiteY2" fmla="*/ 4175 h 3027124"/>
                <a:gd name="connsiteX3" fmla="*/ 6488482 w 6885085"/>
                <a:gd name="connsiteY3" fmla="*/ 2521908 h 3027124"/>
                <a:gd name="connsiteX4" fmla="*/ 6864263 w 6885085"/>
                <a:gd name="connsiteY4" fmla="*/ 2584538 h 3027124"/>
                <a:gd name="connsiteX0" fmla="*/ 0 w 6885085"/>
                <a:gd name="connsiteY0" fmla="*/ 2885162 h 3027125"/>
                <a:gd name="connsiteX1" fmla="*/ 2605413 w 6885085"/>
                <a:gd name="connsiteY1" fmla="*/ 2546960 h 3027125"/>
                <a:gd name="connsiteX2" fmla="*/ 5334000 w 6885085"/>
                <a:gd name="connsiteY2" fmla="*/ 4175 h 3027125"/>
                <a:gd name="connsiteX3" fmla="*/ 6488482 w 6885085"/>
                <a:gd name="connsiteY3" fmla="*/ 2521908 h 3027125"/>
                <a:gd name="connsiteX4" fmla="*/ 6864263 w 6885085"/>
                <a:gd name="connsiteY4" fmla="*/ 2584538 h 3027125"/>
                <a:gd name="connsiteX0" fmla="*/ 0 w 6885085"/>
                <a:gd name="connsiteY0" fmla="*/ 2885162 h 3027125"/>
                <a:gd name="connsiteX1" fmla="*/ 2605413 w 6885085"/>
                <a:gd name="connsiteY1" fmla="*/ 2546960 h 3027125"/>
                <a:gd name="connsiteX2" fmla="*/ 5334000 w 6885085"/>
                <a:gd name="connsiteY2" fmla="*/ 4175 h 3027125"/>
                <a:gd name="connsiteX3" fmla="*/ 6488482 w 6885085"/>
                <a:gd name="connsiteY3" fmla="*/ 2521908 h 3027125"/>
                <a:gd name="connsiteX4" fmla="*/ 6864263 w 6885085"/>
                <a:gd name="connsiteY4" fmla="*/ 2584538 h 3027125"/>
                <a:gd name="connsiteX0" fmla="*/ 0 w 6955022"/>
                <a:gd name="connsiteY0" fmla="*/ 2885162 h 3027125"/>
                <a:gd name="connsiteX1" fmla="*/ 2605413 w 6955022"/>
                <a:gd name="connsiteY1" fmla="*/ 2546960 h 3027125"/>
                <a:gd name="connsiteX2" fmla="*/ 5334000 w 6955022"/>
                <a:gd name="connsiteY2" fmla="*/ 4175 h 3027125"/>
                <a:gd name="connsiteX3" fmla="*/ 6488482 w 6955022"/>
                <a:gd name="connsiteY3" fmla="*/ 2521908 h 3027125"/>
                <a:gd name="connsiteX4" fmla="*/ 6934200 w 6955022"/>
                <a:gd name="connsiteY4" fmla="*/ 2747375 h 3027125"/>
                <a:gd name="connsiteX0" fmla="*/ 0 w 6955022"/>
                <a:gd name="connsiteY0" fmla="*/ 2885162 h 3027125"/>
                <a:gd name="connsiteX1" fmla="*/ 2605413 w 6955022"/>
                <a:gd name="connsiteY1" fmla="*/ 2546960 h 3027125"/>
                <a:gd name="connsiteX2" fmla="*/ 5334000 w 6955022"/>
                <a:gd name="connsiteY2" fmla="*/ 4175 h 3027125"/>
                <a:gd name="connsiteX3" fmla="*/ 6488482 w 6955022"/>
                <a:gd name="connsiteY3" fmla="*/ 2521908 h 3027125"/>
                <a:gd name="connsiteX4" fmla="*/ 6934200 w 6955022"/>
                <a:gd name="connsiteY4" fmla="*/ 2747375 h 3027125"/>
                <a:gd name="connsiteX0" fmla="*/ 0 w 6955022"/>
                <a:gd name="connsiteY0" fmla="*/ 2885162 h 3027125"/>
                <a:gd name="connsiteX1" fmla="*/ 2605413 w 6955022"/>
                <a:gd name="connsiteY1" fmla="*/ 2546960 h 3027125"/>
                <a:gd name="connsiteX2" fmla="*/ 5334000 w 6955022"/>
                <a:gd name="connsiteY2" fmla="*/ 4175 h 3027125"/>
                <a:gd name="connsiteX3" fmla="*/ 6488482 w 6955022"/>
                <a:gd name="connsiteY3" fmla="*/ 2521908 h 3027125"/>
                <a:gd name="connsiteX4" fmla="*/ 6934200 w 6955022"/>
                <a:gd name="connsiteY4" fmla="*/ 2747375 h 3027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5022" h="3027125">
                  <a:moveTo>
                    <a:pt x="0" y="2885162"/>
                  </a:moveTo>
                  <a:cubicBezTo>
                    <a:pt x="932145" y="2785998"/>
                    <a:pt x="1716413" y="3027125"/>
                    <a:pt x="2605413" y="2546960"/>
                  </a:cubicBezTo>
                  <a:cubicBezTo>
                    <a:pt x="3494413" y="2066796"/>
                    <a:pt x="4686822" y="8350"/>
                    <a:pt x="5334000" y="4175"/>
                  </a:cubicBezTo>
                  <a:cubicBezTo>
                    <a:pt x="5981178" y="0"/>
                    <a:pt x="6141571" y="2209087"/>
                    <a:pt x="6488482" y="2521908"/>
                  </a:cubicBezTo>
                  <a:cubicBezTo>
                    <a:pt x="6835393" y="2834729"/>
                    <a:pt x="6955022" y="2775174"/>
                    <a:pt x="6934200" y="2747375"/>
                  </a:cubicBez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969084" y="2379423"/>
              <a:ext cx="6764055" cy="3270859"/>
            </a:xfrm>
            <a:custGeom>
              <a:avLst/>
              <a:gdLst>
                <a:gd name="connsiteX0" fmla="*/ 0 w 6764055"/>
                <a:gd name="connsiteY0" fmla="*/ 3294345 h 3321485"/>
                <a:gd name="connsiteX1" fmla="*/ 3482235 w 6764055"/>
                <a:gd name="connsiteY1" fmla="*/ 3219189 h 3321485"/>
                <a:gd name="connsiteX2" fmla="*/ 4960307 w 6764055"/>
                <a:gd name="connsiteY2" fmla="*/ 2680570 h 3321485"/>
                <a:gd name="connsiteX3" fmla="*/ 6237962 w 6764055"/>
                <a:gd name="connsiteY3" fmla="*/ 375781 h 3321485"/>
                <a:gd name="connsiteX4" fmla="*/ 6764055 w 6764055"/>
                <a:gd name="connsiteY4" fmla="*/ 425885 h 3321485"/>
                <a:gd name="connsiteX5" fmla="*/ 6764055 w 6764055"/>
                <a:gd name="connsiteY5" fmla="*/ 425885 h 3321485"/>
                <a:gd name="connsiteX0" fmla="*/ 0 w 6764055"/>
                <a:gd name="connsiteY0" fmla="*/ 3257289 h 3321485"/>
                <a:gd name="connsiteX1" fmla="*/ 3482235 w 6764055"/>
                <a:gd name="connsiteY1" fmla="*/ 3182133 h 3321485"/>
                <a:gd name="connsiteX2" fmla="*/ 4552167 w 6764055"/>
                <a:gd name="connsiteY2" fmla="*/ 2421177 h 3321485"/>
                <a:gd name="connsiteX3" fmla="*/ 6237962 w 6764055"/>
                <a:gd name="connsiteY3" fmla="*/ 338725 h 3321485"/>
                <a:gd name="connsiteX4" fmla="*/ 6764055 w 6764055"/>
                <a:gd name="connsiteY4" fmla="*/ 388829 h 3321485"/>
                <a:gd name="connsiteX5" fmla="*/ 6764055 w 6764055"/>
                <a:gd name="connsiteY5" fmla="*/ 388829 h 3321485"/>
                <a:gd name="connsiteX0" fmla="*/ 0 w 6764055"/>
                <a:gd name="connsiteY0" fmla="*/ 3257289 h 3270859"/>
                <a:gd name="connsiteX1" fmla="*/ 3256767 w 6764055"/>
                <a:gd name="connsiteY1" fmla="*/ 3106977 h 3270859"/>
                <a:gd name="connsiteX2" fmla="*/ 4552167 w 6764055"/>
                <a:gd name="connsiteY2" fmla="*/ 2421177 h 3270859"/>
                <a:gd name="connsiteX3" fmla="*/ 6237962 w 6764055"/>
                <a:gd name="connsiteY3" fmla="*/ 338725 h 3270859"/>
                <a:gd name="connsiteX4" fmla="*/ 6764055 w 6764055"/>
                <a:gd name="connsiteY4" fmla="*/ 388829 h 3270859"/>
                <a:gd name="connsiteX5" fmla="*/ 6764055 w 6764055"/>
                <a:gd name="connsiteY5" fmla="*/ 388829 h 327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64055" h="3270859">
                  <a:moveTo>
                    <a:pt x="0" y="3257289"/>
                  </a:moveTo>
                  <a:cubicBezTo>
                    <a:pt x="1327758" y="3270859"/>
                    <a:pt x="2498072" y="3246329"/>
                    <a:pt x="3256767" y="3106977"/>
                  </a:cubicBezTo>
                  <a:cubicBezTo>
                    <a:pt x="4015462" y="2967625"/>
                    <a:pt x="4055301" y="2882552"/>
                    <a:pt x="4552167" y="2421177"/>
                  </a:cubicBezTo>
                  <a:cubicBezTo>
                    <a:pt x="5049033" y="1959802"/>
                    <a:pt x="5869314" y="677450"/>
                    <a:pt x="6237962" y="338725"/>
                  </a:cubicBezTo>
                  <a:cubicBezTo>
                    <a:pt x="6606610" y="0"/>
                    <a:pt x="6764055" y="388829"/>
                    <a:pt x="6764055" y="388829"/>
                  </a:cubicBezTo>
                  <a:lnTo>
                    <a:pt x="6764055" y="388829"/>
                  </a:ln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6532" y="2466975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50%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6532" y="305611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40%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6532" y="3645257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30%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0120" y="4234398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20%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3325" y="4823539"/>
              <a:ext cx="623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10%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8360" y="5412679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0%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1440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ניתוח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10312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תכנון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29184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תכנות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8056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ניפוי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66928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בדיקות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858000" y="1905000"/>
              <a:ext cx="990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שימוש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879569" y="3087469"/>
              <a:ext cx="8467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הכנסת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שגיאות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ב-%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70369" y="2971800"/>
              <a:ext cx="8467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גילוי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שגיאות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ב-%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04177" y="2734270"/>
              <a:ext cx="8467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עלות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שגיאות</a:t>
              </a:r>
            </a:p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ב-$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6019800" y="6019800"/>
              <a:ext cx="1600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5428291" y="6031468"/>
              <a:ext cx="213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ציר הזמן (לא ליניארי)</a:t>
              </a:r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850819" y="2514600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12.5K$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025547" y="3103741"/>
              <a:ext cx="69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10K$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954759" y="3692882"/>
              <a:ext cx="7652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7.5K$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50581" y="4282023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5K$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75855" y="4871164"/>
              <a:ext cx="744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2.5K$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10267" y="5460304"/>
              <a:ext cx="3097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0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2273867" y="6449345"/>
            <a:ext cx="381877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/>
            <a:r>
              <a:rPr lang="en-US" sz="1100">
                <a:solidFill>
                  <a:srgbClr val="2A2A8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https://www.riceconsulting.com/public_pdf/STBC-WM.pdf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047" y="-250582"/>
            <a:ext cx="8810953" cy="1362808"/>
          </a:xfrm>
        </p:spPr>
        <p:txBody>
          <a:bodyPr>
            <a:normAutofit/>
          </a:bodyPr>
          <a:lstStyle/>
          <a:p>
            <a:r>
              <a:rPr lang="he-IL" sz="3600" err="1"/>
              <a:t>תוכנית</a:t>
            </a:r>
            <a:r>
              <a:rPr lang="he-IL" sz="3600"/>
              <a:t> הקורס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>
          <a:xfrm>
            <a:off x="152399" y="152399"/>
            <a:ext cx="518291" cy="545123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9</a:t>
            </a:fld>
            <a:endParaRPr lang="he-IL"/>
          </a:p>
        </p:txBody>
      </p:sp>
      <p:cxnSp>
        <p:nvCxnSpPr>
          <p:cNvPr id="10" name="Straight Arrow Connector 9"/>
          <p:cNvCxnSpPr>
            <a:stCxn id="32" idx="1"/>
          </p:cNvCxnSpPr>
          <p:nvPr/>
        </p:nvCxnSpPr>
        <p:spPr>
          <a:xfrm rot="10800000" flipV="1">
            <a:off x="4926128" y="2762250"/>
            <a:ext cx="1371600" cy="933450"/>
          </a:xfrm>
          <a:prstGeom prst="bentConnector2">
            <a:avLst/>
          </a:prstGeom>
          <a:ln w="57150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4" idx="1"/>
          </p:cNvCxnSpPr>
          <p:nvPr/>
        </p:nvCxnSpPr>
        <p:spPr>
          <a:xfrm flipH="1" flipV="1">
            <a:off x="5724257" y="4149969"/>
            <a:ext cx="573471" cy="21981"/>
          </a:xfrm>
          <a:prstGeom prst="straightConnector1">
            <a:avLst/>
          </a:prstGeom>
          <a:ln w="57150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5" idx="1"/>
          </p:cNvCxnSpPr>
          <p:nvPr/>
        </p:nvCxnSpPr>
        <p:spPr>
          <a:xfrm rot="10800000">
            <a:off x="4926128" y="4604238"/>
            <a:ext cx="1371600" cy="977412"/>
          </a:xfrm>
          <a:prstGeom prst="bentConnector2">
            <a:avLst/>
          </a:prstGeom>
          <a:ln w="57150"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97728" y="2171700"/>
            <a:ext cx="2505075" cy="1181100"/>
          </a:xfrm>
          <a:prstGeom prst="round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מערכות מקביליות באמצעות שזירת מערכות מעברים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328" y="2171700"/>
            <a:ext cx="2505075" cy="1181100"/>
          </a:xfrm>
          <a:prstGeom prst="roundRect">
            <a:avLst/>
          </a:prstGeom>
          <a:solidFill>
            <a:srgbClr val="0070C0"/>
          </a:solidFill>
          <a:ln>
            <a:solidFill>
              <a:srgbClr val="2A2A8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אפיון סוגי תכונות של מערכות מעברים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8328" y="3695700"/>
            <a:ext cx="2245929" cy="908538"/>
          </a:xfrm>
          <a:prstGeom prst="rect">
            <a:avLst/>
          </a:prstGeom>
          <a:ln w="381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מעברים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Transition Systems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97728" y="3581400"/>
            <a:ext cx="2505075" cy="1181100"/>
          </a:xfrm>
          <a:prstGeom prst="round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תוכנה באמצעות "גרף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(סוג של תרשים זרימה)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0328" y="3581400"/>
            <a:ext cx="2505075" cy="1181100"/>
          </a:xfrm>
          <a:prstGeom prst="roundRect">
            <a:avLst/>
          </a:prstGeom>
          <a:solidFill>
            <a:srgbClr val="0070C0"/>
          </a:solidFill>
          <a:ln>
            <a:solidFill>
              <a:srgbClr val="2A2A8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אלגוריתמים לבדיקה אם מערכת מעברים מקיימת תכונות רצויות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7728" y="4991100"/>
            <a:ext cx="2505075" cy="1181100"/>
          </a:xfrm>
          <a:prstGeom prst="round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מערכות מבוזרות באמצעות שפת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Promela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0328" y="4991100"/>
            <a:ext cx="2505075" cy="1181100"/>
          </a:xfrm>
          <a:prstGeom prst="roundRect">
            <a:avLst/>
          </a:prstGeom>
          <a:solidFill>
            <a:srgbClr val="0070C0"/>
          </a:solidFill>
          <a:ln>
            <a:solidFill>
              <a:srgbClr val="2A2A8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לוגיקת זמן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Temporal Logic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0" name="Elbow Connector 59"/>
          <p:cNvCxnSpPr>
            <a:stCxn id="52" idx="3"/>
          </p:cNvCxnSpPr>
          <p:nvPr/>
        </p:nvCxnSpPr>
        <p:spPr>
          <a:xfrm>
            <a:off x="2935403" y="2762250"/>
            <a:ext cx="1371600" cy="933450"/>
          </a:xfrm>
          <a:prstGeom prst="bentConnector2">
            <a:avLst/>
          </a:prstGeom>
          <a:ln w="57150">
            <a:solidFill>
              <a:srgbClr val="002060"/>
            </a:solidFill>
            <a:headEnd type="triangl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55" idx="3"/>
          </p:cNvCxnSpPr>
          <p:nvPr/>
        </p:nvCxnSpPr>
        <p:spPr>
          <a:xfrm flipV="1">
            <a:off x="2935403" y="4604238"/>
            <a:ext cx="1371600" cy="977412"/>
          </a:xfrm>
          <a:prstGeom prst="bentConnector2">
            <a:avLst/>
          </a:prstGeom>
          <a:ln w="57150">
            <a:solidFill>
              <a:srgbClr val="002060"/>
            </a:solidFill>
            <a:headEnd type="triangl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99" name="Straight Arrow Connector 4098"/>
          <p:cNvCxnSpPr>
            <a:stCxn id="53" idx="3"/>
          </p:cNvCxnSpPr>
          <p:nvPr/>
        </p:nvCxnSpPr>
        <p:spPr>
          <a:xfrm flipV="1">
            <a:off x="2935403" y="4149969"/>
            <a:ext cx="542925" cy="21981"/>
          </a:xfrm>
          <a:prstGeom prst="straightConnector1">
            <a:avLst/>
          </a:prstGeom>
          <a:ln w="57150">
            <a:solidFill>
              <a:srgbClr val="002060"/>
            </a:solidFill>
            <a:headEnd type="triangl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01" name="TextBox 4100"/>
          <p:cNvSpPr txBox="1"/>
          <p:nvPr/>
        </p:nvSpPr>
        <p:spPr>
          <a:xfrm>
            <a:off x="-16164" y="1524000"/>
            <a:ext cx="324042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solidFill>
                  <a:srgbClr val="2A2A8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ניתוח עמידה בדרישות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97604" y="1541471"/>
            <a:ext cx="364747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תיאור פורמלי של מערכת</a:t>
            </a:r>
          </a:p>
        </p:txBody>
      </p:sp>
    </p:spTree>
    <p:extLst>
      <p:ext uri="{BB962C8B-B14F-4D97-AF65-F5344CB8AC3E}">
        <p14:creationId xmlns:p14="http://schemas.microsoft.com/office/powerpoint/2010/main" val="1517555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2" grpId="0" animBg="1"/>
      <p:bldP spid="19" grpId="0" animBg="1"/>
      <p:bldP spid="34" grpId="0" animBg="1"/>
      <p:bldP spid="53" grpId="0" animBg="1"/>
      <p:bldP spid="35" grpId="0" animBg="1"/>
      <p:bldP spid="55" grpId="0" animBg="1"/>
      <p:bldP spid="4101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sz="3600"/>
              <a:t>אימות באמצעות בדיקות מודל</a:t>
            </a:r>
            <a:br>
              <a:rPr lang="en-US" sz="3600" b="1"/>
            </a:br>
            <a:r>
              <a:rPr lang="he-IL" sz="3600" b="1"/>
              <a:t> (</a:t>
            </a:r>
            <a:r>
              <a:rPr lang="en-US" sz="3600"/>
              <a:t>Model Checking</a:t>
            </a:r>
            <a:r>
              <a:rPr lang="he-IL" sz="3600"/>
              <a:t>)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10</a:t>
            </a:fld>
            <a:endParaRPr lang="he-IL"/>
          </a:p>
        </p:txBody>
      </p:sp>
      <p:sp>
        <p:nvSpPr>
          <p:cNvPr id="4" name="Oval 3"/>
          <p:cNvSpPr/>
          <p:nvPr/>
        </p:nvSpPr>
        <p:spPr>
          <a:xfrm>
            <a:off x="5715000" y="1524000"/>
            <a:ext cx="1219200" cy="762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27813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6" name="Oval 5"/>
          <p:cNvSpPr/>
          <p:nvPr/>
        </p:nvSpPr>
        <p:spPr>
          <a:xfrm>
            <a:off x="4785360" y="54864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2780" y="3810000"/>
            <a:ext cx="1905000" cy="914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1257300" y="1524000"/>
            <a:ext cx="1219200" cy="762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1100" y="27813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18" name="Oval 17"/>
          <p:cNvSpPr/>
          <p:nvPr/>
        </p:nvSpPr>
        <p:spPr>
          <a:xfrm>
            <a:off x="990600" y="3886200"/>
            <a:ext cx="17526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19" name="Oval 18"/>
          <p:cNvSpPr/>
          <p:nvPr/>
        </p:nvSpPr>
        <p:spPr>
          <a:xfrm>
            <a:off x="5562600" y="3886200"/>
            <a:ext cx="1524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4200" y="559308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23" name="Oval 22"/>
          <p:cNvSpPr/>
          <p:nvPr/>
        </p:nvSpPr>
        <p:spPr>
          <a:xfrm>
            <a:off x="2042160" y="54864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14" name="Straight Arrow Connector 13"/>
          <p:cNvCxnSpPr>
            <a:endCxn id="17" idx="0"/>
          </p:cNvCxnSpPr>
          <p:nvPr/>
        </p:nvCxnSpPr>
        <p:spPr>
          <a:xfrm rot="5400000">
            <a:off x="1619250" y="25336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7" idx="2"/>
            <a:endCxn id="18" idx="0"/>
          </p:cNvCxnSpPr>
          <p:nvPr/>
        </p:nvCxnSpPr>
        <p:spPr>
          <a:xfrm rot="5400000">
            <a:off x="1588770" y="36080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5" idx="0"/>
          </p:cNvCxnSpPr>
          <p:nvPr/>
        </p:nvCxnSpPr>
        <p:spPr>
          <a:xfrm rot="5400000">
            <a:off x="6076950" y="25336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2"/>
            <a:endCxn id="19" idx="0"/>
          </p:cNvCxnSpPr>
          <p:nvPr/>
        </p:nvCxnSpPr>
        <p:spPr>
          <a:xfrm rot="5400000">
            <a:off x="6046470" y="36080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2"/>
            <a:endCxn id="7" idx="3"/>
          </p:cNvCxnSpPr>
          <p:nvPr/>
        </p:nvCxnSpPr>
        <p:spPr>
          <a:xfrm rot="10800000">
            <a:off x="5097780" y="4267200"/>
            <a:ext cx="46482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6"/>
            <a:endCxn id="7" idx="1"/>
          </p:cNvCxnSpPr>
          <p:nvPr/>
        </p:nvCxnSpPr>
        <p:spPr>
          <a:xfrm>
            <a:off x="2743200" y="4267200"/>
            <a:ext cx="4495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2"/>
            <a:endCxn id="23" idx="7"/>
          </p:cNvCxnSpPr>
          <p:nvPr/>
        </p:nvCxnSpPr>
        <p:spPr>
          <a:xfrm rot="5400000">
            <a:off x="3281316" y="4734028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2"/>
            <a:endCxn id="6" idx="1"/>
          </p:cNvCxnSpPr>
          <p:nvPr/>
        </p:nvCxnSpPr>
        <p:spPr>
          <a:xfrm rot="16200000" flipH="1">
            <a:off x="4135652" y="4734027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6"/>
            <a:endCxn id="20" idx="1"/>
          </p:cNvCxnSpPr>
          <p:nvPr/>
        </p:nvCxnSpPr>
        <p:spPr>
          <a:xfrm>
            <a:off x="6248400" y="58674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hape 53"/>
          <p:cNvCxnSpPr>
            <a:stCxn id="19" idx="6"/>
            <a:endCxn id="20" idx="0"/>
          </p:cNvCxnSpPr>
          <p:nvPr/>
        </p:nvCxnSpPr>
        <p:spPr>
          <a:xfrm>
            <a:off x="7086600" y="4267200"/>
            <a:ext cx="533400" cy="13258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20" idx="3"/>
            <a:endCxn id="5" idx="3"/>
          </p:cNvCxnSpPr>
          <p:nvPr/>
        </p:nvCxnSpPr>
        <p:spPr>
          <a:xfrm flipH="1" flipV="1">
            <a:off x="7010400" y="3055620"/>
            <a:ext cx="1295400" cy="2811780"/>
          </a:xfrm>
          <a:prstGeom prst="bentConnector3">
            <a:avLst>
              <a:gd name="adj1" fmla="val -1764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0" idx="3"/>
            <a:endCxn id="4" idx="6"/>
          </p:cNvCxnSpPr>
          <p:nvPr/>
        </p:nvCxnSpPr>
        <p:spPr>
          <a:xfrm flipH="1" flipV="1">
            <a:off x="6934200" y="1905000"/>
            <a:ext cx="1371600" cy="3962400"/>
          </a:xfrm>
          <a:prstGeom prst="bentConnector3">
            <a:avLst>
              <a:gd name="adj1" fmla="val -1666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20" idx="2"/>
            <a:endCxn id="16" idx="2"/>
          </p:cNvCxnSpPr>
          <p:nvPr/>
        </p:nvCxnSpPr>
        <p:spPr>
          <a:xfrm rot="5400000" flipH="1">
            <a:off x="2320290" y="842010"/>
            <a:ext cx="4236720" cy="6362700"/>
          </a:xfrm>
          <a:prstGeom prst="bentConnector4">
            <a:avLst>
              <a:gd name="adj1" fmla="val -7594"/>
              <a:gd name="adj2" fmla="val 114771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17" idx="1"/>
          </p:cNvCxnSpPr>
          <p:nvPr/>
        </p:nvCxnSpPr>
        <p:spPr>
          <a:xfrm>
            <a:off x="304800" y="305562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121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ספרות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11</a:t>
            </a:fld>
            <a:endParaRPr lang="he-IL"/>
          </a:p>
        </p:txBody>
      </p:sp>
      <p:pic>
        <p:nvPicPr>
          <p:cNvPr id="49154" name="Picture 2" descr="http://mitpress.mit.edu/images/products/books/9780262026499-medium.jpg">
            <a:hlinkClick r:id="rId2" tooltip="View large cover.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478280"/>
            <a:ext cx="1327356" cy="1645920"/>
          </a:xfrm>
          <a:prstGeom prst="rect">
            <a:avLst/>
          </a:prstGeom>
          <a:noFill/>
        </p:spPr>
      </p:pic>
      <p:pic>
        <p:nvPicPr>
          <p:cNvPr id="49156" name="Picture 4" descr="http://mitpress.mit.edu/images/products/books/9780262032704-medium.jpg">
            <a:hlinkClick r:id="rId4" tooltip="View large cover.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12480" y="1478280"/>
            <a:ext cx="1435392" cy="1645920"/>
          </a:xfrm>
          <a:prstGeom prst="rect">
            <a:avLst/>
          </a:prstGeom>
          <a:noFill/>
        </p:spPr>
      </p:pic>
      <p:pic>
        <p:nvPicPr>
          <p:cNvPr id="49161" name="Picture 9" descr="Cover Imag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94796" y="1478280"/>
            <a:ext cx="1097280" cy="1645920"/>
          </a:xfrm>
          <a:prstGeom prst="rect">
            <a:avLst/>
          </a:prstGeom>
          <a:noFill/>
        </p:spPr>
      </p:pic>
      <p:pic>
        <p:nvPicPr>
          <p:cNvPr id="49162" name="Picture 10" descr="Cover Imag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39001" y="1478280"/>
            <a:ext cx="1098648" cy="1645920"/>
          </a:xfrm>
          <a:prstGeom prst="rect">
            <a:avLst/>
          </a:prstGeom>
          <a:noFill/>
        </p:spPr>
      </p:pic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457200" y="3947755"/>
            <a:ext cx="8534400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Christel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Baier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and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Joost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-Pieter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Katoen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. Principles of Model Checking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Edmund M. Clarke,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Orna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Grumberg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and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Doron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A.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Peled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. Model Checking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Zohar Manna and Amir </a:t>
            </a:r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Pnueli</a:t>
            </a:r>
            <a:r>
              <a:rPr lang="en-US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,Temporal Verification of Reactive Systems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371600" y="1143000"/>
            <a:ext cx="228600" cy="228600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5-Point Star 11"/>
          <p:cNvSpPr/>
          <p:nvPr/>
        </p:nvSpPr>
        <p:spPr>
          <a:xfrm>
            <a:off x="234772" y="3975278"/>
            <a:ext cx="228600" cy="228600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745" y="3819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תקלות תוכנה גורמות להפסד כספי אדיר</a:t>
            </a:r>
            <a:br>
              <a:rPr lang="he-IL"/>
            </a:br>
            <a:r>
              <a:rPr lang="he-IL"/>
              <a:t> ולאובדן חיי אדם!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12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7891" y="1809929"/>
            <a:ext cx="8511309" cy="4743271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he-IL"/>
              <a:t>ההסתמכות שלנו על תפקודן של מערכות מחשב גדל במהירות</a:t>
            </a:r>
          </a:p>
          <a:p>
            <a:pPr>
              <a:spcAft>
                <a:spcPts val="1800"/>
              </a:spcAft>
            </a:pPr>
            <a:r>
              <a:rPr lang="he-IL"/>
              <a:t>מערכות אלו הופכות להיות יותר ויותר מורכבות ועם המורכבות נוצרת בעיה של ריבוי שגיאות לוגיות בתוכנה ובעקבותיהן תקלות</a:t>
            </a:r>
          </a:p>
          <a:p>
            <a:pPr>
              <a:spcAft>
                <a:spcPts val="1800"/>
              </a:spcAft>
            </a:pPr>
            <a:r>
              <a:rPr lang="he-IL">
                <a:solidFill>
                  <a:srgbClr val="FF0000"/>
                </a:solidFill>
              </a:rPr>
              <a:t>השיטות הקלאסיות (בדיקות) אינן נותנות מענה מספיק לצרכים:</a:t>
            </a:r>
          </a:p>
          <a:p>
            <a:pPr>
              <a:spcAft>
                <a:spcPts val="1800"/>
              </a:spcAft>
            </a:pPr>
            <a:endParaRPr lang="he-IL">
              <a:solidFill>
                <a:srgbClr val="FF0000"/>
              </a:solidFill>
            </a:endParaRPr>
          </a:p>
          <a:p>
            <a:pPr>
              <a:spcAft>
                <a:spcPts val="1800"/>
              </a:spcAft>
            </a:pPr>
            <a:br>
              <a:rPr lang="en-US">
                <a:solidFill>
                  <a:srgbClr val="FF0000"/>
                </a:solidFill>
              </a:rPr>
            </a:br>
            <a:endParaRPr lang="he-IL">
              <a:solidFill>
                <a:srgbClr val="FF0000"/>
              </a:solidFill>
            </a:endParaRPr>
          </a:p>
          <a:p>
            <a:pPr>
              <a:spcAft>
                <a:spcPts val="1800"/>
              </a:spcAft>
            </a:pPr>
            <a:r>
              <a:rPr lang="he-IL">
                <a:solidFill>
                  <a:srgbClr val="0137D1"/>
                </a:solidFill>
              </a:rPr>
              <a:t>בקורס נלמד על גישה לפתרון הבעיה...</a:t>
            </a:r>
          </a:p>
          <a:p>
            <a:pPr>
              <a:spcAft>
                <a:spcPts val="1800"/>
              </a:spcAft>
            </a:pPr>
            <a:endParaRPr lang="he-IL"/>
          </a:p>
          <a:p>
            <a:pPr marL="0" indent="0">
              <a:spcAft>
                <a:spcPts val="1800"/>
              </a:spcAft>
              <a:buNone/>
            </a:pPr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1066800" y="4187158"/>
            <a:ext cx="7437760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תלות גוברת במערכות מחשב ברכבים אוטונומיים, בכורים אטומיים, במערכות חלל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וכו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', הופכת את</a:t>
            </a:r>
          </a:p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אמינות הפעולה שלהן לבעלת חשיבות חברתית משמעותית</a:t>
            </a:r>
          </a:p>
        </p:txBody>
      </p:sp>
      <p:pic>
        <p:nvPicPr>
          <p:cNvPr id="3074" name="Picture 2" descr="http://www.lev-hamisrad.co.il/userfiles/tav-teken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5486517"/>
            <a:ext cx="1010160" cy="114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88308"/>
            <a:ext cx="8229600" cy="1143000"/>
          </a:xfrm>
        </p:spPr>
        <p:txBody>
          <a:bodyPr>
            <a:normAutofit/>
          </a:bodyPr>
          <a:lstStyle/>
          <a:p>
            <a:r>
              <a:rPr lang="he-IL"/>
              <a:t>מערכת תגובתית (</a:t>
            </a:r>
            <a:r>
              <a:rPr lang="en-US"/>
              <a:t>Reactive System</a:t>
            </a:r>
            <a:r>
              <a:rPr lang="he-IL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13</a:t>
            </a:fld>
            <a:endParaRPr lang="he-IL"/>
          </a:p>
        </p:txBody>
      </p:sp>
      <p:pic>
        <p:nvPicPr>
          <p:cNvPr id="4100" name="Picture 4" descr="http://globe-views.com/dcim/dreams/cactus/cactus-02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EFFF9"/>
              </a:clrFrom>
              <a:clrTo>
                <a:srgbClr val="FE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7"/>
          <a:stretch/>
        </p:blipFill>
        <p:spPr bwMode="auto">
          <a:xfrm>
            <a:off x="2362200" y="1219200"/>
            <a:ext cx="4114800" cy="4038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381796" y="2156344"/>
            <a:ext cx="436970" cy="29670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3964423" y="1655649"/>
            <a:ext cx="218485" cy="35234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692706" y="1442390"/>
            <a:ext cx="145657" cy="47287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129676" y="2063620"/>
            <a:ext cx="518902" cy="296709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381796" y="3027923"/>
            <a:ext cx="436970" cy="9272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275334" y="2898113"/>
            <a:ext cx="436969" cy="12981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129676" y="3314700"/>
            <a:ext cx="518902" cy="251008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527453" y="3416259"/>
            <a:ext cx="436971" cy="17232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2400" y="5562600"/>
            <a:ext cx="8980344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400">
                <a:solidFill>
                  <a:srgbClr val="00642D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הקולטת, כל הזמן, אירועים מהסביבה ומגיבה אליהם</a:t>
            </a:r>
          </a:p>
          <a:p>
            <a:pPr algn="ctr"/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בניגוד למערכת המקבלת קלט בהתחלה, מעבדת אותו ומייצרת פלט בסוף</a:t>
            </a:r>
          </a:p>
        </p:txBody>
      </p:sp>
    </p:spTree>
    <p:extLst>
      <p:ext uri="{BB962C8B-B14F-4D97-AF65-F5344CB8AC3E}">
        <p14:creationId xmlns:p14="http://schemas.microsoft.com/office/powerpoint/2010/main" val="95963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14</a:t>
            </a:fld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1027112" y="1371600"/>
            <a:ext cx="7162800" cy="138499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בשלושת השקפים הבאים נראה דוגמאות לאסונות שהיו יכולים </a:t>
            </a:r>
            <a:r>
              <a:rPr lang="he-IL" sz="2800" err="1">
                <a:latin typeface="Gisha" panose="020B0502040204020203" pitchFamily="34" charset="-79"/>
                <a:cs typeface="Gisha" panose="020B0502040204020203" pitchFamily="34" charset="-79"/>
              </a:rPr>
              <a:t>להמנע</a:t>
            </a:r>
            <a:b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אם יותר מהנדסים היו משתתפים בקורס שלנו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  <a:sym typeface="Wingdings" panose="05000000000000000000" pitchFamily="2" charset="2"/>
              </a:rPr>
              <a:t></a:t>
            </a:r>
            <a:endParaRPr lang="he-IL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http://www.iapb.org/sites/iapb.org/files/Communications/NAB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24200"/>
            <a:ext cx="4035425" cy="338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69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he-IL"/>
              <a:t>דוגמה: קרינת יתר במכונת </a:t>
            </a:r>
            <a:r>
              <a:rPr lang="en-US"/>
              <a:t> Therac-25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15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066800"/>
            <a:ext cx="9067800" cy="342900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 sz="2800"/>
              <a:t>מכונת הקרנה לטיפול בחולי סרטן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 sz="2800"/>
              <a:t>לפחות שישה מקרי מינון יתר (פי כמה מאות מהמותר)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 sz="2800"/>
              <a:t>לפחות </a:t>
            </a:r>
            <a:r>
              <a:rPr lang="he-IL" sz="2800">
                <a:solidFill>
                  <a:srgbClr val="FF0000"/>
                </a:solidFill>
              </a:rPr>
              <a:t>שלושה חולי סרטן נפטרו!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 sz="2800"/>
              <a:t>מקור: שגיאה בתוכנת הבקרה (</a:t>
            </a:r>
            <a:r>
              <a:rPr lang="en-US" sz="2800">
                <a:solidFill>
                  <a:srgbClr val="0137D1"/>
                </a:solidFill>
              </a:rPr>
              <a:t>race condition</a:t>
            </a:r>
            <a:r>
              <a:rPr lang="he-IL" sz="2800"/>
              <a:t>)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 sz="2800"/>
              <a:t>לאחר תיקון התקלה נמצא באג נוסף של גלישת מונה (</a:t>
            </a:r>
            <a:r>
              <a:rPr lang="en-US" sz="2800">
                <a:solidFill>
                  <a:srgbClr val="0137D1"/>
                </a:solidFill>
              </a:rPr>
              <a:t>overflow</a:t>
            </a:r>
            <a:r>
              <a:rPr lang="he-IL" sz="2800"/>
              <a:t>)</a:t>
            </a:r>
            <a:endParaRPr lang="en-US" sz="2800"/>
          </a:p>
        </p:txBody>
      </p:sp>
      <p:pic>
        <p:nvPicPr>
          <p:cNvPr id="1026" name="Picture 2" descr="http://idg.bg/test/cwd/2008/7/14/21367-radiation_therap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800600"/>
            <a:ext cx="3200400" cy="1763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03665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דוגמה: נפילת רשת </a:t>
            </a:r>
            <a:r>
              <a:rPr lang="en-US"/>
              <a:t>AT&amp;T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16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305800" cy="45259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he-IL" sz="2800"/>
              <a:t>תקלה בעיר ניו-יורק גרמה להשבתת חלקים</a:t>
            </a:r>
            <a:r>
              <a:rPr lang="en-US" sz="2800"/>
              <a:t> </a:t>
            </a:r>
            <a:r>
              <a:rPr lang="he-IL" sz="2800"/>
              <a:t>גדולים מרשת הטלפוניה בארצות הברית למשך </a:t>
            </a:r>
            <a:r>
              <a:rPr lang="en-US" sz="2800"/>
              <a:t>9</a:t>
            </a:r>
            <a:r>
              <a:rPr lang="he-IL" sz="2800"/>
              <a:t> שעות</a:t>
            </a:r>
          </a:p>
          <a:p>
            <a:pPr>
              <a:spcBef>
                <a:spcPts val="1800"/>
              </a:spcBef>
            </a:pPr>
            <a:r>
              <a:rPr lang="he-IL" sz="2800"/>
              <a:t>עלות: </a:t>
            </a:r>
            <a:r>
              <a:rPr lang="he-IL" sz="2800">
                <a:solidFill>
                  <a:srgbClr val="FF0000"/>
                </a:solidFill>
              </a:rPr>
              <a:t>מאות מיליוני דולרים</a:t>
            </a:r>
          </a:p>
          <a:p>
            <a:pPr>
              <a:spcBef>
                <a:spcPts val="1800"/>
              </a:spcBef>
            </a:pPr>
            <a:r>
              <a:rPr lang="he-IL" sz="2800"/>
              <a:t>גורם: שגיאת תוכנה (</a:t>
            </a:r>
            <a:r>
              <a:rPr lang="he-IL" sz="2800">
                <a:solidFill>
                  <a:srgbClr val="0137D1"/>
                </a:solidFill>
              </a:rPr>
              <a:t>פרוש שגוי של פקודת </a:t>
            </a:r>
            <a:r>
              <a:rPr lang="en-US" sz="2800">
                <a:solidFill>
                  <a:srgbClr val="0137D1"/>
                </a:solidFill>
              </a:rPr>
              <a:t>break</a:t>
            </a:r>
            <a:r>
              <a:rPr lang="he-IL" sz="2800">
                <a:solidFill>
                  <a:srgbClr val="0137D1"/>
                </a:solidFill>
              </a:rPr>
              <a:t> ב-</a:t>
            </a:r>
            <a:r>
              <a:rPr lang="en-US" sz="2800">
                <a:solidFill>
                  <a:srgbClr val="0137D1"/>
                </a:solidFill>
              </a:rPr>
              <a:t>C</a:t>
            </a:r>
            <a:r>
              <a:rPr lang="he-IL" sz="2800"/>
              <a:t>)</a:t>
            </a:r>
          </a:p>
        </p:txBody>
      </p:sp>
      <p:pic>
        <p:nvPicPr>
          <p:cNvPr id="15362" name="Picture 2" descr="http://www.corp.att.com/history/images/milestone_1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4191000"/>
            <a:ext cx="3505200" cy="233116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דוגמה: התרסקות הטיל </a:t>
            </a:r>
            <a:r>
              <a:rPr lang="en-US" err="1"/>
              <a:t>Ariane</a:t>
            </a:r>
            <a:r>
              <a:rPr lang="en-US"/>
              <a:t> 5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17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166018"/>
            <a:ext cx="8915400" cy="452596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he-IL"/>
              <a:t>עלות: </a:t>
            </a:r>
            <a:r>
              <a:rPr lang="he-IL">
                <a:solidFill>
                  <a:srgbClr val="FF0000"/>
                </a:solidFill>
              </a:rPr>
              <a:t>יותר מ-500 </a:t>
            </a:r>
            <a:r>
              <a:rPr lang="he-IL" err="1">
                <a:solidFill>
                  <a:srgbClr val="FF0000"/>
                </a:solidFill>
              </a:rPr>
              <a:t>מליון</a:t>
            </a:r>
            <a:r>
              <a:rPr lang="he-IL">
                <a:solidFill>
                  <a:srgbClr val="FF0000"/>
                </a:solidFill>
              </a:rPr>
              <a:t> יורו</a:t>
            </a:r>
          </a:p>
          <a:p>
            <a:pPr>
              <a:spcBef>
                <a:spcPts val="1200"/>
              </a:spcBef>
            </a:pPr>
            <a:r>
              <a:rPr lang="he-IL"/>
              <a:t>מקור: שגיאה בתוכנת הבקרה</a:t>
            </a:r>
          </a:p>
          <a:p>
            <a:pPr>
              <a:spcBef>
                <a:spcPts val="1200"/>
              </a:spcBef>
            </a:pPr>
            <a:r>
              <a:rPr lang="he-IL"/>
              <a:t>המרה שגויה מ-</a:t>
            </a:r>
            <a:r>
              <a:rPr lang="en-US"/>
              <a:t>floating point</a:t>
            </a:r>
            <a:r>
              <a:rPr lang="he-IL"/>
              <a:t> ל-</a:t>
            </a:r>
            <a:r>
              <a:rPr lang="en-US"/>
              <a:t>signed integer</a:t>
            </a:r>
          </a:p>
          <a:p>
            <a:pPr>
              <a:spcBef>
                <a:spcPts val="1200"/>
              </a:spcBef>
            </a:pPr>
            <a:r>
              <a:rPr lang="he-IL"/>
              <a:t>משיקולי יעילות, הוחלט לנטרל קוד טיפול אוטומטי הקיים</a:t>
            </a:r>
            <a:r>
              <a:rPr lang="en-US"/>
              <a:t> </a:t>
            </a:r>
            <a:r>
              <a:rPr lang="he-IL"/>
              <a:t>בשפת </a:t>
            </a:r>
            <a:r>
              <a:rPr lang="en-US"/>
              <a:t>ADA</a:t>
            </a:r>
            <a:r>
              <a:rPr lang="he-IL"/>
              <a:t> שבה פותחה המערכת</a:t>
            </a:r>
          </a:p>
          <a:p>
            <a:pPr>
              <a:spcBef>
                <a:spcPts val="1200"/>
              </a:spcBef>
            </a:pPr>
            <a:endParaRPr lang="he-IL"/>
          </a:p>
        </p:txBody>
      </p:sp>
      <p:pic>
        <p:nvPicPr>
          <p:cNvPr id="4" name="Online Media 3" title="Ariane 5 rocket launch explosion">
            <a:hlinkClick r:id="" action="ppaction://media"/>
            <a:extLst>
              <a:ext uri="{FF2B5EF4-FFF2-40B4-BE49-F238E27FC236}">
                <a16:creationId xmlns:a16="http://schemas.microsoft.com/office/drawing/2014/main" id="{6CD7869A-C7E6-4F34-875B-67603ACFF19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86000" y="3962400"/>
            <a:ext cx="4809067" cy="270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שגיאת </a:t>
            </a:r>
            <a:r>
              <a:rPr lang="en-US"/>
              <a:t>FDIV</a:t>
            </a:r>
            <a:r>
              <a:rPr lang="he-IL"/>
              <a:t> במעבד פנטיום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18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-2309" y="1341437"/>
            <a:ext cx="8991600" cy="452596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800"/>
              <a:t>FDIV</a:t>
            </a:r>
            <a:r>
              <a:rPr lang="he-IL" sz="2800"/>
              <a:t>=</a:t>
            </a:r>
            <a:r>
              <a:rPr lang="en-US" sz="2800" b="1">
                <a:solidFill>
                  <a:srgbClr val="FF0000"/>
                </a:solidFill>
              </a:rPr>
              <a:t>f</a:t>
            </a:r>
            <a:r>
              <a:rPr lang="en-US" sz="2800"/>
              <a:t>loating point </a:t>
            </a:r>
            <a:r>
              <a:rPr lang="en-US" sz="2800" b="1">
                <a:solidFill>
                  <a:srgbClr val="FF0000"/>
                </a:solidFill>
              </a:rPr>
              <a:t>div</a:t>
            </a:r>
            <a:r>
              <a:rPr lang="en-US" sz="2800"/>
              <a:t>ision unit</a:t>
            </a:r>
          </a:p>
          <a:p>
            <a:pPr>
              <a:spcBef>
                <a:spcPts val="1200"/>
              </a:spcBef>
            </a:pPr>
            <a:r>
              <a:rPr lang="he-IL" sz="2800"/>
              <a:t>פעולות חילוק נקודה צפה מסויימות נתנו תוצאה שגויה</a:t>
            </a:r>
          </a:p>
          <a:p>
            <a:pPr>
              <a:spcBef>
                <a:spcPts val="1200"/>
              </a:spcBef>
            </a:pPr>
            <a:r>
              <a:rPr lang="he-IL" sz="2800"/>
              <a:t>אחת מ-</a:t>
            </a:r>
            <a:r>
              <a:rPr lang="en-US" sz="2800"/>
              <a:t>9,000,000</a:t>
            </a:r>
            <a:r>
              <a:rPr lang="he-IL" sz="2800"/>
              <a:t> פעולות אקראיות תתן תוצאה לא מדויקת</a:t>
            </a:r>
          </a:p>
          <a:p>
            <a:pPr>
              <a:spcBef>
                <a:spcPts val="1200"/>
              </a:spcBef>
            </a:pPr>
            <a:r>
              <a:rPr lang="he-IL" sz="2800"/>
              <a:t>הפסד: </a:t>
            </a:r>
            <a:r>
              <a:rPr lang="en-US" sz="2800">
                <a:solidFill>
                  <a:srgbClr val="FF0000"/>
                </a:solidFill>
              </a:rPr>
              <a:t>500</a:t>
            </a:r>
            <a:r>
              <a:rPr lang="he-IL" sz="2800">
                <a:solidFill>
                  <a:srgbClr val="FF0000"/>
                </a:solidFill>
              </a:rPr>
              <a:t> מליון דולר </a:t>
            </a:r>
            <a:r>
              <a:rPr lang="he-IL" sz="2800"/>
              <a:t>(הוחלפו כל המעבדים התקולים) + פגיעת תדמית לחברה</a:t>
            </a:r>
          </a:p>
          <a:p>
            <a:pPr>
              <a:spcBef>
                <a:spcPts val="1200"/>
              </a:spcBef>
            </a:pPr>
            <a:r>
              <a:rPr lang="he-IL" sz="2800"/>
              <a:t>מקור: </a:t>
            </a:r>
            <a:r>
              <a:rPr lang="he-IL" sz="2800">
                <a:solidFill>
                  <a:srgbClr val="0137D1"/>
                </a:solidFill>
              </a:rPr>
              <a:t>שגיאה במימוש אלגוריתם </a:t>
            </a:r>
            <a:r>
              <a:rPr lang="he-IL" sz="2800"/>
              <a:t>לחלוקה ביצוג נקודה צפה</a:t>
            </a:r>
          </a:p>
        </p:txBody>
      </p:sp>
      <p:pic>
        <p:nvPicPr>
          <p:cNvPr id="17410" name="Picture 2" descr="http://upload.wikimedia.org/wikipedia/en/thumb/0/08/Intel_Pentium_III-M_Processor_Logo.svg/550px-Intel_Pentium_III-M_Processor_Logo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5181600"/>
            <a:ext cx="1307867" cy="1424385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5293248"/>
            <a:ext cx="1291060" cy="1300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2885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למה משקיעים הרבה מאוד כסף</a:t>
            </a:r>
            <a:br>
              <a:rPr lang="en-US"/>
            </a:br>
            <a:r>
              <a:rPr lang="he-IL"/>
              <a:t> באימות תוכנה?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19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06945"/>
            <a:ext cx="8153400" cy="45720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he-IL" sz="2800"/>
              <a:t>תוכנה נכנסת ליותר אפליקציות:</a:t>
            </a:r>
          </a:p>
          <a:p>
            <a:pPr lvl="1">
              <a:spcBef>
                <a:spcPts val="1200"/>
              </a:spcBef>
            </a:pPr>
            <a:r>
              <a:rPr lang="he-IL" sz="2800"/>
              <a:t>מערכות משובצות מחשב</a:t>
            </a:r>
          </a:p>
          <a:p>
            <a:pPr lvl="1">
              <a:spcBef>
                <a:spcPts val="1200"/>
              </a:spcBef>
            </a:pPr>
            <a:r>
              <a:rPr lang="he-IL" sz="2800"/>
              <a:t>מערכות תקשורת</a:t>
            </a:r>
          </a:p>
          <a:p>
            <a:pPr lvl="1">
              <a:spcBef>
                <a:spcPts val="1200"/>
              </a:spcBef>
            </a:pPr>
            <a:r>
              <a:rPr lang="he-IL" sz="2800"/>
              <a:t>מערכות תחבורה</a:t>
            </a:r>
            <a:endParaRPr lang="he-IL" sz="2800">
              <a:solidFill>
                <a:srgbClr val="FF0000"/>
              </a:solidFill>
            </a:endParaRPr>
          </a:p>
          <a:p>
            <a:pPr lvl="1">
              <a:spcBef>
                <a:spcPts val="1200"/>
              </a:spcBef>
            </a:pPr>
            <a:r>
              <a:rPr lang="he-IL" sz="2800">
                <a:solidFill>
                  <a:srgbClr val="FF0000"/>
                </a:solidFill>
              </a:rPr>
              <a:t>אמינות המערכת תלויה בתוכנה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he-IL" sz="2800">
                <a:solidFill>
                  <a:srgbClr val="FF0000"/>
                </a:solidFill>
              </a:rPr>
              <a:t>!</a:t>
            </a:r>
            <a:br>
              <a:rPr lang="en-US" sz="2800">
                <a:solidFill>
                  <a:srgbClr val="FF0000"/>
                </a:solidFill>
              </a:rPr>
            </a:br>
            <a:endParaRPr lang="he-IL" sz="280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lang="he-IL" sz="2800"/>
              <a:t>שגיאות תוכנה עלולות להיות </a:t>
            </a:r>
            <a:r>
              <a:rPr lang="he-IL" sz="2800">
                <a:solidFill>
                  <a:srgbClr val="0137D1"/>
                </a:solidFill>
              </a:rPr>
              <a:t>הרסניות ויקרות</a:t>
            </a:r>
            <a:r>
              <a:rPr lang="he-IL" sz="2800"/>
              <a:t>:</a:t>
            </a:r>
            <a:endParaRPr lang="he-IL" sz="2800">
              <a:solidFill>
                <a:srgbClr val="0070C0"/>
              </a:solidFill>
            </a:endParaRPr>
          </a:p>
          <a:p>
            <a:pPr lvl="1">
              <a:spcBef>
                <a:spcPts val="1200"/>
              </a:spcBef>
            </a:pPr>
            <a:r>
              <a:rPr lang="he-IL" sz="2800"/>
              <a:t>תוכנה במוצרים בייצור המוני (</a:t>
            </a:r>
            <a:r>
              <a:rPr lang="en-US" sz="2800"/>
              <a:t> </a:t>
            </a:r>
            <a:r>
              <a:rPr lang="he-IL" sz="2800"/>
              <a:t>רכב, אלקטרוניקה,</a:t>
            </a:r>
            <a:r>
              <a:rPr lang="en-US" sz="2800"/>
              <a:t> </a:t>
            </a:r>
            <a:r>
              <a:rPr lang="he-IL" sz="2800"/>
              <a:t>...</a:t>
            </a:r>
            <a:r>
              <a:rPr lang="en-US" sz="2800"/>
              <a:t> </a:t>
            </a:r>
            <a:r>
              <a:rPr lang="he-IL" sz="2800"/>
              <a:t>)</a:t>
            </a:r>
          </a:p>
          <a:p>
            <a:pPr lvl="1">
              <a:spcBef>
                <a:spcPts val="1200"/>
              </a:spcBef>
            </a:pPr>
            <a:r>
              <a:rPr lang="he-IL" sz="2800"/>
              <a:t>תוכנה במערכות קריטיות (</a:t>
            </a:r>
            <a:r>
              <a:rPr lang="en-US" sz="2800"/>
              <a:t> </a:t>
            </a:r>
            <a:r>
              <a:rPr lang="he-IL" sz="2800"/>
              <a:t>כור אטומי, מטוס,</a:t>
            </a:r>
            <a:r>
              <a:rPr lang="en-US" sz="2800"/>
              <a:t> </a:t>
            </a:r>
            <a:r>
              <a:rPr lang="he-IL" sz="2800"/>
              <a:t>...</a:t>
            </a:r>
            <a:r>
              <a:rPr lang="en-US" sz="2800"/>
              <a:t> </a:t>
            </a:r>
            <a:r>
              <a:rPr lang="he-IL" sz="2800"/>
              <a:t>)</a:t>
            </a:r>
          </a:p>
        </p:txBody>
      </p:sp>
      <p:pic>
        <p:nvPicPr>
          <p:cNvPr id="4098" name="Picture 2" descr="http://ivarfjeld.files.wordpress.com/2010/10/102_1139-el-a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61" y="1238360"/>
            <a:ext cx="1600889" cy="1067259"/>
          </a:xfrm>
          <a:prstGeom prst="rect">
            <a:avLst/>
          </a:prstGeom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</p:spPr>
        <p:style>
          <a:lnRef idx="0">
            <a:schemeClr val="accent3"/>
          </a:lnRef>
          <a:fillRef idx="1001">
            <a:schemeClr val="lt1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4100" name="Picture 4" descr="http://econintersect.com/wordpress/wp-content/uploads/2011/04/India-nuclear2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489" y="2598635"/>
            <a:ext cx="1421483" cy="142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www.phones-popular.info/wp-content/uploads/2011/09/Android-phones-2011-1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31" y="1295400"/>
            <a:ext cx="1507252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f00.inventorspot.com/images/2000_car.jpe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6" y="4043668"/>
            <a:ext cx="1447122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20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533400" y="990600"/>
            <a:ext cx="7772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e-IL" sz="2800">
                <a:solidFill>
                  <a:srgbClr val="000000"/>
                </a:solidFill>
              </a:rPr>
              <a:t>שגיאות תוכנה ממשיכות לגרום לנזקים משמעותיים, אותם אומד מכון התקנים האמריקאי (</a:t>
            </a:r>
            <a:r>
              <a:rPr lang="en-US" sz="2800">
                <a:solidFill>
                  <a:srgbClr val="000000"/>
                </a:solidFill>
              </a:rPr>
              <a:t>NIST</a:t>
            </a:r>
            <a:r>
              <a:rPr lang="he-IL" sz="2800">
                <a:solidFill>
                  <a:srgbClr val="000000"/>
                </a:solidFill>
              </a:rPr>
              <a:t>) בכ-</a:t>
            </a:r>
            <a:r>
              <a:rPr lang="he-IL" sz="2800">
                <a:solidFill>
                  <a:srgbClr val="FF0000"/>
                </a:solidFill>
              </a:rPr>
              <a:t>60 מיליארד דולר </a:t>
            </a:r>
            <a:r>
              <a:rPr lang="he-IL" sz="2800">
                <a:solidFill>
                  <a:srgbClr val="000000"/>
                </a:solidFill>
              </a:rPr>
              <a:t>לשנה בארצות הברית בלבד</a:t>
            </a:r>
            <a:endParaRPr lang="he-IL" sz="2800"/>
          </a:p>
        </p:txBody>
      </p:sp>
      <p:pic>
        <p:nvPicPr>
          <p:cNvPr id="5122" name="Picture 2" descr="Image result for mon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38400"/>
            <a:ext cx="685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65432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0500"/>
            <a:ext cx="7772400" cy="1143000"/>
          </a:xfrm>
        </p:spPr>
        <p:txBody>
          <a:bodyPr/>
          <a:lstStyle/>
          <a:p>
            <a:r>
              <a:rPr lang="he-IL"/>
              <a:t>מהו אימות תוכנה?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21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9575" y="838200"/>
            <a:ext cx="8229600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3200"/>
              <a:t>הגדרה:</a:t>
            </a:r>
          </a:p>
          <a:p>
            <a:pPr marL="320040" lvl="1" indent="0">
              <a:buNone/>
            </a:pPr>
            <a:r>
              <a:rPr lang="he-IL" sz="2800"/>
              <a:t>בדיקה שהמערכת מקיימת את </a:t>
            </a:r>
            <a:r>
              <a:rPr lang="he-IL" sz="2800">
                <a:highlight>
                  <a:srgbClr val="FFFF00"/>
                </a:highlight>
              </a:rPr>
              <a:t>הדרישות שהוגדרו לה</a:t>
            </a:r>
          </a:p>
          <a:p>
            <a:pPr lvl="1"/>
            <a:endParaRPr lang="he-IL" sz="2800"/>
          </a:p>
          <a:p>
            <a:pPr marL="0" indent="0">
              <a:buNone/>
            </a:pPr>
            <a:r>
              <a:rPr lang="he-IL" sz="3200"/>
              <a:t>אימות (</a:t>
            </a:r>
            <a:r>
              <a:rPr lang="en-US" sz="3200"/>
              <a:t>verification</a:t>
            </a:r>
            <a:r>
              <a:rPr lang="he-IL" sz="3200"/>
              <a:t>) ≠ תִּקּוּף (</a:t>
            </a:r>
            <a:r>
              <a:rPr lang="en-US" sz="3200"/>
              <a:t>validation</a:t>
            </a:r>
            <a:r>
              <a:rPr lang="he-IL" sz="3200"/>
              <a:t>)</a:t>
            </a:r>
          </a:p>
          <a:p>
            <a:pPr marL="320040" lvl="1" indent="0">
              <a:buNone/>
            </a:pPr>
            <a:r>
              <a:rPr lang="he-IL" sz="2800">
                <a:solidFill>
                  <a:srgbClr val="0137D1"/>
                </a:solidFill>
              </a:rPr>
              <a:t>אימות</a:t>
            </a:r>
            <a:r>
              <a:rPr lang="he-IL" sz="2800"/>
              <a:t>: בדיקה שאנחנו בונים דברים </a:t>
            </a:r>
            <a:r>
              <a:rPr lang="he-IL" sz="2800">
                <a:solidFill>
                  <a:srgbClr val="FF0000"/>
                </a:solidFill>
              </a:rPr>
              <a:t>נכון</a:t>
            </a:r>
          </a:p>
          <a:p>
            <a:pPr marL="320040" lvl="1" indent="0">
              <a:buNone/>
            </a:pPr>
            <a:r>
              <a:rPr lang="he-IL" sz="2800">
                <a:solidFill>
                  <a:srgbClr val="0137D1"/>
                </a:solidFill>
              </a:rPr>
              <a:t>תִּקּוּף</a:t>
            </a:r>
            <a:r>
              <a:rPr lang="he-IL" sz="2800"/>
              <a:t>: בדיקה שאנחנו בונים את </a:t>
            </a:r>
            <a:r>
              <a:rPr lang="he-IL" sz="2800">
                <a:solidFill>
                  <a:srgbClr val="FF0000"/>
                </a:solidFill>
              </a:rPr>
              <a:t>הדבר הנכון</a:t>
            </a:r>
          </a:p>
          <a:p>
            <a:endParaRPr lang="he-IL" sz="3200"/>
          </a:p>
        </p:txBody>
      </p:sp>
      <p:sp>
        <p:nvSpPr>
          <p:cNvPr id="4" name="TextBox 3"/>
          <p:cNvSpPr txBox="1"/>
          <p:nvPr/>
        </p:nvSpPr>
        <p:spPr>
          <a:xfrm>
            <a:off x="1567870" y="5029200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48963342"/>
              </p:ext>
            </p:extLst>
          </p:nvPr>
        </p:nvGraphicFramePr>
        <p:xfrm>
          <a:off x="800100" y="4419600"/>
          <a:ext cx="78486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8600"/>
            <a:ext cx="7772400" cy="1143000"/>
          </a:xfrm>
        </p:spPr>
        <p:txBody>
          <a:bodyPr/>
          <a:lstStyle/>
          <a:p>
            <a:r>
              <a:rPr lang="he-IL"/>
              <a:t>שיטות מוכרות לאימות תוכנה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22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914400"/>
                <a:ext cx="8686800" cy="4953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2800"/>
                  <a:t>בדיקות</a:t>
                </a:r>
              </a:p>
              <a:p>
                <a:pPr lvl="1"/>
                <a:r>
                  <a:rPr lang="he-IL" sz="2400"/>
                  <a:t>שיטה דינאמית: מריצים את הקוד ומחפשים התנהגות שגויה</a:t>
                </a:r>
                <a:endParaRPr lang="en-US" sz="2400"/>
              </a:p>
              <a:p>
                <a:pPr lvl="1"/>
                <a:r>
                  <a:rPr lang="he-IL"/>
                  <a:t>דגש על שימוש נפוץ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</a:rPr>
                  <a:t>קשה לעלות על מקרי קצה</a:t>
                </a:r>
              </a:p>
              <a:p>
                <a:pPr lvl="1"/>
                <a:r>
                  <a:rPr lang="he-IL" sz="2400">
                    <a:solidFill>
                      <a:srgbClr val="FF0000"/>
                    </a:solidFill>
                  </a:rPr>
                  <a:t>ניתן לבצע רק אחרי פיתוח הקוד</a:t>
                </a:r>
              </a:p>
              <a:p>
                <a:pPr>
                  <a:spcBef>
                    <a:spcPts val="1800"/>
                  </a:spcBef>
                </a:pPr>
                <a:r>
                  <a:rPr lang="he-IL" sz="2800"/>
                  <a:t>סקר קוד</a:t>
                </a:r>
              </a:p>
              <a:p>
                <a:pPr lvl="1"/>
                <a:r>
                  <a:rPr lang="he-IL"/>
                  <a:t>שיטה סטאטית: מעבר ידני על הקוד, בלי הרצת התוכנה</a:t>
                </a:r>
              </a:p>
              <a:p>
                <a:pPr lvl="1"/>
                <a:r>
                  <a:rPr lang="he-IL"/>
                  <a:t>מגלה בין 31% ל-93% מהשגיאות. ממוצע 60%</a:t>
                </a:r>
              </a:p>
              <a:p>
                <a:pPr lvl="1"/>
                <a:r>
                  <a:rPr lang="he-IL">
                    <a:solidFill>
                      <a:srgbClr val="FF0000"/>
                    </a:solidFill>
                  </a:rPr>
                  <a:t>קשה לגלות שגיאות מסובכות</a:t>
                </a:r>
                <a:r>
                  <a:rPr lang="he-IL"/>
                  <a:t> (מקביליות, טעות באלגוריתם)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800">
                    <a:solidFill>
                      <a:srgbClr val="0137D1"/>
                    </a:solidFill>
                  </a:rPr>
                  <a:t>מספרים</a:t>
                </a:r>
                <a:r>
                  <a:rPr lang="he-IL" sz="2800"/>
                  <a:t>:</a:t>
                </a:r>
              </a:p>
              <a:p>
                <a:pPr lvl="1"/>
                <a:r>
                  <a:rPr lang="he-IL" sz="2400"/>
                  <a:t>30% עד 50% מעלות פרויקט תוכנה מושקעת בבדיקות</a:t>
                </a:r>
              </a:p>
              <a:p>
                <a:pPr lvl="1"/>
                <a:r>
                  <a:rPr lang="he-IL" sz="2400"/>
                  <a:t>יותר זמן ומאמץ מושקע באימות מאשר בפיתוח</a:t>
                </a:r>
              </a:p>
              <a:p>
                <a:pPr lvl="1"/>
                <a:r>
                  <a:rPr lang="he-IL" sz="2400"/>
                  <a:t>רמת שגיאה מקובלת: שגיאה ל-1,000 שורות קוד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914400"/>
                <a:ext cx="8686800" cy="4953000"/>
              </a:xfrm>
              <a:blipFill>
                <a:blip r:embed="rId2"/>
                <a:stretch>
                  <a:fillRect t="-1230" r="-1123" b="-16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890" name="Picture 2" descr="http://wise-development.com/images/software_testing_4lhb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4000" y="1828800"/>
            <a:ext cx="1538978" cy="1423555"/>
          </a:xfrm>
          <a:prstGeom prst="rect">
            <a:avLst/>
          </a:prstGeom>
          <a:noFill/>
        </p:spPr>
      </p:pic>
      <p:pic>
        <p:nvPicPr>
          <p:cNvPr id="5122" name="Picture 2" descr="http://cegonsoft-i3itpeople.com/RawImages/ST1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26" b="12037"/>
          <a:stretch/>
        </p:blipFill>
        <p:spPr bwMode="auto">
          <a:xfrm>
            <a:off x="35198" y="4800600"/>
            <a:ext cx="2286000" cy="177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אימות תוכנה בשיטות פורמאליות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23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53440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he-IL"/>
              <a:t>שיטות מתמטיות להגדרת דרישות, תכנון </a:t>
            </a:r>
            <a:r>
              <a:rPr lang="he-IL">
                <a:solidFill>
                  <a:srgbClr val="FF0000"/>
                </a:solidFill>
              </a:rPr>
              <a:t>ואימות תוכנה וחומרה</a:t>
            </a:r>
            <a:endParaRPr lang="en-US"/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he-IL"/>
              <a:t>יתרונות: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/>
              <a:t>שילוב אימות </a:t>
            </a:r>
            <a:r>
              <a:rPr lang="he-IL">
                <a:solidFill>
                  <a:srgbClr val="0137D1"/>
                </a:solidFill>
              </a:rPr>
              <a:t>בשלב מוקדם </a:t>
            </a:r>
            <a:r>
              <a:rPr lang="he-IL"/>
              <a:t>של תהליך הפיתוח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/>
              <a:t>תפיסת </a:t>
            </a:r>
            <a:r>
              <a:rPr lang="he-IL">
                <a:solidFill>
                  <a:srgbClr val="0137D1"/>
                </a:solidFill>
              </a:rPr>
              <a:t>שגיאות שקשה לגלות</a:t>
            </a:r>
            <a:r>
              <a:rPr lang="he-IL"/>
              <a:t> בשיטות אחרות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>
                <a:solidFill>
                  <a:srgbClr val="0137D1"/>
                </a:solidFill>
              </a:rPr>
              <a:t>קיצור זמן</a:t>
            </a:r>
            <a:r>
              <a:rPr lang="he-IL"/>
              <a:t> ועלויות האימות (אוטומציה)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he-IL"/>
              <a:t>שימושים: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/>
              <a:t>נדרש על ידי גופי התקינה ורשויות הבקרה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/>
              <a:t>מערכות קריטיות (תעופה, חלל, תחבורה, רפואה,</a:t>
            </a:r>
            <a:r>
              <a:rPr lang="en-US"/>
              <a:t> </a:t>
            </a:r>
            <a:r>
              <a:rPr lang="he-IL"/>
              <a:t>צבא,</a:t>
            </a:r>
            <a:r>
              <a:rPr lang="en-US"/>
              <a:t> </a:t>
            </a:r>
            <a:r>
              <a:rPr lang="he-IL"/>
              <a:t>...)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he-IL"/>
              <a:t>מערכות בייצור המוני (שבבים, כלי רכב, ...)</a:t>
            </a:r>
          </a:p>
        </p:txBody>
      </p:sp>
      <p:pic>
        <p:nvPicPr>
          <p:cNvPr id="3078" name="Picture 6" descr="Related image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0"/>
            <a:ext cx="2590800" cy="267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05256" y="-1524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Arial Rounded MT Bold" panose="020F0704030504030204" pitchFamily="34" charset="0"/>
                  </a:rPr>
                  <a:t>שיטות אימות פורמאלי לתְּכוּנָה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05256" y="-15240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24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7640" y="1295400"/>
                <a:ext cx="8449056" cy="5257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he-IL" sz="2400"/>
                  <a:t>שיטות דדוקטיביות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שיטה: מציאת </a:t>
                </a:r>
                <a:r>
                  <a:rPr lang="he-IL" sz="2000">
                    <a:solidFill>
                      <a:srgbClr val="0137D1"/>
                    </a:solidFill>
                  </a:rPr>
                  <a:t>הוכחה מתמטית </a:t>
                </a:r>
                <a:r>
                  <a:rPr lang="he-IL" sz="2000"/>
                  <a:t>ש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/>
                  <a:t> נכונה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תוכנות עזר: </a:t>
                </a:r>
                <a:r>
                  <a:rPr lang="en-US" sz="2000"/>
                  <a:t>Theorem Prover / Proof Assistant / Proof Checker</a:t>
                </a:r>
                <a:endParaRPr lang="he-IL" sz="2000"/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ישימות: כאשר המערכת בעלת אופי מתמטי</a:t>
                </a:r>
                <a:br>
                  <a:rPr lang="en-US" sz="2000"/>
                </a:br>
                <a:endParaRPr lang="he-IL" sz="2000"/>
              </a:p>
              <a:p>
                <a:pPr>
                  <a:spcBef>
                    <a:spcPts val="1200"/>
                  </a:spcBef>
                </a:pPr>
                <a:r>
                  <a:rPr lang="he-IL" sz="2400"/>
                  <a:t>בדיקות מודל (</a:t>
                </a:r>
                <a:r>
                  <a:rPr lang="en-US" sz="2400" b="1">
                    <a:solidFill>
                      <a:srgbClr val="FF0000"/>
                    </a:solidFill>
                  </a:rPr>
                  <a:t>Model Checking </a:t>
                </a:r>
                <a:r>
                  <a:rPr lang="he-IL" sz="2400"/>
                  <a:t>)</a:t>
                </a:r>
                <a:endParaRPr lang="en-US" sz="2400"/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שיטה: </a:t>
                </a:r>
                <a:r>
                  <a:rPr lang="he-IL" sz="2000">
                    <a:solidFill>
                      <a:srgbClr val="0137D1"/>
                    </a:solidFill>
                  </a:rPr>
                  <a:t>בדיקה ממוכנת </a:t>
                </a:r>
                <a:r>
                  <a:rPr lang="he-IL" sz="2000"/>
                  <a:t>ש-</a:t>
                </a:r>
                <a:r>
                  <a:rPr lang="en-US" sz="200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/>
                  <a:t>מתקיימת בכל ריצה אפשרית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תוכנות עזר: </a:t>
                </a:r>
                <a:r>
                  <a:rPr lang="en-US" sz="2000"/>
                  <a:t>model checkers</a:t>
                </a:r>
                <a:r>
                  <a:rPr lang="he-IL" sz="2000"/>
                  <a:t> (</a:t>
                </a:r>
                <a:r>
                  <a:rPr lang="en-US" sz="2000" b="1">
                    <a:solidFill>
                      <a:srgbClr val="FF0000"/>
                    </a:solidFill>
                  </a:rPr>
                  <a:t>Spin</a:t>
                </a:r>
                <a:r>
                  <a:rPr lang="en-US" sz="2000"/>
                  <a:t>, </a:t>
                </a:r>
                <a:r>
                  <a:rPr lang="en-US" sz="2000" err="1"/>
                  <a:t>NuSMV</a:t>
                </a:r>
                <a:r>
                  <a:rPr lang="en-US" sz="2000"/>
                  <a:t>, UPPAAL, … </a:t>
                </a:r>
                <a:r>
                  <a:rPr lang="he-IL" sz="2000"/>
                  <a:t>)</a:t>
                </a:r>
                <a:endParaRPr lang="en-US" sz="2000"/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ישימות: כשניתן לתאר את התנהגות המערכת כמכונת מצבים (סופית)</a:t>
                </a:r>
                <a:br>
                  <a:rPr lang="en-US" sz="2000"/>
                </a:br>
                <a:endParaRPr lang="he-IL" sz="2000"/>
              </a:p>
              <a:p>
                <a:pPr>
                  <a:spcBef>
                    <a:spcPts val="1200"/>
                  </a:spcBef>
                </a:pPr>
                <a:r>
                  <a:rPr lang="he-IL" sz="2400"/>
                  <a:t>סימולציות ובדיקות מבוססות מודל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שיטה: בדיקת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 i="1"/>
                  <a:t> </a:t>
                </a:r>
                <a:r>
                  <a:rPr lang="he-IL" sz="2000"/>
                  <a:t>על ידי </a:t>
                </a:r>
                <a:r>
                  <a:rPr lang="he-IL" sz="2000">
                    <a:solidFill>
                      <a:srgbClr val="0137D1"/>
                    </a:solidFill>
                  </a:rPr>
                  <a:t>הפעלת כל התנהגויות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/>
                  <a:t>ישימות: אם ניתן לבנות מודל פשוט וממצה</a:t>
                </a:r>
                <a:endParaRPr lang="en-US" sz="20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7640" y="1295400"/>
                <a:ext cx="8449056" cy="5257800"/>
              </a:xfrm>
              <a:blipFill>
                <a:blip r:embed="rId3"/>
                <a:stretch>
                  <a:fillRect t="-812" r="-794" b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5105400"/>
            <a:ext cx="3299380" cy="1752600"/>
          </a:xfrm>
          <a:prstGeom prst="rect">
            <a:avLst/>
          </a:prstGeom>
        </p:spPr>
      </p:pic>
      <p:cxnSp>
        <p:nvCxnSpPr>
          <p:cNvPr id="7" name="Elbow Connector 6"/>
          <p:cNvCxnSpPr/>
          <p:nvPr/>
        </p:nvCxnSpPr>
        <p:spPr>
          <a:xfrm rot="10800000" flipV="1">
            <a:off x="640080" y="4267200"/>
            <a:ext cx="1188720" cy="7315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למה לא בדיקות וסימולציה?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25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96557" y="1153391"/>
            <a:ext cx="8654473" cy="51054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he-IL" sz="2800"/>
              <a:t>חלופה (נפוצה מאוד) לאימות פורמאלי:</a:t>
            </a:r>
          </a:p>
          <a:p>
            <a:pPr lvl="1">
              <a:spcBef>
                <a:spcPts val="1200"/>
              </a:spcBef>
            </a:pPr>
            <a:r>
              <a:rPr lang="he-IL"/>
              <a:t>לוקחים מודל (לסימולציה) או מימוש (לבדיקה)</a:t>
            </a:r>
          </a:p>
          <a:p>
            <a:pPr lvl="1">
              <a:spcBef>
                <a:spcPts val="1200"/>
              </a:spcBef>
            </a:pPr>
            <a:r>
              <a:rPr lang="he-IL"/>
              <a:t>מפעילים עם מספר קלטים (וקטור הבדיקה)</a:t>
            </a:r>
          </a:p>
          <a:p>
            <a:pPr lvl="1">
              <a:spcBef>
                <a:spcPts val="1200"/>
              </a:spcBef>
            </a:pPr>
            <a:r>
              <a:rPr lang="he-IL"/>
              <a:t>בודקים שהמערכת מגיבה "נכון"</a:t>
            </a:r>
            <a:br>
              <a:rPr lang="en-US"/>
            </a:br>
            <a:endParaRPr lang="he-IL"/>
          </a:p>
          <a:p>
            <a:pPr marL="0" indent="0">
              <a:spcBef>
                <a:spcPts val="1200"/>
              </a:spcBef>
              <a:buNone/>
            </a:pPr>
            <a:r>
              <a:rPr lang="he-IL" sz="2800"/>
              <a:t>מגרעות משמעותיות:</a:t>
            </a:r>
          </a:p>
          <a:p>
            <a:pPr lvl="1">
              <a:spcBef>
                <a:spcPts val="1200"/>
              </a:spcBef>
            </a:pPr>
            <a:r>
              <a:rPr lang="he-IL">
                <a:solidFill>
                  <a:srgbClr val="0137D1"/>
                </a:solidFill>
              </a:rPr>
              <a:t>מספר הקלטים </a:t>
            </a:r>
            <a:r>
              <a:rPr lang="he-IL"/>
              <a:t>וההתנהגויות האפשריות גדול מאוד (אולי אינסופי)</a:t>
            </a:r>
          </a:p>
          <a:p>
            <a:pPr lvl="1">
              <a:spcBef>
                <a:spcPts val="1200"/>
              </a:spcBef>
            </a:pPr>
            <a:r>
              <a:rPr lang="he-IL"/>
              <a:t>הכשל ההרסני עשוי להיות </a:t>
            </a:r>
            <a:r>
              <a:rPr lang="he-IL">
                <a:solidFill>
                  <a:srgbClr val="0137D1"/>
                </a:solidFill>
              </a:rPr>
              <a:t>בהנתהגויות שלא נבדקו</a:t>
            </a:r>
          </a:p>
          <a:p>
            <a:pPr lvl="1">
              <a:spcBef>
                <a:spcPts val="1200"/>
              </a:spcBef>
            </a:pPr>
            <a:r>
              <a:rPr lang="he-IL"/>
              <a:t>בדיקה יכולה לגלות שגיאות, </a:t>
            </a:r>
            <a:r>
              <a:rPr lang="he-IL">
                <a:solidFill>
                  <a:srgbClr val="FF0000"/>
                </a:solidFill>
              </a:rPr>
              <a:t>לא להוכיח נכונות</a:t>
            </a:r>
          </a:p>
        </p:txBody>
      </p:sp>
      <p:pic>
        <p:nvPicPr>
          <p:cNvPr id="33794" name="Picture 2" descr="http://upload.wikimedia.org/wikipedia/commons/b/b2/Fiber_optics_tes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64" y="1676400"/>
            <a:ext cx="2240260" cy="2029691"/>
          </a:xfrm>
          <a:prstGeom prst="rect">
            <a:avLst/>
          </a:prstGeom>
          <a:noFill/>
          <a:effectLst>
            <a:softEdge rad="127000"/>
          </a:effectLst>
        </p:spPr>
      </p:pic>
      <p:sp>
        <p:nvSpPr>
          <p:cNvPr id="4" name="TextBox 3"/>
          <p:cNvSpPr txBox="1"/>
          <p:nvPr/>
        </p:nvSpPr>
        <p:spPr>
          <a:xfrm>
            <a:off x="761998" y="6027958"/>
            <a:ext cx="772358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חשוב להדגיש: ניתוח פורמאלי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אינו תחליף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לבדיקות, רק תוספת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3439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אבני דרך בהיסטוריה של האימות הפורמלי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26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219200"/>
            <a:ext cx="7924800" cy="5257800"/>
          </a:xfrm>
        </p:spPr>
        <p:txBody>
          <a:bodyPr>
            <a:noAutofit/>
          </a:bodyPr>
          <a:lstStyle/>
          <a:p>
            <a:r>
              <a:rPr lang="he-IL" sz="2400">
                <a:solidFill>
                  <a:srgbClr val="FF0000"/>
                </a:solidFill>
                <a:latin typeface="Arial Rounded MT Bold" panose="020F0704030504030204" pitchFamily="34" charset="0"/>
              </a:rPr>
              <a:t>הוכחה מתמטית (ידנית) לנכונות תוכנה </a:t>
            </a:r>
            <a:r>
              <a:rPr lang="he-IL" sz="2400">
                <a:latin typeface="Arial Rounded MT Bold" panose="020F0704030504030204" pitchFamily="34" charset="0"/>
              </a:rPr>
              <a:t>(</a:t>
            </a:r>
            <a:r>
              <a:rPr lang="en-US" sz="2400">
                <a:solidFill>
                  <a:srgbClr val="FF0000"/>
                </a:solidFill>
                <a:latin typeface="Arial Rounded MT Bold" panose="020F0704030504030204" pitchFamily="34" charset="0"/>
              </a:rPr>
              <a:t>Turing, 1940</a:t>
            </a:r>
            <a:r>
              <a:rPr lang="he-IL" sz="2400">
                <a:latin typeface="Arial Rounded MT Bold" panose="020F0704030504030204" pitchFamily="34" charset="0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400">
                <a:solidFill>
                  <a:srgbClr val="FF0000"/>
                </a:solidFill>
                <a:latin typeface="Arial Rounded MT Bold" panose="020F0704030504030204" pitchFamily="34" charset="0"/>
              </a:rPr>
              <a:t>שיטות מבוססות תחביר לתוכנות סדרתיות </a:t>
            </a:r>
            <a:r>
              <a:rPr lang="he-IL" sz="2400">
                <a:latin typeface="Arial Rounded MT Bold" panose="020F0704030504030204" pitchFamily="34" charset="0"/>
              </a:rPr>
              <a:t>(</a:t>
            </a:r>
            <a:r>
              <a:rPr lang="en-US" sz="2400">
                <a:solidFill>
                  <a:srgbClr val="FF0000"/>
                </a:solidFill>
                <a:latin typeface="Arial Rounded MT Bold" panose="020F0704030504030204" pitchFamily="34" charset="0"/>
              </a:rPr>
              <a:t>Hoare, 1969</a:t>
            </a:r>
            <a:r>
              <a:rPr lang="he-IL" sz="2400">
                <a:latin typeface="Arial Rounded MT Bold" panose="020F0704030504030204" pitchFamily="34" charset="0"/>
              </a:rPr>
              <a:t>)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עבור קלט מסויים. האם התוכנית מחשבת את הפלט הנכון?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מבוסס על כללי הֶסּ</a:t>
            </a:r>
            <a:r>
              <a:rPr lang="he-IL" err="1">
                <a:latin typeface="Arial Rounded MT Bold" panose="020F0704030504030204" pitchFamily="34" charset="0"/>
              </a:rPr>
              <a:t>ֵק </a:t>
            </a:r>
            <a:r>
              <a:rPr lang="he-IL">
                <a:latin typeface="Arial Rounded MT Bold" panose="020F0704030504030204" pitchFamily="34" charset="0"/>
              </a:rPr>
              <a:t>בתחשיב יחסים (</a:t>
            </a:r>
            <a:r>
              <a:rPr lang="en-US">
                <a:latin typeface="Arial Rounded MT Bold" panose="020F0704030504030204" pitchFamily="34" charset="0"/>
              </a:rPr>
              <a:t>predicate logic</a:t>
            </a:r>
            <a:r>
              <a:rPr lang="he-IL">
                <a:latin typeface="Arial Rounded MT Bold" panose="020F0704030504030204" pitchFamily="34" charset="0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400">
                <a:solidFill>
                  <a:srgbClr val="0137D1"/>
                </a:solidFill>
                <a:latin typeface="Arial Rounded MT Bold" panose="020F0704030504030204" pitchFamily="34" charset="0"/>
              </a:rPr>
              <a:t>שיטות מבוססות תחביר לתוכנות תגובתיות </a:t>
            </a:r>
            <a:r>
              <a:rPr lang="he-IL" sz="2400">
                <a:latin typeface="Arial Rounded MT Bold" panose="020F0704030504030204" pitchFamily="34" charset="0"/>
              </a:rPr>
              <a:t>(</a:t>
            </a:r>
            <a:r>
              <a:rPr lang="en-US" sz="2400" err="1">
                <a:solidFill>
                  <a:srgbClr val="FF0000"/>
                </a:solidFill>
                <a:latin typeface="Arial Rounded MT Bold" panose="020F0704030504030204" pitchFamily="34" charset="0"/>
              </a:rPr>
              <a:t>Pnueli</a:t>
            </a:r>
            <a:r>
              <a:rPr lang="en-US" sz="2400">
                <a:solidFill>
                  <a:srgbClr val="FF0000"/>
                </a:solidFill>
                <a:latin typeface="Arial Rounded MT Bold" panose="020F0704030504030204" pitchFamily="34" charset="0"/>
              </a:rPr>
              <a:t>, 1977</a:t>
            </a:r>
            <a:r>
              <a:rPr lang="he-IL" sz="2400">
                <a:latin typeface="Arial Rounded MT Bold" panose="020F0704030504030204" pitchFamily="34" charset="0"/>
              </a:rPr>
              <a:t>)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מטפל בתכונות המתייחסות למצבים במהלך החישוב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מבוסס על כללי הֶסֵּק בלוגיקת זמן (</a:t>
            </a:r>
            <a:r>
              <a:rPr lang="en-US">
                <a:solidFill>
                  <a:srgbClr val="0137D1"/>
                </a:solidFill>
                <a:latin typeface="Arial Rounded MT Bold" panose="020F0704030504030204" pitchFamily="34" charset="0"/>
              </a:rPr>
              <a:t>temporal logic</a:t>
            </a:r>
            <a:r>
              <a:rPr lang="he-IL">
                <a:latin typeface="Arial Rounded MT Bold" panose="020F0704030504030204" pitchFamily="34" charset="0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400">
                <a:solidFill>
                  <a:srgbClr val="0137D1"/>
                </a:solidFill>
                <a:latin typeface="Arial Rounded MT Bold" panose="020F0704030504030204" pitchFamily="34" charset="0"/>
              </a:rPr>
              <a:t>אימות אוטומטי של תוכנות מקביליות 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מבוסס סריקת מודל במקום כללי הֶסֵּק</a:t>
            </a:r>
          </a:p>
          <a:p>
            <a:pPr lvl="1"/>
            <a:r>
              <a:rPr lang="he-IL">
                <a:latin typeface="Arial Rounded MT Bold" panose="020F0704030504030204" pitchFamily="34" charset="0"/>
              </a:rPr>
              <a:t>בדיקה האם התוכנה המקבילית מקיימת תכונה (לוגית)</a:t>
            </a:r>
          </a:p>
        </p:txBody>
      </p:sp>
      <p:pic>
        <p:nvPicPr>
          <p:cNvPr id="2050" name="Picture 2" descr="https://upload.wikimedia.org/wikipedia/commons/thumb/f/f5/History_Logo.svg/2000px-History_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10200"/>
            <a:ext cx="1325218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דוגמאות לכללי הֶסֵּק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27</a:t>
            </a:fld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5714855" y="1575816"/>
            <a:ext cx="3164713" cy="45807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הצבה:</a:t>
            </a:r>
          </a:p>
          <a:p>
            <a:pPr>
              <a:lnSpc>
                <a:spcPts val="5000"/>
              </a:lnSpc>
            </a:pPr>
            <a:endParaRPr lang="he-IL" sz="36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ts val="5000"/>
              </a:lnSpc>
            </a:pP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הרכבה סדרתית:</a:t>
            </a:r>
          </a:p>
          <a:p>
            <a:pPr>
              <a:lnSpc>
                <a:spcPts val="5000"/>
              </a:lnSpc>
            </a:pPr>
            <a:endParaRPr lang="he-IL" sz="36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ts val="5000"/>
              </a:lnSpc>
            </a:pP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תנאי:</a:t>
            </a:r>
          </a:p>
          <a:p>
            <a:pPr>
              <a:lnSpc>
                <a:spcPts val="5000"/>
              </a:lnSpc>
            </a:pPr>
            <a:endParaRPr lang="he-IL" sz="36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ts val="5000"/>
              </a:lnSpc>
            </a:pP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לולאה:</a:t>
            </a:r>
            <a:endParaRPr lang="en-US" sz="3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895600" y="1600200"/>
                <a:ext cx="2977162" cy="423449"/>
              </a:xfrm>
              <a:prstGeom prst="rect">
                <a:avLst/>
              </a:prstGeom>
              <a:ln w="63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i="1" smtClean="0">
                              <a:latin typeface="Cambria Math"/>
                            </a:rPr>
                            <m:t>𝑥</m:t>
                          </m:r>
                          <m:r>
                            <a:rPr lang="he-IL">
                              <a:latin typeface="Cambria Math"/>
                            </a:rPr>
                            <m:t>&lt;−</m:t>
                          </m:r>
                          <m:r>
                            <a:rPr lang="he-IL">
                              <a:latin typeface="Cambria Math"/>
                            </a:rPr>
                            <m:t>5</m:t>
                          </m:r>
                        </m:e>
                      </m:d>
                      <m:r>
                        <a:rPr lang="he-IL" b="0" i="1" smtClean="0">
                          <a:latin typeface="Cambria Math"/>
                        </a:rPr>
                        <m:t> </m:t>
                      </m:r>
                      <m:r>
                        <a:rPr lang="he-IL" i="1" smtClean="0">
                          <a:latin typeface="Cambria Math"/>
                        </a:rPr>
                        <m:t>𝑥</m:t>
                      </m:r>
                      <m:r>
                        <a:rPr lang="he-IL">
                          <a:latin typeface="Cambria Math"/>
                        </a:rPr>
                        <m:t>≔</m:t>
                      </m:r>
                      <m:r>
                        <a:rPr lang="he-IL" i="1">
                          <a:latin typeface="Cambria Math"/>
                        </a:rPr>
                        <m:t>𝑥</m:t>
                      </m:r>
                      <m:r>
                        <a:rPr lang="he-IL">
                          <a:latin typeface="Cambria Math"/>
                        </a:rPr>
                        <m:t>+</m:t>
                      </m:r>
                      <m:r>
                        <a:rPr lang="he-IL">
                          <a:latin typeface="Cambria Math"/>
                        </a:rPr>
                        <m:t>5</m:t>
                      </m:r>
                      <m:r>
                        <a:rPr lang="he-IL" b="0" i="0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i="1">
                              <a:latin typeface="Cambria Math"/>
                            </a:rPr>
                            <m:t>𝑥</m:t>
                          </m:r>
                          <m:r>
                            <a:rPr lang="he-IL">
                              <a:latin typeface="Cambria Math"/>
                            </a:rPr>
                            <m:t>&lt;</m:t>
                          </m:r>
                          <m:r>
                            <a:rPr lang="he-IL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600200"/>
                <a:ext cx="2977162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200400" y="2895600"/>
                <a:ext cx="2278316" cy="677108"/>
              </a:xfrm>
              <a:prstGeom prst="rect">
                <a:avLst/>
              </a:prstGeom>
              <a:ln w="63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sSub>
                            <m:sSubPr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a:rPr lang="he-IL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     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sSub>
                            <m:sSubPr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sSub>
                            <m:sSubPr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;</m:t>
                          </m:r>
                          <m:sSub>
                            <m:sSubPr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895600"/>
                <a:ext cx="2278316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3733800" y="4114800"/>
                <a:ext cx="3291927" cy="729046"/>
              </a:xfrm>
              <a:prstGeom prst="rect">
                <a:avLst/>
              </a:prstGeom>
              <a:ln w="63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/>
                                </a:rPr>
                                <m:t>𝑝</m:t>
                              </m:r>
                              <m:r>
                                <a:rPr lang="he-IL">
                                  <a:latin typeface="Cambria Math"/>
                                </a:rPr>
                                <m:t>∧</m:t>
                              </m:r>
                              <m:r>
                                <a:rPr lang="he-IL" i="1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sSub>
                            <m:sSubPr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he-IL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     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/>
                                </a:rPr>
                                <m:t>𝑝</m:t>
                              </m:r>
                              <m:r>
                                <a:rPr lang="he-IL">
                                  <a:latin typeface="Cambria Math"/>
                                </a:rPr>
                                <m:t>∧¬</m:t>
                              </m:r>
                              <m:r>
                                <a:rPr lang="he-IL" i="1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sSub>
                            <m:sSubPr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sSub>
                            <m:sSubPr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then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els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𝑒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he-IL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4114800"/>
                <a:ext cx="3291927" cy="729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4038600" y="5410200"/>
                <a:ext cx="2762808" cy="677108"/>
              </a:xfrm>
              <a:prstGeom prst="rect">
                <a:avLst/>
              </a:prstGeom>
              <a:ln w="63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/>
                                </a:rPr>
                                <m:t>𝑝</m:t>
                              </m:r>
                              <m:r>
                                <a:rPr lang="he-IL">
                                  <a:latin typeface="Cambria Math"/>
                                </a:rPr>
                                <m:t>∧</m:t>
                              </m:r>
                              <m:r>
                                <a:rPr lang="he-IL" i="1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he-IL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a:rPr lang="he-IL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solidFill>
                                    <a:schemeClr val="dk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while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do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b="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>
                                  <a:latin typeface="Cambria Math"/>
                                </a:rPr>
                                <m:t>𝑝</m:t>
                              </m:r>
                              <m:r>
                                <a:rPr lang="he-IL">
                                  <a:latin typeface="Cambria Math"/>
                                </a:rPr>
                                <m:t>∧¬</m:t>
                              </m:r>
                              <m:r>
                                <a:rPr lang="he-IL" i="1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410200"/>
                <a:ext cx="2762808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2938163" y="1924907"/>
            <a:ext cx="304800" cy="2286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38776" y="2145268"/>
            <a:ext cx="172419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  <a:latin typeface="Arial Rounded MT Bold" panose="020F0704030504030204" pitchFamily="34" charset="0"/>
              </a:rPr>
              <a:t>pre condition </a:t>
            </a:r>
            <a:endParaRPr lang="he-IL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5376563" y="1924907"/>
            <a:ext cx="304800" cy="22860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://www.computerhistory.org/fellowawards/media/img/fellows/2006_sir_anthony_hoar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22098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155073" y="2145268"/>
            <a:ext cx="183736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  <a:latin typeface="Arial Rounded MT Bold" panose="020F0704030504030204" pitchFamily="34" charset="0"/>
              </a:rPr>
              <a:t>post condition </a:t>
            </a:r>
            <a:endParaRPr lang="he-IL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6324600"/>
            <a:ext cx="2094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rgbClr val="222222"/>
                </a:solidFill>
                <a:latin typeface="Arial Rounded MT Bold" panose="020F0704030504030204" pitchFamily="34" charset="0"/>
              </a:rPr>
              <a:t>Sir Antony Hoare</a:t>
            </a:r>
            <a:endParaRPr lang="en-US" b="0" i="0">
              <a:solidFill>
                <a:srgbClr val="222222"/>
              </a:solidFill>
              <a:effectLst/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86088"/>
            <a:ext cx="8229600" cy="1143000"/>
          </a:xfrm>
        </p:spPr>
        <p:txBody>
          <a:bodyPr/>
          <a:lstStyle/>
          <a:p>
            <a:r>
              <a:rPr lang="he-IL"/>
              <a:t>פרס טיורינג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28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808037"/>
            <a:ext cx="8839200" cy="5364163"/>
          </a:xfrm>
        </p:spPr>
        <p:txBody>
          <a:bodyPr>
            <a:noAutofit/>
          </a:bodyPr>
          <a:lstStyle/>
          <a:p>
            <a:r>
              <a:rPr lang="he-IL" sz="2400">
                <a:latin typeface="Arial Rounded MT Bold" panose="020F0704030504030204" pitchFamily="34" charset="0"/>
              </a:rPr>
              <a:t>אלן טיורינג </a:t>
            </a:r>
            <a:r>
              <a:rPr lang="en-US" sz="2400" b="1">
                <a:latin typeface="Arial Rounded MT Bold" panose="020F0704030504030204" pitchFamily="34" charset="0"/>
              </a:rPr>
              <a:t>Alan </a:t>
            </a:r>
            <a:r>
              <a:rPr lang="en-US" sz="2400" b="1" err="1">
                <a:latin typeface="Arial Rounded MT Bold" panose="020F0704030504030204" pitchFamily="34" charset="0"/>
              </a:rPr>
              <a:t>Mathison</a:t>
            </a:r>
            <a:r>
              <a:rPr lang="en-US" sz="2400" b="1">
                <a:latin typeface="Arial Rounded MT Bold" panose="020F0704030504030204" pitchFamily="34" charset="0"/>
              </a:rPr>
              <a:t> Turing</a:t>
            </a:r>
            <a:r>
              <a:rPr lang="he-IL" sz="2400">
                <a:latin typeface="Arial Rounded MT Bold" panose="020F0704030504030204" pitchFamily="34" charset="0"/>
              </a:rPr>
              <a:t> (</a:t>
            </a:r>
            <a:r>
              <a:rPr lang="en-US" sz="2400">
                <a:latin typeface="Arial Rounded MT Bold" panose="020F0704030504030204" pitchFamily="34" charset="0"/>
              </a:rPr>
              <a:t>1912-1954</a:t>
            </a:r>
            <a:r>
              <a:rPr lang="he-IL" sz="2400">
                <a:latin typeface="Arial Rounded MT Bold" panose="020F0704030504030204" pitchFamily="34" charset="0"/>
              </a:rPr>
              <a:t>)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היה מתמטיקאי בריטי </a:t>
            </a:r>
            <a:r>
              <a:rPr lang="he-IL" sz="1800" err="1">
                <a:latin typeface="Arial Rounded MT Bold" panose="020F0704030504030204" pitchFamily="34" charset="0"/>
              </a:rPr>
              <a:t>ממניחי</a:t>
            </a:r>
            <a:r>
              <a:rPr lang="he-IL" sz="1800">
                <a:latin typeface="Arial Rounded MT Bold" panose="020F0704030504030204" pitchFamily="34" charset="0"/>
              </a:rPr>
              <a:t> היסודות למדעי המחשב.</a:t>
            </a:r>
            <a:r>
              <a:rPr lang="en-US" sz="1800">
                <a:latin typeface="Arial Rounded MT Bold" panose="020F0704030504030204" pitchFamily="34" charset="0"/>
              </a:rPr>
              <a:t> </a:t>
            </a:r>
            <a:r>
              <a:rPr lang="he-IL" sz="1800">
                <a:latin typeface="Arial Rounded MT Bold" panose="020F0704030504030204" pitchFamily="34" charset="0"/>
              </a:rPr>
              <a:t>פיתח מודל לתיאור וניתוח מתמטי של יכולות המחשב</a:t>
            </a:r>
            <a:r>
              <a:rPr lang="en-US" sz="1800">
                <a:latin typeface="Arial Rounded MT Bold" panose="020F0704030504030204" pitchFamily="34" charset="0"/>
              </a:rPr>
              <a:t>.</a:t>
            </a:r>
            <a:endParaRPr lang="he-IL" sz="1800">
              <a:latin typeface="Arial Rounded MT Bold" panose="020F0704030504030204" pitchFamily="34" charset="0"/>
            </a:endParaRPr>
          </a:p>
          <a:p>
            <a:pPr>
              <a:spcBef>
                <a:spcPts val="1200"/>
              </a:spcBef>
            </a:pPr>
            <a:r>
              <a:rPr lang="he-IL" sz="2400">
                <a:latin typeface="Arial Rounded MT Bold" panose="020F0704030504030204" pitchFamily="34" charset="0"/>
              </a:rPr>
              <a:t>פרס טיורינג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ניתן על ידי ה-</a:t>
            </a:r>
            <a:r>
              <a:rPr lang="en-US" sz="1800">
                <a:latin typeface="Arial Rounded MT Bold" panose="020F0704030504030204" pitchFamily="34" charset="0"/>
              </a:rPr>
              <a:t>ACM</a:t>
            </a:r>
            <a:r>
              <a:rPr lang="he-IL" sz="1800">
                <a:latin typeface="Arial Rounded MT Bold" panose="020F0704030504030204" pitchFamily="34" charset="0"/>
              </a:rPr>
              <a:t>, האגודה למכונות מחשוב, בגין הישג יוצא דופן בתחום מדעי המחשב. </a:t>
            </a:r>
            <a:endParaRPr lang="en-US" sz="1800">
              <a:latin typeface="Arial Rounded MT Bold" panose="020F0704030504030204" pitchFamily="34" charset="0"/>
            </a:endParaRP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בתחום זה שקול הפרס, מבחינת יוקרתו, לפרס נובל, שאינו כולל פרסים בתחומי המתמטיקה ומדעי המחשב</a:t>
            </a:r>
            <a:r>
              <a:rPr lang="en-US" sz="1800">
                <a:latin typeface="Arial Rounded MT Bold" panose="020F0704030504030204" pitchFamily="34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he-IL" sz="2400">
                <a:latin typeface="Arial Rounded MT Bold" panose="020F0704030504030204" pitchFamily="34" charset="0"/>
              </a:rPr>
              <a:t>חתני פרס טיורינג בולטים: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1968: ריצ'רד </a:t>
            </a:r>
            <a:r>
              <a:rPr lang="he-IL" sz="1800" err="1">
                <a:latin typeface="Arial Rounded MT Bold" panose="020F0704030504030204" pitchFamily="34" charset="0"/>
              </a:rPr>
              <a:t>המינג</a:t>
            </a:r>
            <a:endParaRPr lang="he-IL" sz="1800">
              <a:latin typeface="Arial Rounded MT Bold" panose="020F0704030504030204" pitchFamily="34" charset="0"/>
            </a:endParaRP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1972: </a:t>
            </a:r>
            <a:r>
              <a:rPr lang="he-IL" sz="1800" err="1">
                <a:latin typeface="Arial Rounded MT Bold" panose="020F0704030504030204" pitchFamily="34" charset="0"/>
              </a:rPr>
              <a:t>אדסחר</a:t>
            </a:r>
            <a:r>
              <a:rPr lang="he-IL" sz="1800">
                <a:latin typeface="Arial Rounded MT Bold" panose="020F0704030504030204" pitchFamily="34" charset="0"/>
              </a:rPr>
              <a:t> </a:t>
            </a:r>
            <a:r>
              <a:rPr lang="he-IL" sz="1800" err="1">
                <a:latin typeface="Arial Rounded MT Bold" panose="020F0704030504030204" pitchFamily="34" charset="0"/>
              </a:rPr>
              <a:t>דייקסטרה</a:t>
            </a:r>
            <a:endParaRPr lang="he-IL" sz="1800">
              <a:latin typeface="Arial Rounded MT Bold" panose="020F0704030504030204" pitchFamily="34" charset="0"/>
            </a:endParaRP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1974: דונלד </a:t>
            </a:r>
            <a:r>
              <a:rPr lang="he-IL" sz="1800" err="1">
                <a:latin typeface="Arial Rounded MT Bold" panose="020F0704030504030204" pitchFamily="34" charset="0"/>
              </a:rPr>
              <a:t>קנות</a:t>
            </a:r>
            <a:r>
              <a:rPr lang="he-IL" sz="1800">
                <a:latin typeface="Arial Rounded MT Bold" panose="020F0704030504030204" pitchFamily="34" charset="0"/>
              </a:rPr>
              <a:t>'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1976: מיכאל רבין ודנה סקוט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1980: </a:t>
            </a:r>
            <a:r>
              <a:rPr lang="he-IL" sz="1800">
                <a:solidFill>
                  <a:srgbClr val="0137D1"/>
                </a:solidFill>
                <a:latin typeface="Arial Rounded MT Bold" panose="020F0704030504030204" pitchFamily="34" charset="0"/>
              </a:rPr>
              <a:t>טוני הואר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1996: </a:t>
            </a:r>
            <a:r>
              <a:rPr lang="he-IL" sz="1800">
                <a:solidFill>
                  <a:srgbClr val="0137D1"/>
                </a:solidFill>
                <a:latin typeface="Arial Rounded MT Bold" panose="020F0704030504030204" pitchFamily="34" charset="0"/>
              </a:rPr>
              <a:t>אמיר </a:t>
            </a:r>
            <a:r>
              <a:rPr lang="he-IL" sz="1800" err="1">
                <a:solidFill>
                  <a:srgbClr val="0137D1"/>
                </a:solidFill>
                <a:latin typeface="Arial Rounded MT Bold" panose="020F0704030504030204" pitchFamily="34" charset="0"/>
              </a:rPr>
              <a:t>פנואלי</a:t>
            </a:r>
            <a:endParaRPr lang="he-IL" sz="1800">
              <a:solidFill>
                <a:srgbClr val="0137D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2002: רונלד </a:t>
            </a:r>
            <a:r>
              <a:rPr lang="he-IL" sz="1800" err="1">
                <a:latin typeface="Arial Rounded MT Bold" panose="020F0704030504030204" pitchFamily="34" charset="0"/>
              </a:rPr>
              <a:t>ריבסט</a:t>
            </a:r>
            <a:r>
              <a:rPr lang="he-IL" sz="1800">
                <a:latin typeface="Arial Rounded MT Bold" panose="020F0704030504030204" pitchFamily="34" charset="0"/>
              </a:rPr>
              <a:t>, לאונרד אדלמן ועדי שמיר, </a:t>
            </a:r>
            <a:r>
              <a:rPr lang="en-US" sz="1800">
                <a:latin typeface="Arial Rounded MT Bold" panose="020F0704030504030204" pitchFamily="34" charset="0"/>
              </a:rPr>
              <a:t>(RSA)</a:t>
            </a: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2008: </a:t>
            </a:r>
            <a:r>
              <a:rPr lang="he-IL" sz="1800">
                <a:solidFill>
                  <a:srgbClr val="0137D1"/>
                </a:solidFill>
                <a:latin typeface="Arial Rounded MT Bold" panose="020F0704030504030204" pitchFamily="34" charset="0"/>
              </a:rPr>
              <a:t>אדמונד קלארק, אלן אמרסון וג'וסף </a:t>
            </a:r>
            <a:r>
              <a:rPr lang="he-IL" sz="1800" err="1">
                <a:solidFill>
                  <a:srgbClr val="0137D1"/>
                </a:solidFill>
                <a:latin typeface="Arial Rounded MT Bold" panose="020F0704030504030204" pitchFamily="34" charset="0"/>
              </a:rPr>
              <a:t>סיפאקיס</a:t>
            </a:r>
            <a:endParaRPr lang="he-IL" sz="1800">
              <a:solidFill>
                <a:srgbClr val="0137D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he-IL" sz="1800">
                <a:latin typeface="Arial Rounded MT Bold" panose="020F0704030504030204" pitchFamily="34" charset="0"/>
              </a:rPr>
              <a:t>2013: </a:t>
            </a:r>
            <a:r>
              <a:rPr lang="he-IL" sz="1800">
                <a:solidFill>
                  <a:srgbClr val="0137D1"/>
                </a:solidFill>
                <a:latin typeface="Arial Rounded MT Bold" panose="020F0704030504030204" pitchFamily="34" charset="0"/>
              </a:rPr>
              <a:t>לסלי למפורט</a:t>
            </a:r>
          </a:p>
          <a:p>
            <a:pPr lvl="1"/>
            <a:endParaRPr lang="he-IL" sz="1800">
              <a:solidFill>
                <a:srgbClr val="0137D1"/>
              </a:solidFill>
              <a:latin typeface="Arial Rounded MT Bold" panose="020F0704030504030204" pitchFamily="34" charset="0"/>
            </a:endParaRPr>
          </a:p>
          <a:p>
            <a:pPr lvl="1"/>
            <a:endParaRPr lang="he-IL" sz="1800">
              <a:solidFill>
                <a:srgbClr val="0137D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1266" name="Picture 2" descr="http://innovationmcr.files.wordpress.com/2009/08/1954_turing_lar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86200"/>
            <a:ext cx="2057400" cy="2582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8382000" cy="1143000"/>
          </a:xfrm>
        </p:spPr>
        <p:txBody>
          <a:bodyPr/>
          <a:lstStyle/>
          <a:p>
            <a:r>
              <a:rPr lang="he-IL"/>
              <a:t>פרס טיורינג לשנת </a:t>
            </a:r>
            <a:r>
              <a:rPr lang="en-US"/>
              <a:t>1996</a:t>
            </a: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67855" y="201758"/>
            <a:ext cx="493059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29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8382000" cy="4572000"/>
          </a:xfrm>
        </p:spPr>
        <p:txBody>
          <a:bodyPr/>
          <a:lstStyle/>
          <a:p>
            <a:pPr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endParaRPr lang="he-IL"/>
          </a:p>
          <a:p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609599" y="4350603"/>
            <a:ext cx="7888941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 rtl="0"/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For seminal work introducing </a:t>
            </a:r>
            <a:r>
              <a:rPr lang="en-US" sz="2400" b="1" spc="5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temporal logic</a:t>
            </a:r>
            <a:r>
              <a:rPr lang="en-US" sz="2400">
                <a:solidFill>
                  <a:srgbClr val="FFFF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into computing science and for outstanding contributions to program and system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5798403"/>
            <a:ext cx="7888941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על הכנסת </a:t>
            </a:r>
            <a:r>
              <a:rPr lang="he-IL" sz="2400" b="1" spc="5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לוגיקת זמן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(לוגיקה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טמפורלית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) לתחום מדעי המחשב ועל תרומה רבה לתחום אימות תוכנה ומערכות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50" name="Picture 10" descr="Amir Pnueli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447800"/>
            <a:ext cx="2177676" cy="2221230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2319781" y="3636883"/>
            <a:ext cx="34392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אמיר פנואלי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52" name="Picture 12" descr="קובץ:ACM turing award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" y="1524000"/>
            <a:ext cx="1807882" cy="124891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פרס טיורינג לשנת </a:t>
            </a:r>
            <a:r>
              <a:rPr lang="en-US"/>
              <a:t>2008</a:t>
            </a:r>
            <a:endParaRPr lang="he-I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30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he-IL"/>
              <a:t>אדמונד </a:t>
            </a:r>
            <a:r>
              <a:rPr lang="he-IL" err="1"/>
              <a:t>קלארק</a:t>
            </a:r>
            <a:r>
              <a:rPr lang="he-IL"/>
              <a:t>, אלן </a:t>
            </a:r>
            <a:r>
              <a:rPr lang="he-IL" err="1"/>
              <a:t>אמרסון</a:t>
            </a:r>
            <a:r>
              <a:rPr lang="he-IL"/>
              <a:t> </a:t>
            </a:r>
            <a:r>
              <a:rPr lang="he-IL" err="1"/>
              <a:t>וג'וסף</a:t>
            </a:r>
            <a:r>
              <a:rPr lang="he-IL"/>
              <a:t> </a:t>
            </a:r>
            <a:r>
              <a:rPr lang="he-IL" err="1"/>
              <a:t>סיפאקיס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he-IL"/>
          </a:p>
          <a:p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653930" y="4213473"/>
            <a:ext cx="7924800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 rtl="0"/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For their roles in developing </a:t>
            </a:r>
            <a:r>
              <a:rPr lang="en-US" sz="24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Model-Checking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 into a highly effective </a:t>
            </a:r>
            <a:r>
              <a:rPr lang="en-US" sz="24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verification technology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, widely adopted in the hardware and software industries.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930" y="5664875"/>
            <a:ext cx="7924800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על תפקידם בפיתוח שיטת </a:t>
            </a:r>
            <a:r>
              <a:rPr lang="he-IL" sz="24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בדיקות מודל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כטכנולוגיית </a:t>
            </a:r>
            <a:r>
              <a:rPr lang="he-IL" sz="24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אימות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יעילה ביותר שאומצה באופן נרחב בתעשיות התוכנה והחומרה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6" name="Group 10"/>
          <p:cNvGrpSpPr/>
          <p:nvPr/>
        </p:nvGrpSpPr>
        <p:grpSpPr>
          <a:xfrm>
            <a:off x="1917219" y="2316480"/>
            <a:ext cx="5309563" cy="1645920"/>
            <a:chOff x="2089570" y="2438400"/>
            <a:chExt cx="5309563" cy="1645920"/>
          </a:xfrm>
        </p:grpSpPr>
        <p:pic>
          <p:nvPicPr>
            <p:cNvPr id="10244" name="Picture 4" descr="http://www.cs.cmu.edu/~emc/Ed_Clarke_color1.jpg"/>
            <p:cNvPicPr>
              <a:picLocks noChangeAspect="1" noChangeArrowheads="1"/>
            </p:cNvPicPr>
            <p:nvPr/>
          </p:nvPicPr>
          <p:blipFill>
            <a:blip r:embed="rId2" cstate="print"/>
            <a:srcRect l="6000" r="6000" b="14706"/>
            <a:stretch>
              <a:fillRect/>
            </a:stretch>
          </p:blipFill>
          <p:spPr bwMode="auto">
            <a:xfrm>
              <a:off x="4096691" y="2438400"/>
              <a:ext cx="1383981" cy="1645920"/>
            </a:xfrm>
            <a:prstGeom prst="rect">
              <a:avLst/>
            </a:prstGeom>
            <a:noFill/>
          </p:spPr>
        </p:pic>
        <p:pic>
          <p:nvPicPr>
            <p:cNvPr id="10246" name="Picture 6" descr="http://www.cs.utexas.edu/~emerson/eae.c.2002.small.jpg"/>
            <p:cNvPicPr>
              <a:picLocks noChangeAspect="1" noChangeArrowheads="1"/>
            </p:cNvPicPr>
            <p:nvPr/>
          </p:nvPicPr>
          <p:blipFill>
            <a:blip r:embed="rId3" cstate="print"/>
            <a:srcRect l="5926" r="5926" b="5333"/>
            <a:stretch>
              <a:fillRect/>
            </a:stretch>
          </p:blipFill>
          <p:spPr bwMode="auto">
            <a:xfrm>
              <a:off x="6019800" y="2438400"/>
              <a:ext cx="1379333" cy="1645920"/>
            </a:xfrm>
            <a:prstGeom prst="rect">
              <a:avLst/>
            </a:prstGeom>
            <a:noFill/>
          </p:spPr>
        </p:pic>
        <p:pic>
          <p:nvPicPr>
            <p:cNvPr id="10248" name="Picture 8" descr="Photo"/>
            <p:cNvPicPr>
              <a:picLocks noChangeAspect="1" noChangeArrowheads="1"/>
            </p:cNvPicPr>
            <p:nvPr/>
          </p:nvPicPr>
          <p:blipFill>
            <a:blip r:embed="rId4" cstate="print"/>
            <a:srcRect l="13333" r="13333" b="13953"/>
            <a:stretch>
              <a:fillRect/>
            </a:stretch>
          </p:blipFill>
          <p:spPr bwMode="auto">
            <a:xfrm>
              <a:off x="2089570" y="2438400"/>
              <a:ext cx="1467994" cy="1645920"/>
            </a:xfrm>
            <a:prstGeom prst="rect">
              <a:avLst/>
            </a:prstGeom>
            <a:noFill/>
          </p:spPr>
        </p:pic>
      </p:grpSp>
      <p:pic>
        <p:nvPicPr>
          <p:cNvPr id="10" name="Picture 12" descr="קובץ:ACM turing award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762000"/>
            <a:ext cx="1524000" cy="113538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sz="3600"/>
              <a:t>אימות באמצעות בדיקות מודל</a:t>
            </a:r>
            <a:br>
              <a:rPr lang="en-US" sz="3600" b="1"/>
            </a:br>
            <a:r>
              <a:rPr lang="he-IL" sz="3600" b="1"/>
              <a:t> (</a:t>
            </a:r>
            <a:r>
              <a:rPr lang="en-US" sz="3600"/>
              <a:t>Model Checking</a:t>
            </a:r>
            <a:r>
              <a:rPr lang="he-IL" sz="3600"/>
              <a:t>)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31</a:t>
            </a:fld>
            <a:endParaRPr lang="he-IL"/>
          </a:p>
        </p:txBody>
      </p:sp>
      <p:sp>
        <p:nvSpPr>
          <p:cNvPr id="4" name="Oval 3"/>
          <p:cNvSpPr/>
          <p:nvPr/>
        </p:nvSpPr>
        <p:spPr>
          <a:xfrm>
            <a:off x="5715000" y="1676400"/>
            <a:ext cx="1219200" cy="762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6" name="Oval 5"/>
          <p:cNvSpPr/>
          <p:nvPr/>
        </p:nvSpPr>
        <p:spPr>
          <a:xfrm>
            <a:off x="47853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2780" y="3962400"/>
            <a:ext cx="1905000" cy="914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1257300" y="1676400"/>
            <a:ext cx="1219200" cy="762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11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18" name="Oval 17"/>
          <p:cNvSpPr/>
          <p:nvPr/>
        </p:nvSpPr>
        <p:spPr>
          <a:xfrm>
            <a:off x="990600" y="4038600"/>
            <a:ext cx="17526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19" name="Oval 18"/>
          <p:cNvSpPr/>
          <p:nvPr/>
        </p:nvSpPr>
        <p:spPr>
          <a:xfrm>
            <a:off x="5562600" y="4038600"/>
            <a:ext cx="1524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4200" y="574548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23" name="Oval 22"/>
          <p:cNvSpPr/>
          <p:nvPr/>
        </p:nvSpPr>
        <p:spPr>
          <a:xfrm>
            <a:off x="20421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14" name="Straight Arrow Connector 13"/>
          <p:cNvCxnSpPr>
            <a:endCxn id="17" idx="0"/>
          </p:cNvCxnSpPr>
          <p:nvPr/>
        </p:nvCxnSpPr>
        <p:spPr>
          <a:xfrm rot="5400000">
            <a:off x="16192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7" idx="2"/>
            <a:endCxn id="18" idx="0"/>
          </p:cNvCxnSpPr>
          <p:nvPr/>
        </p:nvCxnSpPr>
        <p:spPr>
          <a:xfrm rot="5400000">
            <a:off x="15887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5" idx="0"/>
          </p:cNvCxnSpPr>
          <p:nvPr/>
        </p:nvCxnSpPr>
        <p:spPr>
          <a:xfrm rot="5400000">
            <a:off x="60769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2"/>
            <a:endCxn id="19" idx="0"/>
          </p:cNvCxnSpPr>
          <p:nvPr/>
        </p:nvCxnSpPr>
        <p:spPr>
          <a:xfrm rot="5400000">
            <a:off x="60464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2"/>
            <a:endCxn id="7" idx="3"/>
          </p:cNvCxnSpPr>
          <p:nvPr/>
        </p:nvCxnSpPr>
        <p:spPr>
          <a:xfrm rot="10800000">
            <a:off x="5097780" y="4419600"/>
            <a:ext cx="46482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6"/>
            <a:endCxn id="7" idx="1"/>
          </p:cNvCxnSpPr>
          <p:nvPr/>
        </p:nvCxnSpPr>
        <p:spPr>
          <a:xfrm>
            <a:off x="2743200" y="4419600"/>
            <a:ext cx="4495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2"/>
            <a:endCxn id="23" idx="7"/>
          </p:cNvCxnSpPr>
          <p:nvPr/>
        </p:nvCxnSpPr>
        <p:spPr>
          <a:xfrm rot="5400000">
            <a:off x="3281316" y="4886428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2"/>
            <a:endCxn id="6" idx="1"/>
          </p:cNvCxnSpPr>
          <p:nvPr/>
        </p:nvCxnSpPr>
        <p:spPr>
          <a:xfrm rot="16200000" flipH="1">
            <a:off x="4135652" y="4886427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6"/>
            <a:endCxn id="20" idx="1"/>
          </p:cNvCxnSpPr>
          <p:nvPr/>
        </p:nvCxnSpPr>
        <p:spPr>
          <a:xfrm>
            <a:off x="6248400" y="60198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hape 53"/>
          <p:cNvCxnSpPr>
            <a:stCxn id="19" idx="6"/>
            <a:endCxn id="20" idx="0"/>
          </p:cNvCxnSpPr>
          <p:nvPr/>
        </p:nvCxnSpPr>
        <p:spPr>
          <a:xfrm>
            <a:off x="7086600" y="4419600"/>
            <a:ext cx="533400" cy="13258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20" idx="3"/>
            <a:endCxn id="5" idx="3"/>
          </p:cNvCxnSpPr>
          <p:nvPr/>
        </p:nvCxnSpPr>
        <p:spPr>
          <a:xfrm flipH="1" flipV="1">
            <a:off x="7010400" y="3208020"/>
            <a:ext cx="1295400" cy="2811780"/>
          </a:xfrm>
          <a:prstGeom prst="bentConnector3">
            <a:avLst>
              <a:gd name="adj1" fmla="val -1764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0" idx="3"/>
            <a:endCxn id="4" idx="6"/>
          </p:cNvCxnSpPr>
          <p:nvPr/>
        </p:nvCxnSpPr>
        <p:spPr>
          <a:xfrm flipH="1" flipV="1">
            <a:off x="6934200" y="2057400"/>
            <a:ext cx="1371600" cy="3962400"/>
          </a:xfrm>
          <a:prstGeom prst="bentConnector3">
            <a:avLst>
              <a:gd name="adj1" fmla="val -1666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20" idx="2"/>
            <a:endCxn id="16" idx="2"/>
          </p:cNvCxnSpPr>
          <p:nvPr/>
        </p:nvCxnSpPr>
        <p:spPr>
          <a:xfrm rot="5400000" flipH="1">
            <a:off x="2320290" y="994410"/>
            <a:ext cx="4236720" cy="6362700"/>
          </a:xfrm>
          <a:prstGeom prst="bentConnector4">
            <a:avLst>
              <a:gd name="adj1" fmla="val -7594"/>
              <a:gd name="adj2" fmla="val 114771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17" idx="1"/>
          </p:cNvCxnSpPr>
          <p:nvPr/>
        </p:nvCxnSpPr>
        <p:spPr>
          <a:xfrm>
            <a:off x="304800" y="320802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מהם המודלים?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32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71500" y="1219200"/>
            <a:ext cx="8458200" cy="516132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מערכות מעברים (</a:t>
            </a:r>
            <a:r>
              <a:rPr lang="en-US">
                <a:solidFill>
                  <a:srgbClr val="0137D1"/>
                </a:solidFill>
                <a:latin typeface="Arial Rounded MT Bold" panose="020F0704030504030204" pitchFamily="34" charset="0"/>
              </a:rPr>
              <a:t>Labeled Transition Systems</a:t>
            </a:r>
            <a:r>
              <a:rPr lang="he-IL">
                <a:latin typeface="Arial Rounded MT Bold" panose="020F0704030504030204" pitchFamily="34" charset="0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מצבים מתויגים (</a:t>
            </a:r>
            <a:r>
              <a:rPr lang="en-US">
                <a:latin typeface="Arial Rounded MT Bold" panose="020F0704030504030204" pitchFamily="34" charset="0"/>
              </a:rPr>
              <a:t>labeled</a:t>
            </a:r>
            <a:r>
              <a:rPr lang="he-IL">
                <a:latin typeface="Arial Rounded MT Bold" panose="020F0704030504030204" pitchFamily="34" charset="0"/>
              </a:rPr>
              <a:t>) ע"י ערכי אמת לפרדיקטים בסיסים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יחס מעבר בין המצבים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מעברים מתויגים בפעולות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he-IL">
                <a:latin typeface="Arial Rounded MT Bold" panose="020F0704030504030204" pitchFamily="34" charset="0"/>
              </a:rPr>
              <a:t>ניתן לתאר: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תוכנה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מערכות מרובות תהליכים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פרוטוקולי תקשורת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מעגלי חומרה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he-IL">
                <a:latin typeface="Arial Rounded MT Bold" panose="020F0704030504030204" pitchFamily="34" charset="0"/>
              </a:rPr>
              <a:t>מה לא?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438400"/>
            <a:ext cx="3897510" cy="41707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מהן התכונות?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33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76400" y="1176601"/>
            <a:ext cx="7315200" cy="452596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he-IL" sz="2400">
                <a:latin typeface="Arial Rounded MT Bold" panose="020F0704030504030204" pitchFamily="34" charset="0"/>
              </a:rPr>
              <a:t>דוגמאות: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האם המערכת יכולה להגיע לנעילה הדדית (</a:t>
            </a:r>
            <a:r>
              <a:rPr lang="en-US" sz="2000">
                <a:latin typeface="Arial Rounded MT Bold" panose="020F0704030504030204" pitchFamily="34" charset="0"/>
              </a:rPr>
              <a:t>deadlock</a:t>
            </a:r>
            <a:r>
              <a:rPr lang="he-IL" sz="2000">
                <a:latin typeface="Arial Rounded MT Bold" panose="020F0704030504030204" pitchFamily="34" charset="0"/>
              </a:rPr>
              <a:t>)?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האם תהליכים יכולים להיות יחד בקטע קריטי (</a:t>
            </a:r>
            <a:r>
              <a:rPr lang="en-US" sz="2000">
                <a:latin typeface="Arial Rounded MT Bold" panose="020F0704030504030204" pitchFamily="34" charset="0"/>
              </a:rPr>
              <a:t>critical section</a:t>
            </a:r>
            <a:r>
              <a:rPr lang="he-IL" sz="2000">
                <a:latin typeface="Arial Rounded MT Bold" panose="020F0704030504030204" pitchFamily="34" charset="0"/>
              </a:rPr>
              <a:t>)?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האם התוכנה מספקת את הפלט הנכון?</a:t>
            </a:r>
            <a:br>
              <a:rPr lang="en-US" sz="2000">
                <a:latin typeface="Arial Rounded MT Bold" panose="020F0704030504030204" pitchFamily="34" charset="0"/>
              </a:rPr>
            </a:br>
            <a:endParaRPr lang="he-IL" sz="2000">
              <a:latin typeface="Arial Rounded MT Bold" panose="020F0704030504030204" pitchFamily="34" charset="0"/>
            </a:endParaRPr>
          </a:p>
          <a:p>
            <a:pPr>
              <a:spcBef>
                <a:spcPts val="1200"/>
              </a:spcBef>
            </a:pPr>
            <a:r>
              <a:rPr lang="he-IL" sz="2400">
                <a:latin typeface="Arial Rounded MT Bold" panose="020F0704030504030204" pitchFamily="34" charset="0"/>
              </a:rPr>
              <a:t>לוגיקת זמן (</a:t>
            </a:r>
            <a:r>
              <a:rPr lang="en-US" sz="2400">
                <a:solidFill>
                  <a:srgbClr val="0137D1"/>
                </a:solidFill>
                <a:latin typeface="Arial Rounded MT Bold" panose="020F0704030504030204" pitchFamily="34" charset="0"/>
              </a:rPr>
              <a:t>temporal logic</a:t>
            </a:r>
            <a:r>
              <a:rPr lang="he-IL" sz="2400">
                <a:latin typeface="Arial Rounded MT Bold" panose="020F0704030504030204" pitchFamily="34" charset="0"/>
              </a:rPr>
              <a:t>):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לוגיקה מסדר ראשון (</a:t>
            </a:r>
            <a:r>
              <a:rPr lang="en-US" sz="2000">
                <a:latin typeface="Arial Rounded MT Bold" panose="020F0704030504030204" pitchFamily="34" charset="0"/>
              </a:rPr>
              <a:t>propositional logic</a:t>
            </a:r>
            <a:r>
              <a:rPr lang="he-IL" sz="2000">
                <a:latin typeface="Arial Rounded MT Bold" panose="020F0704030504030204" pitchFamily="34" charset="0"/>
              </a:rPr>
              <a:t>) בתוספת אופרטורים מוֹדָלִיִּים כמו        </a:t>
            </a:r>
            <a:r>
              <a:rPr lang="he-IL" sz="2000">
                <a:latin typeface="Arial Rounded MT Bold" panose="020F0704030504030204" pitchFamily="34" charset="0"/>
                <a:sym typeface="ZapfDingbats"/>
              </a:rPr>
              <a:t>המסמן </a:t>
            </a:r>
            <a:r>
              <a:rPr lang="he-IL" sz="2000">
                <a:latin typeface="Arial Rounded MT Bold" panose="020F0704030504030204" pitchFamily="34" charset="0"/>
              </a:rPr>
              <a:t>"תמיד" ו-       המסמן "לְבַסּוֹף"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אינטרפטציה מעל סדרות מצבים (</a:t>
            </a:r>
            <a:r>
              <a:rPr lang="en-US" sz="2000">
                <a:latin typeface="Arial Rounded MT Bold" panose="020F0704030504030204" pitchFamily="34" charset="0"/>
              </a:rPr>
              <a:t>linear</a:t>
            </a:r>
            <a:r>
              <a:rPr lang="he-IL" sz="2000">
                <a:latin typeface="Arial Rounded MT Bold" panose="020F0704030504030204" pitchFamily="34" charset="0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he-IL" sz="2000">
                <a:latin typeface="Arial Rounded MT Bold" panose="020F0704030504030204" pitchFamily="34" charset="0"/>
              </a:rPr>
              <a:t>או מעל עצים אינסופיים של מצבים (</a:t>
            </a:r>
            <a:r>
              <a:rPr lang="en-US" sz="2000">
                <a:latin typeface="Arial Rounded MT Bold" panose="020F0704030504030204" pitchFamily="34" charset="0"/>
              </a:rPr>
              <a:t>branching</a:t>
            </a:r>
            <a:r>
              <a:rPr lang="he-IL" sz="2000">
                <a:latin typeface="Arial Rounded MT Bold" panose="020F0704030504030204" pitchFamily="34" charset="0"/>
              </a:rPr>
              <a:t>)</a:t>
            </a:r>
          </a:p>
        </p:txBody>
      </p:sp>
      <p:pic>
        <p:nvPicPr>
          <p:cNvPr id="24578" name="Picture 2" descr="\Box \phi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05600" y="4590472"/>
            <a:ext cx="365760" cy="253220"/>
          </a:xfrm>
          <a:prstGeom prst="rect">
            <a:avLst/>
          </a:prstGeom>
          <a:noFill/>
        </p:spPr>
      </p:pic>
      <p:pic>
        <p:nvPicPr>
          <p:cNvPr id="24580" name="Picture 4" descr="\Diamond \phi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46803" y="4554132"/>
            <a:ext cx="365760" cy="289560"/>
          </a:xfrm>
          <a:prstGeom prst="rect">
            <a:avLst/>
          </a:prstGeom>
          <a:noFill/>
        </p:spPr>
      </p:pic>
      <p:pic>
        <p:nvPicPr>
          <p:cNvPr id="8194" name="Picture 2" descr="http://theory.stanford.edu/~matteo/ltlfonts/pic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4" y="4717385"/>
            <a:ext cx="2372582" cy="237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Amir Pnueli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" y="914400"/>
            <a:ext cx="1495425" cy="164496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09600" y="2559368"/>
            <a:ext cx="12618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000"/>
              <a:t>אמיר </a:t>
            </a:r>
            <a:r>
              <a:rPr lang="he-IL" sz="2000" err="1"/>
              <a:t>פנואלי</a:t>
            </a:r>
            <a:endParaRPr lang="he-IL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SPIN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34</a:t>
            </a:fld>
            <a:endParaRPr lang="he-IL"/>
          </a:p>
        </p:txBody>
      </p:sp>
      <p:pic>
        <p:nvPicPr>
          <p:cNvPr id="5122" name="Picture 2" descr="http://www-fp.pearsonhighered.com/assets/hip/images/bigcovers/03212286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0200"/>
            <a:ext cx="3352800" cy="467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" y="1590762"/>
            <a:ext cx="4953000" cy="46166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כלי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לניתוח מודלים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באמצעות האלגוריתמים שנלמד בקורס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מותאם במיוחד לבדיקות אמינות תוכנה מבוזרת ומקבילית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בתרגילי הבית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נְפַתֵּחַ כלי דומה ל-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SPIN</a:t>
            </a: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בתעשייה משתמשים בכלים כאלה:</a:t>
            </a:r>
          </a:p>
          <a:p>
            <a:pPr lvl="1" algn="ctr">
              <a:spcBef>
                <a:spcPts val="1200"/>
              </a:spcBef>
              <a:spcAft>
                <a:spcPts val="1200"/>
              </a:spcAft>
            </a:pPr>
            <a:r>
              <a:rPr lang="he-IL" sz="2400">
                <a:solidFill>
                  <a:srgbClr val="0137D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לזיהוי כשלים בשלבי התכנון</a:t>
            </a:r>
          </a:p>
          <a:p>
            <a:pPr lvl="1" algn="ctr">
              <a:spcBef>
                <a:spcPts val="1200"/>
              </a:spcBef>
              <a:spcAft>
                <a:spcPts val="1200"/>
              </a:spcAft>
            </a:pPr>
            <a:r>
              <a:rPr lang="he-IL" sz="2400">
                <a:solidFill>
                  <a:srgbClr val="0137D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לאימות מערכות</a:t>
            </a:r>
          </a:p>
        </p:txBody>
      </p:sp>
    </p:spTree>
    <p:extLst>
      <p:ext uri="{BB962C8B-B14F-4D97-AF65-F5344CB8AC3E}">
        <p14:creationId xmlns:p14="http://schemas.microsoft.com/office/powerpoint/2010/main" val="362016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דוגמאת קוד קטנה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35</a:t>
            </a:fld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329789" y="2615863"/>
            <a:ext cx="8534400" cy="101566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/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process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2000" err="1">
                <a:latin typeface="Gisha" panose="020B0502040204020203" pitchFamily="34" charset="-79"/>
                <a:cs typeface="Gisha" panose="020B0502040204020203" pitchFamily="34" charset="-79"/>
              </a:rPr>
              <a:t>Inc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    =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while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true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do if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&lt; 200 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then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:= x + 1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od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endParaRPr lang="en-US" sz="2000" b="1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l"/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process 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Dec    =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while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true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do if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&gt; 0    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then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:= x − 1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od </a:t>
            </a:r>
          </a:p>
          <a:p>
            <a:pPr algn="l"/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process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Reset =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while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true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do if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= 200 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then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x := 0       </a:t>
            </a:r>
            <a:r>
              <a:rPr lang="en-US" sz="2000" b="1">
                <a:latin typeface="Gisha" panose="020B0502040204020203" pitchFamily="34" charset="-79"/>
                <a:cs typeface="Gisha" panose="020B0502040204020203" pitchFamily="34" charset="-79"/>
              </a:rPr>
              <a:t>od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013811" y="5053014"/>
                <a:ext cx="5573578" cy="584775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 rtlCol="1">
                <a:spAutoFit/>
              </a:bodyPr>
              <a:lstStyle/>
              <a:p>
                <a:pPr algn="ctr"/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האם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sz="3200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תמיד בין 0 ל-200 (כולל)?</a:t>
                </a:r>
                <a:endParaRPr lang="he-IL" sz="32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11" y="5053014"/>
                <a:ext cx="557357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636968" y="1807685"/>
            <a:ext cx="144302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8980" y="4343400"/>
            <a:ext cx="229101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תכונה רצויה: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he-IL"/>
              <a:t>מידול באמצעות </a:t>
            </a:r>
            <a:r>
              <a:rPr lang="en-US" err="1">
                <a:latin typeface="Arial Rounded MT Bold" panose="020F0704030504030204" pitchFamily="34" charset="0"/>
              </a:rPr>
              <a:t>Promela</a:t>
            </a:r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36</a:t>
            </a:fld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990600" y="1295400"/>
            <a:ext cx="7488767" cy="532453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 rtl="0"/>
            <a:r>
              <a:rPr lang="en-US" sz="2000" err="1">
                <a:latin typeface="Consolas" panose="020B0609020204030204" pitchFamily="49" charset="0"/>
              </a:rPr>
              <a:t>int</a:t>
            </a:r>
            <a:r>
              <a:rPr lang="en-US" sz="2000">
                <a:latin typeface="Consolas" panose="020B0609020204030204" pitchFamily="49" charset="0"/>
              </a:rPr>
              <a:t>  x=0;</a:t>
            </a:r>
          </a:p>
          <a:p>
            <a:pPr algn="l" rtl="0"/>
            <a:br>
              <a:rPr lang="en-US" sz="2000">
                <a:latin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</a:rPr>
              <a:t>proctype Inc() {</a:t>
            </a:r>
          </a:p>
          <a:p>
            <a:pPr lvl="2" algn="l" rtl="0"/>
            <a:r>
              <a:rPr lang="en-US" sz="2000">
                <a:latin typeface="Consolas" panose="020B0609020204030204" pitchFamily="49" charset="0"/>
              </a:rPr>
              <a:t>do :: true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if :: (x &lt; 200)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x=x+1 fi od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proctype Dec() 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	do :: true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if :: (x &gt; 0)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x=x-1 fi od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 </a:t>
            </a:r>
          </a:p>
          <a:p>
            <a:pPr algn="l" rtl="0"/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proctype Reset () 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	do :: true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if :: (x == 200) </a:t>
            </a:r>
            <a:r>
              <a:rPr lang="en-US" sz="2000">
                <a:latin typeface="Consolas" panose="020B0609020204030204" pitchFamily="49" charset="0"/>
                <a:sym typeface="Symbol"/>
              </a:rPr>
              <a:t></a:t>
            </a:r>
            <a:r>
              <a:rPr lang="en-US" sz="2000">
                <a:latin typeface="Consolas" panose="020B0609020204030204" pitchFamily="49" charset="0"/>
              </a:rPr>
              <a:t> x=0 fi od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init  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	atomic{ run Inc(); run Dec(); run Reset() }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he-IL"/>
              <a:t>איך לבדוק?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37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77824" y="1828800"/>
            <a:ext cx="7772400" cy="4572000"/>
          </a:xfrm>
        </p:spPr>
        <p:txBody>
          <a:bodyPr/>
          <a:lstStyle/>
          <a:p>
            <a:pPr algn="ctr">
              <a:buNone/>
            </a:pPr>
            <a:r>
              <a:rPr lang="he-IL"/>
              <a:t>מוסיפים למודל "מוניטור" שבודק ש-</a:t>
            </a:r>
            <a:r>
              <a:rPr lang="en-US" i="1"/>
              <a:t>x</a:t>
            </a:r>
            <a:r>
              <a:rPr lang="he-IL" i="1"/>
              <a:t> </a:t>
            </a:r>
            <a:r>
              <a:rPr lang="he-IL"/>
              <a:t>בין 0 ל-200</a:t>
            </a:r>
            <a:endParaRPr lang="he-IL" i="1"/>
          </a:p>
        </p:txBody>
      </p:sp>
      <p:sp>
        <p:nvSpPr>
          <p:cNvPr id="5" name="TextBox 4"/>
          <p:cNvSpPr txBox="1"/>
          <p:nvPr/>
        </p:nvSpPr>
        <p:spPr>
          <a:xfrm>
            <a:off x="457200" y="3124200"/>
            <a:ext cx="8305800" cy="224676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 rtl="0"/>
            <a:r>
              <a:rPr lang="en-US" sz="2000">
                <a:latin typeface="Consolas" panose="020B0609020204030204" pitchFamily="49" charset="0"/>
              </a:rPr>
              <a:t>proctype Check() 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assert (x &gt;= 0 &amp;&amp; x&lt;= 200)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init  {</a:t>
            </a:r>
            <a:endParaRPr lang="he-IL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atomic{ run Inc(); run Dec(); run Reset(); run</a:t>
            </a:r>
            <a:r>
              <a:rPr lang="he-IL" sz="2000">
                <a:latin typeface="Consolas" panose="020B0609020204030204" pitchFamily="49" charset="0"/>
              </a:rPr>
              <a:t> </a:t>
            </a:r>
            <a:r>
              <a:rPr lang="en-US" sz="2000">
                <a:latin typeface="Consolas" panose="020B0609020204030204" pitchFamily="49" charset="0"/>
              </a:rPr>
              <a:t>Check()}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דוגמא נגדית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38</a:t>
            </a:fld>
            <a:endParaRPr lang="he-IL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2339" y="1828800"/>
            <a:ext cx="7479322" cy="3557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524000" y="5867400"/>
            <a:ext cx="60960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המחשב מצא שגיאה במודל באופן אוטומטי!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תיקון השגיאה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39</a:t>
            </a:fld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304800" y="1447800"/>
            <a:ext cx="8515350" cy="480131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l" rtl="0"/>
            <a:r>
              <a:rPr lang="en-US" err="1">
                <a:latin typeface="Consolas" panose="020B0609020204030204" pitchFamily="49" charset="0"/>
              </a:rPr>
              <a:t>int</a:t>
            </a:r>
            <a:r>
              <a:rPr lang="en-US">
                <a:latin typeface="Consolas" panose="020B0609020204030204" pitchFamily="49" charset="0"/>
              </a:rPr>
              <a:t>  x=0;</a:t>
            </a:r>
          </a:p>
          <a:p>
            <a:pPr algn="l" rtl="0"/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proctype Inc() {</a:t>
            </a:r>
          </a:p>
          <a:p>
            <a:pPr lvl="2" algn="l" rtl="0"/>
            <a:r>
              <a:rPr lang="en-US">
                <a:latin typeface="Consolas" panose="020B0609020204030204" pitchFamily="49" charset="0"/>
              </a:rPr>
              <a:t>do :: true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atomic{</a:t>
            </a:r>
            <a:r>
              <a:rPr lang="en-US">
                <a:latin typeface="Consolas" panose="020B0609020204030204" pitchFamily="49" charset="0"/>
              </a:rPr>
              <a:t> if :: (x &lt; 200)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x=x+1 </a:t>
            </a:r>
            <a:r>
              <a:rPr lang="en-US" err="1">
                <a:latin typeface="Consolas" panose="020B0609020204030204" pitchFamily="49" charset="0"/>
              </a:rPr>
              <a:t>fi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}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</a:rPr>
              <a:t>od</a:t>
            </a:r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proctype Dec() {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	do :: true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atomic{  </a:t>
            </a:r>
            <a:r>
              <a:rPr lang="en-US">
                <a:latin typeface="Consolas" panose="020B0609020204030204" pitchFamily="49" charset="0"/>
              </a:rPr>
              <a:t>if :: (x &gt; 0)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x=x-1 </a:t>
            </a:r>
            <a:r>
              <a:rPr lang="en-US" err="1">
                <a:latin typeface="Consolas" panose="020B0609020204030204" pitchFamily="49" charset="0"/>
              </a:rPr>
              <a:t>fi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}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</a:rPr>
              <a:t>od</a:t>
            </a:r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} </a:t>
            </a:r>
          </a:p>
          <a:p>
            <a:pPr algn="l" rtl="0"/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proctype Reset () {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	do :: true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atomic{ </a:t>
            </a:r>
            <a:r>
              <a:rPr lang="en-US">
                <a:latin typeface="Consolas" panose="020B0609020204030204" pitchFamily="49" charset="0"/>
              </a:rPr>
              <a:t> if :: (x == 200) </a:t>
            </a:r>
            <a:r>
              <a:rPr lang="en-US">
                <a:latin typeface="Consolas" panose="020B0609020204030204" pitchFamily="49" charset="0"/>
                <a:sym typeface="Symbol"/>
              </a:rPr>
              <a:t></a:t>
            </a:r>
            <a:r>
              <a:rPr lang="en-US">
                <a:latin typeface="Consolas" panose="020B0609020204030204" pitchFamily="49" charset="0"/>
              </a:rPr>
              <a:t> x=0 </a:t>
            </a:r>
            <a:r>
              <a:rPr lang="en-US" err="1">
                <a:latin typeface="Consolas" panose="020B0609020204030204" pitchFamily="49" charset="0"/>
              </a:rPr>
              <a:t>fi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}</a:t>
            </a:r>
            <a:r>
              <a:rPr lang="en-US">
                <a:latin typeface="Consolas" panose="020B0609020204030204" pitchFamily="49" charset="0"/>
              </a:rPr>
              <a:t> od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>
              <a:latin typeface="Consolas" panose="020B0609020204030204" pitchFamily="49" charset="0"/>
            </a:endParaRPr>
          </a:p>
          <a:p>
            <a:pPr algn="l" rtl="0"/>
            <a:r>
              <a:rPr lang="en-US">
                <a:latin typeface="Consolas" panose="020B0609020204030204" pitchFamily="49" charset="0"/>
              </a:rPr>
              <a:t>init  {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	atomic{ run Inc(); run Dec(); run Reset() }</a:t>
            </a:r>
          </a:p>
          <a:p>
            <a:pPr algn="l" rtl="0"/>
            <a:r>
              <a:rPr lang="en-US">
                <a:latin typeface="Consolas" panose="020B0609020204030204" pitchFamily="49" charset="0"/>
              </a:rPr>
              <a:t>}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he-IL"/>
              <a:t>תהליך בדיקות מודל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40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534400" cy="5257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he-IL" sz="2800">
                <a:latin typeface="Arial Rounded MT Bold" panose="020F0704030504030204" pitchFamily="34" charset="0"/>
              </a:rPr>
              <a:t>שלב המידול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בונים מודל המתאר את המערכת הנבדקת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מבצעים סימולציות למטרת "</a:t>
            </a:r>
            <a:r>
              <a:rPr lang="en-US" sz="2400">
                <a:latin typeface="Arial Rounded MT Bold" panose="020F0704030504030204" pitchFamily="34" charset="0"/>
              </a:rPr>
              <a:t>Sanity Check</a:t>
            </a:r>
            <a:r>
              <a:rPr lang="he-IL" sz="2400">
                <a:latin typeface="Arial Rounded MT Bold" panose="020F0704030504030204" pitchFamily="34" charset="0"/>
              </a:rPr>
              <a:t>"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כותבים תכונות שרוצים לבדוק</a:t>
            </a:r>
          </a:p>
          <a:p>
            <a:pPr>
              <a:spcBef>
                <a:spcPts val="1200"/>
              </a:spcBef>
            </a:pPr>
            <a:r>
              <a:rPr lang="he-IL" sz="2800">
                <a:latin typeface="Arial Rounded MT Bold" panose="020F0704030504030204" pitchFamily="34" charset="0"/>
              </a:rPr>
              <a:t>שלב ההרצה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מריצים את ה-</a:t>
            </a:r>
            <a:r>
              <a:rPr lang="en-US" sz="2400">
                <a:latin typeface="Arial Rounded MT Bold" panose="020F0704030504030204" pitchFamily="34" charset="0"/>
              </a:rPr>
              <a:t>model checker</a:t>
            </a:r>
            <a:r>
              <a:rPr lang="he-IL" sz="2400">
                <a:latin typeface="Arial Rounded MT Bold" panose="020F0704030504030204" pitchFamily="34" charset="0"/>
              </a:rPr>
              <a:t> כדי לבדוק נכונות התכונות</a:t>
            </a:r>
          </a:p>
          <a:p>
            <a:pPr>
              <a:spcBef>
                <a:spcPts val="1200"/>
              </a:spcBef>
            </a:pPr>
            <a:r>
              <a:rPr lang="he-IL" sz="2800">
                <a:latin typeface="Arial Rounded MT Bold" panose="020F0704030504030204" pitchFamily="34" charset="0"/>
              </a:rPr>
              <a:t>שלב האנליזה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התכונה הוכחה כנכונה?</a:t>
            </a:r>
            <a:r>
              <a:rPr lang="en-US" sz="2400">
                <a:latin typeface="Arial Rounded MT Bold" panose="020F0704030504030204" pitchFamily="34" charset="0"/>
              </a:rPr>
              <a:t> </a:t>
            </a:r>
            <a:br>
              <a:rPr lang="en-US" sz="2400">
                <a:latin typeface="Arial Rounded MT Bold" panose="020F0704030504030204" pitchFamily="34" charset="0"/>
              </a:rPr>
            </a:br>
            <a:r>
              <a:rPr lang="he-IL" sz="1800">
                <a:latin typeface="Arial Rounded MT Bold" panose="020F0704030504030204" pitchFamily="34" charset="0"/>
              </a:rPr>
              <a:t>בודקים תכונות נוספות (אם יש)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התכונה הוכחה כשגויה?</a:t>
            </a:r>
            <a:r>
              <a:rPr lang="en-US" sz="2400">
                <a:latin typeface="Arial Rounded MT Bold" panose="020F0704030504030204" pitchFamily="34" charset="0"/>
              </a:rPr>
              <a:t> </a:t>
            </a:r>
            <a:br>
              <a:rPr lang="en-US" sz="2400">
                <a:latin typeface="Arial Rounded MT Bold" panose="020F0704030504030204" pitchFamily="34" charset="0"/>
              </a:rPr>
            </a:br>
            <a:r>
              <a:rPr lang="he-IL" sz="1800">
                <a:latin typeface="Arial Rounded MT Bold" panose="020F0704030504030204" pitchFamily="34" charset="0"/>
              </a:rPr>
              <a:t>מתקנים את המודל, המערכת או התכונה ומנסים שוב...</a:t>
            </a:r>
          </a:p>
          <a:p>
            <a:pPr lvl="1"/>
            <a:r>
              <a:rPr lang="he-IL" sz="2400">
                <a:latin typeface="Arial Rounded MT Bold" panose="020F0704030504030204" pitchFamily="34" charset="0"/>
              </a:rPr>
              <a:t>אין מספיק זמן או זיכרון לבדוק את התכונה?</a:t>
            </a:r>
            <a:br>
              <a:rPr lang="en-US" sz="2400">
                <a:latin typeface="Arial Rounded MT Bold" panose="020F0704030504030204" pitchFamily="34" charset="0"/>
              </a:rPr>
            </a:br>
            <a:r>
              <a:rPr lang="he-IL" sz="1800">
                <a:latin typeface="Arial Rounded MT Bold" panose="020F0704030504030204" pitchFamily="34" charset="0"/>
              </a:rPr>
              <a:t>מנסים לפשט את המודל</a:t>
            </a:r>
            <a:endParaRPr lang="en-US" sz="1800">
              <a:latin typeface="Arial Rounded MT Bold" panose="020F070403050403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7" y="4191000"/>
            <a:ext cx="2607733" cy="158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יתרונות שיטת בדיקות מודל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41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12954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he-IL" sz="2400"/>
              <a:t>ניתנת לשימוש רחב (חומרה, תוכנה, פרוטוקולים,...)</a:t>
            </a:r>
          </a:p>
          <a:p>
            <a:pPr algn="r">
              <a:lnSpc>
                <a:spcPct val="160000"/>
              </a:lnSpc>
            </a:pPr>
            <a:r>
              <a:rPr lang="he-IL" sz="2400"/>
              <a:t>מאפשרת אימות גרסה חלקית (גם לפני שכתבנו שורת קוד אחת)</a:t>
            </a:r>
          </a:p>
          <a:p>
            <a:pPr>
              <a:lnSpc>
                <a:spcPct val="160000"/>
              </a:lnSpc>
            </a:pPr>
            <a:r>
              <a:rPr lang="he-IL" sz="2400"/>
              <a:t>פוטנציאל </a:t>
            </a:r>
            <a:r>
              <a:rPr lang="he-IL" sz="2400">
                <a:solidFill>
                  <a:srgbClr val="FF0000"/>
                </a:solidFill>
              </a:rPr>
              <a:t>לאוטומציה מלאה </a:t>
            </a:r>
            <a:r>
              <a:rPr lang="he-IL" sz="2400"/>
              <a:t>(תוכנה המופעלת בלחיצת כפתור)</a:t>
            </a:r>
          </a:p>
          <a:p>
            <a:pPr>
              <a:lnSpc>
                <a:spcPct val="160000"/>
              </a:lnSpc>
            </a:pPr>
            <a:r>
              <a:rPr lang="he-IL" sz="2400">
                <a:solidFill>
                  <a:srgbClr val="FF0000"/>
                </a:solidFill>
              </a:rPr>
              <a:t>הוכחה כשימושית </a:t>
            </a:r>
            <a:r>
              <a:rPr lang="he-IL" sz="2400"/>
              <a:t>בתעשיות החומרה והתוכנה</a:t>
            </a:r>
          </a:p>
          <a:p>
            <a:pPr>
              <a:lnSpc>
                <a:spcPct val="160000"/>
              </a:lnSpc>
            </a:pPr>
            <a:r>
              <a:rPr lang="he-IL" sz="2400"/>
              <a:t>נותנת </a:t>
            </a:r>
            <a:r>
              <a:rPr lang="he-IL" sz="2400">
                <a:solidFill>
                  <a:srgbClr val="FF0000"/>
                </a:solidFill>
              </a:rPr>
              <a:t>דוגמא נגדית </a:t>
            </a:r>
            <a:r>
              <a:rPr lang="he-IL" sz="2400"/>
              <a:t>כאשר התכונה אינה מתקיימת</a:t>
            </a:r>
          </a:p>
          <a:p>
            <a:pPr>
              <a:lnSpc>
                <a:spcPct val="160000"/>
              </a:lnSpc>
            </a:pPr>
            <a:r>
              <a:rPr lang="he-IL" sz="2400"/>
              <a:t>מבוססת על </a:t>
            </a:r>
            <a:r>
              <a:rPr lang="he-IL" sz="2400">
                <a:solidFill>
                  <a:srgbClr val="FF0000"/>
                </a:solidFill>
              </a:rPr>
              <a:t>תורה מתמטית</a:t>
            </a:r>
          </a:p>
          <a:p>
            <a:pPr>
              <a:lnSpc>
                <a:spcPct val="160000"/>
              </a:lnSpc>
            </a:pPr>
            <a:r>
              <a:rPr lang="he-IL" sz="2400"/>
              <a:t>לא מֻכְוֶ</a:t>
            </a:r>
            <a:r>
              <a:rPr lang="he-IL" sz="2400" err="1"/>
              <a:t>נֶת </a:t>
            </a:r>
            <a:r>
              <a:rPr lang="he-IL" sz="2400"/>
              <a:t>תסריטים נפוצים (להבדיל מבדיקות)</a:t>
            </a:r>
            <a:endParaRPr lang="en-US" sz="2400"/>
          </a:p>
        </p:txBody>
      </p:sp>
      <p:pic>
        <p:nvPicPr>
          <p:cNvPr id="10242" name="Picture 2" descr="http://www.wanlishipin.com/wp-content/uploads/2011/09/www.wanlishipin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783800"/>
            <a:ext cx="2438400" cy="188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חסרונות שיטת בדיקות מודל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42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2336" y="1574512"/>
            <a:ext cx="8534400" cy="3835114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he-IL" sz="2800">
                <a:latin typeface="Arial Rounded MT Bold" panose="020F0704030504030204" pitchFamily="34" charset="0"/>
              </a:rPr>
              <a:t>דגש על זרימת הבקרה במערכות </a:t>
            </a:r>
            <a:r>
              <a:rPr lang="he-IL" sz="2800" err="1">
                <a:solidFill>
                  <a:srgbClr val="FF0000"/>
                </a:solidFill>
                <a:latin typeface="Arial Rounded MT Bold" panose="020F0704030504030204" pitchFamily="34" charset="0"/>
              </a:rPr>
              <a:t>תגובתיות</a:t>
            </a:r>
            <a:r>
              <a:rPr lang="he-IL" sz="280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he-IL" sz="280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(</a:t>
            </a:r>
            <a:r>
              <a:rPr lang="en-US" sz="280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reactive</a:t>
            </a:r>
            <a:r>
              <a:rPr lang="he-IL" sz="280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),</a:t>
            </a:r>
            <a:r>
              <a:rPr lang="he-IL" sz="280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he-IL" sz="2800">
                <a:latin typeface="Arial Rounded MT Bold" panose="020F0704030504030204" pitchFamily="34" charset="0"/>
              </a:rPr>
              <a:t>פחות על חישובים ומבני נתונים</a:t>
            </a:r>
            <a:br>
              <a:rPr lang="en-US" sz="2800">
                <a:latin typeface="Arial Rounded MT Bold" panose="020F0704030504030204" pitchFamily="34" charset="0"/>
              </a:rPr>
            </a:br>
            <a:endParaRPr lang="he-IL" sz="2800">
              <a:latin typeface="Arial Rounded MT Bold" panose="020F0704030504030204" pitchFamily="34" charset="0"/>
            </a:endParaRPr>
          </a:p>
          <a:p>
            <a:r>
              <a:rPr lang="he-IL" sz="2800">
                <a:latin typeface="Arial Rounded MT Bold" panose="020F0704030504030204" pitchFamily="34" charset="0"/>
              </a:rPr>
              <a:t>איכות האימות תלויה ב</a:t>
            </a:r>
            <a:r>
              <a:rPr lang="he-IL" sz="2800">
                <a:solidFill>
                  <a:srgbClr val="FF0000"/>
                </a:solidFill>
                <a:latin typeface="Arial Rounded MT Bold" panose="020F0704030504030204" pitchFamily="34" charset="0"/>
              </a:rPr>
              <a:t>איכות המודל</a:t>
            </a:r>
            <a:br>
              <a:rPr lang="en-US" sz="2800">
                <a:solidFill>
                  <a:srgbClr val="FF0000"/>
                </a:solidFill>
                <a:latin typeface="Arial Rounded MT Bold" panose="020F0704030504030204" pitchFamily="34" charset="0"/>
              </a:rPr>
            </a:br>
            <a:endParaRPr lang="he-IL" sz="280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r>
              <a:rPr lang="he-IL" sz="2800">
                <a:latin typeface="Arial Rounded MT Bold" panose="020F0704030504030204" pitchFamily="34" charset="0"/>
              </a:rPr>
              <a:t>לא ישים אם </a:t>
            </a:r>
            <a:r>
              <a:rPr lang="he-IL" sz="2800">
                <a:solidFill>
                  <a:srgbClr val="FF0000"/>
                </a:solidFill>
                <a:latin typeface="Arial Rounded MT Bold" panose="020F0704030504030204" pitchFamily="34" charset="0"/>
              </a:rPr>
              <a:t>מספר המצבים </a:t>
            </a:r>
            <a:r>
              <a:rPr lang="he-IL" sz="2800">
                <a:latin typeface="Arial Rounded MT Bold" panose="020F0704030504030204" pitchFamily="34" charset="0"/>
              </a:rPr>
              <a:t>של המודל גדול או אינסופי</a:t>
            </a:r>
            <a:br>
              <a:rPr lang="en-US" sz="2800">
                <a:latin typeface="Arial Rounded MT Bold" panose="020F0704030504030204" pitchFamily="34" charset="0"/>
              </a:rPr>
            </a:br>
            <a:endParaRPr lang="he-IL" sz="2800">
              <a:latin typeface="Arial Rounded MT Bold" panose="020F0704030504030204" pitchFamily="34" charset="0"/>
            </a:endParaRPr>
          </a:p>
          <a:p>
            <a:r>
              <a:rPr lang="he-IL" sz="2800">
                <a:latin typeface="Arial Rounded MT Bold" panose="020F0704030504030204" pitchFamily="34" charset="0"/>
              </a:rPr>
              <a:t>עם זאת:</a:t>
            </a:r>
          </a:p>
          <a:p>
            <a:pPr lvl="1">
              <a:buNone/>
            </a:pPr>
            <a:r>
              <a:rPr lang="he-IL" sz="2400">
                <a:latin typeface="Arial Rounded MT Bold" panose="020F0704030504030204" pitchFamily="34" charset="0"/>
              </a:rPr>
              <a:t>            </a:t>
            </a:r>
            <a:r>
              <a:rPr lang="he-IL" sz="3200">
                <a:latin typeface="Arial Rounded MT Bold" panose="020F0704030504030204" pitchFamily="34" charset="0"/>
              </a:rPr>
              <a:t> </a:t>
            </a:r>
            <a:endParaRPr lang="he-IL" sz="320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1457" y="5879812"/>
            <a:ext cx="7805343" cy="58477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he-IL" sz="32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שיטה אפקטיבית למציאת שגיאות תכנון ומימוש</a:t>
            </a:r>
            <a:endParaRPr lang="en-US" sz="32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1266" name="Picture 2" descr="http://freelanceswitch.com/images/colour_darts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4" y="4660325"/>
            <a:ext cx="1060331" cy="149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סיפורי הצלחה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43</a:t>
            </a:fld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229600" cy="5181600"/>
          </a:xfrm>
        </p:spPr>
        <p:txBody>
          <a:bodyPr>
            <a:noAutofit/>
          </a:bodyPr>
          <a:lstStyle/>
          <a:p>
            <a:r>
              <a:rPr lang="he-IL" sz="2100"/>
              <a:t>אבטחת מידע: </a:t>
            </a:r>
          </a:p>
          <a:p>
            <a:pPr lvl="1"/>
            <a:r>
              <a:rPr lang="he-IL" sz="2100"/>
              <a:t>פרוטוקול הצפנה </a:t>
            </a:r>
            <a:r>
              <a:rPr lang="en-US" sz="2100"/>
              <a:t>Needham-Schroder</a:t>
            </a:r>
          </a:p>
          <a:p>
            <a:pPr lvl="1"/>
            <a:r>
              <a:rPr lang="he-IL" sz="2100"/>
              <a:t>נמצאה שגיאה שנשארה חבויה במשך </a:t>
            </a:r>
            <a:r>
              <a:rPr lang="en-US" sz="2100"/>
              <a:t>17</a:t>
            </a:r>
            <a:r>
              <a:rPr lang="he-IL" sz="2100"/>
              <a:t> שנים</a:t>
            </a:r>
          </a:p>
          <a:p>
            <a:endParaRPr lang="he-IL" sz="2100"/>
          </a:p>
          <a:p>
            <a:r>
              <a:rPr lang="he-IL" sz="2100"/>
              <a:t>מערכות תחבורה</a:t>
            </a:r>
          </a:p>
          <a:p>
            <a:pPr lvl="1"/>
            <a:r>
              <a:rPr lang="he-IL" sz="2100"/>
              <a:t>נבדק מודל תנועת רכבות בעל </a:t>
            </a:r>
            <a:r>
              <a:rPr lang="en-US" sz="2100"/>
              <a:t>10</a:t>
            </a:r>
            <a:r>
              <a:rPr lang="en-US" sz="2100" baseline="30000"/>
              <a:t>476</a:t>
            </a:r>
            <a:r>
              <a:rPr lang="he-IL" sz="2100" baseline="30000"/>
              <a:t> </a:t>
            </a:r>
            <a:r>
              <a:rPr lang="he-IL" sz="2100"/>
              <a:t>מצבים</a:t>
            </a:r>
          </a:p>
          <a:p>
            <a:pPr lvl="1"/>
            <a:endParaRPr lang="he-IL" sz="2100"/>
          </a:p>
          <a:p>
            <a:r>
              <a:rPr lang="he-IL" sz="2100"/>
              <a:t>בדיקת קוד </a:t>
            </a:r>
            <a:r>
              <a:rPr lang="en-US" sz="2100"/>
              <a:t>C, Java, C++</a:t>
            </a:r>
          </a:p>
          <a:p>
            <a:pPr lvl="1"/>
            <a:r>
              <a:rPr lang="he-IL" sz="2100"/>
              <a:t>בשימוש (ופיתוח) חברות כמו </a:t>
            </a:r>
            <a:r>
              <a:rPr lang="en-US" sz="2100"/>
              <a:t>Microsoft</a:t>
            </a:r>
            <a:r>
              <a:rPr lang="he-IL" sz="2100"/>
              <a:t>, </a:t>
            </a:r>
            <a:r>
              <a:rPr lang="en-US" sz="2100"/>
              <a:t>Digital</a:t>
            </a:r>
            <a:r>
              <a:rPr lang="he-IL" sz="2100"/>
              <a:t> ו-</a:t>
            </a:r>
            <a:r>
              <a:rPr lang="en-US" sz="2100"/>
              <a:t>NASA</a:t>
            </a:r>
          </a:p>
          <a:p>
            <a:pPr lvl="1"/>
            <a:r>
              <a:rPr lang="he-IL" sz="2100"/>
              <a:t>תחום הצלחה: בדיקת התאמת </a:t>
            </a:r>
            <a:r>
              <a:rPr lang="en-US" sz="2100"/>
              <a:t>device driver</a:t>
            </a:r>
            <a:endParaRPr lang="he-IL" sz="2100"/>
          </a:p>
          <a:p>
            <a:endParaRPr lang="he-IL" sz="2100"/>
          </a:p>
          <a:p>
            <a:r>
              <a:rPr lang="he-IL" sz="2100"/>
              <a:t>תוכנה בתוכניות החלל הנכחית והקודמות</a:t>
            </a:r>
          </a:p>
          <a:p>
            <a:pPr lvl="1"/>
            <a:r>
              <a:rPr lang="en-US" sz="2100"/>
              <a:t>NASA’s Mars Pathfinder, Deep Space-1, JPL LARS group</a:t>
            </a:r>
          </a:p>
        </p:txBody>
      </p:sp>
      <p:pic>
        <p:nvPicPr>
          <p:cNvPr id="4098" name="Picture 2" descr="https://financialpostcom.files.wordpress.com/2013/10/success.jpg?w=62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3200399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GERAW@YFUXXLKFUVWYY57I" val="3555"/>
  <p:tag name="EMBEDFONTS" val="1"/>
  <p:tag name="DEFAULTDISPLAYSOURCE" val="\documentclass{article}\pagestyle{empty}&#10;\begin{document}&#10;&#10;\end{document}&#10;"/>
  <p:tag name="ISPRING_RESOURCE_PATHS_HASH_PRESENTER" val="5304712e4b844688e46c684d89d48415b126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Custom 4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206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43</Slides>
  <Notes>0</Notes>
  <HiddenSlides>32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Equity</vt:lpstr>
      <vt:lpstr>מבוא לאימות תוכנה בשיטות פורמאליות</vt:lpstr>
      <vt:lpstr>מידע כללי</vt:lpstr>
      <vt:lpstr>מרכיבי הציון</vt:lpstr>
      <vt:lpstr>הסקת מסקנות אוטומטית - לוגיקה בפעולה</vt:lpstr>
      <vt:lpstr>שיטות פורמליות</vt:lpstr>
      <vt:lpstr>בדיקות לעומת אימות פורמאלי</vt:lpstr>
      <vt:lpstr>דוגמה: שזירת תהליכים</vt:lpstr>
      <vt:lpstr>"צייד באגים"  - טוב מוקדם ממאוחר</vt:lpstr>
      <vt:lpstr>תוכנית הקורס</vt:lpstr>
      <vt:lpstr>אימות באמצעות בדיקות מודל  (Model Checking)</vt:lpstr>
      <vt:lpstr>ספרות</vt:lpstr>
      <vt:lpstr>תקלות תוכנה גורמות להפסד כספי אדיר  ולאובדן חיי אדם!</vt:lpstr>
      <vt:lpstr>מערכת תגובתית (Reactive System)</vt:lpstr>
      <vt:lpstr>PowerPoint Presentation</vt:lpstr>
      <vt:lpstr>דוגמה: קרינת יתר במכונת  Therac-25</vt:lpstr>
      <vt:lpstr>דוגמה: נפילת רשת AT&amp;T</vt:lpstr>
      <vt:lpstr>דוגמה: התרסקות הטיל Ariane 5</vt:lpstr>
      <vt:lpstr>שגיאת FDIV במעבד פנטיום</vt:lpstr>
      <vt:lpstr>למה משקיעים הרבה מאוד כסף  באימות תוכנה?</vt:lpstr>
      <vt:lpstr>PowerPoint Presentation</vt:lpstr>
      <vt:lpstr>מהו אימות תוכנה?</vt:lpstr>
      <vt:lpstr>שיטות מוכרות לאימות תוכנה</vt:lpstr>
      <vt:lpstr>אימות תוכנה בשיטות פורמאליות</vt:lpstr>
      <vt:lpstr>שיטות אימות פורמאלי לתְּכוּנָה  P</vt:lpstr>
      <vt:lpstr>למה לא בדיקות וסימולציה?</vt:lpstr>
      <vt:lpstr>אבני דרך בהיסטוריה של האימות הפורמלי</vt:lpstr>
      <vt:lpstr>דוגמאות לכללי הֶסֵּק</vt:lpstr>
      <vt:lpstr>פרס טיורינג</vt:lpstr>
      <vt:lpstr>פרס טיורינג לשנת 1996</vt:lpstr>
      <vt:lpstr>פרס טיורינג לשנת 2008</vt:lpstr>
      <vt:lpstr>אימות באמצעות בדיקות מודל  (Model Checking)</vt:lpstr>
      <vt:lpstr>מהם המודלים?</vt:lpstr>
      <vt:lpstr>מהן התכונות?</vt:lpstr>
      <vt:lpstr>SPIN</vt:lpstr>
      <vt:lpstr>דוגמאת קוד קטנה</vt:lpstr>
      <vt:lpstr>מידול באמצעות Promela</vt:lpstr>
      <vt:lpstr>איך לבדוק?</vt:lpstr>
      <vt:lpstr>דוגמא נגדית</vt:lpstr>
      <vt:lpstr>תיקון השגיאה</vt:lpstr>
      <vt:lpstr>תהליך בדיקות מודל</vt:lpstr>
      <vt:lpstr>יתרונות שיטת בדיקות מודל</vt:lpstr>
      <vt:lpstr>חסרונות שיטת בדיקות מודל</vt:lpstr>
      <vt:lpstr>סיפורי הצלחה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שמי Gera Weiss  ואני דוברת English</dc:title>
  <dc:creator>John Doil</dc:creator>
  <cp:revision>1</cp:revision>
  <dcterms:created xsi:type="dcterms:W3CDTF">2009-09-20T15:24:37Z</dcterms:created>
  <dcterms:modified xsi:type="dcterms:W3CDTF">2025-03-19T09:48:53Z</dcterms:modified>
</cp:coreProperties>
</file>