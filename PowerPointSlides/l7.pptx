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14"/>
  </p:notesMasterIdLst>
  <p:sldIdLst>
    <p:sldId id="256" r:id="rId2"/>
    <p:sldId id="377" r:id="rId3"/>
    <p:sldId id="358" r:id="rId4"/>
    <p:sldId id="313" r:id="rId5"/>
    <p:sldId id="378" r:id="rId6"/>
    <p:sldId id="291" r:id="rId7"/>
    <p:sldId id="292" r:id="rId8"/>
    <p:sldId id="293" r:id="rId9"/>
    <p:sldId id="374" r:id="rId10"/>
    <p:sldId id="294" r:id="rId11"/>
    <p:sldId id="375" r:id="rId12"/>
    <p:sldId id="342" r:id="rId13"/>
  </p:sldIdLst>
  <p:sldSz cx="9144000" cy="6858000" type="screen4x3"/>
  <p:notesSz cx="6858000" cy="9144000"/>
  <p:custDataLst>
    <p:tags r:id="rId15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BABDA5-0A3C-4D67-9DD8-24858A5FF786}">
          <p14:sldIdLst>
            <p14:sldId id="256"/>
            <p14:sldId id="377"/>
            <p14:sldId id="358"/>
            <p14:sldId id="313"/>
            <p14:sldId id="378"/>
            <p14:sldId id="291"/>
          </p14:sldIdLst>
        </p14:section>
        <p14:section name="Untitled Section" id="{7B9F1370-8B72-41C0-86D1-1B654B09A192}">
          <p14:sldIdLst>
            <p14:sldId id="292"/>
            <p14:sldId id="293"/>
            <p14:sldId id="374"/>
            <p14:sldId id="294"/>
            <p14:sldId id="375"/>
            <p14:sldId id="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41FA"/>
    <a:srgbClr val="FFFFCC"/>
    <a:srgbClr val="0517C3"/>
    <a:srgbClr val="151AE1"/>
    <a:srgbClr val="003FBC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45" d="100"/>
          <a:sy n="145" d="100"/>
        </p:scale>
        <p:origin x="4212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גרא וייס" userId="f0aa0173-552d-4808-9782-d425e6aaf8d9" providerId="ADAL" clId="{F36E4075-A7BA-4F6A-AD6A-C6C58107DEBA}"/>
    <pc:docChg chg="modSld">
      <pc:chgData name="גרא וייס" userId="f0aa0173-552d-4808-9782-d425e6aaf8d9" providerId="ADAL" clId="{F36E4075-A7BA-4F6A-AD6A-C6C58107DEBA}" dt="2022-11-06T19:50:03.402" v="10" actId="6549"/>
      <pc:docMkLst>
        <pc:docMk/>
      </pc:docMkLst>
      <pc:sldChg chg="modSp">
        <pc:chgData name="גרא וייס" userId="f0aa0173-552d-4808-9782-d425e6aaf8d9" providerId="ADAL" clId="{F36E4075-A7BA-4F6A-AD6A-C6C58107DEBA}" dt="2022-11-06T19:50:03.402" v="10" actId="6549"/>
        <pc:sldMkLst>
          <pc:docMk/>
          <pc:sldMk cId="0" sldId="293"/>
        </pc:sldMkLst>
      </pc:sldChg>
      <pc:sldChg chg="modSp">
        <pc:chgData name="גרא וייס" userId="f0aa0173-552d-4808-9782-d425e6aaf8d9" providerId="ADAL" clId="{F36E4075-A7BA-4F6A-AD6A-C6C58107DEBA}" dt="2022-11-06T19:47:26.579" v="5" actId="20577"/>
        <pc:sldMkLst>
          <pc:docMk/>
          <pc:sldMk cId="3749105356" sldId="358"/>
        </pc:sldMkLst>
      </pc:sldChg>
    </pc:docChg>
  </pc:docChgLst>
  <pc:docChgLst>
    <pc:chgData name="Gera Weiss" userId="f0aa0173-552d-4808-9782-d425e6aaf8d9" providerId="ADAL" clId="{F8DD0FF5-6A43-47ED-9EF6-64EF49C2F884}"/>
    <pc:docChg chg="modSld">
      <pc:chgData name="Gera Weiss" userId="f0aa0173-552d-4808-9782-d425e6aaf8d9" providerId="ADAL" clId="{F8DD0FF5-6A43-47ED-9EF6-64EF49C2F884}" dt="2024-06-23T09:08:09.710" v="8" actId="1038"/>
      <pc:docMkLst>
        <pc:docMk/>
      </pc:docMkLst>
      <pc:sldChg chg="modSp mod">
        <pc:chgData name="Gera Weiss" userId="f0aa0173-552d-4808-9782-d425e6aaf8d9" providerId="ADAL" clId="{F8DD0FF5-6A43-47ED-9EF6-64EF49C2F884}" dt="2024-06-23T09:08:09.710" v="8" actId="1038"/>
        <pc:sldMkLst>
          <pc:docMk/>
          <pc:sldMk cId="0" sldId="292"/>
        </pc:sldMkLst>
      </pc:sldChg>
    </pc:docChg>
  </pc:docChgLst>
  <pc:docChgLst>
    <pc:chgData name="Gera Weiss" userId="f0aa0173-552d-4808-9782-d425e6aaf8d9" providerId="ADAL" clId="{36363092-48B0-4674-8D59-A6D5D97BFA9D}"/>
    <pc:docChg chg="modSld">
      <pc:chgData name="Gera Weiss" userId="f0aa0173-552d-4808-9782-d425e6aaf8d9" providerId="ADAL" clId="{36363092-48B0-4674-8D59-A6D5D97BFA9D}" dt="2025-04-09T05:55:22.498" v="11"/>
      <pc:docMkLst>
        <pc:docMk/>
      </pc:docMkLst>
      <pc:sldChg chg="modSp mod">
        <pc:chgData name="Gera Weiss" userId="f0aa0173-552d-4808-9782-d425e6aaf8d9" providerId="ADAL" clId="{36363092-48B0-4674-8D59-A6D5D97BFA9D}" dt="2025-04-07T07:10:32.536" v="2" actId="20577"/>
        <pc:sldMkLst>
          <pc:docMk/>
          <pc:sldMk cId="0" sldId="256"/>
        </pc:sldMkLst>
      </pc:sldChg>
      <pc:sldChg chg="addSp modSp">
        <pc:chgData name="Gera Weiss" userId="f0aa0173-552d-4808-9782-d425e6aaf8d9" providerId="ADAL" clId="{36363092-48B0-4674-8D59-A6D5D97BFA9D}" dt="2025-04-09T05:55:22.498" v="11"/>
        <pc:sldMkLst>
          <pc:docMk/>
          <pc:sldMk cId="0" sldId="313"/>
        </pc:sldMkLst>
      </pc:sldChg>
    </pc:docChg>
  </pc:docChgLst>
  <pc:docChgLst>
    <pc:chgData name="Gera Weiss" userId="f0aa0173-552d-4808-9782-d425e6aaf8d9" providerId="ADAL" clId="{EBA24A78-D8F6-415D-B715-B53D97C0EA05}"/>
    <pc:docChg chg="modSld">
      <pc:chgData name="Gera Weiss" userId="f0aa0173-552d-4808-9782-d425e6aaf8d9" providerId="ADAL" clId="{EBA24A78-D8F6-415D-B715-B53D97C0EA05}" dt="2025-04-07T08:50:50.880" v="1" actId="729"/>
      <pc:docMkLst>
        <pc:docMk/>
      </pc:docMkLst>
      <pc:sldChg chg="mod modShow">
        <pc:chgData name="Gera Weiss" userId="f0aa0173-552d-4808-9782-d425e6aaf8d9" providerId="ADAL" clId="{EBA24A78-D8F6-415D-B715-B53D97C0EA05}" dt="2025-04-07T08:50:50.880" v="1" actId="729"/>
        <pc:sldMkLst>
          <pc:docMk/>
          <pc:sldMk cId="0" sldId="313"/>
        </pc:sldMkLst>
      </pc:sldChg>
      <pc:sldChg chg="mod modShow">
        <pc:chgData name="Gera Weiss" userId="f0aa0173-552d-4808-9782-d425e6aaf8d9" providerId="ADAL" clId="{EBA24A78-D8F6-415D-B715-B53D97C0EA05}" dt="2025-04-07T08:50:43.570" v="0" actId="729"/>
        <pc:sldMkLst>
          <pc:docMk/>
          <pc:sldMk cId="3749105356" sldId="358"/>
        </pc:sldMkLst>
      </pc:sldChg>
    </pc:docChg>
  </pc:docChgLst>
  <pc:docChgLst>
    <pc:chgData name="Gera Weiss" userId="f0aa0173-552d-4808-9782-d425e6aaf8d9" providerId="ADAL" clId="{5FFB232B-B19B-4721-B11A-46249CA4404B}"/>
    <pc:docChg chg="modSld">
      <pc:chgData name="Gera Weiss" userId="f0aa0173-552d-4808-9782-d425e6aaf8d9" providerId="ADAL" clId="{5FFB232B-B19B-4721-B11A-46249CA4404B}" dt="2025-10-08T08:20:37.754" v="0" actId="1036"/>
      <pc:docMkLst>
        <pc:docMk/>
      </pc:docMkLst>
      <pc:sldChg chg="modSp mod">
        <pc:chgData name="Gera Weiss" userId="f0aa0173-552d-4808-9782-d425e6aaf8d9" providerId="ADAL" clId="{5FFB232B-B19B-4721-B11A-46249CA4404B}" dt="2025-10-08T08:20:37.754" v="0" actId="1036"/>
        <pc:sldMkLst>
          <pc:docMk/>
          <pc:sldMk cId="2049873168" sldId="377"/>
        </pc:sldMkLst>
        <pc:picChg chg="mod">
          <ac:chgData name="Gera Weiss" userId="f0aa0173-552d-4808-9782-d425e6aaf8d9" providerId="ADAL" clId="{5FFB232B-B19B-4721-B11A-46249CA4404B}" dt="2025-10-08T08:20:37.754" v="0" actId="1036"/>
          <ac:picMkLst>
            <pc:docMk/>
            <pc:sldMk cId="2049873168" sldId="377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5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5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/>
              <a:t>Channel evaluation letter is called Xi (Chi).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3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11" name="Picture 2" descr="סרט מודעות צהוב – ויקיפדיה">
            <a:extLst>
              <a:ext uri="{FF2B5EF4-FFF2-40B4-BE49-F238E27FC236}">
                <a16:creationId xmlns:a16="http://schemas.microsoft.com/office/drawing/2014/main" id="{13FD9FA2-66F3-A91B-70A3-2512E610DB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115" y="1596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13.jpe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52.png"/><Relationship Id="rId21" Type="http://schemas.openxmlformats.org/officeDocument/2006/relationships/image" Target="../media/image4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51.png"/><Relationship Id="rId16" Type="http://schemas.openxmlformats.org/officeDocument/2006/relationships/image" Target="../media/image65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74.png"/><Relationship Id="rId21" Type="http://schemas.openxmlformats.org/officeDocument/2006/relationships/image" Target="../media/image9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95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מערכות ערוצים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משמעות על ידי תרגום למערכות מעברים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8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D660215-D875-290D-B606-83E235A1230C}"/>
              </a:ext>
            </a:extLst>
          </p:cNvPr>
          <p:cNvSpPr/>
          <p:nvPr/>
        </p:nvSpPr>
        <p:spPr>
          <a:xfrm>
            <a:off x="7989771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548</a:t>
            </a:r>
            <a:endParaRPr lang="en-US" sz="5400" b="1" cap="none" spc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7" name="Picture 2" descr="סרט מודעות צהוב – ויקיפדיה">
            <a:extLst>
              <a:ext uri="{FF2B5EF4-FFF2-40B4-BE49-F238E27FC236}">
                <a16:creationId xmlns:a16="http://schemas.microsoft.com/office/drawing/2014/main" id="{13FD9FA2-66F3-A91B-70A3-2512E610D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60" y="25204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104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79" y="4181856"/>
            <a:ext cx="5368521" cy="242023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509" y="1357145"/>
            <a:ext cx="3736154" cy="239833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170" y="-194044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</a:t>
            </a:r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מערכות ערוצים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</a:t>
            </a:fld>
            <a:endParaRPr lang="he-IL"/>
          </a:p>
        </p:txBody>
      </p:sp>
      <p:sp>
        <p:nvSpPr>
          <p:cNvPr id="83" name="Rectangle 82"/>
          <p:cNvSpPr/>
          <p:nvPr/>
        </p:nvSpPr>
        <p:spPr>
          <a:xfrm>
            <a:off x="2945166" y="2674136"/>
            <a:ext cx="13716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4" name="Rectangle 83"/>
          <p:cNvSpPr/>
          <p:nvPr/>
        </p:nvSpPr>
        <p:spPr>
          <a:xfrm>
            <a:off x="4079808" y="2709648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86" name="Elbow Connector 85"/>
          <p:cNvCxnSpPr>
            <a:endCxn id="83" idx="1"/>
          </p:cNvCxnSpPr>
          <p:nvPr/>
        </p:nvCxnSpPr>
        <p:spPr>
          <a:xfrm rot="5400000" flipH="1" flipV="1">
            <a:off x="1908882" y="3138920"/>
            <a:ext cx="1310568" cy="762000"/>
          </a:xfrm>
          <a:prstGeom prst="bentConnector2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6028678" y="2032726"/>
            <a:ext cx="76200" cy="762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91" name="Elbow Connector 90"/>
          <p:cNvCxnSpPr>
            <a:stCxn id="83" idx="3"/>
            <a:endCxn id="89" idx="5"/>
          </p:cNvCxnSpPr>
          <p:nvPr/>
        </p:nvCxnSpPr>
        <p:spPr>
          <a:xfrm flipV="1">
            <a:off x="4316766" y="2097767"/>
            <a:ext cx="1776953" cy="766869"/>
          </a:xfrm>
          <a:prstGeom prst="bentConnector2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3021146" y="2709648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TextBox 1031"/>
              <p:cNvSpPr txBox="1"/>
              <p:nvPr/>
            </p:nvSpPr>
            <p:spPr>
              <a:xfrm>
                <a:off x="3521096" y="3050697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32" name="TextBox 10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096" y="3050697"/>
                <a:ext cx="248786" cy="369332"/>
              </a:xfrm>
              <a:prstGeom prst="rect">
                <a:avLst/>
              </a:prstGeom>
              <a:blipFill>
                <a:blip r:embed="rId4"/>
                <a:stretch>
                  <a:fillRect r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3365958" y="2668649"/>
                <a:ext cx="44595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⋯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958" y="2668649"/>
                <a:ext cx="44595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/>
          <p:cNvSpPr/>
          <p:nvPr/>
        </p:nvSpPr>
        <p:spPr>
          <a:xfrm>
            <a:off x="3239389" y="2712236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9" name="Rectangle 108"/>
          <p:cNvSpPr/>
          <p:nvPr/>
        </p:nvSpPr>
        <p:spPr>
          <a:xfrm>
            <a:off x="3856303" y="2712236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1" name="Rectangle 110"/>
          <p:cNvSpPr/>
          <p:nvPr/>
        </p:nvSpPr>
        <p:spPr>
          <a:xfrm>
            <a:off x="6677517" y="4276436"/>
            <a:ext cx="13716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2" name="Rectangle 111"/>
          <p:cNvSpPr/>
          <p:nvPr/>
        </p:nvSpPr>
        <p:spPr>
          <a:xfrm>
            <a:off x="7812159" y="4302712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3" name="Rectangle 112"/>
          <p:cNvSpPr/>
          <p:nvPr/>
        </p:nvSpPr>
        <p:spPr>
          <a:xfrm>
            <a:off x="6753497" y="4302712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7310054" y="4648200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054" y="4648200"/>
                <a:ext cx="248786" cy="369332"/>
              </a:xfrm>
              <a:prstGeom prst="rect">
                <a:avLst/>
              </a:prstGeom>
              <a:blipFill>
                <a:blip r:embed="rId6"/>
                <a:stretch>
                  <a:fillRect r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7098309" y="4261713"/>
                <a:ext cx="44595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⋯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309" y="4261713"/>
                <a:ext cx="44595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Rectangle 115"/>
          <p:cNvSpPr/>
          <p:nvPr/>
        </p:nvSpPr>
        <p:spPr>
          <a:xfrm>
            <a:off x="6971740" y="4305300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7" name="Rectangle 116"/>
          <p:cNvSpPr/>
          <p:nvPr/>
        </p:nvSpPr>
        <p:spPr>
          <a:xfrm>
            <a:off x="7588654" y="4305300"/>
            <a:ext cx="1524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035" name="Elbow Connector 1034"/>
          <p:cNvCxnSpPr/>
          <p:nvPr/>
        </p:nvCxnSpPr>
        <p:spPr>
          <a:xfrm flipH="1">
            <a:off x="8077200" y="2472934"/>
            <a:ext cx="365962" cy="2011680"/>
          </a:xfrm>
          <a:prstGeom prst="bentConnector3">
            <a:avLst>
              <a:gd name="adj1" fmla="val -94948"/>
            </a:avLst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8229600" y="2438400"/>
            <a:ext cx="76200" cy="762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040" name="Elbow Connector 1039"/>
          <p:cNvCxnSpPr>
            <a:stCxn id="111" idx="1"/>
          </p:cNvCxnSpPr>
          <p:nvPr/>
        </p:nvCxnSpPr>
        <p:spPr>
          <a:xfrm rot="10800000">
            <a:off x="5027259" y="4276436"/>
            <a:ext cx="1650259" cy="190500"/>
          </a:xfrm>
          <a:prstGeom prst="bentConnector3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 descr="Image result for sender reciever"/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1" t="-20441" r="71111" b="20441"/>
          <a:stretch/>
        </p:blipFill>
        <p:spPr bwMode="auto">
          <a:xfrm>
            <a:off x="237974" y="2166546"/>
            <a:ext cx="1524400" cy="209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Image result for sender reciever"/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889"/>
          <a:stretch/>
        </p:blipFill>
        <p:spPr bwMode="auto">
          <a:xfrm>
            <a:off x="7291756" y="-68171"/>
            <a:ext cx="1360979" cy="169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 6"/>
          <p:cNvSpPr/>
          <p:nvPr/>
        </p:nvSpPr>
        <p:spPr>
          <a:xfrm>
            <a:off x="1408176" y="640080"/>
            <a:ext cx="5916168" cy="3037523"/>
          </a:xfrm>
          <a:custGeom>
            <a:avLst/>
            <a:gdLst>
              <a:gd name="connsiteX0" fmla="*/ 0 w 5916168"/>
              <a:gd name="connsiteY0" fmla="*/ 2980944 h 3037523"/>
              <a:gd name="connsiteX1" fmla="*/ 274320 w 5916168"/>
              <a:gd name="connsiteY1" fmla="*/ 2926080 h 3037523"/>
              <a:gd name="connsiteX2" fmla="*/ 365760 w 5916168"/>
              <a:gd name="connsiteY2" fmla="*/ 1975104 h 3037523"/>
              <a:gd name="connsiteX3" fmla="*/ 832104 w 5916168"/>
              <a:gd name="connsiteY3" fmla="*/ 1325880 h 3037523"/>
              <a:gd name="connsiteX4" fmla="*/ 1956816 w 5916168"/>
              <a:gd name="connsiteY4" fmla="*/ 1271016 h 3037523"/>
              <a:gd name="connsiteX5" fmla="*/ 2779776 w 5916168"/>
              <a:gd name="connsiteY5" fmla="*/ 731520 h 3037523"/>
              <a:gd name="connsiteX6" fmla="*/ 3182112 w 5916168"/>
              <a:gd name="connsiteY6" fmla="*/ 484632 h 3037523"/>
              <a:gd name="connsiteX7" fmla="*/ 4343400 w 5916168"/>
              <a:gd name="connsiteY7" fmla="*/ 448056 h 3037523"/>
              <a:gd name="connsiteX8" fmla="*/ 5266944 w 5916168"/>
              <a:gd name="connsiteY8" fmla="*/ 438912 h 3037523"/>
              <a:gd name="connsiteX9" fmla="*/ 5916168 w 5916168"/>
              <a:gd name="connsiteY9" fmla="*/ 0 h 3037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16168" h="3037523">
                <a:moveTo>
                  <a:pt x="0" y="2980944"/>
                </a:moveTo>
                <a:cubicBezTo>
                  <a:pt x="106680" y="3037332"/>
                  <a:pt x="213360" y="3093720"/>
                  <a:pt x="274320" y="2926080"/>
                </a:cubicBezTo>
                <a:cubicBezTo>
                  <a:pt x="335280" y="2758440"/>
                  <a:pt x="272796" y="2241804"/>
                  <a:pt x="365760" y="1975104"/>
                </a:cubicBezTo>
                <a:cubicBezTo>
                  <a:pt x="458724" y="1708404"/>
                  <a:pt x="566928" y="1443228"/>
                  <a:pt x="832104" y="1325880"/>
                </a:cubicBezTo>
                <a:cubicBezTo>
                  <a:pt x="1097280" y="1208532"/>
                  <a:pt x="1632204" y="1370076"/>
                  <a:pt x="1956816" y="1271016"/>
                </a:cubicBezTo>
                <a:cubicBezTo>
                  <a:pt x="2281428" y="1171956"/>
                  <a:pt x="2575560" y="862584"/>
                  <a:pt x="2779776" y="731520"/>
                </a:cubicBezTo>
                <a:cubicBezTo>
                  <a:pt x="2983992" y="600456"/>
                  <a:pt x="2921508" y="531876"/>
                  <a:pt x="3182112" y="484632"/>
                </a:cubicBezTo>
                <a:cubicBezTo>
                  <a:pt x="3442716" y="437388"/>
                  <a:pt x="3995928" y="455676"/>
                  <a:pt x="4343400" y="448056"/>
                </a:cubicBezTo>
                <a:cubicBezTo>
                  <a:pt x="4690872" y="440436"/>
                  <a:pt x="5004816" y="513588"/>
                  <a:pt x="5266944" y="438912"/>
                </a:cubicBezTo>
                <a:cubicBezTo>
                  <a:pt x="5529072" y="364236"/>
                  <a:pt x="5722620" y="182118"/>
                  <a:pt x="5916168" y="0"/>
                </a:cubicBez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7316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420327" y="5355336"/>
            <a:ext cx="2081825" cy="4572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09800" y="3675321"/>
            <a:ext cx="4490705" cy="4572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27106" y="2277040"/>
            <a:ext cx="3711326" cy="4572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תחביר למערכת ערוצים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A501-CEC1-4751-9AA2-3BB83D4A1374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85544"/>
                <a:ext cx="8305800" cy="4648200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2400"/>
                  </a:spcBef>
                </a:pPr>
                <a:r>
                  <a:rPr lang="he-IL" sz="33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גרף תוכנית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מעל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〈</m:t>
                    </m:r>
                    <m:r>
                      <a:rPr lang="en-US" sz="2400" i="1" dirty="0" smtClean="0">
                        <a:latin typeface="Cambria Math"/>
                      </a:rPr>
                      <m:t>𝑉𝑎𝑟</m:t>
                    </m:r>
                    <m:r>
                      <a:rPr lang="en-US" sz="2400" i="1" dirty="0" smtClean="0">
                        <a:latin typeface="Cambria Math"/>
                      </a:rPr>
                      <m:t>,  </m:t>
                    </m:r>
                    <m:r>
                      <a:rPr lang="en-US" sz="2400" i="1" dirty="0" err="1" smtClean="0">
                        <a:latin typeface="Cambria Math"/>
                      </a:rPr>
                      <m:t>𝐶</m:t>
                    </m:r>
                    <m:r>
                      <a:rPr lang="en-US" sz="2400" i="1" dirty="0" err="1" smtClean="0">
                        <a:latin typeface="Cambria Math"/>
                      </a:rPr>
                      <m:t>h</m:t>
                    </m:r>
                    <m:r>
                      <a:rPr lang="en-US" sz="2400" i="1" dirty="0" err="1" smtClean="0">
                        <a:latin typeface="Cambria Math"/>
                      </a:rPr>
                      <m:t>𝑎𝑛</m:t>
                    </m:r>
                    <m:r>
                      <a:rPr lang="en-US" sz="2400" b="0" i="1" dirty="0" smtClean="0">
                        <a:latin typeface="Cambria Math"/>
                      </a:rPr>
                      <m:t>〉</m:t>
                    </m:r>
                    <m:r>
                      <a:rPr lang="he-IL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הוא</a:t>
                </a:r>
                <a:b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lnSpc>
                    <a:spcPct val="12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𝑃𝐺</m:t>
                      </m:r>
                      <m:r>
                        <a:rPr lang="en-US" sz="2400" i="1" dirty="0" smtClean="0">
                          <a:latin typeface="Cambria Math"/>
                        </a:rPr>
                        <m:t> =〈</m:t>
                      </m:r>
                      <m:r>
                        <a:rPr lang="en-US" sz="2400" i="1" dirty="0" err="1">
                          <a:latin typeface="Cambria Math"/>
                        </a:rPr>
                        <m:t>𝐿𝑜𝑐</m:t>
                      </m:r>
                      <m:r>
                        <a:rPr lang="en-US" sz="2400" i="1" dirty="0">
                          <a:latin typeface="Cambria Math"/>
                        </a:rPr>
                        <m:t>, </m:t>
                      </m:r>
                      <m:r>
                        <a:rPr lang="en-US" sz="2400" i="1" dirty="0">
                          <a:latin typeface="Cambria Math"/>
                        </a:rPr>
                        <m:t>𝐴𝑐𝑡</m:t>
                      </m:r>
                      <m:r>
                        <a:rPr lang="en-US" sz="2400" i="1" dirty="0">
                          <a:latin typeface="Cambria Math"/>
                        </a:rPr>
                        <m:t>, </m:t>
                      </m:r>
                      <m:r>
                        <a:rPr lang="en-US" sz="2400" i="1" dirty="0">
                          <a:latin typeface="Cambria Math"/>
                        </a:rPr>
                        <m:t>𝐸𝑓𝑓𝑒𝑐𝑡</m:t>
                      </m:r>
                      <m:r>
                        <a:rPr lang="en-US" sz="2400" i="1" dirty="0">
                          <a:latin typeface="Cambria Math"/>
                        </a:rPr>
                        <m:t>, →, </m:t>
                      </m:r>
                      <m:r>
                        <a:rPr lang="en-US" sz="2400" i="1" dirty="0">
                          <a:latin typeface="Cambria Math"/>
                        </a:rPr>
                        <m:t>𝐿𝑜𝑐</m:t>
                      </m:r>
                      <m:r>
                        <a:rPr lang="en-US" sz="2400" i="1" baseline="-25000" dirty="0">
                          <a:latin typeface="Cambria Math"/>
                        </a:rPr>
                        <m:t>0</m:t>
                      </m:r>
                      <m:r>
                        <a:rPr lang="en-US" sz="2400" i="1" dirty="0">
                          <a:latin typeface="Cambria Math"/>
                        </a:rPr>
                        <m:t>, </m:t>
                      </m:r>
                      <m:r>
                        <a:rPr lang="en-US" sz="2400" i="1" dirty="0">
                          <a:latin typeface="Cambria Math"/>
                        </a:rPr>
                        <m:t>𝑔</m:t>
                      </m:r>
                      <m:r>
                        <a:rPr lang="en-US" sz="2400" i="1" baseline="-25000" dirty="0">
                          <a:latin typeface="Cambria Math"/>
                        </a:rPr>
                        <m:t>0</m:t>
                      </m:r>
                      <m:r>
                        <a:rPr lang="en-US" sz="2400" b="0" i="1" dirty="0" smtClean="0">
                          <a:latin typeface="Cambria Math"/>
                        </a:rPr>
                        <m:t>〉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20000"/>
                  </a:lnSpc>
                  <a:spcBef>
                    <a:spcPts val="2400"/>
                  </a:spcBef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	כשכל הרכיבים, פרט ליחס המעברים, מוגדרים כמו בגרף </a:t>
                </a:r>
                <a:r>
                  <a:rPr lang="he-IL" sz="2400" err="1">
                    <a:latin typeface="Gisha" panose="020B0502040204020203" pitchFamily="34" charset="-79"/>
                    <a:cs typeface="Gisha" panose="020B0502040204020203" pitchFamily="34" charset="-79"/>
                  </a:rPr>
                  <a:t>תוכנית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רגיל (מעל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𝑉𝑎𝑟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) ויחס המעברים הוא קבוצה מהצורה (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ההבדל מודגש באדום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):</a:t>
                </a:r>
                <a:b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lnSpc>
                    <a:spcPct val="12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→ ⊆</m:t>
                      </m:r>
                      <m:r>
                        <a:rPr lang="en-US" sz="2400" b="0" i="1" smtClean="0">
                          <a:latin typeface="Cambria Math"/>
                        </a:rPr>
                        <m:t>𝐿𝑜𝑐</m:t>
                      </m:r>
                      <m:r>
                        <a:rPr lang="en-US" sz="2400" b="0" i="1" smtClean="0">
                          <a:latin typeface="Cambria Math"/>
                        </a:rPr>
                        <m:t>×</m:t>
                      </m:r>
                      <m:r>
                        <a:rPr lang="en-US" sz="2400" b="0" i="1" smtClean="0">
                          <a:latin typeface="Cambria Math"/>
                        </a:rPr>
                        <m:t>𝐶𝑜𝑛𝑑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𝑉𝑎𝑟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𝐴𝑐𝑡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∪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𝐶𝑜𝑚𝑚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×</m:t>
                      </m:r>
                      <m:r>
                        <a:rPr lang="en-US" sz="2400" b="0" i="1" smtClean="0">
                          <a:latin typeface="Cambria Math"/>
                        </a:rPr>
                        <m:t>𝐿𝑜𝑐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20000"/>
                  </a:lnSpc>
                  <a:spcBef>
                    <a:spcPts val="6000"/>
                  </a:spcBef>
                </a:pPr>
                <a:r>
                  <a:rPr lang="he-IL" sz="33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ערוצים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מעל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〈</m:t>
                    </m:r>
                    <m:r>
                      <a:rPr lang="en-US" sz="2400" i="1" dirty="0" smtClean="0">
                        <a:latin typeface="Cambria Math"/>
                      </a:rPr>
                      <m:t>𝑉𝑎𝑟</m:t>
                    </m:r>
                    <m:r>
                      <a:rPr lang="en-US" sz="2400" i="1" baseline="-25000" dirty="0" smtClean="0">
                        <a:latin typeface="Cambria Math"/>
                      </a:rPr>
                      <m:t>1</m:t>
                    </m:r>
                    <m:r>
                      <a:rPr lang="en-US" sz="2400" b="0" i="1" dirty="0" smtClean="0">
                        <a:latin typeface="Cambria Math"/>
                      </a:rPr>
                      <m:t>∪</m:t>
                    </m:r>
                    <m:r>
                      <a:rPr lang="en-US" sz="24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a:rPr lang="en-US" sz="2400" b="0" i="1" dirty="0" smtClean="0">
                        <a:latin typeface="Cambria Math"/>
                      </a:rPr>
                      <m:t>∪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  <m:r>
                      <a:rPr lang="en-US" sz="2400" i="1" dirty="0" err="1" smtClean="0">
                        <a:latin typeface="Cambria Math"/>
                      </a:rPr>
                      <m:t>𝑉𝑎𝑟</m:t>
                    </m:r>
                    <m:r>
                      <a:rPr lang="en-US" sz="2400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sz="2400" i="1" dirty="0" smtClean="0">
                        <a:latin typeface="Cambria Math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err="1" smtClean="0">
                        <a:latin typeface="Cambria Math"/>
                      </a:rPr>
                      <m:t>𝐶</m:t>
                    </m:r>
                    <m:r>
                      <a:rPr lang="en-US" sz="2400" i="1" dirty="0" err="1" smtClean="0">
                        <a:latin typeface="Cambria Math"/>
                      </a:rPr>
                      <m:t>h</m:t>
                    </m:r>
                    <m:r>
                      <a:rPr lang="en-US" sz="2400" i="1" dirty="0" err="1" smtClean="0">
                        <a:latin typeface="Cambria Math"/>
                      </a:rPr>
                      <m:t>𝑎𝑛</m:t>
                    </m:r>
                    <m:r>
                      <a:rPr lang="en-US" sz="2400" b="0" i="1" dirty="0" smtClean="0">
                        <a:latin typeface="Cambria Math"/>
                      </a:rPr>
                      <m:t>〉</m:t>
                    </m:r>
                    <m:r>
                      <a:rPr lang="he-IL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>
                  <a:lnSpc>
                    <a:spcPct val="120000"/>
                  </a:lnSpc>
                  <a:spcBef>
                    <a:spcPts val="2400"/>
                  </a:spcBef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𝐶𝑆</m:t>
                    </m:r>
                    <m:r>
                      <a:rPr lang="en-US" sz="2400" i="1" dirty="0" smtClean="0">
                        <a:latin typeface="Cambria Math"/>
                      </a:rPr>
                      <m:t> = [</m:t>
                    </m:r>
                    <m:r>
                      <a:rPr lang="en-US" sz="2400" i="1" dirty="0" smtClean="0">
                        <a:latin typeface="Cambria Math"/>
                      </a:rPr>
                      <m:t>𝑃𝐺</m:t>
                    </m:r>
                    <m:r>
                      <a:rPr lang="en-US" sz="2400" i="1" baseline="-25000" dirty="0" smtClean="0">
                        <a:latin typeface="Cambria Math"/>
                      </a:rPr>
                      <m:t>1</m:t>
                    </m:r>
                    <m:r>
                      <a:rPr lang="en-US" sz="2400" i="1" dirty="0" smtClean="0">
                        <a:latin typeface="Cambria Math"/>
                      </a:rPr>
                      <m:t> | </m:t>
                    </m:r>
                    <m:r>
                      <a:rPr lang="en-US" sz="24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a:rPr lang="en-US" sz="2400" i="1" dirty="0" smtClean="0">
                        <a:latin typeface="Cambria Math"/>
                      </a:rPr>
                      <m:t> | </m:t>
                    </m:r>
                    <m:r>
                      <a:rPr lang="en-US" sz="2400" i="1" dirty="0" err="1" smtClean="0">
                        <a:latin typeface="Cambria Math"/>
                      </a:rPr>
                      <m:t>𝑃𝐺</m:t>
                    </m:r>
                    <m:r>
                      <a:rPr lang="en-US" sz="2400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sz="2400" i="1" dirty="0" smtClean="0">
                        <a:latin typeface="Cambria Math"/>
                      </a:rPr>
                      <m:t>]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20000"/>
                  </a:lnSpc>
                  <a:spcBef>
                    <a:spcPts val="2400"/>
                  </a:spcBef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	עבור גרפי תוכנית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𝑃𝐺</m:t>
                    </m:r>
                    <m:r>
                      <a:rPr lang="en-US" sz="2400" i="1" baseline="-25000" dirty="0" err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מעל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〈</m:t>
                    </m:r>
                    <m:r>
                      <a:rPr lang="en-US" sz="2400" i="1" dirty="0" smtClean="0">
                        <a:latin typeface="Cambria Math"/>
                      </a:rPr>
                      <m:t>𝑉𝑎𝑟</m:t>
                    </m:r>
                    <m:r>
                      <a:rPr lang="en-US" sz="2400" i="1" baseline="-25000" dirty="0" err="1" smtClean="0">
                        <a:latin typeface="Cambria Math"/>
                      </a:rPr>
                      <m:t>𝑖</m:t>
                    </m:r>
                    <m:r>
                      <a:rPr lang="en-US" sz="2400" i="1" dirty="0" smtClean="0">
                        <a:latin typeface="Cambria Math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err="1" smtClean="0">
                        <a:latin typeface="Cambria Math"/>
                      </a:rPr>
                      <m:t>𝐶</m:t>
                    </m:r>
                    <m:r>
                      <a:rPr lang="en-US" sz="2400" i="1" dirty="0" err="1" smtClean="0">
                        <a:latin typeface="Cambria Math"/>
                      </a:rPr>
                      <m:t>h</m:t>
                    </m:r>
                    <m:r>
                      <a:rPr lang="en-US" sz="2400" i="1" dirty="0" err="1" smtClean="0">
                        <a:latin typeface="Cambria Math"/>
                      </a:rPr>
                      <m:t>𝑎𝑛</m:t>
                    </m:r>
                    <m:r>
                      <a:rPr lang="en-US" sz="2400" b="0" i="1" dirty="0" smtClean="0">
                        <a:latin typeface="Cambria Math"/>
                      </a:rPr>
                      <m:t>〉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lnSpc>
                    <a:spcPct val="120000"/>
                  </a:lnSpc>
                  <a:spcBef>
                    <a:spcPts val="2400"/>
                  </a:spcBef>
                  <a:buNone/>
                </a:pP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lnSpc>
                    <a:spcPct val="120000"/>
                  </a:lnSpc>
                  <a:spcBef>
                    <a:spcPts val="2400"/>
                  </a:spcBef>
                  <a:buNone/>
                </a:pP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85544"/>
                <a:ext cx="8305800" cy="4648200"/>
              </a:xfrm>
              <a:blipFill>
                <a:blip r:embed="rId2"/>
                <a:stretch>
                  <a:fillRect t="-1050" r="-734" b="-1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Distributed computi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74" b="15901"/>
          <a:stretch/>
        </p:blipFill>
        <p:spPr bwMode="auto">
          <a:xfrm>
            <a:off x="0" y="5124163"/>
            <a:ext cx="2468410" cy="142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07720" y="5136263"/>
            <a:ext cx="662399" cy="5908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49105356"/>
      </p:ext>
    </p:extLst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הגדרת הסמנטיקה של מערכת ערוצים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93145" y="1103376"/>
            <a:ext cx="8214909" cy="5257800"/>
          </a:xfrm>
        </p:spPr>
        <p:txBody>
          <a:bodyPr>
            <a:normAutofit fontScale="92500"/>
          </a:bodyPr>
          <a:lstStyle/>
          <a:p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נגדיר סמנטיקה של מערכת ערוצים ע"י תרגום למערכת מעברים</a:t>
            </a:r>
          </a:p>
          <a:p>
            <a:pPr>
              <a:spcBef>
                <a:spcPts val="3600"/>
              </a:spcBef>
            </a:pP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מצב יהיה שְׁלָשָׁה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</a:p>
          <a:p>
            <a:pPr lvl="1"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צומת בגרף מערכת הערוצים</a:t>
            </a:r>
          </a:p>
          <a:p>
            <a:pPr lvl="1"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ערכי המשתנים</a:t>
            </a:r>
          </a:p>
          <a:p>
            <a:pPr lvl="1"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"תמונת מצב" </a:t>
            </a:r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ההודעות בתורי הערוצים</a:t>
            </a:r>
          </a:p>
          <a:p>
            <a:pPr>
              <a:spcBef>
                <a:spcPts val="3600"/>
              </a:spcBef>
            </a:pP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המעברים, כתלות בפקודות הכתובות על קשתות הגרף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</a:p>
          <a:p>
            <a:pPr lvl="1"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 יְשַׁנּוּ את הרכיב הראשון במצב להיות היעד של הקשת</a:t>
            </a:r>
          </a:p>
          <a:p>
            <a:pPr lvl="1"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 יְשַׁנּוּ את תוכן המשתנים ע"י השמת ערכי ההודעות וביצוע הפעולות</a:t>
            </a:r>
          </a:p>
          <a:p>
            <a:pPr lvl="1">
              <a:spcAft>
                <a:spcPts val="12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יְשַׁנּו את תוכן התורים ע"י הוצאת/הכנסת הודעות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-4567518" y="1936377"/>
            <a:ext cx="3505200" cy="2209800"/>
            <a:chOff x="143522" y="2245312"/>
            <a:chExt cx="3671314" cy="2448952"/>
          </a:xfrm>
        </p:grpSpPr>
        <p:pic>
          <p:nvPicPr>
            <p:cNvPr id="12" name="Picture 3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522" y="2245312"/>
              <a:ext cx="3671314" cy="24489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 rot="19095698">
                  <a:off x="665513" y="2586137"/>
                  <a:ext cx="1219201" cy="37519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[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⋯</m:t>
                            </m:r>
                          </m:e>
                        </m:d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151A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151AE1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151AE1"/>
                            </a:solidFill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he-IL" sz="1600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095698">
                  <a:off x="665513" y="2586137"/>
                  <a:ext cx="1219201" cy="37519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 rot="1074829">
                  <a:off x="512362" y="4162621"/>
                  <a:ext cx="1219200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𝑇𝑆</m:t>
                        </m:r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74829">
                  <a:off x="512362" y="4162621"/>
                  <a:ext cx="12192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/>
            <p:cNvSpPr txBox="1"/>
            <p:nvPr/>
          </p:nvSpPr>
          <p:spPr>
            <a:xfrm>
              <a:off x="468922" y="3484817"/>
              <a:ext cx="1040671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>
                  <a:solidFill>
                    <a:schemeClr val="accent3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סמנטיקה</a:t>
              </a:r>
            </a:p>
          </p:txBody>
        </p:sp>
      </p:grp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AB6CA0C5-81AB-1CEE-D4DD-9706F108B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EFE5D6"/>
              </a:clrFrom>
              <a:clrTo>
                <a:srgbClr val="EFE5D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67" y="1936377"/>
            <a:ext cx="3278219" cy="2185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9566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אפשרויות להגדרת סמנטיקה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95300" y="1398032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1398032"/>
                <a:ext cx="8382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endCxn id="7" idx="0"/>
          </p:cNvCxnSpPr>
          <p:nvPr/>
        </p:nvCxnSpPr>
        <p:spPr>
          <a:xfrm>
            <a:off x="914400" y="1099066"/>
            <a:ext cx="0" cy="298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95300" y="2286000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2286000"/>
                <a:ext cx="8382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7" idx="2"/>
            <a:endCxn id="12" idx="0"/>
          </p:cNvCxnSpPr>
          <p:nvPr/>
        </p:nvCxnSpPr>
        <p:spPr>
          <a:xfrm>
            <a:off x="914400" y="1779032"/>
            <a:ext cx="0" cy="506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057400" y="1391936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1391936"/>
                <a:ext cx="838200" cy="381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endCxn id="16" idx="0"/>
          </p:cNvCxnSpPr>
          <p:nvPr/>
        </p:nvCxnSpPr>
        <p:spPr>
          <a:xfrm>
            <a:off x="2476500" y="1092970"/>
            <a:ext cx="0" cy="298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057400" y="2279904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279904"/>
                <a:ext cx="838200" cy="3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stCxn id="16" idx="2"/>
            <a:endCxn id="18" idx="0"/>
          </p:cNvCxnSpPr>
          <p:nvPr/>
        </p:nvCxnSpPr>
        <p:spPr>
          <a:xfrm>
            <a:off x="2476500" y="1772936"/>
            <a:ext cx="0" cy="506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14400" y="1861328"/>
                <a:ext cx="6163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861328"/>
                <a:ext cx="61638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476500" y="1851660"/>
                <a:ext cx="650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1851660"/>
                <a:ext cx="65062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476499" y="1011174"/>
                <a:ext cx="795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99" y="1011174"/>
                <a:ext cx="7959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5563210" y="1299234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210" y="1299234"/>
                <a:ext cx="8382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endCxn id="23" idx="0"/>
          </p:cNvCxnSpPr>
          <p:nvPr/>
        </p:nvCxnSpPr>
        <p:spPr>
          <a:xfrm>
            <a:off x="5982310" y="1000268"/>
            <a:ext cx="0" cy="298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563210" y="2392942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210" y="2392942"/>
                <a:ext cx="8382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23" idx="2"/>
            <a:endCxn id="25" idx="0"/>
          </p:cNvCxnSpPr>
          <p:nvPr/>
        </p:nvCxnSpPr>
        <p:spPr>
          <a:xfrm>
            <a:off x="5982310" y="1680234"/>
            <a:ext cx="0" cy="712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7647173" y="1295162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173" y="1295162"/>
                <a:ext cx="8382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endCxn id="27" idx="0"/>
          </p:cNvCxnSpPr>
          <p:nvPr/>
        </p:nvCxnSpPr>
        <p:spPr>
          <a:xfrm>
            <a:off x="8066273" y="996196"/>
            <a:ext cx="0" cy="298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7647173" y="2392942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173" y="2392942"/>
                <a:ext cx="838200" cy="381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27" idx="2"/>
            <a:endCxn id="29" idx="0"/>
          </p:cNvCxnSpPr>
          <p:nvPr/>
        </p:nvCxnSpPr>
        <p:spPr>
          <a:xfrm>
            <a:off x="8066273" y="1676162"/>
            <a:ext cx="0" cy="716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648200" y="1763030"/>
                <a:ext cx="136184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en-US" sz="1600" b="0" i="1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600" b="0">
                    <a:solidFill>
                      <a:schemeClr val="accent4">
                        <a:lumMod val="50000"/>
                      </a:schemeClr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𝑒𝑛𝑞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763030"/>
                <a:ext cx="1361848" cy="584775"/>
              </a:xfrm>
              <a:prstGeom prst="rect">
                <a:avLst/>
              </a:prstGeom>
              <a:blipFill>
                <a:blip r:embed="rId13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066272" y="914400"/>
                <a:ext cx="7280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272" y="914400"/>
                <a:ext cx="728084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073520" y="2743200"/>
                <a:ext cx="13702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520" y="2743200"/>
                <a:ext cx="1370247" cy="369332"/>
              </a:xfrm>
              <a:prstGeom prst="rect">
                <a:avLst/>
              </a:prstGeom>
              <a:blipFill>
                <a:blip r:embed="rId1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244669" y="1742164"/>
                <a:ext cx="184460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en-US" sz="1600" b="0" i="1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600" b="0">
                    <a:solidFill>
                      <a:schemeClr val="accent4">
                        <a:lumMod val="50000"/>
                      </a:schemeClr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𝑑𝑒𝑞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69" y="1742164"/>
                <a:ext cx="1844608" cy="584775"/>
              </a:xfrm>
              <a:prstGeom prst="rect">
                <a:avLst/>
              </a:prstGeom>
              <a:blipFill>
                <a:blip r:embed="rId16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5"/>
          <p:cNvSpPr/>
          <p:nvPr/>
        </p:nvSpPr>
        <p:spPr>
          <a:xfrm rot="20343575">
            <a:off x="3877155" y="2524035"/>
            <a:ext cx="880584" cy="23456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36"/>
          <p:cNvSpPr/>
          <p:nvPr/>
        </p:nvSpPr>
        <p:spPr>
          <a:xfrm rot="2016585">
            <a:off x="3505794" y="3553860"/>
            <a:ext cx="842535" cy="22426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6234637" y="4057337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637" y="4057337"/>
                <a:ext cx="838200" cy="381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>
            <a:endCxn id="38" idx="0"/>
          </p:cNvCxnSpPr>
          <p:nvPr/>
        </p:nvCxnSpPr>
        <p:spPr>
          <a:xfrm>
            <a:off x="6653737" y="3758371"/>
            <a:ext cx="0" cy="298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5055412" y="4955649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412" y="4955649"/>
                <a:ext cx="838200" cy="381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38" idx="1"/>
            <a:endCxn id="40" idx="0"/>
          </p:cNvCxnSpPr>
          <p:nvPr/>
        </p:nvCxnSpPr>
        <p:spPr>
          <a:xfrm rot="10800000" flipV="1">
            <a:off x="5474513" y="4247837"/>
            <a:ext cx="760125" cy="7078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243676" y="3886200"/>
                <a:ext cx="16499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en-US" sz="1600" b="0" i="1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600" b="0">
                    <a:solidFill>
                      <a:schemeClr val="accent4">
                        <a:lumMod val="50000"/>
                      </a:schemeClr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𝑒𝑛𝑞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</m:oMath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676" y="3886200"/>
                <a:ext cx="1649939" cy="584775"/>
              </a:xfrm>
              <a:prstGeom prst="rect">
                <a:avLst/>
              </a:prstGeom>
              <a:blipFill>
                <a:blip r:embed="rId19"/>
                <a:stretch>
                  <a:fillRect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7287383" y="4953015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383" y="4953015"/>
                <a:ext cx="838200" cy="381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6606288" y="3571605"/>
                <a:ext cx="7280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288" y="3571605"/>
                <a:ext cx="72808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046371" y="3899821"/>
                <a:ext cx="184460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en-US" sz="1600" b="0" i="1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600" b="0">
                    <a:solidFill>
                      <a:schemeClr val="accent4">
                        <a:lumMod val="50000"/>
                      </a:schemeClr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𝑑𝑒𝑞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371" y="3899821"/>
                <a:ext cx="1844608" cy="584775"/>
              </a:xfrm>
              <a:prstGeom prst="rect">
                <a:avLst/>
              </a:prstGeom>
              <a:blipFill>
                <a:blip r:embed="rId22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>
            <a:stCxn id="38" idx="3"/>
            <a:endCxn id="51" idx="0"/>
          </p:cNvCxnSpPr>
          <p:nvPr/>
        </p:nvCxnSpPr>
        <p:spPr>
          <a:xfrm>
            <a:off x="7072837" y="4247837"/>
            <a:ext cx="633646" cy="7051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6181931" y="5759393"/>
                <a:ext cx="838200" cy="381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931" y="5759393"/>
                <a:ext cx="838200" cy="3810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53"/>
          <p:cNvCxnSpPr>
            <a:stCxn id="51" idx="2"/>
            <a:endCxn id="64" idx="3"/>
          </p:cNvCxnSpPr>
          <p:nvPr/>
        </p:nvCxnSpPr>
        <p:spPr>
          <a:xfrm rot="5400000">
            <a:off x="7055368" y="5298778"/>
            <a:ext cx="615878" cy="6863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68" name="Straight Arrow Connector 53"/>
          <p:cNvCxnSpPr>
            <a:stCxn id="40" idx="2"/>
            <a:endCxn id="64" idx="1"/>
          </p:cNvCxnSpPr>
          <p:nvPr/>
        </p:nvCxnSpPr>
        <p:spPr>
          <a:xfrm rot="16200000" flipH="1">
            <a:off x="5521599" y="5289561"/>
            <a:ext cx="613244" cy="7074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7705952" y="5514499"/>
                <a:ext cx="136184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𝑙𝑒𝑛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en-US" sz="1600" b="0" i="1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600" b="0">
                    <a:solidFill>
                      <a:schemeClr val="accent4">
                        <a:lumMod val="50000"/>
                      </a:schemeClr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𝑒𝑛𝑞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952" y="5514499"/>
                <a:ext cx="1361848" cy="584775"/>
              </a:xfrm>
              <a:prstGeom prst="rect">
                <a:avLst/>
              </a:prstGeom>
              <a:blipFill>
                <a:blip r:embed="rId24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4095677" y="5715858"/>
                <a:ext cx="184460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en-US" sz="1600" b="0" i="1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l" rtl="0"/>
                <a:r>
                  <a:rPr lang="en-US" sz="1600" b="0">
                    <a:solidFill>
                      <a:schemeClr val="accent4">
                        <a:lumMod val="50000"/>
                      </a:schemeClr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𝑑𝑒𝑞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677" y="5715858"/>
                <a:ext cx="1844608" cy="584775"/>
              </a:xfrm>
              <a:prstGeom prst="rect">
                <a:avLst/>
              </a:prstGeom>
              <a:blipFill>
                <a:blip r:embed="rId22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298393" y="4082795"/>
                <a:ext cx="1456074" cy="503451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93" y="4082795"/>
                <a:ext cx="1456074" cy="50345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1266433" y="4995745"/>
                <a:ext cx="1456074" cy="503451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433" y="4995745"/>
                <a:ext cx="1456074" cy="50345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2281309" y="5919152"/>
                <a:ext cx="1456074" cy="503451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6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309" y="5919152"/>
                <a:ext cx="1456074" cy="50345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/>
          <p:cNvCxnSpPr>
            <a:endCxn id="77" idx="1"/>
          </p:cNvCxnSpPr>
          <p:nvPr/>
        </p:nvCxnSpPr>
        <p:spPr>
          <a:xfrm>
            <a:off x="152400" y="4333356"/>
            <a:ext cx="145993" cy="1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Elbow Connector 82"/>
          <p:cNvCxnSpPr>
            <a:stCxn id="77" idx="2"/>
            <a:endCxn id="78" idx="1"/>
          </p:cNvCxnSpPr>
          <p:nvPr/>
        </p:nvCxnSpPr>
        <p:spPr>
          <a:xfrm rot="16200000" flipH="1">
            <a:off x="815819" y="4796856"/>
            <a:ext cx="661225" cy="2400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Elbow Connector 84"/>
          <p:cNvCxnSpPr>
            <a:stCxn id="78" idx="2"/>
            <a:endCxn id="79" idx="1"/>
          </p:cNvCxnSpPr>
          <p:nvPr/>
        </p:nvCxnSpPr>
        <p:spPr>
          <a:xfrm rot="16200000" flipH="1">
            <a:off x="1802048" y="5691617"/>
            <a:ext cx="671682" cy="286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Right Arrow 91"/>
          <p:cNvSpPr/>
          <p:nvPr/>
        </p:nvSpPr>
        <p:spPr>
          <a:xfrm rot="8773259">
            <a:off x="2014343" y="3714128"/>
            <a:ext cx="632594" cy="25967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/>
          <p:cNvSpPr txBox="1"/>
          <p:nvPr/>
        </p:nvSpPr>
        <p:spPr>
          <a:xfrm>
            <a:off x="5083379" y="2918520"/>
            <a:ext cx="3449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גרפי </a:t>
            </a:r>
            <a:r>
              <a:rPr lang="he-IL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עם משתנים משותפים?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893612" y="6314530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גרף </a:t>
            </a:r>
            <a:r>
              <a:rPr lang="he-IL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יחיד?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86964" y="6042155"/>
            <a:ext cx="172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מערכת מעברים?</a:t>
            </a:r>
            <a:endParaRPr lang="en-US">
              <a:solidFill>
                <a:srgbClr val="2E41FA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6" name="Picture 2" descr="Image result for question"/>
          <p:cNvPicPr>
            <a:picLocks noChangeAspect="1" noChangeArrowheads="1"/>
          </p:cNvPicPr>
          <p:nvPr/>
        </p:nvPicPr>
        <p:blipFill>
          <a:blip r:embed="rId2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225" y="2326939"/>
            <a:ext cx="1223265" cy="160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103"/>
              <p:cNvSpPr/>
              <p:nvPr/>
            </p:nvSpPr>
            <p:spPr>
              <a:xfrm>
                <a:off x="741051" y="4707359"/>
                <a:ext cx="3466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4" name="Rectangle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51" y="4707359"/>
                <a:ext cx="346697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/>
              <p:cNvSpPr/>
              <p:nvPr/>
            </p:nvSpPr>
            <p:spPr>
              <a:xfrm>
                <a:off x="1710703" y="5655842"/>
                <a:ext cx="3466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5" name="Rectangle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703" y="5655842"/>
                <a:ext cx="346697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7063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522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פונקצית השמת ערכי ערוצים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channel evaluation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524000"/>
                <a:ext cx="86868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2400"/>
                  </a:spcBef>
                  <a:buNone/>
                </a:pP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פונקצית השמת ערכי ערוצים</a:t>
                </a:r>
                <a:r>
                  <a: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𝜉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(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channel evaluation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היא: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מיפוי ערוץ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dirty="0" smtClean="0">
                        <a:latin typeface="Cambria Math"/>
                      </a:rPr>
                      <m:t>∈</m:t>
                    </m:r>
                    <m:r>
                      <a:rPr lang="en-US" sz="2000" i="1" dirty="0" smtClean="0">
                        <a:latin typeface="Cambria Math"/>
                      </a:rPr>
                      <m:t>𝐶</m:t>
                    </m:r>
                    <m:r>
                      <a:rPr lang="en-US" sz="2000" i="1" dirty="0" smtClean="0">
                        <a:latin typeface="Cambria Math"/>
                      </a:rPr>
                      <m:t>h</m:t>
                    </m:r>
                    <m:r>
                      <a:rPr lang="en-US" sz="2000" i="1" dirty="0" smtClean="0">
                        <a:latin typeface="Cambria Math"/>
                      </a:rPr>
                      <m:t>𝑎𝑛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למילה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𝜉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000" b="0" i="1" dirty="0" smtClean="0">
                        <a:solidFill>
                          <a:srgbClr val="2E41FA"/>
                        </a:solidFill>
                        <a:latin typeface="Cambria Math"/>
                      </a:rPr>
                      <m:t>∈</m:t>
                    </m:r>
                    <m:r>
                      <a:rPr lang="en-US" sz="2000" i="1" dirty="0" err="1" smtClean="0">
                        <a:solidFill>
                          <a:srgbClr val="2E41FA"/>
                        </a:solidFill>
                        <a:latin typeface="Cambria Math"/>
                      </a:rPr>
                      <m:t>𝑑𝑜𝑚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 smtClean="0">
                                <a:solidFill>
                                  <a:srgbClr val="2E41F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rgbClr val="2E41FA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  <m:sup>
                        <m:r>
                          <a:rPr lang="en-US" sz="2000" b="0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האורך לא עובר את הקיבולת 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𝑙𝑒𝑛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2000" b="0" i="1" dirty="0" smtClean="0">
                            <a:latin typeface="Cambria Math"/>
                          </a:rPr>
                          <m:t>𝜉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≤</m:t>
                    </m:r>
                    <m:r>
                      <a:rPr lang="en-US" sz="2000" i="1" dirty="0" smtClean="0">
                        <a:latin typeface="Cambria Math"/>
                      </a:rPr>
                      <m:t>𝑐𝑎𝑝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𝜉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 smtClean="0">
                        <a:latin typeface="Cambria Math"/>
                      </a:rPr>
                      <m:t>) =</m:t>
                    </m:r>
                    <m:r>
                      <a:rPr lang="en-US" sz="2000" i="1" dirty="0" smtClean="0">
                        <a:latin typeface="Cambria Math"/>
                      </a:rPr>
                      <m:t>𝑣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𝑣</m:t>
                    </m:r>
                    <m:r>
                      <a:rPr lang="en-US" sz="2000" i="1" baseline="-25000" dirty="0" smtClean="0">
                        <a:latin typeface="Cambria Math"/>
                      </a:rPr>
                      <m:t>2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𝑣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אומר ש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𝑣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 sz="20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עומד בראש התור</a:t>
                </a:r>
              </a:p>
              <a:p>
                <a:pPr marL="0" indent="0">
                  <a:spcBef>
                    <a:spcPts val="3600"/>
                  </a:spcBef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הסימון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𝜉</m:t>
                    </m:r>
                    <m:r>
                      <a:rPr lang="en-US" sz="2400" i="1" dirty="0" smtClean="0">
                        <a:latin typeface="Cambria Math"/>
                      </a:rPr>
                      <m:t>[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 dirty="0" smtClean="0">
                        <a:latin typeface="Cambria Math"/>
                      </a:rPr>
                      <m:t>:=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bPr>
                      <m:e>
                        <m:r>
                          <a:rPr lang="en-US" sz="2400" i="1" dirty="0" err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מתאר את ההשמה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13200"/>
                  </a:spcBef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השמה התחלה: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𝜉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 dirty="0" smtClean="0">
                        <a:latin typeface="Cambria Math"/>
                      </a:rPr>
                      <m:t>)=</m:t>
                    </m:r>
                    <m:r>
                      <a:rPr lang="en-US" sz="2400" b="0" i="1" dirty="0" smtClean="0">
                        <a:latin typeface="Cambria Math"/>
                      </a:rPr>
                      <m:t>𝜀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לכל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2400"/>
                  </a:spcBef>
                </a:pPr>
                <a:endParaRPr lang="he-IL" sz="20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2400"/>
                  </a:spcBef>
                </a:pPr>
                <a:endParaRPr lang="en-US" sz="20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524000"/>
                <a:ext cx="8686800" cy="5181600"/>
              </a:xfrm>
              <a:blipFill>
                <a:blip r:embed="rId3"/>
                <a:stretch>
                  <a:fillRect t="-824" r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62200" y="4572000"/>
                <a:ext cx="4671920" cy="96488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≔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  <a:sym typeface="MT Extra"/>
                            </a:rPr>
                            <m:t>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sym typeface="MT Extra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𝜉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p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≠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⋯</m:t>
                                </m:r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4572000"/>
                <a:ext cx="4671920" cy="964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72492" y="2343912"/>
            <a:ext cx="6676108" cy="561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575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סמנטיקה של מערכת ערוצים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על ידי תרגום למערכת מעברים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1336" y="1441704"/>
                <a:ext cx="8991600" cy="541020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b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תהי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𝐶𝑆</m:t>
                    </m:r>
                    <m:r>
                      <a:rPr lang="en-US" sz="2000" i="1" dirty="0" smtClean="0">
                        <a:latin typeface="Cambria Math"/>
                      </a:rPr>
                      <m:t> = [</m:t>
                    </m:r>
                    <m:r>
                      <a:rPr lang="en-US" sz="2000" i="1" dirty="0" smtClean="0">
                        <a:latin typeface="Cambria Math"/>
                      </a:rPr>
                      <m:t>𝑃𝐺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i="1" dirty="0" smtClean="0">
                        <a:latin typeface="Cambria Math"/>
                      </a:rPr>
                      <m:t> | </m:t>
                    </m:r>
                    <m:r>
                      <a:rPr lang="en-US" sz="20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a:rPr lang="en-US" sz="2000" i="1" dirty="0" smtClean="0">
                        <a:latin typeface="Cambria Math"/>
                      </a:rPr>
                      <m:t> | </m:t>
                    </m:r>
                    <m:r>
                      <a:rPr lang="en-US" sz="2000" i="1" dirty="0" err="1" smtClean="0">
                        <a:latin typeface="Cambria Math"/>
                      </a:rPr>
                      <m:t>𝑃𝐺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ערוצים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מעל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𝐶</m:t>
                    </m:r>
                    <m:r>
                      <a:rPr lang="en-US" sz="2000" i="1" dirty="0" smtClean="0">
                        <a:latin typeface="Cambria Math"/>
                      </a:rPr>
                      <m:t>h</m:t>
                    </m:r>
                    <m:r>
                      <a:rPr lang="en-US" sz="2000" i="1" dirty="0" smtClean="0">
                        <a:latin typeface="Cambria Math"/>
                      </a:rPr>
                      <m:t>𝑎𝑛</m:t>
                    </m:r>
                    <m:r>
                      <a:rPr lang="en-US" sz="2000" i="1" dirty="0" smtClean="0">
                        <a:latin typeface="Cambria Math"/>
                      </a:rPr>
                      <m:t>,</m:t>
                    </m:r>
                    <m:r>
                      <a:rPr lang="en-US" sz="2000" i="1" dirty="0" smtClean="0">
                        <a:latin typeface="Cambria Math"/>
                      </a:rPr>
                      <m:t>𝑉𝑎𝑟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עם</a:t>
                </a:r>
              </a:p>
              <a:p>
                <a:pPr algn="ctr" rtl="0">
                  <a:spcBef>
                    <a:spcPts val="2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〈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𝐿𝑜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0" i="1" dirty="0" smtClean="0">
                            <a:latin typeface="Cambria Math" panose="02040503050406030204" pitchFamily="18" charset="0"/>
                          </a:rPr>
                          <m:t>⊨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𝐸𝑓𝑓𝑒𝑐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Symbol"/>
                          </a:rPr>
                          <m:t>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𝐿𝑜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  <a:spcAft>
                    <a:spcPts val="1200"/>
                  </a:spcAft>
                  <a:buNone/>
                </a:pPr>
                <a:r>
                  <a:rPr lang="he-IL" sz="2000" u="sng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נגדיר מערכת מעברים </a:t>
                </a:r>
                <a14:m>
                  <m:oMath xmlns:m="http://schemas.openxmlformats.org/officeDocument/2006/math">
                    <m:r>
                      <a:rPr lang="en-US" sz="2000" i="1" u="sng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r>
                      <a:rPr lang="en-US" sz="2000" i="1" u="sng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000" i="1" u="sng" dirty="0" smtClean="0">
                        <a:solidFill>
                          <a:srgbClr val="FF0000"/>
                        </a:solidFill>
                        <a:latin typeface="Cambria Math"/>
                      </a:rPr>
                      <m:t>𝐶𝑆</m:t>
                    </m:r>
                    <m:r>
                      <a:rPr lang="en-US" sz="2000" i="1" u="sng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he-IL" sz="2000" u="sng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000" u="sng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1463" lvl="1" indent="-185738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מצבים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𝑆</m:t>
                    </m:r>
                    <m:r>
                      <a:rPr lang="en-US" sz="2000" i="1" dirty="0" smtClean="0">
                        <a:latin typeface="Cambria Math"/>
                      </a:rPr>
                      <m:t> = 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𝐿𝑜𝑐</m:t>
                        </m:r>
                        <m:r>
                          <a:rPr lang="en-US" sz="2000" i="1" baseline="-25000" dirty="0" smtClean="0">
                            <a:latin typeface="Cambria Math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×</m:t>
                        </m:r>
                        <m:r>
                          <a:rPr lang="en-US" sz="2000" i="1" dirty="0" smtClean="0">
                            <a:latin typeface="Cambria Math"/>
                            <a:sym typeface="MT Extra"/>
                          </a:rPr>
                          <m:t>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×</m:t>
                        </m:r>
                        <m:r>
                          <a:rPr lang="en-US" sz="2000" i="1" dirty="0" err="1" smtClean="0">
                            <a:latin typeface="Cambria Math"/>
                          </a:rPr>
                          <m:t>𝐿𝑜𝑐</m:t>
                        </m:r>
                        <m:r>
                          <a:rPr lang="en-US" sz="2000" i="1" baseline="-25000" dirty="0" err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×</m:t>
                    </m:r>
                    <m:r>
                      <a:rPr lang="en-US" sz="2000" i="1" dirty="0" err="1" smtClean="0">
                        <a:latin typeface="Cambria Math"/>
                      </a:rPr>
                      <m:t>𝐸𝑣𝑎𝑙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/>
                          </a:rPr>
                          <m:t>𝑉𝑎𝑟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×</m:t>
                    </m:r>
                    <m:r>
                      <a:rPr lang="en-US" sz="2000" i="1" dirty="0" err="1" smtClean="0">
                        <a:latin typeface="Cambria Math"/>
                      </a:rPr>
                      <m:t>𝐸𝑣𝑎𝑙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𝐶</m:t>
                    </m:r>
                    <m:r>
                      <a:rPr lang="en-US" sz="2000" i="1" dirty="0" smtClean="0">
                        <a:latin typeface="Cambria Math"/>
                      </a:rPr>
                      <m:t>h</m:t>
                    </m:r>
                    <m:r>
                      <a:rPr lang="en-US" sz="2000" i="1" dirty="0" smtClean="0">
                        <a:latin typeface="Cambria Math"/>
                      </a:rPr>
                      <m:t>𝑎𝑛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1463" lvl="1" indent="-185738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פעולות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𝐴𝑐𝑡</m:t>
                    </m:r>
                    <m:r>
                      <a:rPr lang="en-US" sz="2000" i="1" dirty="0" smtClean="0">
                        <a:latin typeface="Cambria Math"/>
                      </a:rPr>
                      <m:t> = </m:t>
                    </m:r>
                    <m:r>
                      <a:rPr lang="en-US" sz="2000" i="1" dirty="0" smtClean="0">
                        <a:latin typeface="Cambria Math"/>
                      </a:rPr>
                      <m:t>𝐴𝑐𝑡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/>
                        <a:cs typeface="Gisha" panose="020B0502040204020203" pitchFamily="34" charset="-79"/>
                      </a:rPr>
                      <m:t>∪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Gisha" panose="020B0502040204020203" pitchFamily="34" charset="-79"/>
                        <a:ea typeface="Cambria Math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Gisha" panose="020B0502040204020203" pitchFamily="34" charset="-79"/>
                        <a:cs typeface="Gisha" panose="020B0502040204020203" pitchFamily="34" charset="-79"/>
                        <a:sym typeface="MT Extra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/>
                        <a:cs typeface="Gisha" panose="020B0502040204020203" pitchFamily="34" charset="-79"/>
                      </a:rPr>
                      <m:t>∪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Gisha" panose="020B0502040204020203" pitchFamily="34" charset="-79"/>
                        <a:ea typeface="Cambria Math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𝐴𝑐𝑡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𝑛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/>
                        <a:cs typeface="Gisha" panose="020B0502040204020203" pitchFamily="34" charset="-79"/>
                      </a:rPr>
                      <m:t>∪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Gisha" panose="020B0502040204020203" pitchFamily="34" charset="-79"/>
                        <a:ea typeface="Cambria Math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{</m:t>
                    </m:r>
                    <m:r>
                      <a:rPr lang="en-US" sz="2000" b="0" i="1" dirty="0" smtClean="0">
                        <a:latin typeface="Cambria Math"/>
                      </a:rPr>
                      <m:t>𝜏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1463" lvl="1" indent="-185738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מעברים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r>
                      <a:rPr lang="he-IL" sz="2000" b="0" i="1" dirty="0" smtClean="0">
                        <a:latin typeface="Cambria Math"/>
                        <a:sym typeface="Symbol"/>
                      </a:rPr>
                      <m:t>→</m:t>
                    </m:r>
                  </m:oMath>
                </a14:m>
                <a:r>
                  <a:rPr lang="he-IL" sz="20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מוגדר ע"פ כללי ההיסק בשקף הבא</a:t>
                </a:r>
                <a:endParaRPr lang="en-US" sz="2000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1463" lvl="1" indent="-185738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התחלה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𝐼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 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latin typeface="Cambria Math"/>
                              </a:rPr>
                              <m:t>𝑙</m:t>
                            </m:r>
                            <m:r>
                              <a:rPr lang="en-US" sz="2000" i="1" baseline="-25000" dirty="0">
                                <a:latin typeface="Cambria Math"/>
                              </a:rPr>
                              <m:t>1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, …, </m:t>
                            </m:r>
                            <m:r>
                              <a:rPr lang="en-US" sz="2000" i="1" dirty="0" err="1">
                                <a:latin typeface="Cambria Math"/>
                              </a:rPr>
                              <m:t>𝑙</m:t>
                            </m:r>
                            <m:r>
                              <m:rPr>
                                <m:sty m:val="p"/>
                              </m:rPr>
                              <a:rPr lang="en-US" sz="2000" i="1" baseline="-25000" dirty="0" err="1">
                                <a:latin typeface="Cambria Math"/>
                              </a:rPr>
                              <m:t>n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2000" b="0" i="1" dirty="0" smtClean="0">
                                <a:latin typeface="Cambria Math"/>
                              </a:rPr>
                              <m:t>𝜂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2000" b="0" i="1" dirty="0" smtClean="0">
                                <a:latin typeface="Cambria Math"/>
                              </a:rPr>
                              <m:t>𝜉</m:t>
                            </m:r>
                            <m:r>
                              <a:rPr lang="en-US" sz="2000" i="1" baseline="-25000" dirty="0">
                                <a:latin typeface="Cambria Math"/>
                              </a:rPr>
                              <m:t>0</m:t>
                            </m:r>
                          </m:e>
                        </m:d>
                        <m:r>
                          <a:rPr lang="en-US" sz="2000" i="1" dirty="0">
                            <a:latin typeface="Cambria Math"/>
                          </a:rPr>
                          <m:t>: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∀</m:t>
                        </m:r>
                        <m:r>
                          <a:rPr lang="en-US" sz="2000" i="1" dirty="0">
                            <a:latin typeface="Cambria Math"/>
                          </a:rPr>
                          <m:t>𝑖</m:t>
                        </m:r>
                        <m:r>
                          <a:rPr lang="en-US" sz="2000" i="1" dirty="0">
                            <a:latin typeface="Cambria Math"/>
                          </a:rPr>
                          <m:t>.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𝑙</m:t>
                            </m:r>
                            <m:r>
                              <a:rPr lang="en-US" sz="2000" i="1" baseline="-25000" dirty="0">
                                <a:latin typeface="Cambria Math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latin typeface="Cambria Math"/>
                              </a:rPr>
                              <m:t>∈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𝐿𝑜</m:t>
                            </m:r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dirty="0" smtClean="0">
                                <a:latin typeface="Cambria Math"/>
                              </a:rPr>
                              <m:t>∧</m:t>
                            </m:r>
                            <m:r>
                              <a:rPr lang="en-US" sz="2000" b="0" i="1" dirty="0" smtClean="0">
                                <a:latin typeface="Cambria Math"/>
                              </a:rPr>
                              <m:t>𝜂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⊨</m:t>
                            </m:r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dirty="0" smtClean="0">
                            <a:latin typeface="Cambria Math"/>
                          </a:rPr>
                          <m:t>∧∀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dirty="0">
                            <a:latin typeface="Cambria Math"/>
                          </a:rPr>
                          <m:t>. 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  <m:r>
                              <a:rPr lang="en-US" sz="2000" i="1" dirty="0">
                                <a:latin typeface="Cambria Math"/>
                              </a:rPr>
                              <m:t>=</m:t>
                            </m:r>
                            <m:r>
                              <a:rPr lang="en-US" sz="2000" b="0" i="1" dirty="0" smtClean="0">
                                <a:latin typeface="Cambria Math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1463" lvl="1" indent="-185738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פסוקים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אטומים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𝐴𝑃</m:t>
                    </m:r>
                    <m:r>
                      <a:rPr lang="en-US" sz="2000" i="1" dirty="0" smtClean="0">
                        <a:latin typeface="Cambria Math"/>
                      </a:rPr>
                      <m:t> = </m:t>
                    </m:r>
                    <m:r>
                      <a:rPr lang="en-US" sz="2000" i="1" dirty="0" smtClean="0">
                        <a:latin typeface="Cambria Math"/>
                      </a:rPr>
                      <m:t>𝐿𝑜𝑐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b="0" i="1" baseline="-25000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Gisha" panose="020B0502040204020203" pitchFamily="34" charset="-79"/>
                        <a:ea typeface="Cambria Math"/>
                        <a:cs typeface="Gisha" panose="020B0502040204020203" pitchFamily="34" charset="-79"/>
                      </a:rPr>
                      <m:t>⨄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Gisha" panose="020B0502040204020203" pitchFamily="34" charset="-79"/>
                        <a:ea typeface="Cambria Math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  <a:sym typeface="MT Extra"/>
                      </a:rPr>
                      <m:t>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Gisha" panose="020B0502040204020203" pitchFamily="34" charset="-79"/>
                        <a:cs typeface="Gisha" panose="020B0502040204020203" pitchFamily="34" charset="-79"/>
                        <a:sym typeface="MT Extra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latin typeface="Gisha" panose="020B0502040204020203" pitchFamily="34" charset="-79"/>
                        <a:ea typeface="Cambria Math"/>
                        <a:cs typeface="Gisha" panose="020B0502040204020203" pitchFamily="34" charset="-79"/>
                      </a:rPr>
                      <m:t>⨄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Gisha" panose="020B0502040204020203" pitchFamily="34" charset="-79"/>
                        <a:ea typeface="Cambria Math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𝐿𝑜𝑐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𝑛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latin typeface="Gisha" panose="020B0502040204020203" pitchFamily="34" charset="-79"/>
                        <a:ea typeface="Cambria Math"/>
                        <a:cs typeface="Gisha" panose="020B0502040204020203" pitchFamily="34" charset="-79"/>
                      </a:rPr>
                      <m:t>⨄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Gisha" panose="020B0502040204020203" pitchFamily="34" charset="-79"/>
                        <a:ea typeface="Cambria Math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𝐶𝑜𝑛𝑑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/>
                          </a:rPr>
                          <m:t>𝑉𝑎𝑟</m:t>
                        </m:r>
                      </m:e>
                    </m:d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1463" lvl="1" indent="-185738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תוויות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latin typeface="Cambria Math"/>
                              </a:rPr>
                              <m:t>𝑙</m:t>
                            </m:r>
                            <m:r>
                              <a:rPr lang="en-US" sz="2000" i="1" baseline="-25000" dirty="0">
                                <a:latin typeface="Cambria Math"/>
                              </a:rPr>
                              <m:t>1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,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…,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000" i="1" dirty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2000" b="0" i="1" dirty="0" smtClean="0">
                                <a:latin typeface="Cambria Math"/>
                              </a:rPr>
                              <m:t>𝜂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2000" b="0" i="1" dirty="0" smtClean="0">
                                <a:latin typeface="Cambria Math"/>
                              </a:rPr>
                              <m:t>𝜉</m:t>
                            </m:r>
                          </m:e>
                        </m:d>
                      </m:e>
                    </m:d>
                    <m:r>
                      <a:rPr lang="en-US" sz="2000" i="1" dirty="0">
                        <a:latin typeface="Cambria Math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𝑙</m:t>
                        </m:r>
                        <m:r>
                          <a:rPr lang="en-US" sz="2000" i="1" baseline="-25000" dirty="0">
                            <a:latin typeface="Cambria Math"/>
                          </a:rPr>
                          <m:t>1</m:t>
                        </m:r>
                        <m:r>
                          <a:rPr lang="en-US" sz="2000" i="1" dirty="0">
                            <a:latin typeface="Cambria Math"/>
                          </a:rPr>
                          <m:t>, … ,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∪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 </m:t>
                        </m:r>
                        <m:r>
                          <a:rPr lang="en-US" sz="2000" i="1" dirty="0">
                            <a:latin typeface="Cambria Math"/>
                          </a:rPr>
                          <m:t>𝑔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∈</m:t>
                        </m:r>
                        <m:r>
                          <a:rPr lang="en-US" sz="2000" i="1" dirty="0">
                            <a:latin typeface="Cambria Math"/>
                          </a:rPr>
                          <m:t>𝐶𝑜𝑛𝑑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 err="1">
                                <a:latin typeface="Cambria Math"/>
                              </a:rPr>
                              <m:t>𝑉𝑎𝑟</m:t>
                            </m:r>
                          </m:e>
                        </m:d>
                        <m:r>
                          <a:rPr lang="en-US" sz="2000" i="1" dirty="0">
                            <a:latin typeface="Cambria Math"/>
                          </a:rPr>
                          <m:t>: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𝜂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⊨</m:t>
                        </m:r>
                        <m:r>
                          <a:rPr lang="en-US" sz="2000" i="1" dirty="0">
                            <a:latin typeface="Cambria Math"/>
                          </a:rPr>
                          <m:t>𝑔</m:t>
                        </m:r>
                      </m:e>
                    </m:d>
                    <m:r>
                      <a:rPr lang="en-US" sz="2000" i="1" dirty="0">
                        <a:latin typeface="Cambria Math"/>
                      </a:rPr>
                      <m:t> </m:t>
                    </m:r>
                  </m:oMath>
                </a14:m>
                <a:endParaRPr lang="en-US" sz="1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1336" y="1441704"/>
                <a:ext cx="8991600" cy="5410200"/>
              </a:xfrm>
              <a:blipFill>
                <a:blip r:embed="rId2"/>
                <a:stretch>
                  <a:fillRect r="-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כללי הסק (1)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73164" y="1304026"/>
                <a:ext cx="8534400" cy="51054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שזירה עבור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Effect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העברת הודעות </a:t>
                </a:r>
                <a:r>
                  <a:rPr lang="he-IL" sz="24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סינכרונית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עבור תורים בגודל אפס: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73164" y="1304026"/>
                <a:ext cx="8534400" cy="5105400"/>
              </a:xfrm>
              <a:blipFill>
                <a:blip r:embed="rId2"/>
                <a:stretch>
                  <a:fillRect t="-1075" r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5801" y="4495800"/>
                <a:ext cx="7649931" cy="107196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:_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?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∧  </m:t>
                          </m:r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sSubSup>
                            <m:sSubSupPr>
                              <m:ctrlP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he-IL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∧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∧ </m:t>
                          </m:r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𝑐𝑎𝑝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517C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517C3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2000" b="0" i="1" smtClean="0">
                                  <a:solidFill>
                                    <a:srgbClr val="0517C3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4495800"/>
                <a:ext cx="7649931" cy="1071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85800" y="1828800"/>
                <a:ext cx="7649932" cy="112376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〈"/>
                              <m:endChr m:val="〉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2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828800"/>
                <a:ext cx="7649932" cy="11237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04800"/>
            <a:ext cx="7772400" cy="1143000"/>
          </a:xfrm>
        </p:spPr>
        <p:txBody>
          <a:bodyPr/>
          <a:lstStyle/>
          <a:p>
            <a:pPr rtl="0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חסימה הדדית באמצעות בורר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 rtl="0"/>
              <a:t>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67" name="Straight Arrow Connector 66"/>
          <p:cNvCxnSpPr>
            <a:endCxn id="50" idx="0"/>
          </p:cNvCxnSpPr>
          <p:nvPr/>
        </p:nvCxnSpPr>
        <p:spPr>
          <a:xfrm flipH="1">
            <a:off x="5267173" y="4439883"/>
            <a:ext cx="8922" cy="208317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3962400" y="4648200"/>
                <a:ext cx="2609546" cy="47714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𝑛𝑜𝑛𝑐𝑟𝑖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𝑛𝑜𝑛𝑐𝑟𝑖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𝑢𝑛𝑙𝑜𝑐𝑘</m:t>
                      </m:r>
                    </m:oMath>
                  </m:oMathPara>
                </a14:m>
                <a:endParaRPr lang="en-US" sz="1600" b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4648200"/>
                <a:ext cx="2609546" cy="4771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5913120" y="5867743"/>
                <a:ext cx="2609546" cy="47714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𝑛𝑜𝑛𝑐𝑟𝑖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/>
                        </a:rPr>
                        <m:t>𝑙𝑜𝑐𝑘</m:t>
                      </m:r>
                    </m:oMath>
                  </m:oMathPara>
                </a14:m>
                <a:endParaRPr lang="en-US" sz="1600" i="1">
                  <a:solidFill>
                    <a:schemeClr val="tx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120" y="5867743"/>
                <a:ext cx="2609546" cy="477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011680" y="5867743"/>
                <a:ext cx="2609546" cy="47714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/>
                        </a:rPr>
                        <m:t>𝑛𝑜𝑛𝑐𝑟𝑖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/>
                        </a:rPr>
                        <m:t>𝑙𝑜𝑐𝑘</m:t>
                      </m:r>
                    </m:oMath>
                  </m:oMathPara>
                </a14:m>
                <a:endParaRPr lang="en-US" sz="1600" i="1">
                  <a:solidFill>
                    <a:schemeClr val="tx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80" y="5867743"/>
                <a:ext cx="2609546" cy="4771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Elbow Connector 53"/>
          <p:cNvCxnSpPr>
            <a:stCxn id="51" idx="1"/>
            <a:endCxn id="50" idx="2"/>
          </p:cNvCxnSpPr>
          <p:nvPr/>
        </p:nvCxnSpPr>
        <p:spPr>
          <a:xfrm rot="10800000">
            <a:off x="5445120" y="5125341"/>
            <a:ext cx="468000" cy="98097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stCxn id="52" idx="3"/>
            <a:endCxn id="50" idx="2"/>
          </p:cNvCxnSpPr>
          <p:nvPr/>
        </p:nvCxnSpPr>
        <p:spPr>
          <a:xfrm flipV="1">
            <a:off x="4621226" y="5125340"/>
            <a:ext cx="504000" cy="98097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50" idx="3"/>
            <a:endCxn id="51" idx="0"/>
          </p:cNvCxnSpPr>
          <p:nvPr/>
        </p:nvCxnSpPr>
        <p:spPr>
          <a:xfrm>
            <a:off x="6571946" y="4886770"/>
            <a:ext cx="645947" cy="980973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50" idx="1"/>
            <a:endCxn id="52" idx="0"/>
          </p:cNvCxnSpPr>
          <p:nvPr/>
        </p:nvCxnSpPr>
        <p:spPr>
          <a:xfrm rot="10800000" flipV="1">
            <a:off x="3316454" y="4886770"/>
            <a:ext cx="645947" cy="980973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2971800" y="849868"/>
            <a:ext cx="2922364" cy="1664732"/>
            <a:chOff x="304800" y="3638336"/>
            <a:chExt cx="2922364" cy="166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/>
                <p:cNvSpPr/>
                <p:nvPr/>
              </p:nvSpPr>
              <p:spPr>
                <a:xfrm>
                  <a:off x="573591" y="4249326"/>
                  <a:ext cx="983887" cy="455711"/>
                </a:xfrm>
                <a:prstGeom prst="rect">
                  <a:avLst/>
                </a:prstGeom>
                <a:ln w="28575"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𝑛𝑙𝑜𝑐𝑘</m:t>
                        </m:r>
                      </m:oMath>
                    </m:oMathPara>
                  </a14:m>
                  <a:endParaRPr lang="en-US" sz="1600" i="1">
                    <a:solidFill>
                      <a:schemeClr val="accent1">
                        <a:lumMod val="50000"/>
                      </a:schemeClr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83" name="Rectangle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91" y="4249326"/>
                  <a:ext cx="983887" cy="45571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/>
                <p:cNvSpPr/>
                <p:nvPr/>
              </p:nvSpPr>
              <p:spPr>
                <a:xfrm>
                  <a:off x="2243277" y="4252401"/>
                  <a:ext cx="983887" cy="455711"/>
                </a:xfrm>
                <a:prstGeom prst="rect">
                  <a:avLst/>
                </a:prstGeom>
                <a:ln w="28575"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6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𝑜𝑐𝑘</m:t>
                        </m:r>
                      </m:oMath>
                    </m:oMathPara>
                  </a14:m>
                  <a:endParaRPr lang="en-US" sz="1600" i="1">
                    <a:solidFill>
                      <a:schemeClr val="accent1">
                        <a:lumMod val="50000"/>
                      </a:schemeClr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84" name="Rectangle 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3277" y="4252401"/>
                  <a:ext cx="983887" cy="45571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Elbow Connector 84"/>
            <p:cNvCxnSpPr>
              <a:stCxn id="83" idx="0"/>
              <a:endCxn id="84" idx="0"/>
            </p:cNvCxnSpPr>
            <p:nvPr/>
          </p:nvCxnSpPr>
          <p:spPr>
            <a:xfrm rot="16200000" flipH="1">
              <a:off x="1898840" y="3416020"/>
              <a:ext cx="3075" cy="1669686"/>
            </a:xfrm>
            <a:prstGeom prst="bentConnector3">
              <a:avLst>
                <a:gd name="adj1" fmla="val -7434146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88" name="Elbow Connector 87"/>
            <p:cNvCxnSpPr>
              <a:stCxn id="84" idx="2"/>
              <a:endCxn id="83" idx="2"/>
            </p:cNvCxnSpPr>
            <p:nvPr/>
          </p:nvCxnSpPr>
          <p:spPr>
            <a:xfrm rot="5400000" flipH="1">
              <a:off x="1898840" y="3871732"/>
              <a:ext cx="3075" cy="1669686"/>
            </a:xfrm>
            <a:prstGeom prst="bentConnector3">
              <a:avLst>
                <a:gd name="adj1" fmla="val -7434146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/>
                <p:cNvSpPr txBox="1"/>
                <p:nvPr/>
              </p:nvSpPr>
              <p:spPr>
                <a:xfrm>
                  <a:off x="1295400" y="3638336"/>
                  <a:ext cx="766557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lit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req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2" name="TextBox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400" y="3638336"/>
                  <a:ext cx="766557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Arrow Connector 94"/>
            <p:cNvCxnSpPr>
              <a:endCxn id="83" idx="1"/>
            </p:cNvCxnSpPr>
            <p:nvPr/>
          </p:nvCxnSpPr>
          <p:spPr>
            <a:xfrm flipV="1">
              <a:off x="304800" y="4477182"/>
              <a:ext cx="268791" cy="3407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/>
                <p:cNvSpPr txBox="1"/>
                <p:nvPr/>
              </p:nvSpPr>
              <p:spPr>
                <a:xfrm>
                  <a:off x="1295400" y="4933736"/>
                  <a:ext cx="702435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lit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rel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6" name="TextBox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400" y="4933736"/>
                  <a:ext cx="70243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/>
          <p:cNvGrpSpPr/>
          <p:nvPr/>
        </p:nvGrpSpPr>
        <p:grpSpPr>
          <a:xfrm>
            <a:off x="5486400" y="2373868"/>
            <a:ext cx="2922364" cy="1664732"/>
            <a:chOff x="304800" y="3638336"/>
            <a:chExt cx="2922364" cy="166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/>
                <p:cNvSpPr/>
                <p:nvPr/>
              </p:nvSpPr>
              <p:spPr>
                <a:xfrm>
                  <a:off x="573591" y="4249326"/>
                  <a:ext cx="983887" cy="455711"/>
                </a:xfrm>
                <a:prstGeom prst="rect">
                  <a:avLst/>
                </a:prstGeom>
                <a:ln w="28575"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  <m:t>𝑛𝑜𝑛𝑐𝑟𝑖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i="1">
                    <a:solidFill>
                      <a:schemeClr val="accent1">
                        <a:lumMod val="50000"/>
                      </a:schemeClr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66" name="Rectangle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91" y="4249326"/>
                  <a:ext cx="983887" cy="45571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/>
                <p:cNvSpPr/>
                <p:nvPr/>
              </p:nvSpPr>
              <p:spPr>
                <a:xfrm>
                  <a:off x="2243277" y="4252401"/>
                  <a:ext cx="983887" cy="455711"/>
                </a:xfrm>
                <a:prstGeom prst="rect">
                  <a:avLst/>
                </a:prstGeom>
                <a:ln w="28575"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i="1">
                    <a:solidFill>
                      <a:schemeClr val="accent1">
                        <a:lumMod val="50000"/>
                      </a:schemeClr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71" name="Rectangle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3277" y="4252401"/>
                  <a:ext cx="983887" cy="45571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Elbow Connector 71"/>
            <p:cNvCxnSpPr>
              <a:stCxn id="66" idx="0"/>
              <a:endCxn id="71" idx="0"/>
            </p:cNvCxnSpPr>
            <p:nvPr/>
          </p:nvCxnSpPr>
          <p:spPr>
            <a:xfrm rot="16200000" flipH="1">
              <a:off x="1898840" y="3416020"/>
              <a:ext cx="3075" cy="1669686"/>
            </a:xfrm>
            <a:prstGeom prst="bentConnector3">
              <a:avLst>
                <a:gd name="adj1" fmla="val -7434146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73" name="Elbow Connector 72"/>
            <p:cNvCxnSpPr>
              <a:stCxn id="71" idx="2"/>
              <a:endCxn id="66" idx="2"/>
            </p:cNvCxnSpPr>
            <p:nvPr/>
          </p:nvCxnSpPr>
          <p:spPr>
            <a:xfrm rot="5400000" flipH="1">
              <a:off x="1898840" y="3871732"/>
              <a:ext cx="3075" cy="1669686"/>
            </a:xfrm>
            <a:prstGeom prst="bentConnector3">
              <a:avLst>
                <a:gd name="adj1" fmla="val -7434146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1295400" y="3638336"/>
                  <a:ext cx="734495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req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400" y="3638336"/>
                  <a:ext cx="73449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Arrow Connector 74"/>
            <p:cNvCxnSpPr>
              <a:endCxn id="66" idx="1"/>
            </p:cNvCxnSpPr>
            <p:nvPr/>
          </p:nvCxnSpPr>
          <p:spPr>
            <a:xfrm flipV="1">
              <a:off x="304800" y="4477182"/>
              <a:ext cx="268791" cy="3407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1295400" y="4933736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rel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400" y="4933736"/>
                  <a:ext cx="67037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2438400" y="849868"/>
                <a:ext cx="10088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𝐴𝑟𝑏𝑖𝑡𝑒𝑟</m:t>
                      </m:r>
                    </m:oMath>
                  </m:oMathPara>
                </a14:m>
                <a:endParaRPr lang="en-US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849868"/>
                <a:ext cx="100886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Group 80"/>
          <p:cNvGrpSpPr/>
          <p:nvPr/>
        </p:nvGrpSpPr>
        <p:grpSpPr>
          <a:xfrm>
            <a:off x="533400" y="2373868"/>
            <a:ext cx="2922364" cy="1664732"/>
            <a:chOff x="304800" y="3638336"/>
            <a:chExt cx="2922364" cy="166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/>
                <p:cNvSpPr/>
                <p:nvPr/>
              </p:nvSpPr>
              <p:spPr>
                <a:xfrm>
                  <a:off x="573591" y="4249326"/>
                  <a:ext cx="983887" cy="455711"/>
                </a:xfrm>
                <a:prstGeom prst="rect">
                  <a:avLst/>
                </a:prstGeom>
                <a:ln w="28575"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  <m:t>𝑛𝑜𝑛𝑐𝑟𝑖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i="1">
                    <a:solidFill>
                      <a:schemeClr val="accent1">
                        <a:lumMod val="50000"/>
                      </a:schemeClr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82" name="Rectangle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91" y="4249326"/>
                  <a:ext cx="983887" cy="45571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/>
                <p:cNvSpPr/>
                <p:nvPr/>
              </p:nvSpPr>
              <p:spPr>
                <a:xfrm>
                  <a:off x="2243277" y="4252401"/>
                  <a:ext cx="983887" cy="455711"/>
                </a:xfrm>
                <a:prstGeom prst="rect">
                  <a:avLst/>
                </a:prstGeom>
                <a:ln w="28575"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i="1">
                    <a:solidFill>
                      <a:schemeClr val="accent1">
                        <a:lumMod val="50000"/>
                      </a:schemeClr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86" name="Rectangle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3277" y="4252401"/>
                  <a:ext cx="983887" cy="45571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Elbow Connector 86"/>
            <p:cNvCxnSpPr>
              <a:stCxn id="82" idx="0"/>
              <a:endCxn id="86" idx="0"/>
            </p:cNvCxnSpPr>
            <p:nvPr/>
          </p:nvCxnSpPr>
          <p:spPr>
            <a:xfrm rot="16200000" flipH="1">
              <a:off x="1898840" y="3416020"/>
              <a:ext cx="3075" cy="1669686"/>
            </a:xfrm>
            <a:prstGeom prst="bentConnector3">
              <a:avLst>
                <a:gd name="adj1" fmla="val -7434146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89" name="Elbow Connector 88"/>
            <p:cNvCxnSpPr>
              <a:stCxn id="86" idx="2"/>
              <a:endCxn id="82" idx="2"/>
            </p:cNvCxnSpPr>
            <p:nvPr/>
          </p:nvCxnSpPr>
          <p:spPr>
            <a:xfrm rot="5400000" flipH="1">
              <a:off x="1898840" y="3871732"/>
              <a:ext cx="3075" cy="1669686"/>
            </a:xfrm>
            <a:prstGeom prst="bentConnector3">
              <a:avLst>
                <a:gd name="adj1" fmla="val -7434146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/>
                <p:cNvSpPr txBox="1"/>
                <p:nvPr/>
              </p:nvSpPr>
              <p:spPr>
                <a:xfrm>
                  <a:off x="1295400" y="3638336"/>
                  <a:ext cx="734495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req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0" name="TextBox 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400" y="3638336"/>
                  <a:ext cx="73449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Straight Arrow Connector 90"/>
            <p:cNvCxnSpPr>
              <a:endCxn id="82" idx="1"/>
            </p:cNvCxnSpPr>
            <p:nvPr/>
          </p:nvCxnSpPr>
          <p:spPr>
            <a:xfrm flipV="1">
              <a:off x="304800" y="4477182"/>
              <a:ext cx="268791" cy="3407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/>
                <p:cNvSpPr txBox="1"/>
                <p:nvPr/>
              </p:nvSpPr>
              <p:spPr>
                <a:xfrm>
                  <a:off x="1295400" y="4933736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rel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4" name="Text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400" y="4933736"/>
                  <a:ext cx="670376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/>
              <p:cNvSpPr/>
              <p:nvPr/>
            </p:nvSpPr>
            <p:spPr>
              <a:xfrm>
                <a:off x="381000" y="2209800"/>
                <a:ext cx="6254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7" name="Rectangle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209800"/>
                <a:ext cx="62542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/>
              <p:cNvSpPr/>
              <p:nvPr/>
            </p:nvSpPr>
            <p:spPr>
              <a:xfrm>
                <a:off x="8077200" y="2209800"/>
                <a:ext cx="6307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0" name="Rectangle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2209800"/>
                <a:ext cx="63075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/>
              <p:cNvSpPr/>
              <p:nvPr/>
            </p:nvSpPr>
            <p:spPr>
              <a:xfrm>
                <a:off x="457200" y="4495800"/>
                <a:ext cx="27638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𝐴𝑟𝑏𝑖𝑡𝑒𝑟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1" name="Rectangle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95800"/>
                <a:ext cx="2763898" cy="369332"/>
              </a:xfrm>
              <a:prstGeom prst="rect">
                <a:avLst/>
              </a:prstGeom>
              <a:blipFill>
                <a:blip r:embed="rId1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/>
              <p:cNvSpPr/>
              <p:nvPr/>
            </p:nvSpPr>
            <p:spPr>
              <a:xfrm>
                <a:off x="7197103" y="5105400"/>
                <a:ext cx="3466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6" name="Rectangle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103" y="5105400"/>
                <a:ext cx="346697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 106"/>
              <p:cNvSpPr/>
              <p:nvPr/>
            </p:nvSpPr>
            <p:spPr>
              <a:xfrm>
                <a:off x="5486400" y="5410200"/>
                <a:ext cx="3466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7" name="Rectangle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5410200"/>
                <a:ext cx="346697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/>
              <p:cNvSpPr/>
              <p:nvPr/>
            </p:nvSpPr>
            <p:spPr>
              <a:xfrm>
                <a:off x="4724400" y="5410200"/>
                <a:ext cx="3466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8" name="Rectangle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5410200"/>
                <a:ext cx="346697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ectangle 108"/>
              <p:cNvSpPr/>
              <p:nvPr/>
            </p:nvSpPr>
            <p:spPr>
              <a:xfrm>
                <a:off x="2971800" y="5029200"/>
                <a:ext cx="3466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9" name="Rectangle 1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5029200"/>
                <a:ext cx="346697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74498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כללי הסק עבור המקרה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𝑐𝑎𝑝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&gt;</m:t>
                    </m:r>
                    <m:r>
                      <a:rPr lang="en-US" i="1" dirty="0" smtClean="0">
                        <a:latin typeface="Cambria Math"/>
                      </a:rPr>
                      <m:t>0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941"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18412" y="1143000"/>
                <a:ext cx="8534400" cy="54102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he-IL" sz="2800">
                    <a:solidFill>
                      <a:srgbClr val="151AE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קבלת הודעה באופן אסינכרוני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b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ו-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>
                  <a:buNone/>
                </a:pPr>
                <a:endParaRPr lang="he-IL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שליחת הודעה באופן אסינכרוני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b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151AE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151AE1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he-IL" sz="2000" b="0" i="1" smtClean="0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endParaRPr lang="en-US" sz="20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18412" y="1143000"/>
                <a:ext cx="8534400" cy="5410200"/>
              </a:xfrm>
              <a:blipFill>
                <a:blip r:embed="rId3"/>
                <a:stretch>
                  <a:fillRect t="-2029" r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14399" y="1752600"/>
                <a:ext cx="7649931" cy="10176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?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∧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∧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𝑙𝑒𝑛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∧</m:t>
                          </m:r>
                          <m:r>
                            <a:rPr lang="en-US" sz="2000" b="0" i="1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752600"/>
                <a:ext cx="7649931" cy="10176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14400" y="4572000"/>
                <a:ext cx="7649931" cy="98309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∧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∧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𝑙𝑒𝑛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𝑐𝑎𝑝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 ∧</m:t>
                          </m:r>
                          <m:r>
                            <a:rPr lang="en-US" sz="2000" b="0" i="1" smtClean="0">
                              <a:solidFill>
                                <a:srgbClr val="151AE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151AE1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151AE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572000"/>
                <a:ext cx="7649931" cy="983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810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08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11</a:t>
            </a:fld>
            <a:endParaRPr lang="he-IL"/>
          </a:p>
        </p:txBody>
      </p:sp>
      <p:sp>
        <p:nvSpPr>
          <p:cNvPr id="5" name="Rectangle 4"/>
          <p:cNvSpPr/>
          <p:nvPr/>
        </p:nvSpPr>
        <p:spPr>
          <a:xfrm>
            <a:off x="459274" y="9906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1</a:t>
            </a:r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459274" y="17780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2</a:t>
            </a:r>
            <a:endParaRPr lang="he-IL"/>
          </a:p>
        </p:txBody>
      </p:sp>
      <p:cxnSp>
        <p:nvCxnSpPr>
          <p:cNvPr id="11" name="Straight Arrow Connector 10"/>
          <p:cNvCxnSpPr>
            <a:endCxn id="5" idx="0"/>
          </p:cNvCxnSpPr>
          <p:nvPr/>
        </p:nvCxnSpPr>
        <p:spPr>
          <a:xfrm>
            <a:off x="764074" y="6858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3" name="Straight Arrow Connector 12"/>
          <p:cNvCxnSpPr>
            <a:stCxn id="5" idx="2"/>
            <a:endCxn id="7" idx="0"/>
          </p:cNvCxnSpPr>
          <p:nvPr/>
        </p:nvCxnSpPr>
        <p:spPr>
          <a:xfrm>
            <a:off x="764074" y="13716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4" name="Rectangle 13"/>
          <p:cNvSpPr/>
          <p:nvPr/>
        </p:nvSpPr>
        <p:spPr>
          <a:xfrm>
            <a:off x="459274" y="25654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3</a:t>
            </a:r>
            <a:endParaRPr lang="he-IL"/>
          </a:p>
        </p:txBody>
      </p:sp>
      <p:cxnSp>
        <p:nvCxnSpPr>
          <p:cNvPr id="15" name="Straight Arrow Connector 14"/>
          <p:cNvCxnSpPr>
            <a:stCxn id="7" idx="2"/>
            <a:endCxn id="14" idx="0"/>
          </p:cNvCxnSpPr>
          <p:nvPr/>
        </p:nvCxnSpPr>
        <p:spPr>
          <a:xfrm>
            <a:off x="764074" y="21590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6" name="Rectangle 15"/>
          <p:cNvSpPr/>
          <p:nvPr/>
        </p:nvSpPr>
        <p:spPr>
          <a:xfrm>
            <a:off x="459274" y="33528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4</a:t>
            </a:r>
            <a:endParaRPr lang="he-IL"/>
          </a:p>
        </p:txBody>
      </p:sp>
      <p:cxnSp>
        <p:nvCxnSpPr>
          <p:cNvPr id="17" name="Straight Arrow Connector 16"/>
          <p:cNvCxnSpPr>
            <a:stCxn id="14" idx="2"/>
            <a:endCxn id="16" idx="0"/>
          </p:cNvCxnSpPr>
          <p:nvPr/>
        </p:nvCxnSpPr>
        <p:spPr>
          <a:xfrm>
            <a:off x="764074" y="29464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64074" y="1371600"/>
                <a:ext cx="54085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74" y="1371600"/>
                <a:ext cx="5408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40274" y="2171700"/>
                <a:ext cx="57823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74" y="2171700"/>
                <a:ext cx="57823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64074" y="2971800"/>
                <a:ext cx="56650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74" y="2971800"/>
                <a:ext cx="5665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1907074" y="9906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1</a:t>
            </a:r>
            <a:endParaRPr lang="he-IL"/>
          </a:p>
        </p:txBody>
      </p:sp>
      <p:sp>
        <p:nvSpPr>
          <p:cNvPr id="28" name="Rectangle 27"/>
          <p:cNvSpPr/>
          <p:nvPr/>
        </p:nvSpPr>
        <p:spPr>
          <a:xfrm>
            <a:off x="1907074" y="17780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2</a:t>
            </a:r>
            <a:endParaRPr lang="he-IL"/>
          </a:p>
        </p:txBody>
      </p:sp>
      <p:cxnSp>
        <p:nvCxnSpPr>
          <p:cNvPr id="30" name="Straight Arrow Connector 29"/>
          <p:cNvCxnSpPr>
            <a:stCxn id="27" idx="2"/>
            <a:endCxn id="28" idx="0"/>
          </p:cNvCxnSpPr>
          <p:nvPr/>
        </p:nvCxnSpPr>
        <p:spPr>
          <a:xfrm>
            <a:off x="2211874" y="13716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31" name="Rectangle 30"/>
          <p:cNvSpPr/>
          <p:nvPr/>
        </p:nvSpPr>
        <p:spPr>
          <a:xfrm>
            <a:off x="1907074" y="25654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3</a:t>
            </a:r>
            <a:endParaRPr lang="he-IL"/>
          </a:p>
        </p:txBody>
      </p:sp>
      <p:cxnSp>
        <p:nvCxnSpPr>
          <p:cNvPr id="32" name="Straight Arrow Connector 31"/>
          <p:cNvCxnSpPr>
            <a:stCxn id="28" idx="2"/>
            <a:endCxn id="31" idx="0"/>
          </p:cNvCxnSpPr>
          <p:nvPr/>
        </p:nvCxnSpPr>
        <p:spPr>
          <a:xfrm>
            <a:off x="2211874" y="21590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33" name="Rectangle 32"/>
          <p:cNvSpPr/>
          <p:nvPr/>
        </p:nvSpPr>
        <p:spPr>
          <a:xfrm>
            <a:off x="1907074" y="3352800"/>
            <a:ext cx="6096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/>
              <a:t>4</a:t>
            </a:r>
            <a:endParaRPr lang="he-IL"/>
          </a:p>
        </p:txBody>
      </p:sp>
      <p:cxnSp>
        <p:nvCxnSpPr>
          <p:cNvPr id="34" name="Straight Arrow Connector 33"/>
          <p:cNvCxnSpPr>
            <a:stCxn id="31" idx="2"/>
            <a:endCxn id="33" idx="0"/>
          </p:cNvCxnSpPr>
          <p:nvPr/>
        </p:nvCxnSpPr>
        <p:spPr>
          <a:xfrm>
            <a:off x="2211874" y="29464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211874" y="1371600"/>
                <a:ext cx="54617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874" y="1371600"/>
                <a:ext cx="5461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288074" y="2171700"/>
                <a:ext cx="57291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074" y="2171700"/>
                <a:ext cx="5729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211874" y="2971800"/>
                <a:ext cx="59856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874" y="2971800"/>
                <a:ext cx="59856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/>
          <p:nvPr/>
        </p:nvCxnSpPr>
        <p:spPr>
          <a:xfrm>
            <a:off x="2211874" y="6858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grpSp>
        <p:nvGrpSpPr>
          <p:cNvPr id="101" name="Group 100"/>
          <p:cNvGrpSpPr/>
          <p:nvPr/>
        </p:nvGrpSpPr>
        <p:grpSpPr>
          <a:xfrm>
            <a:off x="3276599" y="381000"/>
            <a:ext cx="5521574" cy="6096000"/>
            <a:chOff x="5029197" y="1676400"/>
            <a:chExt cx="3535472" cy="4714240"/>
          </a:xfrm>
        </p:grpSpPr>
        <p:cxnSp>
          <p:nvCxnSpPr>
            <p:cNvPr id="66" name="Elbow Connector 65"/>
            <p:cNvCxnSpPr/>
            <p:nvPr/>
          </p:nvCxnSpPr>
          <p:spPr>
            <a:xfrm>
              <a:off x="5761062" y="3001680"/>
              <a:ext cx="746865" cy="463908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61" name="Elbow Connector 60"/>
            <p:cNvCxnSpPr/>
            <p:nvPr/>
          </p:nvCxnSpPr>
          <p:spPr>
            <a:xfrm rot="10800000" flipV="1">
              <a:off x="7078418" y="3010096"/>
              <a:ext cx="746867" cy="463906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6785673" y="1676400"/>
              <a:ext cx="0" cy="3048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6248972" y="1971040"/>
                  <a:ext cx="1105942" cy="565709"/>
                </a:xfrm>
                <a:prstGeom prst="rect">
                  <a:avLst/>
                </a:prstGeom>
                <a:solidFill>
                  <a:srgbClr val="FFFF00"/>
                </a:solidFill>
                <a:ln w="28575"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600"/>
                    <a:t>1,1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i="1" dirty="0">
                          <a:latin typeface="Cambria Math"/>
                        </a:rPr>
                        <m:t>𝜀</m:t>
                      </m:r>
                    </m:oMath>
                  </a14:m>
                  <a:r>
                    <a:rPr lang="en-US" sz="1600"/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i="1" dirty="0">
                          <a:latin typeface="Cambria Math"/>
                        </a:rPr>
                        <m:t>𝜀</m:t>
                      </m:r>
                    </m:oMath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972" y="1971040"/>
                  <a:ext cx="1105942" cy="56570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Group 45"/>
            <p:cNvGrpSpPr/>
            <p:nvPr/>
          </p:nvGrpSpPr>
          <p:grpSpPr>
            <a:xfrm>
              <a:off x="5029197" y="2727958"/>
              <a:ext cx="3535472" cy="565711"/>
              <a:chOff x="5029197" y="2590798"/>
              <a:chExt cx="3535472" cy="5657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5029197" y="2590798"/>
                    <a:ext cx="1020870" cy="565709"/>
                  </a:xfrm>
                  <a:prstGeom prst="rect">
                    <a:avLst/>
                  </a:prstGeom>
                  <a:solidFill>
                    <a:srgbClr val="FFFF00"/>
                  </a:solidFill>
                  <a:ln w="28575"/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:r>
                      <a:rPr lang="en-US" sz="1600"/>
                      <a:t>2,1</a:t>
                    </a:r>
                  </a:p>
                  <a:p>
                    <a:pPr algn="ctr" rtl="0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  <a:r>
                      <a:rPr lang="en-US" sz="1600"/>
                      <a:t>,</a:t>
                    </a:r>
                    <a14:m>
                      <m:oMath xmlns:m="http://schemas.openxmlformats.org/officeDocument/2006/math">
                        <m: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   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i="1" dirty="0">
                            <a:latin typeface="Cambria Math"/>
                          </a:rPr>
                          <m:t>𝜀</m:t>
                        </m:r>
                      </m:oMath>
                    </a14:m>
                    <a:endParaRPr lang="he-IL" sz="1600"/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9197" y="2590798"/>
                    <a:ext cx="1020870" cy="56570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 40"/>
                  <p:cNvSpPr/>
                  <p:nvPr/>
                </p:nvSpPr>
                <p:spPr>
                  <a:xfrm>
                    <a:off x="7543799" y="2590800"/>
                    <a:ext cx="1020870" cy="565709"/>
                  </a:xfrm>
                  <a:prstGeom prst="rect">
                    <a:avLst/>
                  </a:prstGeom>
                  <a:solidFill>
                    <a:srgbClr val="FFFF00"/>
                  </a:solidFill>
                  <a:ln w="28575"/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:r>
                      <a:rPr lang="en-US" sz="1600"/>
                      <a:t>1,2</a:t>
                    </a:r>
                  </a:p>
                  <a:p>
                    <a:pPr algn="ctr" rtl="0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i="1" dirty="0">
                            <a:latin typeface="Cambria Math"/>
                          </a:rPr>
                          <m:t>𝜀</m:t>
                        </m:r>
                      </m:oMath>
                    </a14:m>
                    <a:r>
                      <a:rPr lang="en-US" sz="1600"/>
                      <a:t>,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  <a:endParaRPr lang="he-IL" sz="1600"/>
                  </a:p>
                </p:txBody>
              </p:sp>
            </mc:Choice>
            <mc:Fallback xmlns="">
              <p:sp>
                <p:nvSpPr>
                  <p:cNvPr id="41" name="Rectangle 4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3799" y="2590800"/>
                    <a:ext cx="1020870" cy="56570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/>
                <p:cNvSpPr/>
                <p:nvPr/>
              </p:nvSpPr>
              <p:spPr>
                <a:xfrm>
                  <a:off x="6286497" y="3474720"/>
                  <a:ext cx="1020870" cy="565709"/>
                </a:xfrm>
                <a:prstGeom prst="rect">
                  <a:avLst/>
                </a:prstGeom>
                <a:solidFill>
                  <a:srgbClr val="FFFF00"/>
                </a:solidFill>
                <a:ln w="28575"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:r>
                    <a:rPr lang="en-US" sz="1600"/>
                    <a:t>2,2</a:t>
                  </a:r>
                </a:p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lang="en-US" sz="1600"/>
                    <a:t>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42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97" y="3474720"/>
                  <a:ext cx="1020870" cy="56570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7" name="Group 46"/>
            <p:cNvGrpSpPr/>
            <p:nvPr/>
          </p:nvGrpSpPr>
          <p:grpSpPr>
            <a:xfrm>
              <a:off x="5029197" y="4221478"/>
              <a:ext cx="3535472" cy="565711"/>
              <a:chOff x="5029197" y="2590798"/>
              <a:chExt cx="3535472" cy="5657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Rectangle 47"/>
                  <p:cNvSpPr/>
                  <p:nvPr/>
                </p:nvSpPr>
                <p:spPr>
                  <a:xfrm>
                    <a:off x="5029197" y="2590798"/>
                    <a:ext cx="1020870" cy="565709"/>
                  </a:xfrm>
                  <a:prstGeom prst="rect">
                    <a:avLst/>
                  </a:prstGeom>
                  <a:solidFill>
                    <a:srgbClr val="FFFF00"/>
                  </a:solidFill>
                  <a:ln w="28575"/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:r>
                      <a:rPr lang="en-US" sz="1600"/>
                      <a:t>3,2</a:t>
                    </a:r>
                  </a:p>
                  <a:p>
                    <a:pPr algn="ctr" rtl="0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  <a:r>
                      <a:rPr lang="en-US" sz="1600"/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i="1" dirty="0">
                            <a:latin typeface="Cambria Math"/>
                          </a:rPr>
                          <m:t>𝜀</m:t>
                        </m:r>
                      </m:oMath>
                    </a14:m>
                    <a:endParaRPr lang="he-IL" sz="1600"/>
                  </a:p>
                </p:txBody>
              </p:sp>
            </mc:Choice>
            <mc:Fallback xmlns="">
              <p:sp>
                <p:nvSpPr>
                  <p:cNvPr id="48" name="Rectangle 4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9197" y="2590798"/>
                    <a:ext cx="1020870" cy="56570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/>
                  <p:cNvSpPr/>
                  <p:nvPr/>
                </p:nvSpPr>
                <p:spPr>
                  <a:xfrm>
                    <a:off x="7543799" y="2590800"/>
                    <a:ext cx="1020870" cy="565709"/>
                  </a:xfrm>
                  <a:prstGeom prst="rect">
                    <a:avLst/>
                  </a:prstGeom>
                  <a:solidFill>
                    <a:srgbClr val="FFFF00"/>
                  </a:solidFill>
                  <a:ln w="28575"/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:r>
                      <a:rPr lang="en-US" sz="1600"/>
                      <a:t>2,3</a:t>
                    </a:r>
                  </a:p>
                  <a:p>
                    <a:pPr algn="ctr" rtl="0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i="1" dirty="0">
                            <a:latin typeface="Cambria Math"/>
                          </a:rPr>
                          <m:t>𝜀</m:t>
                        </m:r>
                      </m:oMath>
                    </a14:m>
                    <a:r>
                      <a:rPr lang="en-US" sz="1600"/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a14:m>
                    <a:endParaRPr lang="he-IL" sz="1600"/>
                  </a:p>
                </p:txBody>
              </p:sp>
            </mc:Choice>
            <mc:Fallback xmlns="">
              <p:sp>
                <p:nvSpPr>
                  <p:cNvPr id="49" name="Rectangle 4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3799" y="2590800"/>
                    <a:ext cx="1020870" cy="56570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6248397" y="4968239"/>
                  <a:ext cx="1020870" cy="565709"/>
                </a:xfrm>
                <a:prstGeom prst="rect">
                  <a:avLst/>
                </a:prstGeom>
                <a:solidFill>
                  <a:srgbClr val="FFFF00"/>
                </a:solidFill>
                <a:ln w="28575"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600"/>
                    <a:t>3,3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i="1" dirty="0">
                          <a:latin typeface="Cambria Math"/>
                        </a:rPr>
                        <m:t>𝜀</m:t>
                      </m:r>
                    </m:oMath>
                  </a14:m>
                  <a:r>
                    <a:rPr lang="en-US" sz="1600"/>
                    <a:t>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i="1" dirty="0">
                          <a:latin typeface="Cambria Math"/>
                        </a:rPr>
                        <m:t>𝜀</m:t>
                      </m:r>
                    </m:oMath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397" y="4968239"/>
                  <a:ext cx="1020870" cy="56570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6248397" y="5824931"/>
                  <a:ext cx="1020870" cy="565709"/>
                </a:xfrm>
                <a:prstGeom prst="rect">
                  <a:avLst/>
                </a:prstGeom>
                <a:solidFill>
                  <a:srgbClr val="FFFF00"/>
                </a:solidFill>
                <a:ln w="28575"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600"/>
                    <a:t>4,4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i="1" dirty="0">
                          <a:latin typeface="Cambria Math"/>
                        </a:rPr>
                        <m:t>𝜀</m:t>
                      </m:r>
                    </m:oMath>
                  </a14:m>
                  <a:r>
                    <a:rPr lang="en-US" sz="1600"/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600" i="1" dirty="0">
                          <a:latin typeface="Cambria Math"/>
                        </a:rPr>
                        <m:t>𝜀</m:t>
                      </m:r>
                    </m:oMath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51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397" y="5824931"/>
                  <a:ext cx="1020870" cy="56570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Elbow Connector 53"/>
            <p:cNvCxnSpPr>
              <a:stCxn id="39" idx="3"/>
              <a:endCxn id="41" idx="0"/>
            </p:cNvCxnSpPr>
            <p:nvPr/>
          </p:nvCxnSpPr>
          <p:spPr>
            <a:xfrm>
              <a:off x="7354914" y="2253894"/>
              <a:ext cx="699320" cy="474066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Elbow Connector 54"/>
            <p:cNvCxnSpPr>
              <a:stCxn id="39" idx="1"/>
              <a:endCxn id="40" idx="0"/>
            </p:cNvCxnSpPr>
            <p:nvPr/>
          </p:nvCxnSpPr>
          <p:spPr>
            <a:xfrm rot="10800000" flipV="1">
              <a:off x="5539632" y="2253894"/>
              <a:ext cx="709340" cy="474063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71" name="Elbow Connector 70"/>
            <p:cNvCxnSpPr/>
            <p:nvPr/>
          </p:nvCxnSpPr>
          <p:spPr>
            <a:xfrm rot="16200000" flipH="1">
              <a:off x="7082254" y="4038185"/>
              <a:ext cx="463906" cy="468393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77" name="Elbow Connector 76"/>
            <p:cNvCxnSpPr/>
            <p:nvPr/>
          </p:nvCxnSpPr>
          <p:spPr>
            <a:xfrm rot="5400000">
              <a:off x="6044701" y="4038180"/>
              <a:ext cx="463903" cy="468393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89" name="Elbow Connector 88"/>
            <p:cNvCxnSpPr>
              <a:stCxn id="49" idx="2"/>
              <a:endCxn id="50" idx="3"/>
            </p:cNvCxnSpPr>
            <p:nvPr/>
          </p:nvCxnSpPr>
          <p:spPr>
            <a:xfrm rot="5400000">
              <a:off x="7429798" y="4626657"/>
              <a:ext cx="463904" cy="784967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92" name="Elbow Connector 91"/>
            <p:cNvCxnSpPr>
              <a:stCxn id="48" idx="2"/>
              <a:endCxn id="50" idx="1"/>
            </p:cNvCxnSpPr>
            <p:nvPr/>
          </p:nvCxnSpPr>
          <p:spPr>
            <a:xfrm rot="16200000" flipH="1">
              <a:off x="5662061" y="4664757"/>
              <a:ext cx="463906" cy="708765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/>
            <p:cNvCxnSpPr>
              <a:stCxn id="50" idx="2"/>
              <a:endCxn id="51" idx="0"/>
            </p:cNvCxnSpPr>
            <p:nvPr/>
          </p:nvCxnSpPr>
          <p:spPr>
            <a:xfrm>
              <a:off x="6758832" y="5533948"/>
              <a:ext cx="0" cy="29098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294441" y="4488758"/>
                <a:ext cx="261847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41" y="4488758"/>
                <a:ext cx="2618473" cy="369332"/>
              </a:xfrm>
              <a:prstGeom prst="rect">
                <a:avLst/>
              </a:prstGeom>
              <a:blipFill>
                <a:blip r:embed="rId1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337488" y="4861770"/>
                <a:ext cx="151592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88" y="4861770"/>
                <a:ext cx="1515928" cy="369332"/>
              </a:xfrm>
              <a:prstGeom prst="rect">
                <a:avLst/>
              </a:prstGeom>
              <a:blipFill>
                <a:blip r:embed="rId1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457200" y="3810000"/>
                <a:ext cx="63825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10000"/>
                <a:ext cx="638252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1905000" y="3810000"/>
                <a:ext cx="64357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810000"/>
                <a:ext cx="643574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2895600" y="5638800"/>
                <a:ext cx="172412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5638800"/>
                <a:ext cx="1724125" cy="369332"/>
              </a:xfrm>
              <a:prstGeom prst="rect">
                <a:avLst/>
              </a:prstGeom>
              <a:blipFill>
                <a:blip r:embed="rId2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068106" y="6019800"/>
                <a:ext cx="286886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הודעה בלי תוכן מסומנת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106" y="6019800"/>
                <a:ext cx="2868862" cy="369332"/>
              </a:xfrm>
              <a:prstGeom prst="rect">
                <a:avLst/>
              </a:prstGeom>
              <a:blipFill>
                <a:blip r:embed="rId21"/>
                <a:stretch>
                  <a:fillRect t="-10000" r="-169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4191000" y="76200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762000"/>
                <a:ext cx="248786" cy="369332"/>
              </a:xfrm>
              <a:prstGeom prst="rect">
                <a:avLst/>
              </a:prstGeom>
              <a:blipFill>
                <a:blip r:embed="rId22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/>
              <p:cNvSpPr/>
              <p:nvPr/>
            </p:nvSpPr>
            <p:spPr>
              <a:xfrm>
                <a:off x="7239000" y="76200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8" name="Rectangle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762000"/>
                <a:ext cx="248786" cy="369332"/>
              </a:xfrm>
              <a:prstGeom prst="rect">
                <a:avLst/>
              </a:prstGeom>
              <a:blipFill>
                <a:blip r:embed="rId22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ctangle 112"/>
              <p:cNvSpPr/>
              <p:nvPr/>
            </p:nvSpPr>
            <p:spPr>
              <a:xfrm>
                <a:off x="4953000" y="175260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3" name="Rectangle 1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752600"/>
                <a:ext cx="248786" cy="369332"/>
              </a:xfrm>
              <a:prstGeom prst="rect">
                <a:avLst/>
              </a:prstGeom>
              <a:blipFill>
                <a:blip r:embed="rId23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/>
              <p:cNvSpPr/>
              <p:nvPr/>
            </p:nvSpPr>
            <p:spPr>
              <a:xfrm>
                <a:off x="6858000" y="175260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6" name="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1752600"/>
                <a:ext cx="248786" cy="369332"/>
              </a:xfrm>
              <a:prstGeom prst="rect">
                <a:avLst/>
              </a:prstGeom>
              <a:blipFill>
                <a:blip r:embed="rId24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Rectangle 116"/>
              <p:cNvSpPr/>
              <p:nvPr/>
            </p:nvSpPr>
            <p:spPr>
              <a:xfrm>
                <a:off x="6858000" y="365760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7" name="Rectangle 1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657600"/>
                <a:ext cx="248786" cy="369332"/>
              </a:xfrm>
              <a:prstGeom prst="rect">
                <a:avLst/>
              </a:prstGeom>
              <a:blipFill>
                <a:blip r:embed="rId25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 117"/>
              <p:cNvSpPr/>
              <p:nvPr/>
            </p:nvSpPr>
            <p:spPr>
              <a:xfrm>
                <a:off x="5029200" y="365760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8" name="Rectangle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3657600"/>
                <a:ext cx="248786" cy="369332"/>
              </a:xfrm>
              <a:prstGeom prst="rect">
                <a:avLst/>
              </a:prstGeom>
              <a:blipFill>
                <a:blip r:embed="rId25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Rectangle 118"/>
              <p:cNvSpPr/>
              <p:nvPr/>
            </p:nvSpPr>
            <p:spPr>
              <a:xfrm>
                <a:off x="7391400" y="464820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9" name="Rectangle 1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4648200"/>
                <a:ext cx="248786" cy="369332"/>
              </a:xfrm>
              <a:prstGeom prst="rect">
                <a:avLst/>
              </a:prstGeom>
              <a:blipFill>
                <a:blip r:embed="rId23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ectangle 119"/>
              <p:cNvSpPr/>
              <p:nvPr/>
            </p:nvSpPr>
            <p:spPr>
              <a:xfrm>
                <a:off x="4419600" y="464820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20" name="Rectangle 1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4648200"/>
                <a:ext cx="248786" cy="369332"/>
              </a:xfrm>
              <a:prstGeom prst="rect">
                <a:avLst/>
              </a:prstGeom>
              <a:blipFill>
                <a:blip r:embed="rId24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/>
              <p:cNvSpPr/>
              <p:nvPr/>
            </p:nvSpPr>
            <p:spPr>
              <a:xfrm>
                <a:off x="6019800" y="533400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21" name="Rectangle 1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5334000"/>
                <a:ext cx="248786" cy="369332"/>
              </a:xfrm>
              <a:prstGeom prst="rect">
                <a:avLst/>
              </a:prstGeom>
              <a:blipFill>
                <a:blip r:embed="rId22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51657"/>
      </p:ext>
    </p:extLst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אפשרות לשיפור: תנאים על התורים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08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8839200" cy="5486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אפשר להוסיף סמנטיקה ותחביר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גם לתנאים על הערוצים:</a:t>
            </a:r>
          </a:p>
          <a:p>
            <a:pPr lvl="1">
              <a:lnSpc>
                <a:spcPct val="110000"/>
              </a:lnSpc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האם הערוץ מלא?</a:t>
            </a:r>
          </a:p>
          <a:p>
            <a:pPr lvl="1">
              <a:lnSpc>
                <a:spcPct val="110000"/>
              </a:lnSpc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האם הערוץ ריק?</a:t>
            </a:r>
          </a:p>
          <a:p>
            <a:pPr lvl="1">
              <a:lnSpc>
                <a:spcPct val="110000"/>
              </a:lnSpc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האם יש בתור 3 הודעות?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נרשה את המעבר רק אם התנאי מתקיים</a:t>
            </a:r>
          </a:p>
          <a:p>
            <a:pPr>
              <a:lnSpc>
                <a:spcPct val="110000"/>
              </a:lnSpc>
            </a:pP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lnSpc>
                <a:spcPct val="110000"/>
              </a:lnSpc>
            </a:pP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lnSpc>
                <a:spcPct val="110000"/>
              </a:lnSpc>
            </a:pP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lnSpc>
                <a:spcPct val="110000"/>
              </a:lnSpc>
            </a:pP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lnSpc>
                <a:spcPct val="110000"/>
              </a:lnSpc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כך נוכל, 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במימוש שלנו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, לעבוד רק עם קיבולת אפס ואינסוף </a:t>
            </a:r>
          </a:p>
          <a:p>
            <a:pPr lvl="1">
              <a:lnSpc>
                <a:spcPct val="110000"/>
              </a:lnSpc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את המגבלה של גודל תור ניתן לייצג באמצעות התנאים</a:t>
            </a:r>
          </a:p>
          <a:p>
            <a:pPr lvl="1">
              <a:lnSpc>
                <a:spcPct val="110000"/>
              </a:lnSpc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עדיין יהיה התנאי הַמִּשְׁתַּמֵּעַ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implicit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 שלא ניתן לקרוא מתור ריק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810139" y="3733800"/>
            <a:ext cx="5486400" cy="762000"/>
            <a:chOff x="1828800" y="3962400"/>
            <a:chExt cx="5486400" cy="76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1828800" y="4114800"/>
                  <a:ext cx="914400" cy="609600"/>
                </a:xfrm>
                <a:prstGeom prst="rect">
                  <a:avLst/>
                </a:prstGeom>
                <a:solidFill>
                  <a:srgbClr val="FFFF00"/>
                </a:solidFill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4114800"/>
                  <a:ext cx="914400" cy="609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6400800" y="4114800"/>
                  <a:ext cx="914400" cy="609600"/>
                </a:xfrm>
                <a:prstGeom prst="rect">
                  <a:avLst/>
                </a:prstGeom>
                <a:solidFill>
                  <a:srgbClr val="FFFF00"/>
                </a:solidFill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0800" y="4114800"/>
                  <a:ext cx="914400" cy="609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/>
            <p:cNvCxnSpPr>
              <a:stCxn id="6" idx="3"/>
              <a:endCxn id="8" idx="1"/>
            </p:cNvCxnSpPr>
            <p:nvPr/>
          </p:nvCxnSpPr>
          <p:spPr>
            <a:xfrm>
              <a:off x="2743200" y="4419600"/>
              <a:ext cx="3657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048000" y="3962400"/>
                  <a:ext cx="316201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𝑖𝑠𝐸𝑚𝑝𝑡𝑦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i="1" dirty="0" smtClean="0">
                            <a:latin typeface="Cambria Math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  <m:r>
                          <a:rPr lang="en-US" i="1" dirty="0" smtClean="0">
                            <a:latin typeface="Cambria Math"/>
                          </a:rPr>
                          <m:t>&gt;</m:t>
                        </m:r>
                        <m:r>
                          <a:rPr lang="en-US" i="1" dirty="0" smtClean="0">
                            <a:latin typeface="Cambria Math"/>
                          </a:rPr>
                          <m:t>15</m:t>
                        </m:r>
                        <m:r>
                          <a:rPr lang="en-US" i="1" dirty="0" smtClean="0">
                            <a:latin typeface="Cambria Math"/>
                          </a:rPr>
                          <m:t>) :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!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3962400"/>
                  <a:ext cx="316201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5986814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FIRSTUSER@YFBVXUQFUVWYY57I" val="3590"/>
  <p:tag name="DEFAULTDISPLAYSOURCE" val="\documentclass{article}\pagestyle{empty}&#10;&#10;\begin{document}&#10;&#10;\end{document}&#10;"/>
  <p:tag name="EMBEDFONTS" val="1"/>
  <p:tag name="FIRSTGERAW@BMGANINFUVWYY57I" val="393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982</Words>
  <Application>Microsoft Office PowerPoint</Application>
  <PresentationFormat>On-screen Show (4:3)</PresentationFormat>
  <Paragraphs>232</Paragraphs>
  <Slides>12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Aharoni</vt:lpstr>
      <vt:lpstr>Calibri</vt:lpstr>
      <vt:lpstr>Cambria Math</vt:lpstr>
      <vt:lpstr>Franklin Gothic Book</vt:lpstr>
      <vt:lpstr>Gisha</vt:lpstr>
      <vt:lpstr>Perpetua</vt:lpstr>
      <vt:lpstr>Wingdings 2</vt:lpstr>
      <vt:lpstr>Equity</vt:lpstr>
      <vt:lpstr>מערכות ערוצים משמעות על ידי תרגום למערכות מעברים</vt:lpstr>
      <vt:lpstr>תזכורת: מערכות ערוצים</vt:lpstr>
      <vt:lpstr>תזכורת: תחביר למערכת ערוצים</vt:lpstr>
      <vt:lpstr>הגדרת הסמנטיקה של מערכת ערוצים</vt:lpstr>
      <vt:lpstr>אפשרויות להגדרת סמנטיקה</vt:lpstr>
      <vt:lpstr>פונקצית השמת ערכי ערוצים  (channel evaluation)</vt:lpstr>
      <vt:lpstr>הגדרה: סמנטיקה של מערכת ערוצים  על ידי תרגום למערכת מעברים</vt:lpstr>
      <vt:lpstr>כללי הסק (1)</vt:lpstr>
      <vt:lpstr>דוגמה: חסימה הדדית באמצעות בורר</vt:lpstr>
      <vt:lpstr>כללי הסק עבור המקרה  cap(C)&gt;0</vt:lpstr>
      <vt:lpstr>דוגמה</vt:lpstr>
      <vt:lpstr>אפשרות לשיפור: תנאים על התורים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dcterms:created xsi:type="dcterms:W3CDTF">2009-09-27T20:49:26Z</dcterms:created>
  <dcterms:modified xsi:type="dcterms:W3CDTF">2025-10-08T08:20:48Z</dcterms:modified>
</cp:coreProperties>
</file>